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9144000" cy="5029200"/>
  <p:notesSz cx="50292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58A6FF"/>
          </a:solidFill>
          <a:ln w="12700">
            <a:solidFill>
              <a:srgbClr val="58A6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12-Factor App：現代應用的設計原則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4  ·  27 / 50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274320" y="566928"/>
            <a:ext cx="8595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12-Factor App 是什麼？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274320" y="868680"/>
            <a:ext cx="8595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由 Heroku 工程師總結的 12 條準則，讓應用程式能在 Cloud Native 環境中良好運作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74320" y="1188720"/>
            <a:ext cx="2651760" cy="713232"/>
          </a:xfrm>
          <a:prstGeom prst="roundRect">
            <a:avLst>
              <a:gd name="adj" fmla="val 10256"/>
            </a:avLst>
          </a:prstGeom>
          <a:solidFill>
            <a:srgbClr val="161B22"/>
          </a:solidFill>
          <a:ln w="15240">
            <a:solidFill>
              <a:srgbClr val="58A6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84048" y="1234440"/>
            <a:ext cx="24688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 Codebase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384048" y="1481328"/>
            <a:ext cx="2468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codebase → many deploys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3108960" y="1188720"/>
            <a:ext cx="2651760" cy="713232"/>
          </a:xfrm>
          <a:prstGeom prst="roundRect">
            <a:avLst>
              <a:gd name="adj" fmla="val 10256"/>
            </a:avLst>
          </a:prstGeom>
          <a:solidFill>
            <a:srgbClr val="161B22"/>
          </a:solidFill>
          <a:ln w="15240">
            <a:solidFill>
              <a:srgbClr val="58A6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18688" y="1234440"/>
            <a:ext cx="24688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② Dependencies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3218688" y="1481328"/>
            <a:ext cx="2468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Explicit dep declaration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5943600" y="1188720"/>
            <a:ext cx="2651760" cy="713232"/>
          </a:xfrm>
          <a:prstGeom prst="roundRect">
            <a:avLst>
              <a:gd name="adj" fmla="val 10256"/>
            </a:avLst>
          </a:prstGeom>
          <a:solidFill>
            <a:srgbClr val="161B22"/>
          </a:solidFill>
          <a:ln w="15240">
            <a:solidFill>
              <a:srgbClr val="58A6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053328" y="1234440"/>
            <a:ext cx="24688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③ Config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6053328" y="1481328"/>
            <a:ext cx="2468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 in environment vars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274320" y="1993392"/>
            <a:ext cx="2651760" cy="713232"/>
          </a:xfrm>
          <a:prstGeom prst="roundRect">
            <a:avLst>
              <a:gd name="adj" fmla="val 10256"/>
            </a:avLst>
          </a:prstGeom>
          <a:solidFill>
            <a:srgbClr val="161B22"/>
          </a:solidFill>
          <a:ln w="15240">
            <a:solidFill>
              <a:srgbClr val="6E40C9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84048" y="2039112"/>
            <a:ext cx="24688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E4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④ Backing Services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384048" y="2286000"/>
            <a:ext cx="2468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Treat DB/MQ/Cache as attached resources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3108960" y="1993392"/>
            <a:ext cx="2651760" cy="713232"/>
          </a:xfrm>
          <a:prstGeom prst="roundRect">
            <a:avLst>
              <a:gd name="adj" fmla="val 10256"/>
            </a:avLst>
          </a:prstGeom>
          <a:solidFill>
            <a:srgbClr val="161B22"/>
          </a:solidFill>
          <a:ln w="15240">
            <a:solidFill>
              <a:srgbClr val="6E40C9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218688" y="2039112"/>
            <a:ext cx="24688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E4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⑤ Build/Release/Run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3218688" y="2286000"/>
            <a:ext cx="2468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Strict build → release → run stages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5943600" y="1993392"/>
            <a:ext cx="2651760" cy="713232"/>
          </a:xfrm>
          <a:prstGeom prst="roundRect">
            <a:avLst>
              <a:gd name="adj" fmla="val 10256"/>
            </a:avLst>
          </a:prstGeom>
          <a:solidFill>
            <a:srgbClr val="161B22"/>
          </a:solidFill>
          <a:ln w="15240">
            <a:solidFill>
              <a:srgbClr val="6E40C9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053328" y="2039112"/>
            <a:ext cx="24688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E4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⑥ Processes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053328" y="2286000"/>
            <a:ext cx="2468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Stateless processes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274320" y="2798064"/>
            <a:ext cx="2651760" cy="713232"/>
          </a:xfrm>
          <a:prstGeom prst="roundRect">
            <a:avLst>
              <a:gd name="adj" fmla="val 10256"/>
            </a:avLst>
          </a:prstGeom>
          <a:solidFill>
            <a:srgbClr val="161B22"/>
          </a:solidFill>
          <a:ln w="15240">
            <a:solidFill>
              <a:srgbClr val="3FB95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84048" y="2843784"/>
            <a:ext cx="24688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⑦ Port Binding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384048" y="3090672"/>
            <a:ext cx="2468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Self-contained: export via port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3108960" y="2798064"/>
            <a:ext cx="2651760" cy="713232"/>
          </a:xfrm>
          <a:prstGeom prst="roundRect">
            <a:avLst>
              <a:gd name="adj" fmla="val 10256"/>
            </a:avLst>
          </a:prstGeom>
          <a:solidFill>
            <a:srgbClr val="161B22"/>
          </a:solidFill>
          <a:ln w="15240">
            <a:solidFill>
              <a:srgbClr val="3FB95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218688" y="2843784"/>
            <a:ext cx="24688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⑧ Concurrency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3218688" y="3090672"/>
            <a:ext cx="2468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 via process model</a:t>
            </a:r>
            <a:endParaRPr lang="en-US" sz="850" dirty="0"/>
          </a:p>
        </p:txBody>
      </p:sp>
      <p:sp>
        <p:nvSpPr>
          <p:cNvPr id="32" name="Shape 30"/>
          <p:cNvSpPr/>
          <p:nvPr/>
        </p:nvSpPr>
        <p:spPr>
          <a:xfrm>
            <a:off x="5943600" y="2798064"/>
            <a:ext cx="2651760" cy="713232"/>
          </a:xfrm>
          <a:prstGeom prst="roundRect">
            <a:avLst>
              <a:gd name="adj" fmla="val 10256"/>
            </a:avLst>
          </a:prstGeom>
          <a:solidFill>
            <a:srgbClr val="161B22"/>
          </a:solidFill>
          <a:ln w="15240">
            <a:solidFill>
              <a:srgbClr val="3FB95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053328" y="2843784"/>
            <a:ext cx="24688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⑨ Disposability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6053328" y="3090672"/>
            <a:ext cx="2468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 startup, graceful shutdown</a:t>
            </a:r>
            <a:endParaRPr lang="en-US" sz="850" dirty="0"/>
          </a:p>
        </p:txBody>
      </p:sp>
      <p:sp>
        <p:nvSpPr>
          <p:cNvPr id="35" name="Shape 33"/>
          <p:cNvSpPr/>
          <p:nvPr/>
        </p:nvSpPr>
        <p:spPr>
          <a:xfrm>
            <a:off x="274320" y="3602736"/>
            <a:ext cx="2651760" cy="713232"/>
          </a:xfrm>
          <a:prstGeom prst="roundRect">
            <a:avLst>
              <a:gd name="adj" fmla="val 10256"/>
            </a:avLst>
          </a:prstGeom>
          <a:solidFill>
            <a:srgbClr val="161B22"/>
          </a:solidFill>
          <a:ln w="15240">
            <a:solidFill>
              <a:srgbClr val="D29922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84048" y="3648456"/>
            <a:ext cx="24688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⑩ Dev/Prod Parity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384048" y="3895344"/>
            <a:ext cx="2468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 environment mirrors production</a:t>
            </a:r>
            <a:endParaRPr lang="en-US" sz="850" dirty="0"/>
          </a:p>
        </p:txBody>
      </p:sp>
      <p:sp>
        <p:nvSpPr>
          <p:cNvPr id="38" name="Shape 36"/>
          <p:cNvSpPr/>
          <p:nvPr/>
        </p:nvSpPr>
        <p:spPr>
          <a:xfrm>
            <a:off x="3108960" y="3602736"/>
            <a:ext cx="2651760" cy="713232"/>
          </a:xfrm>
          <a:prstGeom prst="roundRect">
            <a:avLst>
              <a:gd name="adj" fmla="val 10256"/>
            </a:avLst>
          </a:prstGeom>
          <a:solidFill>
            <a:srgbClr val="161B22"/>
          </a:solidFill>
          <a:ln w="15240">
            <a:solidFill>
              <a:srgbClr val="D29922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218688" y="3648456"/>
            <a:ext cx="24688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⑪ Logs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3218688" y="3895344"/>
            <a:ext cx="2468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Logs as event streams (stdout)</a:t>
            </a:r>
            <a:endParaRPr lang="en-US" sz="850" dirty="0"/>
          </a:p>
        </p:txBody>
      </p:sp>
      <p:sp>
        <p:nvSpPr>
          <p:cNvPr id="41" name="Shape 39"/>
          <p:cNvSpPr/>
          <p:nvPr/>
        </p:nvSpPr>
        <p:spPr>
          <a:xfrm>
            <a:off x="5943600" y="3602736"/>
            <a:ext cx="2651760" cy="713232"/>
          </a:xfrm>
          <a:prstGeom prst="roundRect">
            <a:avLst>
              <a:gd name="adj" fmla="val 10256"/>
            </a:avLst>
          </a:prstGeom>
          <a:solidFill>
            <a:srgbClr val="161B22"/>
          </a:solidFill>
          <a:ln w="15240">
            <a:solidFill>
              <a:srgbClr val="D29922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053328" y="3648456"/>
            <a:ext cx="24688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⑫ Admin Processes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6053328" y="3895344"/>
            <a:ext cx="2468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 as one-off processes</a:t>
            </a:r>
            <a:endParaRPr lang="en-US" sz="850" dirty="0"/>
          </a:p>
        </p:txBody>
      </p:sp>
      <p:sp>
        <p:nvSpPr>
          <p:cNvPr id="44" name="Shape 42"/>
          <p:cNvSpPr/>
          <p:nvPr/>
        </p:nvSpPr>
        <p:spPr>
          <a:xfrm>
            <a:off x="274320" y="4645152"/>
            <a:ext cx="8595360" cy="384048"/>
          </a:xfrm>
          <a:prstGeom prst="roundRect">
            <a:avLst>
              <a:gd name="adj" fmla="val 14286"/>
            </a:avLst>
          </a:prstGeom>
          <a:solidFill>
            <a:srgbClr val="0A1929"/>
          </a:solidFill>
          <a:ln w="9525">
            <a:solidFill>
              <a:srgbClr val="58A6FF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457200" y="4690872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 這 12 條原則不是規定，是建議 — 但遵循它們能讓你的 App 在 Container/Cloud 環境中自然地運作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58A6FF"/>
          </a:solidFill>
          <a:ln w="12700">
            <a:solidFill>
              <a:srgbClr val="58A6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Factor 1-3：Codebase、Dependencies、Config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4  ·  28 / 50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182880" y="566928"/>
            <a:ext cx="2865120" cy="4050792"/>
          </a:xfrm>
          <a:prstGeom prst="roundRect">
            <a:avLst>
              <a:gd name="adj" fmla="val 3191"/>
            </a:avLst>
          </a:prstGeom>
          <a:solidFill>
            <a:srgbClr val="161B22"/>
          </a:solidFill>
          <a:ln w="15240">
            <a:solidFill>
              <a:srgbClr val="58A6F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82880" y="566928"/>
            <a:ext cx="2865120" cy="475488"/>
          </a:xfrm>
          <a:prstGeom prst="rect">
            <a:avLst/>
          </a:prstGeom>
          <a:solidFill>
            <a:srgbClr val="1C2128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82880" y="585216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📁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603504" y="566928"/>
            <a:ext cx="24079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 Codebase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10896" y="1179576"/>
            <a:ext cx="109728" cy="109728"/>
          </a:xfrm>
          <a:prstGeom prst="ellipse">
            <a:avLst/>
          </a:prstGeom>
          <a:solidFill>
            <a:srgbClr val="58A6FF"/>
          </a:solidFill>
          <a:ln w="12700">
            <a:solidFill>
              <a:srgbClr val="58A6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75488" y="1115568"/>
            <a:ext cx="248107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一個 Repo = 一個應用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475488" y="1316736"/>
            <a:ext cx="2481072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不要把多個應用混在同一個 repo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310896" y="1581912"/>
            <a:ext cx="109728" cy="109728"/>
          </a:xfrm>
          <a:prstGeom prst="ellipse">
            <a:avLst/>
          </a:prstGeom>
          <a:solidFill>
            <a:srgbClr val="58A6FF"/>
          </a:solidFill>
          <a:ln w="12700">
            <a:solidFill>
              <a:srgbClr val="58A6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75488" y="1517904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多個環境 = 同一份 code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310896" y="1984248"/>
            <a:ext cx="109728" cy="109728"/>
          </a:xfrm>
          <a:prstGeom prst="ellipse">
            <a:avLst/>
          </a:prstGeom>
          <a:solidFill>
            <a:srgbClr val="58A6FF"/>
          </a:solidFill>
          <a:ln w="12700">
            <a:solidFill>
              <a:srgbClr val="58A6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75488" y="1920240"/>
            <a:ext cx="248107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分支策略：main/dev/feature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475488" y="2121408"/>
            <a:ext cx="2481072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 永遠對應 Prod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310896" y="2386584"/>
            <a:ext cx="109728" cy="109728"/>
          </a:xfrm>
          <a:prstGeom prst="ellipse">
            <a:avLst/>
          </a:prstGeom>
          <a:solidFill>
            <a:srgbClr val="58A6FF"/>
          </a:solidFill>
          <a:ln w="12700">
            <a:solidFill>
              <a:srgbClr val="58A6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75488" y="2322576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 每個環境不同 branch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3139440" y="566928"/>
            <a:ext cx="2865120" cy="4050792"/>
          </a:xfrm>
          <a:prstGeom prst="roundRect">
            <a:avLst>
              <a:gd name="adj" fmla="val 3191"/>
            </a:avLst>
          </a:prstGeom>
          <a:solidFill>
            <a:srgbClr val="161B22"/>
          </a:solidFill>
          <a:ln w="15240">
            <a:solidFill>
              <a:srgbClr val="6E40C9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139440" y="566928"/>
            <a:ext cx="2865120" cy="475488"/>
          </a:xfrm>
          <a:prstGeom prst="rect">
            <a:avLst/>
          </a:prstGeom>
          <a:solidFill>
            <a:srgbClr val="1C2128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139440" y="585216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📦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3560064" y="566928"/>
            <a:ext cx="24079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E4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② Dependencies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3267456" y="1179576"/>
            <a:ext cx="109728" cy="109728"/>
          </a:xfrm>
          <a:prstGeom prst="ellipse">
            <a:avLst/>
          </a:prstGeom>
          <a:solidFill>
            <a:srgbClr val="6E40C9"/>
          </a:solidFill>
          <a:ln w="12700">
            <a:solidFill>
              <a:srgbClr val="6E40C9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432048" y="1115568"/>
            <a:ext cx="248107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顯式宣告所有依賴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3432048" y="1316736"/>
            <a:ext cx="2481072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requirements.txt / package.json / go.mod</a:t>
            </a:r>
            <a:endParaRPr lang="en-US" sz="850" dirty="0"/>
          </a:p>
        </p:txBody>
      </p:sp>
      <p:sp>
        <p:nvSpPr>
          <p:cNvPr id="27" name="Shape 25"/>
          <p:cNvSpPr/>
          <p:nvPr/>
        </p:nvSpPr>
        <p:spPr>
          <a:xfrm>
            <a:off x="3267456" y="1581912"/>
            <a:ext cx="109728" cy="109728"/>
          </a:xfrm>
          <a:prstGeom prst="ellipse">
            <a:avLst/>
          </a:prstGeom>
          <a:solidFill>
            <a:srgbClr val="6E40C9"/>
          </a:solidFill>
          <a:ln w="12700">
            <a:solidFill>
              <a:srgbClr val="6E40C9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432048" y="1517904"/>
            <a:ext cx="248107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不依賴 System-Level 套件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3432048" y="1719072"/>
            <a:ext cx="2481072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不能假設主機有 curl 或 zip</a:t>
            </a:r>
            <a:endParaRPr lang="en-US" sz="850" dirty="0"/>
          </a:p>
        </p:txBody>
      </p:sp>
      <p:sp>
        <p:nvSpPr>
          <p:cNvPr id="30" name="Shape 28"/>
          <p:cNvSpPr/>
          <p:nvPr/>
        </p:nvSpPr>
        <p:spPr>
          <a:xfrm>
            <a:off x="3267456" y="1984248"/>
            <a:ext cx="109728" cy="109728"/>
          </a:xfrm>
          <a:prstGeom prst="ellipse">
            <a:avLst/>
          </a:prstGeom>
          <a:solidFill>
            <a:srgbClr val="6E40C9"/>
          </a:solidFill>
          <a:ln w="12700">
            <a:solidFill>
              <a:srgbClr val="6E40C9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432048" y="1920240"/>
            <a:ext cx="248107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Container 完美符合此條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3432048" y="2121408"/>
            <a:ext cx="2481072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Dockerfile 即依賴清單</a:t>
            </a:r>
            <a:endParaRPr lang="en-US" sz="850" dirty="0"/>
          </a:p>
        </p:txBody>
      </p:sp>
      <p:sp>
        <p:nvSpPr>
          <p:cNvPr id="33" name="Shape 31"/>
          <p:cNvSpPr/>
          <p:nvPr/>
        </p:nvSpPr>
        <p:spPr>
          <a:xfrm>
            <a:off x="3267456" y="2386584"/>
            <a:ext cx="109728" cy="109728"/>
          </a:xfrm>
          <a:prstGeom prst="ellipse">
            <a:avLst/>
          </a:prstGeom>
          <a:solidFill>
            <a:srgbClr val="6E40C9"/>
          </a:solidFill>
          <a:ln w="12700">
            <a:solidFill>
              <a:srgbClr val="6E40C9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432048" y="2322576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 pip install 沒有版本號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6096000" y="566928"/>
            <a:ext cx="2865120" cy="4050792"/>
          </a:xfrm>
          <a:prstGeom prst="roundRect">
            <a:avLst>
              <a:gd name="adj" fmla="val 3191"/>
            </a:avLst>
          </a:prstGeom>
          <a:solidFill>
            <a:srgbClr val="161B22"/>
          </a:solidFill>
          <a:ln w="15240">
            <a:solidFill>
              <a:srgbClr val="D29922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96000" y="566928"/>
            <a:ext cx="2865120" cy="475488"/>
          </a:xfrm>
          <a:prstGeom prst="rect">
            <a:avLst/>
          </a:prstGeom>
          <a:solidFill>
            <a:srgbClr val="1C2128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096000" y="585216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⚙️</a:t>
            </a:r>
            <a:endParaRPr lang="en-US" sz="2200" dirty="0"/>
          </a:p>
        </p:txBody>
      </p:sp>
      <p:sp>
        <p:nvSpPr>
          <p:cNvPr id="38" name="Text 36"/>
          <p:cNvSpPr/>
          <p:nvPr/>
        </p:nvSpPr>
        <p:spPr>
          <a:xfrm>
            <a:off x="6516624" y="566928"/>
            <a:ext cx="24079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③ Config</a:t>
            </a:r>
            <a:endParaRPr lang="en-US" sz="1200" dirty="0"/>
          </a:p>
        </p:txBody>
      </p:sp>
      <p:sp>
        <p:nvSpPr>
          <p:cNvPr id="39" name="Shape 37"/>
          <p:cNvSpPr/>
          <p:nvPr/>
        </p:nvSpPr>
        <p:spPr>
          <a:xfrm>
            <a:off x="6224016" y="1179576"/>
            <a:ext cx="109728" cy="109728"/>
          </a:xfrm>
          <a:prstGeom prst="ellipse">
            <a:avLst/>
          </a:prstGeom>
          <a:solidFill>
            <a:srgbClr val="D29922"/>
          </a:solidFill>
          <a:ln w="12700">
            <a:solidFill>
              <a:srgbClr val="D29922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388608" y="1115568"/>
            <a:ext cx="248107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設定放在環境變數</a:t>
            </a:r>
            <a:endParaRPr lang="en-US" sz="1050" dirty="0"/>
          </a:p>
        </p:txBody>
      </p:sp>
      <p:sp>
        <p:nvSpPr>
          <p:cNvPr id="41" name="Text 39"/>
          <p:cNvSpPr/>
          <p:nvPr/>
        </p:nvSpPr>
        <p:spPr>
          <a:xfrm>
            <a:off x="6388608" y="1316736"/>
            <a:ext cx="2481072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DB_URL, API_KEY, PORT...</a:t>
            </a:r>
            <a:endParaRPr lang="en-US" sz="850" dirty="0"/>
          </a:p>
        </p:txBody>
      </p:sp>
      <p:sp>
        <p:nvSpPr>
          <p:cNvPr id="42" name="Shape 40"/>
          <p:cNvSpPr/>
          <p:nvPr/>
        </p:nvSpPr>
        <p:spPr>
          <a:xfrm>
            <a:off x="6224016" y="1581912"/>
            <a:ext cx="109728" cy="109728"/>
          </a:xfrm>
          <a:prstGeom prst="ellipse">
            <a:avLst/>
          </a:prstGeom>
          <a:solidFill>
            <a:srgbClr val="D29922"/>
          </a:solidFill>
          <a:ln w="12700">
            <a:solidFill>
              <a:srgbClr val="D29922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388608" y="1517904"/>
            <a:ext cx="248107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os.getenv('DB_URL')</a:t>
            </a:r>
            <a:endParaRPr lang="en-US" sz="1050" dirty="0"/>
          </a:p>
        </p:txBody>
      </p:sp>
      <p:sp>
        <p:nvSpPr>
          <p:cNvPr id="44" name="Text 42"/>
          <p:cNvSpPr/>
          <p:nvPr/>
        </p:nvSpPr>
        <p:spPr>
          <a:xfrm>
            <a:off x="6388608" y="1719072"/>
            <a:ext cx="2481072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Kubernetes ConfigMap/Secret</a:t>
            </a:r>
            <a:endParaRPr lang="en-US" sz="850" dirty="0"/>
          </a:p>
        </p:txBody>
      </p:sp>
      <p:sp>
        <p:nvSpPr>
          <p:cNvPr id="45" name="Shape 43"/>
          <p:cNvSpPr/>
          <p:nvPr/>
        </p:nvSpPr>
        <p:spPr>
          <a:xfrm>
            <a:off x="6224016" y="1984248"/>
            <a:ext cx="109728" cy="109728"/>
          </a:xfrm>
          <a:prstGeom prst="ellipse">
            <a:avLst/>
          </a:prstGeom>
          <a:solidFill>
            <a:srgbClr val="D29922"/>
          </a:solidFill>
          <a:ln w="12700">
            <a:solidFill>
              <a:srgbClr val="D29922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6388608" y="1920240"/>
            <a:ext cx="248107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 設定寫死在程式碼</a:t>
            </a:r>
            <a:endParaRPr lang="en-US" sz="1050" dirty="0"/>
          </a:p>
        </p:txBody>
      </p:sp>
      <p:sp>
        <p:nvSpPr>
          <p:cNvPr id="47" name="Text 45"/>
          <p:cNvSpPr/>
          <p:nvPr/>
        </p:nvSpPr>
        <p:spPr>
          <a:xfrm>
            <a:off x="6388608" y="2121408"/>
            <a:ext cx="2481072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 config.dev.py / config.prod.py</a:t>
            </a:r>
            <a:endParaRPr lang="en-US" sz="850" dirty="0"/>
          </a:p>
        </p:txBody>
      </p:sp>
      <p:sp>
        <p:nvSpPr>
          <p:cNvPr id="48" name="Shape 46"/>
          <p:cNvSpPr/>
          <p:nvPr/>
        </p:nvSpPr>
        <p:spPr>
          <a:xfrm>
            <a:off x="6224016" y="2386584"/>
            <a:ext cx="109728" cy="109728"/>
          </a:xfrm>
          <a:prstGeom prst="ellipse">
            <a:avLst/>
          </a:prstGeom>
          <a:solidFill>
            <a:srgbClr val="D29922"/>
          </a:solidFill>
          <a:ln w="12700">
            <a:solidFill>
              <a:srgbClr val="D29922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388608" y="2322576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 不進版本控管</a:t>
            </a:r>
            <a:endParaRPr lang="en-US" sz="1050" dirty="0"/>
          </a:p>
        </p:txBody>
      </p:sp>
      <p:sp>
        <p:nvSpPr>
          <p:cNvPr id="50" name="Shape 48"/>
          <p:cNvSpPr/>
          <p:nvPr/>
        </p:nvSpPr>
        <p:spPr>
          <a:xfrm>
            <a:off x="274320" y="4645152"/>
            <a:ext cx="8595360" cy="384048"/>
          </a:xfrm>
          <a:prstGeom prst="roundRect">
            <a:avLst>
              <a:gd name="adj" fmla="val 14286"/>
            </a:avLst>
          </a:prstGeom>
          <a:solidFill>
            <a:srgbClr val="0A1929"/>
          </a:solidFill>
          <a:ln w="9525">
            <a:solidFill>
              <a:srgbClr val="58A6FF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457200" y="4690872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 Config 放環境變數是 12-Factor 最重要的一條 — 讓同一個 Image 在 dev/staging/prod 都能跑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6E40C9"/>
          </a:solidFill>
          <a:ln w="12700">
            <a:solidFill>
              <a:srgbClr val="6E40C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Factor 4-6：Backing Services、Build/Release/Run、Processes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4  ·  29 / 50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182880" y="566928"/>
            <a:ext cx="2865120" cy="4050792"/>
          </a:xfrm>
          <a:prstGeom prst="roundRect">
            <a:avLst>
              <a:gd name="adj" fmla="val 3191"/>
            </a:avLst>
          </a:prstGeom>
          <a:solidFill>
            <a:srgbClr val="161B22"/>
          </a:solidFill>
          <a:ln w="15240">
            <a:solidFill>
              <a:srgbClr val="E3620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82880" y="566928"/>
            <a:ext cx="2865120" cy="475488"/>
          </a:xfrm>
          <a:prstGeom prst="rect">
            <a:avLst/>
          </a:prstGeom>
          <a:solidFill>
            <a:srgbClr val="1C2128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82880" y="585216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🔌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603504" y="566928"/>
            <a:ext cx="24079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362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④ Backing Services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10896" y="1179576"/>
            <a:ext cx="109728" cy="109728"/>
          </a:xfrm>
          <a:prstGeom prst="ellipse">
            <a:avLst/>
          </a:prstGeom>
          <a:solidFill>
            <a:srgbClr val="E36209"/>
          </a:solidFill>
          <a:ln w="12700">
            <a:solidFill>
              <a:srgbClr val="E36209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75488" y="1115568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資料庫/MQ/Cache = 附加服務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10896" y="1581912"/>
            <a:ext cx="109728" cy="109728"/>
          </a:xfrm>
          <a:prstGeom prst="ellipse">
            <a:avLst/>
          </a:prstGeom>
          <a:solidFill>
            <a:srgbClr val="E36209"/>
          </a:solidFill>
          <a:ln w="12700">
            <a:solidFill>
              <a:srgbClr val="E3620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75488" y="1517904"/>
            <a:ext cx="248107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本地 = 第三方服務，同等對待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475488" y="1719072"/>
            <a:ext cx="2481072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換 DB 只需換 URL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310896" y="1984248"/>
            <a:ext cx="109728" cy="109728"/>
          </a:xfrm>
          <a:prstGeom prst="ellipse">
            <a:avLst/>
          </a:prstGeom>
          <a:solidFill>
            <a:srgbClr val="E36209"/>
          </a:solidFill>
          <a:ln w="12700">
            <a:solidFill>
              <a:srgbClr val="E3620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75488" y="1920240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透過 URL/credential 存取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310896" y="2386584"/>
            <a:ext cx="109728" cy="109728"/>
          </a:xfrm>
          <a:prstGeom prst="ellipse">
            <a:avLst/>
          </a:prstGeom>
          <a:solidFill>
            <a:srgbClr val="E36209"/>
          </a:solidFill>
          <a:ln w="12700">
            <a:solidFill>
              <a:srgbClr val="E36209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75488" y="2322576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 直接 localhost:5432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310896" y="2788920"/>
            <a:ext cx="109728" cy="109728"/>
          </a:xfrm>
          <a:prstGeom prst="ellipse">
            <a:avLst/>
          </a:prstGeom>
          <a:solidFill>
            <a:srgbClr val="E36209"/>
          </a:solidFill>
          <a:ln w="12700">
            <a:solidFill>
              <a:srgbClr val="E36209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75488" y="2724912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DB_URL env var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3139440" y="566928"/>
            <a:ext cx="2865120" cy="4050792"/>
          </a:xfrm>
          <a:prstGeom prst="roundRect">
            <a:avLst>
              <a:gd name="adj" fmla="val 3191"/>
            </a:avLst>
          </a:prstGeom>
          <a:solidFill>
            <a:srgbClr val="161B22"/>
          </a:solidFill>
          <a:ln w="15240">
            <a:solidFill>
              <a:srgbClr val="58A6F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139440" y="566928"/>
            <a:ext cx="2865120" cy="475488"/>
          </a:xfrm>
          <a:prstGeom prst="rect">
            <a:avLst/>
          </a:prstGeom>
          <a:solidFill>
            <a:srgbClr val="1C2128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139440" y="585216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🏗️</a:t>
            </a:r>
            <a:endParaRPr lang="en-US" sz="2200" dirty="0"/>
          </a:p>
        </p:txBody>
      </p:sp>
      <p:sp>
        <p:nvSpPr>
          <p:cNvPr id="24" name="Text 22"/>
          <p:cNvSpPr/>
          <p:nvPr/>
        </p:nvSpPr>
        <p:spPr>
          <a:xfrm>
            <a:off x="3560064" y="566928"/>
            <a:ext cx="24079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⑤ Build/Release/Run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3267456" y="1179576"/>
            <a:ext cx="109728" cy="109728"/>
          </a:xfrm>
          <a:prstGeom prst="ellipse">
            <a:avLst/>
          </a:prstGeom>
          <a:solidFill>
            <a:srgbClr val="58A6FF"/>
          </a:solidFill>
          <a:ln w="12700">
            <a:solidFill>
              <a:srgbClr val="58A6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432048" y="1115568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Build：原始碼 → 可執行包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3267456" y="1581912"/>
            <a:ext cx="109728" cy="109728"/>
          </a:xfrm>
          <a:prstGeom prst="ellipse">
            <a:avLst/>
          </a:prstGeom>
          <a:solidFill>
            <a:srgbClr val="58A6FF"/>
          </a:solidFill>
          <a:ln w="12700">
            <a:solidFill>
              <a:srgbClr val="58A6F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432048" y="1517904"/>
            <a:ext cx="248107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Release：Build + Config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3432048" y="1719072"/>
            <a:ext cx="2481072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打上版本號，不可變</a:t>
            </a:r>
            <a:endParaRPr lang="en-US" sz="850" dirty="0"/>
          </a:p>
        </p:txBody>
      </p:sp>
      <p:sp>
        <p:nvSpPr>
          <p:cNvPr id="30" name="Shape 28"/>
          <p:cNvSpPr/>
          <p:nvPr/>
        </p:nvSpPr>
        <p:spPr>
          <a:xfrm>
            <a:off x="3267456" y="1984248"/>
            <a:ext cx="109728" cy="109728"/>
          </a:xfrm>
          <a:prstGeom prst="ellipse">
            <a:avLst/>
          </a:prstGeom>
          <a:solidFill>
            <a:srgbClr val="58A6FF"/>
          </a:solidFill>
          <a:ln w="12700">
            <a:solidFill>
              <a:srgbClr val="58A6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432048" y="1920240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Run：執行特定 Release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3267456" y="2386584"/>
            <a:ext cx="109728" cy="109728"/>
          </a:xfrm>
          <a:prstGeom prst="ellipse">
            <a:avLst/>
          </a:prstGeom>
          <a:solidFill>
            <a:srgbClr val="58A6FF"/>
          </a:solidFill>
          <a:ln w="12700">
            <a:solidFill>
              <a:srgbClr val="58A6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432048" y="2322576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三個階段嚴格分離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3267456" y="2788920"/>
            <a:ext cx="109728" cy="109728"/>
          </a:xfrm>
          <a:prstGeom prst="ellipse">
            <a:avLst/>
          </a:prstGeom>
          <a:solidFill>
            <a:srgbClr val="58A6FF"/>
          </a:solidFill>
          <a:ln w="12700">
            <a:solidFill>
              <a:srgbClr val="58A6FF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432048" y="2724912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 不可被修改</a:t>
            </a: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>
            <a:off x="6096000" y="566928"/>
            <a:ext cx="2865120" cy="4050792"/>
          </a:xfrm>
          <a:prstGeom prst="roundRect">
            <a:avLst>
              <a:gd name="adj" fmla="val 3191"/>
            </a:avLst>
          </a:prstGeom>
          <a:solidFill>
            <a:srgbClr val="161B22"/>
          </a:solidFill>
          <a:ln w="15240">
            <a:solidFill>
              <a:srgbClr val="3FB950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6096000" y="566928"/>
            <a:ext cx="2865120" cy="475488"/>
          </a:xfrm>
          <a:prstGeom prst="rect">
            <a:avLst/>
          </a:prstGeom>
          <a:solidFill>
            <a:srgbClr val="1C2128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096000" y="585216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🔄</a:t>
            </a:r>
            <a:endParaRPr lang="en-US" sz="2200" dirty="0"/>
          </a:p>
        </p:txBody>
      </p:sp>
      <p:sp>
        <p:nvSpPr>
          <p:cNvPr id="39" name="Text 37"/>
          <p:cNvSpPr/>
          <p:nvPr/>
        </p:nvSpPr>
        <p:spPr>
          <a:xfrm>
            <a:off x="6516624" y="566928"/>
            <a:ext cx="24079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⑥ Processes</a:t>
            </a:r>
            <a:endParaRPr lang="en-US" sz="1200" dirty="0"/>
          </a:p>
        </p:txBody>
      </p:sp>
      <p:sp>
        <p:nvSpPr>
          <p:cNvPr id="40" name="Shape 38"/>
          <p:cNvSpPr/>
          <p:nvPr/>
        </p:nvSpPr>
        <p:spPr>
          <a:xfrm>
            <a:off x="6224016" y="1179576"/>
            <a:ext cx="109728" cy="109728"/>
          </a:xfrm>
          <a:prstGeom prst="ellipse">
            <a:avLst/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388608" y="1115568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 必須是 Stateless</a:t>
            </a:r>
            <a:endParaRPr lang="en-US" sz="1050" dirty="0"/>
          </a:p>
        </p:txBody>
      </p:sp>
      <p:sp>
        <p:nvSpPr>
          <p:cNvPr id="42" name="Shape 40"/>
          <p:cNvSpPr/>
          <p:nvPr/>
        </p:nvSpPr>
        <p:spPr>
          <a:xfrm>
            <a:off x="6224016" y="1581912"/>
            <a:ext cx="109728" cy="109728"/>
          </a:xfrm>
          <a:prstGeom prst="ellipse">
            <a:avLst/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388608" y="1517904"/>
            <a:ext cx="248107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無狀態 = 可隨時增減</a:t>
            </a:r>
            <a:endParaRPr lang="en-US" sz="1050" dirty="0"/>
          </a:p>
        </p:txBody>
      </p:sp>
      <p:sp>
        <p:nvSpPr>
          <p:cNvPr id="44" name="Text 42"/>
          <p:cNvSpPr/>
          <p:nvPr/>
        </p:nvSpPr>
        <p:spPr>
          <a:xfrm>
            <a:off x="6388608" y="1719072"/>
            <a:ext cx="2481072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這就是 Scale Out 的前提！</a:t>
            </a:r>
            <a:endParaRPr lang="en-US" sz="850" dirty="0"/>
          </a:p>
        </p:txBody>
      </p:sp>
      <p:sp>
        <p:nvSpPr>
          <p:cNvPr id="45" name="Shape 43"/>
          <p:cNvSpPr/>
          <p:nvPr/>
        </p:nvSpPr>
        <p:spPr>
          <a:xfrm>
            <a:off x="6224016" y="1984248"/>
            <a:ext cx="109728" cy="109728"/>
          </a:xfrm>
          <a:prstGeom prst="ellipse">
            <a:avLst/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6388608" y="1920240"/>
            <a:ext cx="248107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Session/State → 外部儲存</a:t>
            </a:r>
            <a:endParaRPr lang="en-US" sz="1050" dirty="0"/>
          </a:p>
        </p:txBody>
      </p:sp>
      <p:sp>
        <p:nvSpPr>
          <p:cNvPr id="47" name="Text 45"/>
          <p:cNvSpPr/>
          <p:nvPr/>
        </p:nvSpPr>
        <p:spPr>
          <a:xfrm>
            <a:off x="6388608" y="2121408"/>
            <a:ext cx="2481072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Redis / DB</a:t>
            </a:r>
            <a:endParaRPr lang="en-US" sz="850" dirty="0"/>
          </a:p>
        </p:txBody>
      </p:sp>
      <p:sp>
        <p:nvSpPr>
          <p:cNvPr id="48" name="Shape 46"/>
          <p:cNvSpPr/>
          <p:nvPr/>
        </p:nvSpPr>
        <p:spPr>
          <a:xfrm>
            <a:off x="6224016" y="2386584"/>
            <a:ext cx="109728" cy="109728"/>
          </a:xfrm>
          <a:prstGeom prst="ellipse">
            <a:avLst/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388608" y="2322576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 本地檔案系統存 Session</a:t>
            </a:r>
            <a:endParaRPr lang="en-US" sz="1050" dirty="0"/>
          </a:p>
        </p:txBody>
      </p:sp>
      <p:sp>
        <p:nvSpPr>
          <p:cNvPr id="50" name="Shape 48"/>
          <p:cNvSpPr/>
          <p:nvPr/>
        </p:nvSpPr>
        <p:spPr>
          <a:xfrm>
            <a:off x="6224016" y="2788920"/>
            <a:ext cx="109728" cy="109728"/>
          </a:xfrm>
          <a:prstGeom prst="ellipse">
            <a:avLst/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388608" y="2724912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JWT + Redis</a:t>
            </a:r>
            <a:endParaRPr lang="en-US" sz="1050" dirty="0"/>
          </a:p>
        </p:txBody>
      </p:sp>
      <p:sp>
        <p:nvSpPr>
          <p:cNvPr id="52" name="Shape 50"/>
          <p:cNvSpPr/>
          <p:nvPr/>
        </p:nvSpPr>
        <p:spPr>
          <a:xfrm>
            <a:off x="274320" y="4645152"/>
            <a:ext cx="8595360" cy="384048"/>
          </a:xfrm>
          <a:prstGeom prst="roundRect">
            <a:avLst>
              <a:gd name="adj" fmla="val 14286"/>
            </a:avLst>
          </a:prstGeom>
          <a:solidFill>
            <a:srgbClr val="0A1929"/>
          </a:solidFill>
          <a:ln w="9525">
            <a:solidFill>
              <a:srgbClr val="58A6FF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457200" y="4690872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 Stateless Process (Factor 6) 是 Scale Out 的基石 — 沒有這條，水平擴展就是夢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Factor 7-9：Port Binding、Concurrency、Disposability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4  ·  30 / 50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182880" y="566928"/>
            <a:ext cx="2865120" cy="4050792"/>
          </a:xfrm>
          <a:prstGeom prst="roundRect">
            <a:avLst>
              <a:gd name="adj" fmla="val 3191"/>
            </a:avLst>
          </a:prstGeom>
          <a:solidFill>
            <a:srgbClr val="161B22"/>
          </a:solidFill>
          <a:ln w="15240">
            <a:solidFill>
              <a:srgbClr val="1F6FEB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82880" y="566928"/>
            <a:ext cx="2865120" cy="475488"/>
          </a:xfrm>
          <a:prstGeom prst="rect">
            <a:avLst/>
          </a:prstGeom>
          <a:solidFill>
            <a:srgbClr val="1C2128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82880" y="585216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🔌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603504" y="566928"/>
            <a:ext cx="24079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6F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⑦ Port Binding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10896" y="1179576"/>
            <a:ext cx="109728" cy="109728"/>
          </a:xfrm>
          <a:prstGeom prst="ellipse">
            <a:avLst/>
          </a:prstGeom>
          <a:solidFill>
            <a:srgbClr val="1F6FEB"/>
          </a:solidFill>
          <a:ln w="12700">
            <a:solidFill>
              <a:srgbClr val="1F6FE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75488" y="1115568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應用自帶 HTTP Server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10896" y="1581912"/>
            <a:ext cx="109728" cy="109728"/>
          </a:xfrm>
          <a:prstGeom prst="ellipse">
            <a:avLst/>
          </a:prstGeom>
          <a:solidFill>
            <a:srgbClr val="1F6FEB"/>
          </a:solidFill>
          <a:ln w="12700">
            <a:solidFill>
              <a:srgbClr val="1F6FE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75488" y="1517904"/>
            <a:ext cx="248107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透過 Port 對外提供服務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475488" y="1719072"/>
            <a:ext cx="2481072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不需要外部 Apache/Nginx 才能跑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310896" y="1984248"/>
            <a:ext cx="109728" cy="109728"/>
          </a:xfrm>
          <a:prstGeom prst="ellipse">
            <a:avLst/>
          </a:prstGeom>
          <a:solidFill>
            <a:srgbClr val="1F6FEB"/>
          </a:solidFill>
          <a:ln w="12700">
            <a:solidFill>
              <a:srgbClr val="1F6FE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75488" y="1920240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Flask/FastAPI/Express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310896" y="2386584"/>
            <a:ext cx="109728" cy="109728"/>
          </a:xfrm>
          <a:prstGeom prst="ellipse">
            <a:avLst/>
          </a:prstGeom>
          <a:solidFill>
            <a:srgbClr val="1F6FEB"/>
          </a:solidFill>
          <a:ln w="12700">
            <a:solidFill>
              <a:srgbClr val="1F6F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75488" y="2322576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容器化天然符合此條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310896" y="2788920"/>
            <a:ext cx="109728" cy="109728"/>
          </a:xfrm>
          <a:prstGeom prst="ellipse">
            <a:avLst/>
          </a:prstGeom>
          <a:solidFill>
            <a:srgbClr val="1F6FEB"/>
          </a:solidFill>
          <a:ln w="12700">
            <a:solidFill>
              <a:srgbClr val="1F6F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75488" y="2724912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PORT=8080 環境變數控制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3139440" y="566928"/>
            <a:ext cx="2865120" cy="4050792"/>
          </a:xfrm>
          <a:prstGeom prst="roundRect">
            <a:avLst>
              <a:gd name="adj" fmla="val 3191"/>
            </a:avLst>
          </a:prstGeom>
          <a:solidFill>
            <a:srgbClr val="161B22"/>
          </a:solidFill>
          <a:ln w="15240">
            <a:solidFill>
              <a:srgbClr val="58A6F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139440" y="566928"/>
            <a:ext cx="2865120" cy="475488"/>
          </a:xfrm>
          <a:prstGeom prst="rect">
            <a:avLst/>
          </a:prstGeom>
          <a:solidFill>
            <a:srgbClr val="1C2128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139440" y="585216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⚡</a:t>
            </a:r>
            <a:endParaRPr lang="en-US" sz="2200" dirty="0"/>
          </a:p>
        </p:txBody>
      </p:sp>
      <p:sp>
        <p:nvSpPr>
          <p:cNvPr id="24" name="Text 22"/>
          <p:cNvSpPr/>
          <p:nvPr/>
        </p:nvSpPr>
        <p:spPr>
          <a:xfrm>
            <a:off x="3560064" y="566928"/>
            <a:ext cx="24079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⑧ Concurrency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3267456" y="1179576"/>
            <a:ext cx="109728" cy="109728"/>
          </a:xfrm>
          <a:prstGeom prst="ellipse">
            <a:avLst/>
          </a:prstGeom>
          <a:solidFill>
            <a:srgbClr val="58A6FF"/>
          </a:solidFill>
          <a:ln w="12700">
            <a:solidFill>
              <a:srgbClr val="58A6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432048" y="1115568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透過 Process 類型 Scale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3267456" y="1581912"/>
            <a:ext cx="109728" cy="109728"/>
          </a:xfrm>
          <a:prstGeom prst="ellipse">
            <a:avLst/>
          </a:prstGeom>
          <a:solidFill>
            <a:srgbClr val="58A6FF"/>
          </a:solidFill>
          <a:ln w="12700">
            <a:solidFill>
              <a:srgbClr val="58A6F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432048" y="1517904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Process × N = Scale Out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3267456" y="1984248"/>
            <a:ext cx="109728" cy="109728"/>
          </a:xfrm>
          <a:prstGeom prst="ellipse">
            <a:avLst/>
          </a:prstGeom>
          <a:solidFill>
            <a:srgbClr val="58A6FF"/>
          </a:solidFill>
          <a:ln w="12700">
            <a:solidFill>
              <a:srgbClr val="58A6F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432048" y="1920240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Worker Process = 非同步任務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3267456" y="2386584"/>
            <a:ext cx="109728" cy="109728"/>
          </a:xfrm>
          <a:prstGeom prst="ellipse">
            <a:avLst/>
          </a:prstGeom>
          <a:solidFill>
            <a:srgbClr val="58A6FF"/>
          </a:solidFill>
          <a:ln w="12700">
            <a:solidFill>
              <a:srgbClr val="58A6FF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432048" y="2322576"/>
            <a:ext cx="248107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不同類型可獨立 Scale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3432048" y="2523744"/>
            <a:ext cx="2481072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× 5, Worker × 2</a:t>
            </a:r>
            <a:endParaRPr lang="en-US" sz="850" dirty="0"/>
          </a:p>
        </p:txBody>
      </p:sp>
      <p:sp>
        <p:nvSpPr>
          <p:cNvPr id="34" name="Shape 32"/>
          <p:cNvSpPr/>
          <p:nvPr/>
        </p:nvSpPr>
        <p:spPr>
          <a:xfrm>
            <a:off x="3267456" y="2788920"/>
            <a:ext cx="109728" cy="109728"/>
          </a:xfrm>
          <a:prstGeom prst="ellipse">
            <a:avLst/>
          </a:prstGeom>
          <a:solidFill>
            <a:srgbClr val="58A6FF"/>
          </a:solidFill>
          <a:ln w="12700">
            <a:solidFill>
              <a:srgbClr val="58A6FF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432048" y="2724912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Kubernetes Deployment 完美支援</a:t>
            </a: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>
            <a:off x="6096000" y="566928"/>
            <a:ext cx="2865120" cy="4050792"/>
          </a:xfrm>
          <a:prstGeom prst="roundRect">
            <a:avLst>
              <a:gd name="adj" fmla="val 3191"/>
            </a:avLst>
          </a:prstGeom>
          <a:solidFill>
            <a:srgbClr val="161B22"/>
          </a:solidFill>
          <a:ln w="15240">
            <a:solidFill>
              <a:srgbClr val="3FB950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6096000" y="566928"/>
            <a:ext cx="2865120" cy="475488"/>
          </a:xfrm>
          <a:prstGeom prst="rect">
            <a:avLst/>
          </a:prstGeom>
          <a:solidFill>
            <a:srgbClr val="1C2128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096000" y="585216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🔄</a:t>
            </a:r>
            <a:endParaRPr lang="en-US" sz="2200" dirty="0"/>
          </a:p>
        </p:txBody>
      </p:sp>
      <p:sp>
        <p:nvSpPr>
          <p:cNvPr id="39" name="Text 37"/>
          <p:cNvSpPr/>
          <p:nvPr/>
        </p:nvSpPr>
        <p:spPr>
          <a:xfrm>
            <a:off x="6516624" y="566928"/>
            <a:ext cx="24079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⑨ Disposability</a:t>
            </a:r>
            <a:endParaRPr lang="en-US" sz="1200" dirty="0"/>
          </a:p>
        </p:txBody>
      </p:sp>
      <p:sp>
        <p:nvSpPr>
          <p:cNvPr id="40" name="Shape 38"/>
          <p:cNvSpPr/>
          <p:nvPr/>
        </p:nvSpPr>
        <p:spPr>
          <a:xfrm>
            <a:off x="6224016" y="1179576"/>
            <a:ext cx="109728" cy="109728"/>
          </a:xfrm>
          <a:prstGeom prst="ellipse">
            <a:avLst/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388608" y="1115568"/>
            <a:ext cx="248107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 要能快速啟動</a:t>
            </a:r>
            <a:endParaRPr lang="en-US" sz="1050" dirty="0"/>
          </a:p>
        </p:txBody>
      </p:sp>
      <p:sp>
        <p:nvSpPr>
          <p:cNvPr id="42" name="Text 40"/>
          <p:cNvSpPr/>
          <p:nvPr/>
        </p:nvSpPr>
        <p:spPr>
          <a:xfrm>
            <a:off x="6388608" y="1316736"/>
            <a:ext cx="2481072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目標 &lt; 10 秒</a:t>
            </a:r>
            <a:endParaRPr lang="en-US" sz="850" dirty="0"/>
          </a:p>
        </p:txBody>
      </p:sp>
      <p:sp>
        <p:nvSpPr>
          <p:cNvPr id="43" name="Shape 41"/>
          <p:cNvSpPr/>
          <p:nvPr/>
        </p:nvSpPr>
        <p:spPr>
          <a:xfrm>
            <a:off x="6224016" y="1581912"/>
            <a:ext cx="109728" cy="109728"/>
          </a:xfrm>
          <a:prstGeom prst="ellipse">
            <a:avLst/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388608" y="1517904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優雅關閉 (Graceful Shutdown)</a:t>
            </a:r>
            <a:endParaRPr lang="en-US" sz="1050" dirty="0"/>
          </a:p>
        </p:txBody>
      </p:sp>
      <p:sp>
        <p:nvSpPr>
          <p:cNvPr id="45" name="Shape 43"/>
          <p:cNvSpPr/>
          <p:nvPr/>
        </p:nvSpPr>
        <p:spPr>
          <a:xfrm>
            <a:off x="6224016" y="1984248"/>
            <a:ext cx="109728" cy="109728"/>
          </a:xfrm>
          <a:prstGeom prst="ellipse">
            <a:avLst/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6388608" y="1920240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接到 SIGTERM → 完成當前請求再關</a:t>
            </a:r>
            <a:endParaRPr lang="en-US" sz="1050" dirty="0"/>
          </a:p>
        </p:txBody>
      </p:sp>
      <p:sp>
        <p:nvSpPr>
          <p:cNvPr id="47" name="Shape 45"/>
          <p:cNvSpPr/>
          <p:nvPr/>
        </p:nvSpPr>
        <p:spPr>
          <a:xfrm>
            <a:off x="6224016" y="2386584"/>
            <a:ext cx="109728" cy="109728"/>
          </a:xfrm>
          <a:prstGeom prst="ellipse">
            <a:avLst/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388608" y="2322576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Crash 也沒關係 — 快速重啟</a:t>
            </a:r>
            <a:endParaRPr lang="en-US" sz="1050" dirty="0"/>
          </a:p>
        </p:txBody>
      </p:sp>
      <p:sp>
        <p:nvSpPr>
          <p:cNvPr id="49" name="Shape 47"/>
          <p:cNvSpPr/>
          <p:nvPr/>
        </p:nvSpPr>
        <p:spPr>
          <a:xfrm>
            <a:off x="6224016" y="2788920"/>
            <a:ext cx="109728" cy="109728"/>
          </a:xfrm>
          <a:prstGeom prst="ellipse">
            <a:avLst/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388608" y="2724912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Container + K8s 完美搭配</a:t>
            </a:r>
            <a:endParaRPr lang="en-US" sz="1050" dirty="0"/>
          </a:p>
        </p:txBody>
      </p:sp>
      <p:sp>
        <p:nvSpPr>
          <p:cNvPr id="51" name="Shape 49"/>
          <p:cNvSpPr/>
          <p:nvPr/>
        </p:nvSpPr>
        <p:spPr>
          <a:xfrm>
            <a:off x="274320" y="4645152"/>
            <a:ext cx="8595360" cy="384048"/>
          </a:xfrm>
          <a:prstGeom prst="roundRect">
            <a:avLst>
              <a:gd name="adj" fmla="val 14286"/>
            </a:avLst>
          </a:prstGeom>
          <a:solidFill>
            <a:srgbClr val="0A1929"/>
          </a:solidFill>
          <a:ln w="9525">
            <a:solidFill>
              <a:srgbClr val="58A6FF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457200" y="4690872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 Disposability 讓 Kubernetes 可以隨時 kill/restart 你的 Container — 不用怕，設計好就沒問題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D29922"/>
          </a:solidFill>
          <a:ln w="12700">
            <a:solidFill>
              <a:srgbClr val="D2992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Factor 10-12：Dev/Prod Parity、Logs、Admin Processes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4  ·  31 / 50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182880" y="566928"/>
            <a:ext cx="2865120" cy="4050792"/>
          </a:xfrm>
          <a:prstGeom prst="roundRect">
            <a:avLst>
              <a:gd name="adj" fmla="val 3191"/>
            </a:avLst>
          </a:prstGeom>
          <a:solidFill>
            <a:srgbClr val="161B22"/>
          </a:solidFill>
          <a:ln w="15240">
            <a:solidFill>
              <a:srgbClr val="D29922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82880" y="566928"/>
            <a:ext cx="2865120" cy="475488"/>
          </a:xfrm>
          <a:prstGeom prst="rect">
            <a:avLst/>
          </a:prstGeom>
          <a:solidFill>
            <a:srgbClr val="1C2128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82880" y="585216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🔄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603504" y="566928"/>
            <a:ext cx="24079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⑩ Dev/Prod Parity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10896" y="1179576"/>
            <a:ext cx="109728" cy="109728"/>
          </a:xfrm>
          <a:prstGeom prst="ellipse">
            <a:avLst/>
          </a:prstGeom>
          <a:solidFill>
            <a:srgbClr val="D29922"/>
          </a:solidFill>
          <a:ln w="12700">
            <a:solidFill>
              <a:srgbClr val="D2992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75488" y="1115568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 環境要盡量接近 Prod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10896" y="1581912"/>
            <a:ext cx="109728" cy="109728"/>
          </a:xfrm>
          <a:prstGeom prst="ellipse">
            <a:avLst/>
          </a:prstGeom>
          <a:solidFill>
            <a:srgbClr val="D29922"/>
          </a:solidFill>
          <a:ln w="12700">
            <a:solidFill>
              <a:srgbClr val="D2992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75488" y="1517904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 Dev 用 SQLite, Prod 用 Postgres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310896" y="1984248"/>
            <a:ext cx="109728" cy="109728"/>
          </a:xfrm>
          <a:prstGeom prst="ellipse">
            <a:avLst/>
          </a:prstGeom>
          <a:solidFill>
            <a:srgbClr val="D29922"/>
          </a:solidFill>
          <a:ln w="12700">
            <a:solidFill>
              <a:srgbClr val="D29922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75488" y="1920240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Docker Compose 模擬全部服務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310896" y="2386584"/>
            <a:ext cx="109728" cy="109728"/>
          </a:xfrm>
          <a:prstGeom prst="ellipse">
            <a:avLst/>
          </a:prstGeom>
          <a:solidFill>
            <a:srgbClr val="D29922"/>
          </a:solidFill>
          <a:ln w="12700">
            <a:solidFill>
              <a:srgbClr val="D29922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75488" y="2322576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縮短 Dev → Deploy 週期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310896" y="2788920"/>
            <a:ext cx="109728" cy="109728"/>
          </a:xfrm>
          <a:prstGeom prst="ellipse">
            <a:avLst/>
          </a:prstGeom>
          <a:solidFill>
            <a:srgbClr val="D29922"/>
          </a:solidFill>
          <a:ln w="12700">
            <a:solidFill>
              <a:srgbClr val="D29922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75488" y="2724912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Container 讓 Parity 變容易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3139440" y="566928"/>
            <a:ext cx="2865120" cy="4050792"/>
          </a:xfrm>
          <a:prstGeom prst="roundRect">
            <a:avLst>
              <a:gd name="adj" fmla="val 3191"/>
            </a:avLst>
          </a:prstGeom>
          <a:solidFill>
            <a:srgbClr val="161B22"/>
          </a:solidFill>
          <a:ln w="15240">
            <a:solidFill>
              <a:srgbClr val="6E40C9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139440" y="566928"/>
            <a:ext cx="2865120" cy="475488"/>
          </a:xfrm>
          <a:prstGeom prst="rect">
            <a:avLst/>
          </a:prstGeom>
          <a:solidFill>
            <a:srgbClr val="1C2128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139440" y="585216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📋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3560064" y="566928"/>
            <a:ext cx="24079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E4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⑪ Logs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3267456" y="1179576"/>
            <a:ext cx="109728" cy="109728"/>
          </a:xfrm>
          <a:prstGeom prst="ellipse">
            <a:avLst/>
          </a:prstGeom>
          <a:solidFill>
            <a:srgbClr val="6E40C9"/>
          </a:solidFill>
          <a:ln w="12700">
            <a:solidFill>
              <a:srgbClr val="6E40C9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432048" y="1115568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 輸出到 stdout/stderr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3267456" y="1581912"/>
            <a:ext cx="109728" cy="109728"/>
          </a:xfrm>
          <a:prstGeom prst="ellipse">
            <a:avLst/>
          </a:prstGeom>
          <a:solidFill>
            <a:srgbClr val="6E40C9"/>
          </a:solidFill>
          <a:ln w="12700">
            <a:solidFill>
              <a:srgbClr val="6E40C9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432048" y="1517904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不要自己處理 Log 檔案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3267456" y="1984248"/>
            <a:ext cx="109728" cy="109728"/>
          </a:xfrm>
          <a:prstGeom prst="ellipse">
            <a:avLst/>
          </a:prstGeom>
          <a:solidFill>
            <a:srgbClr val="6E40C9"/>
          </a:solidFill>
          <a:ln w="12700">
            <a:solidFill>
              <a:srgbClr val="6E40C9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432048" y="1920240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由平台收集 (FluentD, CloudWatch)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3267456" y="2386584"/>
            <a:ext cx="109728" cy="109728"/>
          </a:xfrm>
          <a:prstGeom prst="ellipse">
            <a:avLst/>
          </a:prstGeom>
          <a:solidFill>
            <a:srgbClr val="6E40C9"/>
          </a:solidFill>
          <a:ln w="12700">
            <a:solidFill>
              <a:srgbClr val="6E40C9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432048" y="2322576"/>
            <a:ext cx="248107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結構化 Log (JSON)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3432048" y="2523744"/>
            <a:ext cx="2481072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方便搜尋與分析</a:t>
            </a:r>
            <a:endParaRPr lang="en-US" sz="850" dirty="0"/>
          </a:p>
        </p:txBody>
      </p:sp>
      <p:sp>
        <p:nvSpPr>
          <p:cNvPr id="33" name="Shape 31"/>
          <p:cNvSpPr/>
          <p:nvPr/>
        </p:nvSpPr>
        <p:spPr>
          <a:xfrm>
            <a:off x="3267456" y="2788920"/>
            <a:ext cx="109728" cy="109728"/>
          </a:xfrm>
          <a:prstGeom prst="ellipse">
            <a:avLst/>
          </a:prstGeom>
          <a:solidFill>
            <a:srgbClr val="6E40C9"/>
          </a:solidFill>
          <a:ln w="12700">
            <a:solidFill>
              <a:srgbClr val="6E40C9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432048" y="2724912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kubectl logs / docker logs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6096000" y="566928"/>
            <a:ext cx="2865120" cy="4050792"/>
          </a:xfrm>
          <a:prstGeom prst="roundRect">
            <a:avLst>
              <a:gd name="adj" fmla="val 3191"/>
            </a:avLst>
          </a:prstGeom>
          <a:solidFill>
            <a:srgbClr val="161B22"/>
          </a:solidFill>
          <a:ln w="15240">
            <a:solidFill>
              <a:srgbClr val="58A6FF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96000" y="566928"/>
            <a:ext cx="2865120" cy="475488"/>
          </a:xfrm>
          <a:prstGeom prst="rect">
            <a:avLst/>
          </a:prstGeom>
          <a:solidFill>
            <a:srgbClr val="1C2128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096000" y="585216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🛠️</a:t>
            </a:r>
            <a:endParaRPr lang="en-US" sz="2200" dirty="0"/>
          </a:p>
        </p:txBody>
      </p:sp>
      <p:sp>
        <p:nvSpPr>
          <p:cNvPr id="38" name="Text 36"/>
          <p:cNvSpPr/>
          <p:nvPr/>
        </p:nvSpPr>
        <p:spPr>
          <a:xfrm>
            <a:off x="6516624" y="566928"/>
            <a:ext cx="24079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⑫ Admin Processes</a:t>
            </a:r>
            <a:endParaRPr lang="en-US" sz="1200" dirty="0"/>
          </a:p>
        </p:txBody>
      </p:sp>
      <p:sp>
        <p:nvSpPr>
          <p:cNvPr id="39" name="Shape 37"/>
          <p:cNvSpPr/>
          <p:nvPr/>
        </p:nvSpPr>
        <p:spPr>
          <a:xfrm>
            <a:off x="6224016" y="1179576"/>
            <a:ext cx="109728" cy="109728"/>
          </a:xfrm>
          <a:prstGeom prst="ellipse">
            <a:avLst/>
          </a:prstGeom>
          <a:solidFill>
            <a:srgbClr val="58A6FF"/>
          </a:solidFill>
          <a:ln w="12700">
            <a:solidFill>
              <a:srgbClr val="58A6FF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388608" y="1115568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一次性管理任務 = 獨立 Process</a:t>
            </a:r>
            <a:endParaRPr lang="en-US" sz="1050" dirty="0"/>
          </a:p>
        </p:txBody>
      </p:sp>
      <p:sp>
        <p:nvSpPr>
          <p:cNvPr id="41" name="Shape 39"/>
          <p:cNvSpPr/>
          <p:nvPr/>
        </p:nvSpPr>
        <p:spPr>
          <a:xfrm>
            <a:off x="6224016" y="1581912"/>
            <a:ext cx="109728" cy="109728"/>
          </a:xfrm>
          <a:prstGeom prst="ellipse">
            <a:avLst/>
          </a:prstGeom>
          <a:solidFill>
            <a:srgbClr val="58A6FF"/>
          </a:solidFill>
          <a:ln w="12700">
            <a:solidFill>
              <a:srgbClr val="58A6FF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388608" y="1517904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 Migration: kubectl exec</a:t>
            </a:r>
            <a:endParaRPr lang="en-US" sz="1050" dirty="0"/>
          </a:p>
        </p:txBody>
      </p:sp>
      <p:sp>
        <p:nvSpPr>
          <p:cNvPr id="43" name="Shape 41"/>
          <p:cNvSpPr/>
          <p:nvPr/>
        </p:nvSpPr>
        <p:spPr>
          <a:xfrm>
            <a:off x="6224016" y="1984248"/>
            <a:ext cx="109728" cy="109728"/>
          </a:xfrm>
          <a:prstGeom prst="ellipse">
            <a:avLst/>
          </a:prstGeom>
          <a:solidFill>
            <a:srgbClr val="58A6FF"/>
          </a:solidFill>
          <a:ln w="12700">
            <a:solidFill>
              <a:srgbClr val="58A6FF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388608" y="1920240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Cleanup: 獨立 Job</a:t>
            </a:r>
            <a:endParaRPr lang="en-US" sz="1050" dirty="0"/>
          </a:p>
        </p:txBody>
      </p:sp>
      <p:sp>
        <p:nvSpPr>
          <p:cNvPr id="45" name="Shape 43"/>
          <p:cNvSpPr/>
          <p:nvPr/>
        </p:nvSpPr>
        <p:spPr>
          <a:xfrm>
            <a:off x="6224016" y="2386584"/>
            <a:ext cx="109728" cy="109728"/>
          </a:xfrm>
          <a:prstGeom prst="ellipse">
            <a:avLst/>
          </a:prstGeom>
          <a:solidFill>
            <a:srgbClr val="58A6FF"/>
          </a:solidFill>
          <a:ln w="12700">
            <a:solidFill>
              <a:srgbClr val="58A6FF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6388608" y="2322576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與 App 一起打包進 Image</a:t>
            </a:r>
            <a:endParaRPr lang="en-US" sz="1050" dirty="0"/>
          </a:p>
        </p:txBody>
      </p:sp>
      <p:sp>
        <p:nvSpPr>
          <p:cNvPr id="47" name="Shape 45"/>
          <p:cNvSpPr/>
          <p:nvPr/>
        </p:nvSpPr>
        <p:spPr>
          <a:xfrm>
            <a:off x="6224016" y="2788920"/>
            <a:ext cx="109728" cy="109728"/>
          </a:xfrm>
          <a:prstGeom prst="ellipse">
            <a:avLst/>
          </a:prstGeom>
          <a:solidFill>
            <a:srgbClr val="58A6FF"/>
          </a:solidFill>
          <a:ln w="12700">
            <a:solidFill>
              <a:srgbClr val="58A6FF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388608" y="2724912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 直接 SSH 進 Prod 機器跑</a:t>
            </a:r>
            <a:endParaRPr lang="en-US" sz="1050" dirty="0"/>
          </a:p>
        </p:txBody>
      </p:sp>
      <p:sp>
        <p:nvSpPr>
          <p:cNvPr id="49" name="Shape 47"/>
          <p:cNvSpPr/>
          <p:nvPr/>
        </p:nvSpPr>
        <p:spPr>
          <a:xfrm>
            <a:off x="274320" y="4645152"/>
            <a:ext cx="8595360" cy="384048"/>
          </a:xfrm>
          <a:prstGeom prst="roundRect">
            <a:avLst>
              <a:gd name="adj" fmla="val 14286"/>
            </a:avLst>
          </a:prstGeom>
          <a:solidFill>
            <a:srgbClr val="0A1929"/>
          </a:solidFill>
          <a:ln w="9525">
            <a:solidFill>
              <a:srgbClr val="58A6FF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457200" y="4690872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 Logs as streams (Factor 11) 讓 ELK Stack / CloudWatch 可以集中管理所有 Container 的 log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0D8A6C"/>
          </a:solidFill>
          <a:ln w="12700">
            <a:solidFill>
              <a:srgbClr val="0D8A6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Container 天然符合 12-Factor App 原則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4  ·  32 / 50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274320" y="566928"/>
            <a:ext cx="8595360" cy="347472"/>
          </a:xfrm>
          <a:prstGeom prst="roundRect">
            <a:avLst>
              <a:gd name="adj" fmla="val 15789"/>
            </a:avLst>
          </a:prstGeom>
          <a:solidFill>
            <a:srgbClr val="1C2128"/>
          </a:solidFill>
          <a:ln w="10160">
            <a:solidFill>
              <a:srgbClr val="30363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566928"/>
            <a:ext cx="2743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Factor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3291840" y="566928"/>
            <a:ext cx="4114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Container / Docker 的支援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7543800" y="566928"/>
            <a:ext cx="11887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程度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274320" y="932688"/>
            <a:ext cx="8595360" cy="301752"/>
          </a:xfrm>
          <a:prstGeom prst="roundRect">
            <a:avLst>
              <a:gd name="adj" fmla="val 15152"/>
            </a:avLst>
          </a:prstGeom>
          <a:solidFill>
            <a:srgbClr val="161B22"/>
          </a:solidFill>
          <a:ln w="5080">
            <a:solidFill>
              <a:srgbClr val="30363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932688"/>
            <a:ext cx="27432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 Codebase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3291840" y="932688"/>
            <a:ext cx="41148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Dockerfile in repo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7543800" y="932688"/>
            <a:ext cx="118872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274320" y="1252728"/>
            <a:ext cx="8595360" cy="301752"/>
          </a:xfrm>
          <a:prstGeom prst="roundRect">
            <a:avLst>
              <a:gd name="adj" fmla="val 15152"/>
            </a:avLst>
          </a:prstGeom>
          <a:solidFill>
            <a:srgbClr val="0D1117"/>
          </a:solidFill>
          <a:ln w="5080">
            <a:solidFill>
              <a:srgbClr val="30363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1252728"/>
            <a:ext cx="27432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② Dependencies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3291840" y="1252728"/>
            <a:ext cx="41148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Dockerfile + requirements.txt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7543800" y="1252728"/>
            <a:ext cx="118872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274320" y="1572768"/>
            <a:ext cx="8595360" cy="301752"/>
          </a:xfrm>
          <a:prstGeom prst="roundRect">
            <a:avLst>
              <a:gd name="adj" fmla="val 15152"/>
            </a:avLst>
          </a:prstGeom>
          <a:solidFill>
            <a:srgbClr val="161B22"/>
          </a:solidFill>
          <a:ln w="5080">
            <a:solidFill>
              <a:srgbClr val="30363D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1572768"/>
            <a:ext cx="27432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③ Config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3291840" y="1572768"/>
            <a:ext cx="41148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 in docker-compose / K8s Secret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7543800" y="1572768"/>
            <a:ext cx="118872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274320" y="1892808"/>
            <a:ext cx="8595360" cy="301752"/>
          </a:xfrm>
          <a:prstGeom prst="roundRect">
            <a:avLst>
              <a:gd name="adj" fmla="val 15152"/>
            </a:avLst>
          </a:prstGeom>
          <a:solidFill>
            <a:srgbClr val="0D1117"/>
          </a:solidFill>
          <a:ln w="5080">
            <a:solidFill>
              <a:srgbClr val="30363D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57200" y="1892808"/>
            <a:ext cx="27432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362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④ Backing Services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3291840" y="1892808"/>
            <a:ext cx="41148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docker-compose services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7543800" y="1892808"/>
            <a:ext cx="118872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274320" y="2212848"/>
            <a:ext cx="8595360" cy="301752"/>
          </a:xfrm>
          <a:prstGeom prst="roundRect">
            <a:avLst>
              <a:gd name="adj" fmla="val 15152"/>
            </a:avLst>
          </a:prstGeom>
          <a:solidFill>
            <a:srgbClr val="161B22"/>
          </a:solidFill>
          <a:ln w="5080">
            <a:solidFill>
              <a:srgbClr val="30363D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57200" y="2212848"/>
            <a:ext cx="27432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6E4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⑤ Build/Release/Run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3291840" y="2212848"/>
            <a:ext cx="41148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 build → tag → run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7543800" y="2212848"/>
            <a:ext cx="118872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274320" y="2532888"/>
            <a:ext cx="8595360" cy="301752"/>
          </a:xfrm>
          <a:prstGeom prst="roundRect">
            <a:avLst>
              <a:gd name="adj" fmla="val 15152"/>
            </a:avLst>
          </a:prstGeom>
          <a:solidFill>
            <a:srgbClr val="0D1117"/>
          </a:solidFill>
          <a:ln w="5080">
            <a:solidFill>
              <a:srgbClr val="30363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57200" y="2532888"/>
            <a:ext cx="27432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6E4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⑥ Processes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3291840" y="2532888"/>
            <a:ext cx="41148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Stateless Container = Scale Out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7543800" y="2532888"/>
            <a:ext cx="118872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274320" y="2852928"/>
            <a:ext cx="8595360" cy="301752"/>
          </a:xfrm>
          <a:prstGeom prst="roundRect">
            <a:avLst>
              <a:gd name="adj" fmla="val 15152"/>
            </a:avLst>
          </a:prstGeom>
          <a:solidFill>
            <a:srgbClr val="161B22"/>
          </a:solidFill>
          <a:ln w="5080">
            <a:solidFill>
              <a:srgbClr val="30363D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57200" y="2852928"/>
            <a:ext cx="27432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F6F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⑦ Port Binding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3291840" y="2852928"/>
            <a:ext cx="41148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EXPOSE + -p flag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7543800" y="2852928"/>
            <a:ext cx="118872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endParaRPr lang="en-US" sz="1200" dirty="0"/>
          </a:p>
        </p:txBody>
      </p:sp>
      <p:sp>
        <p:nvSpPr>
          <p:cNvPr id="38" name="Shape 36"/>
          <p:cNvSpPr/>
          <p:nvPr/>
        </p:nvSpPr>
        <p:spPr>
          <a:xfrm>
            <a:off x="274320" y="3172968"/>
            <a:ext cx="8595360" cy="301752"/>
          </a:xfrm>
          <a:prstGeom prst="roundRect">
            <a:avLst>
              <a:gd name="adj" fmla="val 15152"/>
            </a:avLst>
          </a:prstGeom>
          <a:solidFill>
            <a:srgbClr val="0D1117"/>
          </a:solidFill>
          <a:ln w="5080">
            <a:solidFill>
              <a:srgbClr val="30363D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57200" y="3172968"/>
            <a:ext cx="27432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⑧ Concurrency</a:t>
            </a:r>
            <a:endParaRPr lang="en-US" sz="950" dirty="0"/>
          </a:p>
        </p:txBody>
      </p:sp>
      <p:sp>
        <p:nvSpPr>
          <p:cNvPr id="40" name="Text 38"/>
          <p:cNvSpPr/>
          <p:nvPr/>
        </p:nvSpPr>
        <p:spPr>
          <a:xfrm>
            <a:off x="3291840" y="3172968"/>
            <a:ext cx="41148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 run ×N / K8s replicas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7543800" y="3172968"/>
            <a:ext cx="118872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endParaRPr lang="en-US" sz="1200" dirty="0"/>
          </a:p>
        </p:txBody>
      </p:sp>
      <p:sp>
        <p:nvSpPr>
          <p:cNvPr id="42" name="Shape 40"/>
          <p:cNvSpPr/>
          <p:nvPr/>
        </p:nvSpPr>
        <p:spPr>
          <a:xfrm>
            <a:off x="274320" y="3493008"/>
            <a:ext cx="8595360" cy="301752"/>
          </a:xfrm>
          <a:prstGeom prst="roundRect">
            <a:avLst>
              <a:gd name="adj" fmla="val 15152"/>
            </a:avLst>
          </a:prstGeom>
          <a:solidFill>
            <a:srgbClr val="161B22"/>
          </a:solidFill>
          <a:ln w="5080">
            <a:solidFill>
              <a:srgbClr val="30363D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57200" y="3493008"/>
            <a:ext cx="27432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⑨ Disposability</a:t>
            </a:r>
            <a:endParaRPr lang="en-US" sz="950" dirty="0"/>
          </a:p>
        </p:txBody>
      </p:sp>
      <p:sp>
        <p:nvSpPr>
          <p:cNvPr id="44" name="Text 42"/>
          <p:cNvSpPr/>
          <p:nvPr/>
        </p:nvSpPr>
        <p:spPr>
          <a:xfrm>
            <a:off x="3291840" y="3493008"/>
            <a:ext cx="41148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Container 快速啟動/關閉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7543800" y="3493008"/>
            <a:ext cx="118872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74320" y="3813048"/>
            <a:ext cx="8595360" cy="301752"/>
          </a:xfrm>
          <a:prstGeom prst="roundRect">
            <a:avLst>
              <a:gd name="adj" fmla="val 15152"/>
            </a:avLst>
          </a:prstGeom>
          <a:solidFill>
            <a:srgbClr val="0D1117"/>
          </a:solidFill>
          <a:ln w="5080">
            <a:solidFill>
              <a:srgbClr val="30363D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57200" y="3813048"/>
            <a:ext cx="27432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⑩ Dev/Prod Parity</a:t>
            </a:r>
            <a:endParaRPr lang="en-US" sz="950" dirty="0"/>
          </a:p>
        </p:txBody>
      </p:sp>
      <p:sp>
        <p:nvSpPr>
          <p:cNvPr id="48" name="Text 46"/>
          <p:cNvSpPr/>
          <p:nvPr/>
        </p:nvSpPr>
        <p:spPr>
          <a:xfrm>
            <a:off x="3291840" y="3813048"/>
            <a:ext cx="41148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同一個 Image，環境一致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7543800" y="3813048"/>
            <a:ext cx="118872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274320" y="4133088"/>
            <a:ext cx="8595360" cy="301752"/>
          </a:xfrm>
          <a:prstGeom prst="roundRect">
            <a:avLst>
              <a:gd name="adj" fmla="val 15152"/>
            </a:avLst>
          </a:prstGeom>
          <a:solidFill>
            <a:srgbClr val="161B22"/>
          </a:solidFill>
          <a:ln w="5080">
            <a:solidFill>
              <a:srgbClr val="30363D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457200" y="4133088"/>
            <a:ext cx="27432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⑪ Logs</a:t>
            </a:r>
            <a:endParaRPr lang="en-US" sz="950" dirty="0"/>
          </a:p>
        </p:txBody>
      </p:sp>
      <p:sp>
        <p:nvSpPr>
          <p:cNvPr id="52" name="Text 50"/>
          <p:cNvSpPr/>
          <p:nvPr/>
        </p:nvSpPr>
        <p:spPr>
          <a:xfrm>
            <a:off x="3291840" y="4133088"/>
            <a:ext cx="41148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 logs / stdout</a:t>
            </a:r>
            <a:endParaRPr lang="en-US" sz="900" dirty="0"/>
          </a:p>
        </p:txBody>
      </p:sp>
      <p:sp>
        <p:nvSpPr>
          <p:cNvPr id="53" name="Text 51"/>
          <p:cNvSpPr/>
          <p:nvPr/>
        </p:nvSpPr>
        <p:spPr>
          <a:xfrm>
            <a:off x="7543800" y="4133088"/>
            <a:ext cx="118872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74320" y="4453128"/>
            <a:ext cx="8595360" cy="301752"/>
          </a:xfrm>
          <a:prstGeom prst="roundRect">
            <a:avLst>
              <a:gd name="adj" fmla="val 15152"/>
            </a:avLst>
          </a:prstGeom>
          <a:solidFill>
            <a:srgbClr val="0D1117"/>
          </a:solidFill>
          <a:ln w="5080">
            <a:solidFill>
              <a:srgbClr val="30363D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457200" y="4453128"/>
            <a:ext cx="27432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⑫ Admin Processes</a:t>
            </a:r>
            <a:endParaRPr lang="en-US" sz="950" dirty="0"/>
          </a:p>
        </p:txBody>
      </p:sp>
      <p:sp>
        <p:nvSpPr>
          <p:cNvPr id="56" name="Text 54"/>
          <p:cNvSpPr/>
          <p:nvPr/>
        </p:nvSpPr>
        <p:spPr>
          <a:xfrm>
            <a:off x="3291840" y="4453128"/>
            <a:ext cx="41148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 exec / K8s Job</a:t>
            </a:r>
            <a:endParaRPr lang="en-US" sz="900" dirty="0"/>
          </a:p>
        </p:txBody>
      </p:sp>
      <p:sp>
        <p:nvSpPr>
          <p:cNvPr id="57" name="Text 55"/>
          <p:cNvSpPr/>
          <p:nvPr/>
        </p:nvSpPr>
        <p:spPr>
          <a:xfrm>
            <a:off x="7543800" y="4453128"/>
            <a:ext cx="118872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274320" y="4645152"/>
            <a:ext cx="8595360" cy="384048"/>
          </a:xfrm>
          <a:prstGeom prst="roundRect">
            <a:avLst>
              <a:gd name="adj" fmla="val 14286"/>
            </a:avLst>
          </a:prstGeom>
          <a:solidFill>
            <a:srgbClr val="0A1929"/>
          </a:solidFill>
          <a:ln w="9525">
            <a:solidFill>
              <a:srgbClr val="58A6FF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457200" y="4690872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 Container 不只解決了環境一致問題 — 它幾乎完美地支援了所有 12-Factor App 的原則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0D8A6C"/>
          </a:solidFill>
          <a:ln w="12700">
            <a:solidFill>
              <a:srgbClr val="0D8A6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12-Factor 實戰：一個符合規範的 FastAPI Service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4  ·  33 / 50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274320" y="594360"/>
            <a:ext cx="4206240" cy="1280160"/>
          </a:xfrm>
          <a:prstGeom prst="roundRect">
            <a:avLst>
              <a:gd name="adj" fmla="val 7143"/>
            </a:avLst>
          </a:prstGeom>
          <a:solidFill>
            <a:srgbClr val="0D1117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50800" dir="2700000">
              <a:srgbClr val="000000">
                <a:alpha val="5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365760" y="448056"/>
            <a:ext cx="914400" cy="182880"/>
          </a:xfrm>
          <a:prstGeom prst="roundRect">
            <a:avLst>
              <a:gd name="adj" fmla="val 20000"/>
            </a:avLst>
          </a:prstGeom>
          <a:solidFill>
            <a:srgbClr val="1C2128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84048" y="448056"/>
            <a:ext cx="87782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main.py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402336" y="704088"/>
            <a:ext cx="3950208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os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fastapi import FastAPI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app = FastAPI()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DB_URL = os.getenv('DATABASE_URL')  # Factor 3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@app.get('/health')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async def health():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{'status': 'ok'}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274320" y="1920240"/>
            <a:ext cx="4206240" cy="1097280"/>
          </a:xfrm>
          <a:prstGeom prst="roundRect">
            <a:avLst>
              <a:gd name="adj" fmla="val 8333"/>
            </a:avLst>
          </a:prstGeom>
          <a:solidFill>
            <a:srgbClr val="0D1117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50800" dir="2700000">
              <a:srgbClr val="000000">
                <a:alpha val="5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1773936"/>
            <a:ext cx="914400" cy="182880"/>
          </a:xfrm>
          <a:prstGeom prst="roundRect">
            <a:avLst>
              <a:gd name="adj" fmla="val 20000"/>
            </a:avLst>
          </a:prstGeom>
          <a:solidFill>
            <a:srgbClr val="1C2128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84048" y="1773936"/>
            <a:ext cx="87782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Dockerfile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402336" y="2029968"/>
            <a:ext cx="395020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python:3.11-slim    # Factor 2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WORKDIR /app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COPY requirements.txt .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RUN pip install -r requirements.txt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COPY . .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EXPOSE 8080               # Factor 7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CMD ["uvicorn", "main:app", "--port", "8080"]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274320" y="3063240"/>
            <a:ext cx="4206240" cy="1417320"/>
          </a:xfrm>
          <a:prstGeom prst="roundRect">
            <a:avLst>
              <a:gd name="adj" fmla="val 6452"/>
            </a:avLst>
          </a:prstGeom>
          <a:solidFill>
            <a:srgbClr val="0D1117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50800" dir="2700000">
              <a:srgbClr val="000000">
                <a:alpha val="5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365760" y="2916936"/>
            <a:ext cx="914400" cy="182880"/>
          </a:xfrm>
          <a:prstGeom prst="roundRect">
            <a:avLst>
              <a:gd name="adj" fmla="val 20000"/>
            </a:avLst>
          </a:prstGeom>
          <a:solidFill>
            <a:srgbClr val="1C2128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84048" y="2916936"/>
            <a:ext cx="87782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docker-compose.yml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402336" y="3172968"/>
            <a:ext cx="3950208" cy="1234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services: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api: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build: .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environment: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DATABASE_URL: postgresql://db/app  # Factor 3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ports: ['8080:8080']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depends_on: [db]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db: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image: postgres:16       # Factor 4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4754880" y="594360"/>
            <a:ext cx="4206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遵循了哪些 Factor？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4800600" y="1005840"/>
            <a:ext cx="1920240" cy="502920"/>
          </a:xfrm>
          <a:prstGeom prst="roundRect">
            <a:avLst>
              <a:gd name="adj" fmla="val 14545"/>
            </a:avLst>
          </a:prstGeom>
          <a:solidFill>
            <a:srgbClr val="0F2A1A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873752" y="1005840"/>
            <a:ext cx="181051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Factor 2 — 依賴宣告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4800600" y="1600200"/>
            <a:ext cx="1920240" cy="502920"/>
          </a:xfrm>
          <a:prstGeom prst="roundRect">
            <a:avLst>
              <a:gd name="adj" fmla="val 14545"/>
            </a:avLst>
          </a:prstGeom>
          <a:solidFill>
            <a:srgbClr val="0F2A1A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873752" y="1600200"/>
            <a:ext cx="181051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Factor 3 — Config 環境變數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4800600" y="2194560"/>
            <a:ext cx="1920240" cy="502920"/>
          </a:xfrm>
          <a:prstGeom prst="roundRect">
            <a:avLst>
              <a:gd name="adj" fmla="val 14545"/>
            </a:avLst>
          </a:prstGeom>
          <a:solidFill>
            <a:srgbClr val="0F2A1A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873752" y="2194560"/>
            <a:ext cx="181051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Factor 6 — Stateless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4800600" y="2788920"/>
            <a:ext cx="1920240" cy="502920"/>
          </a:xfrm>
          <a:prstGeom prst="roundRect">
            <a:avLst>
              <a:gd name="adj" fmla="val 14545"/>
            </a:avLst>
          </a:prstGeom>
          <a:solidFill>
            <a:srgbClr val="0F2A1A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873752" y="2788920"/>
            <a:ext cx="181051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Factor 9 — 快速啟動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6858000" y="1005840"/>
            <a:ext cx="1920240" cy="502920"/>
          </a:xfrm>
          <a:prstGeom prst="roundRect">
            <a:avLst>
              <a:gd name="adj" fmla="val 14545"/>
            </a:avLst>
          </a:prstGeom>
          <a:solidFill>
            <a:srgbClr val="0F2A1A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931152" y="1005840"/>
            <a:ext cx="181051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Factor 4 — Backing Svc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6858000" y="1600200"/>
            <a:ext cx="1920240" cy="502920"/>
          </a:xfrm>
          <a:prstGeom prst="roundRect">
            <a:avLst>
              <a:gd name="adj" fmla="val 14545"/>
            </a:avLst>
          </a:prstGeom>
          <a:solidFill>
            <a:srgbClr val="0F2A1A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931152" y="1600200"/>
            <a:ext cx="181051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Factor 7 — Port Binding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6858000" y="2194560"/>
            <a:ext cx="1920240" cy="502920"/>
          </a:xfrm>
          <a:prstGeom prst="roundRect">
            <a:avLst>
              <a:gd name="adj" fmla="val 14545"/>
            </a:avLst>
          </a:prstGeom>
          <a:solidFill>
            <a:srgbClr val="0F2A1A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931152" y="2194560"/>
            <a:ext cx="181051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Factor 10 — Dev/Prod Parity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6858000" y="2788920"/>
            <a:ext cx="1920240" cy="502920"/>
          </a:xfrm>
          <a:prstGeom prst="roundRect">
            <a:avLst>
              <a:gd name="adj" fmla="val 14545"/>
            </a:avLst>
          </a:prstGeom>
          <a:solidFill>
            <a:srgbClr val="0F2A1A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931152" y="2788920"/>
            <a:ext cx="181051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Factor 11 — Stdout Log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274320" y="4645152"/>
            <a:ext cx="8595360" cy="384048"/>
          </a:xfrm>
          <a:prstGeom prst="roundRect">
            <a:avLst>
              <a:gd name="adj" fmla="val 14286"/>
            </a:avLst>
          </a:prstGeom>
          <a:solidFill>
            <a:srgbClr val="0A1929"/>
          </a:solidFill>
          <a:ln w="9525">
            <a:solidFill>
              <a:srgbClr val="58A6FF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57200" y="4690872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 一個符合 12-Factor 的 App 天然就是 Container-ready — 這就是現代 Cloud Native 應用的標配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58A6FF"/>
          </a:solidFill>
          <a:ln w="12700">
            <a:solidFill>
              <a:srgbClr val="58A6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4 小結：設計優良的 Cloud Native 應用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4  ·  34 / 50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274320" y="594360"/>
            <a:ext cx="8595360" cy="1207008"/>
          </a:xfrm>
          <a:prstGeom prst="roundRect">
            <a:avLst>
              <a:gd name="adj" fmla="val 7576"/>
            </a:avLst>
          </a:prstGeom>
          <a:solidFill>
            <a:srgbClr val="161B22"/>
          </a:solidFill>
          <a:ln w="15240">
            <a:solidFill>
              <a:srgbClr val="58A6FF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30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274320" y="667512"/>
            <a:ext cx="85953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📐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347472" y="1069848"/>
            <a:ext cx="844905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12-Factor App 不是規定，是智慧結晶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365760" y="1389888"/>
            <a:ext cx="8412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Heroku 從數百個應用中提煉的最佳實踐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65760" y="1645920"/>
            <a:ext cx="8412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每一條都解決了真實的工程痛點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8577072" y="667512"/>
            <a:ext cx="256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學習重點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" y="1874520"/>
            <a:ext cx="8595360" cy="1207008"/>
          </a:xfrm>
          <a:prstGeom prst="roundRect">
            <a:avLst>
              <a:gd name="adj" fmla="val 7576"/>
            </a:avLst>
          </a:prstGeom>
          <a:solidFill>
            <a:srgbClr val="161B22"/>
          </a:solidFill>
          <a:ln w="15240">
            <a:solidFill>
              <a:srgbClr val="0D8A6C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30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" y="1947672"/>
            <a:ext cx="85953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🐳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347472" y="2350008"/>
            <a:ext cx="844905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D8A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Container 天然符合 12-Factor — 它們互相強化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670048"/>
            <a:ext cx="8412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用 Dockerfile 管理依賴 (Factor 2)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365760" y="2926080"/>
            <a:ext cx="8412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用環境變數設定 (Factor 3)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365760" y="3182112"/>
            <a:ext cx="8412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Stateless Process = Scale Out (Factor 6)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8577072" y="1947672"/>
            <a:ext cx="256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核心洞察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274320" y="3154680"/>
            <a:ext cx="8595360" cy="1207008"/>
          </a:xfrm>
          <a:prstGeom prst="roundRect">
            <a:avLst>
              <a:gd name="adj" fmla="val 7576"/>
            </a:avLst>
          </a:prstGeom>
          <a:solidFill>
            <a:srgbClr val="161B22"/>
          </a:solidFill>
          <a:ln w="15240">
            <a:solidFill>
              <a:srgbClr val="3FB950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30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274320" y="3227832"/>
            <a:ext cx="85953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🚀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347472" y="3630168"/>
            <a:ext cx="844905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下一步：自動化這一切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365760" y="3950208"/>
            <a:ext cx="8412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手動 docker build/push 只是起點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365760" y="4206240"/>
            <a:ext cx="8412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CI/CD Pipeline 讓每次 commit 自動部署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365760" y="4462272"/>
            <a:ext cx="8412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→ Part 5: DevOps 與 CI/CD Pipeline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8577072" y="3227832"/>
            <a:ext cx="256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預告 Part 5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2026-03-16T15:22:56Z</dcterms:created>
  <dcterms:modified xsi:type="dcterms:W3CDTF">2026-03-16T15:22:56Z</dcterms:modified>
</cp:coreProperties>
</file>