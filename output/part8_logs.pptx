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Logs: Application Event Records — The Last Line of Defense for Debugging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114800" cy="777240"/>
          </a:xfrm>
          <a:prstGeom prst="roundRect">
            <a:avLst>
              <a:gd name="adj" fmla="val 9412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21792"/>
            <a:ext cx="4114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= Timestamped Structured Event Records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what happened in the system at a specific moment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Prod suddenly returns 500 errors — which API? which user? what cause?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2011680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F3EDE0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User reports 'my order disappeared' — when? which service failed?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54203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4203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 Security audit — who deleted this record and when?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054096"/>
            <a:ext cx="4114800" cy="530352"/>
          </a:xfrm>
          <a:prstGeom prst="roundRect">
            <a:avLst>
              <a:gd name="adj" fmla="val 13793"/>
            </a:avLst>
          </a:prstGeom>
          <a:solidFill>
            <a:srgbClr val="F8ECEC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054096"/>
            <a:ext cx="3840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Without Logs: Can only reproduce issues, guess causes, no audit trail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594360"/>
            <a:ext cx="4160520" cy="4224528"/>
          </a:xfrm>
          <a:prstGeom prst="roundRect">
            <a:avLst>
              <a:gd name="adj" fmla="val 2198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006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88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Log Example (JSON)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37176" y="704088"/>
            <a:ext cx="390448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"timestamp": "2024-03-15T14:32:01.234Z",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"level": "ERROR",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"service": "payment-service",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"v2.1.3",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"trace_id": "abc-123-xyz",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"span_id": "def-456",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"user_id": "user-789",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"event": "payment_failed",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"amount": 299.99,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"currency": "USD",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"error": "insufficient_funds",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"message": "Payment processing failed",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"duration_ms": 145,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"env": "production"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A good log entry should tell you 100% what happened without reproducing the issue — include trace_id to correlate with Traces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vs Unstructured Logs: Machine-Readability Is Key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Unstructured Logs (Human-readable, Machine-unfriendly)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987552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text logs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02336" y="1097280"/>
            <a:ext cx="376732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14:32:01 ERROR User login failed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14:32:01 ERROR john@example.com bad pwd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14:33:45 INFO  request GET /api/users 200 145ms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2024-03-15 14:33:52 WARN  high memory: 89%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72491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7249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Hard to grep: must guess the format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313639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1363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Cannot auto-parse email / latency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54787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5478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Kibana/Loki cannot perform aggregation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Structured Logs (JSON / key=value)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987552"/>
            <a:ext cx="4023360" cy="1600200"/>
          </a:xfrm>
          <a:prstGeom prst="roundRect">
            <a:avLst>
              <a:gd name="adj" fmla="val 5714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6460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structured JSON logs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82896" y="1097280"/>
            <a:ext cx="3767328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{"time":"2024-03-15T14:32:01Z","level":"ERROR",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"event":"login_failed","user":"john@ex.com",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"reason":"wrong_password","attempt":3}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{"time":"2024-03-15T14:33:45Z","level":"INFO",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"method":"GET","path":"/api/users","status":200,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"duration_ms":145}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{"time":"2024-03-15T14:33:52Z","level":"WARN",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"event":"high_memory","usage_pct":89}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46320" y="272491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272491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Auto-parsed by machines — ES/Loki auto-index fields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46320" y="313639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31363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Supports aggregation: avg(duration_ms) by user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3547872"/>
            <a:ext cx="3749040" cy="365760"/>
          </a:xfrm>
          <a:prstGeom prst="roundRect">
            <a:avLst>
              <a:gd name="adj" fmla="val 15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354787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Can join with Traces via trace_id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" y="3730752"/>
            <a:ext cx="8595360" cy="1024128"/>
          </a:xfrm>
          <a:prstGeom prst="roundRect">
            <a:avLst>
              <a:gd name="adj" fmla="val 8929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5760" y="35844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4048" y="35844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structlog example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02336" y="3840480"/>
            <a:ext cx="8339328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structlog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= structlog.get_logger()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log.error('login_failed', user=email, reason='wrong_password', attempt=3, trace_id=get_trace_id())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Level Design: When to Use Which Level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621792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5240">
            <a:solidFill>
              <a:srgbClr val="8A80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217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DEBUG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621792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debug info — enable only in dev/debug, usually off in Production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92240" y="621792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 query: SELECT * FROM users WHERE id=123 (12ms)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1335024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335024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86000" y="1335024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operation events — service start, request success, state changes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1335024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payment_completed: order_id=456, amount=299.99, user=john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048256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F3EDE0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048256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286000" y="2048256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 but handled situations — no impact on main flow, but worth noting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92240" y="2048256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retry_attempt: db_connection failed, retry 2/3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2761488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2761488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86000" y="2761488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 error occurred — requires human intervention, partial functionality affected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2761488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payment_failed: stripe_api_error, user_id=789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474720"/>
            <a:ext cx="8595360" cy="658368"/>
          </a:xfrm>
          <a:prstGeom prst="roundRect">
            <a:avLst>
              <a:gd name="adj" fmla="val 11111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1480" y="34747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CRITICAL/FATAL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286000" y="3474720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cannot continue — entire service is down, immediate human action required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92240" y="3474720"/>
            <a:ext cx="22402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db_connection_pool_exhausted: all 100 connections in use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74320" y="4224528"/>
            <a:ext cx="8595360" cy="594360"/>
          </a:xfrm>
          <a:prstGeom prst="roundRect">
            <a:avLst>
              <a:gd name="adj" fmla="val 12308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4224528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Common Mistakes: ERROR catch Exception (catching everything as ERROR) | Too many INFO logs (noise) | DEBUG left in Prod (perf issue)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8920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9377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Production recommendation: INFO and above, use DEBUG only for critical paths | For every log ask: What decision can the on-call engineer make from this?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8B6AB5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ID: How to Correlate Logs in Distributed Systems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Without Correlation ID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02412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reports checkout failure — where do you look?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29844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29844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api-service: ERROR payment failed user_id=123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173736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payment-svc: WARN stripe timeout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1762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1762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db: ERROR connection timeout 14:32:01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74320" y="26700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these 3 logs from the same request? 🤷 No way to tell!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Using Trace ID as Correlation ID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54880" y="1024128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1024128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api-svc: ERROR payment_failed trace_id="abc-123"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1627632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92040" y="1627632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payment-svc: WARN stripe_timeout trace_id="abc-123"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54880" y="2231136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92040" y="2231136"/>
            <a:ext cx="37490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db: ERROR conn_timeout trace_id="abc-123"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754880" y="28529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Query trace_id='abc-123' to find all related logs at once!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3218688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07238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4048" y="307238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FastAPI + OpenTelemetry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02336" y="3328416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structlog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@app.middleware('http')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logging_middleware(request, call_next):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span = trace.get_current_span()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trace_id = format(span.get_span_context().trace_id, '032x')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All subsequent logs automatically include trace_id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structlog.contextvars.bind_contextvars(trace_id=trace_id)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await call_next(request)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468172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72744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Use OpenTelemetry trace_id as Correlation ID — one ID to link Logs + Traces + Metrics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Monolithic Service Log Collection: From stdout to Centralized Storage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172200" y="9144"/>
            <a:ext cx="9601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 2/10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172200" y="109728"/>
            <a:ext cx="960120" cy="82296"/>
          </a:xfrm>
          <a:prstGeom prst="rect">
            <a:avLst/>
          </a:prstGeom>
          <a:solidFill>
            <a:srgbClr val="D6CCBF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09728"/>
            <a:ext cx="192024" cy="822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82880" y="749808"/>
            <a:ext cx="146304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2880" y="804672"/>
            <a:ext cx="146304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37744" y="132039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19456" y="154899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print()/logging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stdout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691640" y="1399032"/>
            <a:ext cx="36576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1600200" y="12252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00200" y="1225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148840" y="749808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D6CCBF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148840" y="804672"/>
            <a:ext cx="137160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203704" y="1320394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File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185416" y="1548994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/var/log/app.log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journald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566160" y="1399032"/>
            <a:ext cx="36576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3474720" y="12252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1225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023360" y="749808"/>
            <a:ext cx="155448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023360" y="804672"/>
            <a:ext cx="155448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078224" y="1320394"/>
            <a:ext cx="14447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Filebeat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059936" y="1548994"/>
            <a:ext cx="14813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623560" y="1399032"/>
            <a:ext cx="365760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5532120" y="12252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32120" y="1225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080760" y="749808"/>
            <a:ext cx="150876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80760" y="804672"/>
            <a:ext cx="150876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135624" y="1320394"/>
            <a:ext cx="13990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Loki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117336" y="1548994"/>
            <a:ext cx="14356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635240" y="1399032"/>
            <a:ext cx="365760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7543800" y="122529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43800" y="122529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8092440" y="749808"/>
            <a:ext cx="960120" cy="1097280"/>
          </a:xfrm>
          <a:prstGeom prst="roundRect">
            <a:avLst>
              <a:gd name="adj" fmla="val 9524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092440" y="804672"/>
            <a:ext cx="96012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8147304" y="1320394"/>
            <a:ext cx="8503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8129016" y="1548994"/>
            <a:ext cx="8869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visualize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950208" y="1920240"/>
            <a:ext cx="1691640" cy="777240"/>
          </a:xfrm>
          <a:prstGeom prst="roundRect">
            <a:avLst>
              <a:gd name="adj" fmla="val 11765"/>
            </a:avLst>
          </a:prstGeom>
          <a:ln w="12700">
            <a:solidFill>
              <a:srgbClr val="B8892C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041648" y="17739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59936" y="17739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023360" y="2029968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Filebeat (Elastic)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4023360" y="2331720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(CNCF)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023360" y="2633472"/>
            <a:ext cx="1508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(Rust)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74320" y="2852928"/>
            <a:ext cx="8595360" cy="1444752"/>
          </a:xfrm>
          <a:prstGeom prst="roundRect">
            <a:avLst>
              <a:gd name="adj" fmla="val 6329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365760" y="2706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84048" y="2706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Fluentd config (single server)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02336" y="2962656"/>
            <a:ext cx="8339328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&lt;source&gt;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@type tail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 /var/log/app/*.log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pos_file /var/log/fluentd/app.pos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&lt;parse&gt;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@type json  # structured JSON 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&lt;/parse&gt;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 app.logs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&lt;/source&gt;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&lt;match app.logs&gt;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@type elasticsearch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 elasticsearch.logging.svc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port 9200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logstash_format true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&lt;/match&gt;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74320" y="4407408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45312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Monolithic log collection is straightforward — output to stdout, OS saves to journald, Filebeat/Fluentd collects and ships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Log Collection: Container Environment Challenges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Major Challenges of Distributed Logs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005840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24128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🗑️ Containers Are Ephemeral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11480" y="124358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restart/delete → Logs are gone!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no longer tail log files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572768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F8ECEC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91056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Pods Spread Across Nodes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11480" y="181051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Pods × 10 Nodes = Logs everywhere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kubectl logs is impossible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4320" y="2139696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F3EDE0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157984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Log Volume Explosion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11480" y="23774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microservices × 1000 req/s = TB-level Logs/day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and filtering strategies needed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74320" y="2706624"/>
            <a:ext cx="4023360" cy="512064"/>
          </a:xfrm>
          <a:prstGeom prst="roundRect">
            <a:avLst>
              <a:gd name="adj" fmla="val 14286"/>
            </a:avLst>
          </a:prstGeom>
          <a:solidFill>
            <a:srgbClr val="F3EDE0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724912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Cannot Correlate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294436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from the same request span multiple services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Correlation ID, impossible to trace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66928"/>
            <a:ext cx="411480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56692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Solutions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0" y="1005840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024128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Output Logs to stdout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00600" y="1243584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don't write files, K8s auto-saves stdout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logs just works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663440" y="1572768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1591056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DaemonSet / Sidecar Collection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00600" y="181051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log collector per Node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Auto-collects stdout from all Containers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663440" y="2139696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2157984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🏷️ Attach Metadata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800600" y="237744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Auto-append: pod name, namespace, node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label → easy filtering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2706624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724912"/>
            <a:ext cx="3840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Centralized Storage + Search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00600" y="294436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/ Loki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search + structured queries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K8s Container stdout → /var/log/containers/*.log is auto-saved — Log collectors only need to tail this directory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B8E"/>
          </a:solidFill>
          <a:ln w="12700">
            <a:solidFill>
              <a:srgbClr val="4A9B8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Collection Architecture: Sidecar vs DaemonSet Pattern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5943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DaemonSet Pattern (Recommended)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3931920" cy="3108960"/>
          </a:xfrm>
          <a:prstGeom prst="roundRect">
            <a:avLst>
              <a:gd name="adj" fmla="val 2941"/>
            </a:avLst>
          </a:prstGeom>
          <a:ln w="12700">
            <a:solidFill>
              <a:srgbClr val="4A9B8E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65760" y="7680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4A9B8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7680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Node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1143000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1430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1143000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1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16642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6642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9808" y="16642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2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185416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9808" y="2185416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Pod 3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27632" y="1078992"/>
            <a:ext cx="1024128" cy="2011680"/>
          </a:xfrm>
          <a:prstGeom prst="roundRect">
            <a:avLst>
              <a:gd name="adj" fmla="val 5357"/>
            </a:avLst>
          </a:prstGeom>
          <a:solidFill>
            <a:srgbClr val="ECE6DD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27632" y="1115568"/>
            <a:ext cx="10241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containers/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*.log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536192" y="1527048"/>
            <a:ext cx="73152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536192" y="2029968"/>
            <a:ext cx="73152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536192" y="2532888"/>
            <a:ext cx="73152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2880360" y="1508760"/>
            <a:ext cx="1234440" cy="914400"/>
          </a:xfrm>
          <a:prstGeom prst="roundRect">
            <a:avLst>
              <a:gd name="adj" fmla="val 10000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880360" y="1563624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2935224" y="1984248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(DaemonSet)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916936" y="2212848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per Node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670048" y="2167128"/>
            <a:ext cx="18288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365760" y="413308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 Collector = 1 Node | Lightweight | Shared by all Pods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Sidecar Pattern (Special Cases)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663440" y="914400"/>
            <a:ext cx="4114800" cy="1691640"/>
          </a:xfrm>
          <a:prstGeom prst="roundRect">
            <a:avLst>
              <a:gd name="adj" fmla="val 5405"/>
            </a:avLst>
          </a:prstGeom>
          <a:ln w="12700">
            <a:solidFill>
              <a:srgbClr val="B8892C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754880" y="7680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B8892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73168" y="7680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(with sidecar)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846320" y="126187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126187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38928" y="126187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629400" y="1261872"/>
            <a:ext cx="137160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75120" y="126187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🔄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922008" y="1261872"/>
            <a:ext cx="10424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Sidecar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63640" y="1764792"/>
            <a:ext cx="347472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6163056" y="1591056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63056" y="1591056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shared</a:t>
            </a:r>
            <a:endParaRPr lang="en-US" sz="7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663440" y="2743200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0600" y="2743200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each app needs its own log format configuration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663440" y="3182112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00600" y="318211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when: legacy app writes to files (no code change)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663440" y="3621024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F3EDE0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00600" y="3621024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Downside: extra sidecar container per Pod (2× resources)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663440" y="4059936"/>
            <a:ext cx="4114800" cy="384048"/>
          </a:xfrm>
          <a:prstGeom prst="roundRect">
            <a:avLst>
              <a:gd name="adj" fmla="val 14286"/>
            </a:avLst>
          </a:prstGeom>
          <a:solidFill>
            <a:srgbClr val="F3EDE0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00600" y="405993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Downside: complex config, hard to manage uniformly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74320" y="437083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7200" y="44165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 K8s, 99% use DaemonSet (Fluent Bit) — unless you have a legacy app that cannot output to stdout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/ EFK Stack: The Industry's Most Widely Used Log Management Solution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874520" cy="2468880"/>
          </a:xfrm>
          <a:prstGeom prst="roundRect">
            <a:avLst>
              <a:gd name="adj" fmla="val 4878"/>
            </a:avLst>
          </a:prstGeom>
          <a:ln w="12700">
            <a:solidFill>
              <a:srgbClr val="5A9B6E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7432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FFFDF8"/>
          </a:solidFill>
          <a:ln w="6350">
            <a:solidFill>
              <a:srgbClr val="5A9B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A9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92608" y="96012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8328" y="9601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85216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170432" y="960120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6152" y="9601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960120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2608" y="1572768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5A9B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" y="15727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📦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5216" y="1572768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170432" y="1572768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8B6A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16152" y="15727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💳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1572768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92608" y="2185416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8328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85216" y="2185416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170432" y="2185416"/>
            <a:ext cx="822960" cy="347472"/>
          </a:xfrm>
          <a:prstGeom prst="roundRect">
            <a:avLst>
              <a:gd name="adj" fmla="val 15789"/>
            </a:avLst>
          </a:prstGeom>
          <a:solidFill>
            <a:srgbClr val="F5F1EB"/>
          </a:solidFill>
          <a:ln w="12700">
            <a:solidFill>
              <a:srgbClr val="C48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16152" y="2185416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2185416"/>
            <a:ext cx="4937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121408" y="1965960"/>
            <a:ext cx="438912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2066544" y="179222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6544" y="179222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633472" y="713232"/>
            <a:ext cx="1417320" cy="2395728"/>
          </a:xfrm>
          <a:prstGeom prst="roundRect">
            <a:avLst>
              <a:gd name="adj" fmla="val 6452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633472" y="768096"/>
            <a:ext cx="1417320" cy="1102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2688336" y="1959011"/>
            <a:ext cx="13075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670048" y="2187611"/>
            <a:ext cx="13441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tail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parse JSON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add k8s meta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filter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133088" y="1984248"/>
            <a:ext cx="411480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64508" y="1810512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64508" y="181051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4645152" y="1143000"/>
            <a:ext cx="1234440" cy="1371600"/>
          </a:xfrm>
          <a:prstGeom prst="roundRect">
            <a:avLst>
              <a:gd name="adj" fmla="val 7407"/>
            </a:avLst>
          </a:prstGeom>
          <a:solidFill>
            <a:srgbClr val="F5F1EB"/>
          </a:solidFill>
          <a:ln w="19050">
            <a:solidFill>
              <a:srgbClr val="8B6A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645152" y="1197864"/>
            <a:ext cx="1234440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🔧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4700016" y="1856232"/>
            <a:ext cx="11247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Logstash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681728" y="2084832"/>
            <a:ext cx="11612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(optional)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transform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enrich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route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943600" y="1920240"/>
            <a:ext cx="347472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6382512" y="713232"/>
            <a:ext cx="1389888" cy="2395728"/>
          </a:xfrm>
          <a:prstGeom prst="roundRect">
            <a:avLst>
              <a:gd name="adj" fmla="val 6579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382512" y="768096"/>
            <a:ext cx="1389888" cy="11020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37376" y="1959011"/>
            <a:ext cx="12801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419088" y="2187611"/>
            <a:ext cx="131673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index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full-text search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retention ILM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shard/replica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845552" y="1984248"/>
            <a:ext cx="320040" cy="9144"/>
          </a:xfrm>
          <a:prstGeom prst="line">
            <a:avLst/>
          </a:prstGeom>
          <a:noFill/>
          <a:ln w="19050">
            <a:solidFill>
              <a:srgbClr val="5B8DB8"/>
            </a:solidFill>
            <a:prstDash val="solid"/>
            <a:tailEnd type="arrow"/>
          </a:ln>
        </p:spPr>
      </p:sp>
      <p:sp>
        <p:nvSpPr>
          <p:cNvPr id="47" name="Shape 45"/>
          <p:cNvSpPr/>
          <p:nvPr/>
        </p:nvSpPr>
        <p:spPr>
          <a:xfrm>
            <a:off x="8229600" y="1188720"/>
            <a:ext cx="822960" cy="1389888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229600" y="1243584"/>
            <a:ext cx="82296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8284464" y="1911462"/>
            <a:ext cx="7132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266176" y="2140062"/>
            <a:ext cx="7498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74320" y="3310128"/>
            <a:ext cx="393192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4A9B8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1480" y="33467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EFK Stack = E + Fluentd + K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11480" y="360273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Logstash → Fluentd (lighter, CNCF standard)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434840" y="3310128"/>
            <a:ext cx="443484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0" y="3346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🆕 Grafana Loki: Lightweight Alternative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4572000" y="360273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Label-based indexing (no full-text indexing) → 90% storage cost reduction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274320" y="40690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ELK is powerful but expensive (Elasticsearch storage costs are high); Loki is cheap but weaker at search — choose based on budget and query needs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Fluentd / Fluent Bit: The Swiss Army Knife of Log Pipelines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621792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Pipeline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896112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9144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⬇️ INPUT Plugins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(file)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536192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36192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15184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15184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forward (TCP)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94176" y="1225296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94176" y="1225296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78608" y="1883664"/>
            <a:ext cx="9144" cy="128016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65760" y="1938528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19568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FILTER Plugins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(JSON/regex)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536192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36192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 (filter)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615184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15184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record_transformer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94176" y="2267712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7F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94176" y="2267712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kubernetes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578608" y="2907792"/>
            <a:ext cx="9144" cy="128016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365760" y="2962656"/>
            <a:ext cx="4389120" cy="914400"/>
          </a:xfrm>
          <a:prstGeom prst="roundRect">
            <a:avLst>
              <a:gd name="adj" fmla="val 8000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2920" y="298094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⬆️ OUTPUT Plugins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elasticsearch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36192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36192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kafka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15184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15184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 (archive)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694176" y="3291840"/>
            <a:ext cx="987552" cy="502920"/>
          </a:xfrm>
          <a:prstGeom prst="roundRect">
            <a:avLst>
              <a:gd name="adj" fmla="val 10909"/>
            </a:avLst>
          </a:prstGeom>
          <a:solidFill>
            <a:srgbClr val="ECE6DD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94176" y="3291840"/>
            <a:ext cx="98755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 (debug)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257800" y="685800"/>
            <a:ext cx="3520440" cy="1353312"/>
          </a:xfrm>
          <a:prstGeom prst="roundRect">
            <a:avLst>
              <a:gd name="adj" fmla="val 5405"/>
            </a:avLst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57800" y="685800"/>
            <a:ext cx="3520440" cy="274320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49240" y="68580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 |  Fluentd  |  Fluent Bit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57800" y="987552"/>
            <a:ext cx="3520440" cy="256032"/>
          </a:xfrm>
          <a:prstGeom prst="rect">
            <a:avLst/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49240" y="9875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 |  Ruby  |  C/Rust (lightweight)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7800" y="1243584"/>
            <a:ext cx="3520440" cy="256032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49240" y="12435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 |  ~40MB  |  ~650KB(!)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57800" y="1499616"/>
            <a:ext cx="3520440" cy="256032"/>
          </a:xfrm>
          <a:prstGeom prst="rect">
            <a:avLst/>
          </a:prstGeom>
          <a:solidFill>
            <a:srgbClr val="F5F1EB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49240" y="14996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 |  1000+  |  70+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7800" y="1755648"/>
            <a:ext cx="3520440" cy="256032"/>
          </a:xfrm>
          <a:prstGeom prst="rect">
            <a:avLst/>
          </a:prstGeom>
          <a:solidFill>
            <a:srgbClr val="ECE6DD"/>
          </a:solidFill>
          <a:ln w="12700">
            <a:solidFill>
              <a:srgbClr val="D6CCB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49240" y="17556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 |  Servers  |  K8s DaemonSet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7800" y="2148840"/>
            <a:ext cx="3520440" cy="2697480"/>
          </a:xfrm>
          <a:prstGeom prst="roundRect">
            <a:avLst>
              <a:gd name="adj" fmla="val 3390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5349240" y="20025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67528" y="20025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fluent-bit.conf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85816" y="2258568"/>
            <a:ext cx="3264408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[SERVICE]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Flush        5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Log_Level    info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[INPUT]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tail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Path         /var/log/containers/*.log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Parser       docker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          kube.*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kubernetes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    kube.*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Merge_Log    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Keep_Log     Off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[OUTPUT]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         elasticsearch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Port         9200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Index        k8s-logs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274320" y="49377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49834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Fluent Bit is nearly standard in K8s — uses only 650KB memory, one per Node, auto-collects all Container logs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Loki: Managing Logs Like Prometheus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vs Loki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005840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14400" y="1005840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F3EDE0"/>
          </a:solidFill>
          <a:ln w="10160">
            <a:solidFill>
              <a:srgbClr val="B889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005840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Elasticsearch: Full-text index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storage cost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1005840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E5F0E9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06040" y="1005840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Loki: Index labels only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lower storage cost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0040" y="1536192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914400" y="1536192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1536192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Full-text arbitrary search, very powerful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560320" y="1536192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06040" y="1536192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LogQL queries, requires labels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0040" y="2066544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2066544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2066544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(separate installation)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560320" y="2066544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F5F1EB"/>
          </a:solidFill>
          <a:ln w="10160">
            <a:solidFill>
              <a:srgbClr val="D6CC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06040" y="2066544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Grafana support (all-in-one)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0040" y="2596896"/>
            <a:ext cx="731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14400" y="2596896"/>
            <a:ext cx="1463040" cy="475488"/>
          </a:xfrm>
          <a:prstGeom prst="roundRect">
            <a:avLst>
              <a:gd name="adj" fmla="val 11538"/>
            </a:avLst>
          </a:prstGeom>
          <a:solidFill>
            <a:srgbClr val="F8ECEC"/>
          </a:solidFill>
          <a:ln w="10160">
            <a:solidFill>
              <a:srgbClr val="C4605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2596896"/>
            <a:ext cx="1371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Expensive (high EC2 + Disk overhead)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560320" y="2596896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E5F0E9"/>
          </a:solidFill>
          <a:ln w="10160">
            <a:solidFill>
              <a:srgbClr val="4A99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2596896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💚 Affordable (S3 for log data storage)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182112"/>
            <a:ext cx="4023360" cy="658368"/>
          </a:xfrm>
          <a:prstGeom prst="roundRect">
            <a:avLst>
              <a:gd name="adj" fmla="val 11111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1480" y="32186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Loki: Grafana ecosystem, cost-sensitive, logs queried by service/namespace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1480" y="352958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ES: Need complex full-text search, existing Elastic investment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709160" y="658368"/>
            <a:ext cx="4160520" cy="2084832"/>
          </a:xfrm>
          <a:prstGeom prst="roundRect">
            <a:avLst>
              <a:gd name="adj" fmla="val 4386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800600" y="51206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18888" y="51206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LogQL Examples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837176" y="768096"/>
            <a:ext cx="3904488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Filter ERROR logs for a specific service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{service="payment-svc", env="prod"}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|= "ERROR"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Parse JSON + filter fields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{service="api"}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json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status &gt;= 500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Calculate error rate per minute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sum(rate({service="api"} |= "ERROR" [1m]))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by (service)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Find correlated logs by trace_id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{namespace="prod"}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|= `trace_id="abc-123-xyz"`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09160" y="2852928"/>
            <a:ext cx="192024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09160" y="2907792"/>
            <a:ext cx="192024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4764024" y="3423514"/>
            <a:ext cx="18105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Promtail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45736" y="3652114"/>
            <a:ext cx="18470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 logs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(DaemonSet)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675120" y="3447288"/>
            <a:ext cx="384048" cy="9144"/>
          </a:xfrm>
          <a:prstGeom prst="line">
            <a:avLst/>
          </a:prstGeom>
          <a:noFill/>
          <a:ln w="19050">
            <a:solidFill>
              <a:srgbClr val="4A9968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6592824" y="3273552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996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92824" y="327355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99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132320" y="2852928"/>
            <a:ext cx="1828800" cy="1097280"/>
          </a:xfrm>
          <a:prstGeom prst="roundRect">
            <a:avLst>
              <a:gd name="adj" fmla="val 8333"/>
            </a:avLst>
          </a:prstGeom>
          <a:solidFill>
            <a:srgbClr val="F5F1EB"/>
          </a:solidFill>
          <a:ln w="19050">
            <a:solidFill>
              <a:srgbClr val="4A996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132320" y="2907792"/>
            <a:ext cx="1828800" cy="5047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7187184" y="3423514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68896" y="3652114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index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S3 storage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74320" y="406908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Loki's philosophy: Index only labels (service, env, pod), store log body in S3 — saves money but sacrifices full-text search flexibility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Sampling Strategies: Balancing Completeness and Cost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170432"/>
          </a:xfrm>
          <a:prstGeom prst="roundRect">
            <a:avLst>
              <a:gd name="adj" fmla="val 6250"/>
            </a:avLst>
          </a:prstGeom>
          <a:solidFill>
            <a:srgbClr val="F3EDE0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6217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System Log Volume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9144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microservices × 1000 req/s × avg 3 log lines × 500 bytes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11887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75 MB/s = 6.5 TB/day = 195 TB/month 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187452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91109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100% Record Errors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11480" y="214884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all ERRORs — no sampling, cost is acceptable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46888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0545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N% Sample Success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11480" y="274320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requests keep only 10% — statistically sufficient, saves 90% cost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06324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09981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Head-based Sampling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" y="333756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at request start: if trace is sampled, keep all its logs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4023360" cy="530352"/>
          </a:xfrm>
          <a:prstGeom prst="roundRect">
            <a:avLst>
              <a:gd name="adj" fmla="val 13793"/>
            </a:avLst>
          </a:prstGeom>
          <a:solidFill>
            <a:srgbClr val="F5F1EB"/>
          </a:solidFill>
          <a:ln w="15240">
            <a:solidFill>
              <a:srgbClr val="8B6A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694176"/>
            <a:ext cx="3749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6A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Dynamic Sampling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11480" y="3931920"/>
            <a:ext cx="3749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trace_ids keep all; repeated patterns reduce sample rate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62179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Retention Policy (ILM)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96012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E5F0E9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92040" y="10058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Hot (0-7 days)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92040" y="126187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 storage, fast queries | Recent incidents | Most expensive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54880" y="1618488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3EDE0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16642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Warm (7-30 days)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892040" y="19202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HDD storage | This month's events | Medium cost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2276856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8A807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32257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❄️ Cold (30+ days)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257860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S3/GCS object storage | Compliance/audit | Very low cost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09160" y="2971800"/>
            <a:ext cx="4160520" cy="1572768"/>
          </a:xfrm>
          <a:prstGeom prst="roundRect">
            <a:avLst>
              <a:gd name="adj" fmla="val 5814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800600" y="2825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2825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Fluent Bit sampling filter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37176" y="3081528"/>
            <a:ext cx="3904488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grep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Keep only ERROR and WARN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Regex    level ^(ERROR|WARN)$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[FILTER]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sampling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    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Keep 1 out of every 10 INFO logs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     0.1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Condition  level INFO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Three principles for log cost control: ERROR 100% retained, INFO sampled at 10%, DEBUG never in Production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7FB5"/>
          </a:solidFill>
          <a:ln w="12700">
            <a:solidFill>
              <a:srgbClr val="4A7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Query in Practice: From Chaos to Insight in a Few Commands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4224528"/>
          </a:xfrm>
          <a:prstGeom prst="roundRect">
            <a:avLst>
              <a:gd name="adj" fmla="val 2165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 Query Examples (Kibana KQL / Loki LogQL)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02336" y="704088"/>
            <a:ext cx="8339328" cy="40416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===== Kibana KQL =====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Find ERROR logs for a specific service in the last hour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service:"payment-svc" AND level:ERROR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Find all actions by a specific user (audit)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user_id:"user-789" AND @timestamp:[now-24h TO now]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Find high-latency requests (&gt;1000ms)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service:"api" AND duration_ms:&gt;1000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Find all related logs for a specific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trace_id:"abc-123-xyz"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===== Grafana LogQL (Loki) =====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5. Calculate error rate per service (per minute)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by(service) (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rate({namespace="prod"} |= "ERROR" [1m])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6. Extract fields from JSON logs and filter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{service="order-svc"}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json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duration_ms &gt; 500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line_format "{{.user_id}} took {{.duration_ms}}ms"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7. Find the slowest API endpoints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topk(10,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sum by(path) (rate({service="api"}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| json | duration_ms &gt; 0 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491947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96519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 Grafana you can jump from Metrics alerts directly to Logs (Explore), then to Traces — that is the power of observability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C4605B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Log-based Alerting: Making Logs More Than Passive Records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365760" y="62179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Log Alerting Modes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C460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601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Keyword Alert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121615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contains CRITICAL / OOM / panic → alert immediately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4320" y="1572768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B889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6184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Rate Alert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187452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count &gt; 50 in 1 minute → something is wrong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231136"/>
            <a:ext cx="4114800" cy="594360"/>
          </a:xfrm>
          <a:prstGeom prst="roundRect">
            <a:avLst>
              <a:gd name="adj" fmla="val 12308"/>
            </a:avLst>
          </a:prstGeom>
          <a:solidFill>
            <a:srgbClr val="F5F1EB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27685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Absence Alert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253288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 log missing for 5 minutes → service may be down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74320" y="290779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76148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276148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Kibana Alert Rule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02336" y="3017520"/>
            <a:ext cx="3858768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Kibana Watcher (JSON)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index: k8s-logs-*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filter: level:ERROR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threshold: count &gt; 100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time_window: 5m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schedule: every 1m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action: slack_webhook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09160" y="685800"/>
            <a:ext cx="4160520" cy="2148840"/>
          </a:xfrm>
          <a:prstGeom prst="roundRect">
            <a:avLst>
              <a:gd name="adj" fmla="val 4255"/>
            </a:avLst>
          </a:prstGeom>
          <a:solidFill>
            <a:srgbClr val="2D2926"/>
          </a:solidFill>
          <a:ln w="12700">
            <a:solidFill>
              <a:srgbClr val="D6CCBF"/>
            </a:solidFill>
            <a:prstDash val="solid"/>
          </a:ln>
          <a:effectLst>
            <a:outerShdw sx="100000" sy="100000" kx="0" ky="0" algn="bl" rotWithShape="0" blurRad="127000" dist="50800" dir="2700000">
              <a:srgbClr val="9E9488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00600" y="53949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ECE6DD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18888" y="53949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Loki Ruler Alert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37176" y="795528"/>
            <a:ext cx="39044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prometheus-style alert from logs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log-alerts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rules: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alert: HighErrorRate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expr: |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sum(rate({namespace='prod'}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|= 'ERROR' 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/ sum(rate({namespace='prod'} [5m]))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&gt; 0.05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for: 2m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labels: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severity: critical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annotations: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D29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summary: 'Error rate &gt;5%'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09160" y="2944368"/>
            <a:ext cx="4160520" cy="1444752"/>
          </a:xfrm>
          <a:prstGeom prst="roundRect">
            <a:avLst>
              <a:gd name="adj" fmla="val 5063"/>
            </a:avLst>
          </a:prstGeom>
          <a:solidFill>
            <a:srgbClr val="F5F1EB"/>
          </a:solidFill>
          <a:ln w="15240">
            <a:solidFill>
              <a:srgbClr val="4A99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298094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Deriving Metrics from Logs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46320" y="3291840"/>
            <a:ext cx="38404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can compute Metrics from Logs in real time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to add a Prometheus client in the App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Great for quickly adding Metrics to Legacy Apps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455371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59943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Log alerts are more context-rich than Metric alerts — alert messages can include log content, so on-call can see the problem at a glance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4A9968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Engineering Best Practices: Making Logs Truly Valuable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Logging Best Practices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98755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005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Output to stdout uniformly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1480" y="12070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 containerized environments, K8s/Docker auto-handles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463040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4813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Use structured JSON format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168249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Machine-readable, Kibana/Loki auto-parse fields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74320" y="193852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95681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Include trace_id / correlation_id in every log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21579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 cross-service requests, one ID to trace all related logs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74320" y="2414016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4323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Include necessary context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11480" y="263347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user_id, service, version, env, duration_ms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4320" y="288950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9077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Error logs with full Stack Trace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1480" y="310896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just log the message, include the exception chain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274320" y="336499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E5F0E9"/>
          </a:solidFill>
          <a:ln w="12700">
            <a:solidFill>
              <a:srgbClr val="4A99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33832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Set appropriate Log Levels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3584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Production: INFO+, enable DEBUG only when needed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66344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Logging Anti-Patterns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663440" y="98755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100584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sensitive data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00600" y="120700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Passwords, credit card numbers, PII — GDPR violation!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1463040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1481328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DEBUG logs left in Production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1682496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issues + storage cost explosion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663440" y="1938528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8ECEC"/>
          </a:solidFill>
          <a:ln w="12700">
            <a:solidFill>
              <a:srgbClr val="C4605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00600" y="1956816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catch(e) { logger.error('error') }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00600" y="2157984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context, impossible to debug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663440" y="2414016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00600" y="243230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but never look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00600" y="2633472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massive logs but no Dashboard or alerts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63440" y="288950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00600" y="2907792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Log all fields for every request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800600" y="3108960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sampling strategy → 10× storage cost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663440" y="3364992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3EDE0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0600" y="3383280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Only log errors, never successes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00600" y="3584448"/>
            <a:ext cx="3749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analyze normal traffic patterns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EAF0F7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The most important logging principle: every log should have a reader — logs nobody reads are waste; alerts and dashboards are the purpose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F5F1EB"/>
          </a:solidFill>
          <a:ln w="6350">
            <a:solidFill>
              <a:srgbClr val="D6CC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B8892C"/>
          </a:solidFill>
          <a:ln w="12700">
            <a:solidFill>
              <a:srgbClr val="B889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Summary: From Event Records to System Insight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8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5A9B6E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structlog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output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554480" y="1325880"/>
            <a:ext cx="320040" cy="9144"/>
          </a:xfrm>
          <a:prstGeom prst="line">
            <a:avLst/>
          </a:prstGeom>
          <a:noFill/>
          <a:ln w="19050">
            <a:solidFill>
              <a:srgbClr val="8A8078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440180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8A80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0180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stdout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965960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965960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020824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002536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DaemonSet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collect+parse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337560" y="1325880"/>
            <a:ext cx="347472" cy="9144"/>
          </a:xfrm>
          <a:prstGeom prst="line">
            <a:avLst/>
          </a:prstGeom>
          <a:noFill/>
          <a:ln w="19050">
            <a:solidFill>
              <a:srgbClr val="B8892C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236976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B8892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6976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B889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6472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4A7FB5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776472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831336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/ 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813048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index+store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148072" y="1325880"/>
            <a:ext cx="347472" cy="9144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5047488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4A7F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4A7F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query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586984" y="658368"/>
            <a:ext cx="1325880" cy="118872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5B8DB8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586984" y="713232"/>
            <a:ext cx="132588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641848" y="1276502"/>
            <a:ext cx="12161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23560" y="1505102"/>
            <a:ext cx="12527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958584" y="1325880"/>
            <a:ext cx="347472" cy="9144"/>
          </a:xfrm>
          <a:prstGeom prst="line">
            <a:avLst/>
          </a:prstGeom>
          <a:noFill/>
          <a:ln w="19050">
            <a:solidFill>
              <a:srgbClr val="C4605B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6858000" y="1152144"/>
            <a:ext cx="548640" cy="201168"/>
          </a:xfrm>
          <a:prstGeom prst="roundRect">
            <a:avLst>
              <a:gd name="adj" fmla="val 27273"/>
            </a:avLst>
          </a:prstGeom>
          <a:solidFill>
            <a:srgbClr val="F5F1EB"/>
          </a:solidFill>
          <a:ln w="9525">
            <a:solidFill>
              <a:srgbClr val="C460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0" y="1152144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C460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397496" y="658368"/>
            <a:ext cx="1600200" cy="1188720"/>
          </a:xfrm>
          <a:prstGeom prst="roundRect">
            <a:avLst>
              <a:gd name="adj" fmla="val 7692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  <a:effectLst>
            <a:outerShdw sx="100000" sy="100000" kx="0" ky="0" algn="bl" rotWithShape="0" blurRad="76200" dist="25400" dir="2700000">
              <a:srgbClr val="9E9488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397496" y="713232"/>
            <a:ext cx="1600200" cy="5468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📱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7452360" y="1276502"/>
            <a:ext cx="14904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D29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On-Call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434072" y="1505102"/>
            <a:ext cx="15270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investigate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 resolve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7432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5F1EB"/>
          </a:solidFill>
          <a:ln w="19050">
            <a:solidFill>
              <a:srgbClr val="B8892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889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Structured First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404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format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trace_id required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enough context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sensitive data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15468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5F1EB"/>
          </a:solidFill>
          <a:ln w="19050">
            <a:solidFill>
              <a:srgbClr val="4A9B8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4612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B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DaemonSet Collection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26440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standard: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Bit DaemonSet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Auto-collect stdout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Auto-add k8s metadata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to Loki or 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035040" y="210312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5F1EB"/>
          </a:solidFill>
          <a:ln w="19050">
            <a:solidFill>
              <a:srgbClr val="C4605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26480" y="2176272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460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Cost Control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44768" y="2542032"/>
            <a:ext cx="2432304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→ 100% retained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 → 10% sampled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→ not in Prod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Hot/Warm/Cold tiers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Loki 90% cheaper than 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2026-04-03T16:24:52Z</dcterms:created>
  <dcterms:modified xsi:type="dcterms:W3CDTF">2026-04-03T16:24:52Z</dcterms:modified>
</cp:coreProperties>
</file>