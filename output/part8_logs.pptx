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029200"/>
  <p:notesSz cx="50292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Logs：應用程式的事件日誌 — 除錯的最後防線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LOGS  · 106 / 150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= 帶時間戳的結構化事件記錄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9875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記錄了系統在特定時刻「發生了什麼事」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813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Prod 突然出現 500 錯誤 — 哪個 API？哪個 user？什麼原因？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2A1F00"/>
          </a:solidFill>
          <a:ln w="15240">
            <a:solidFill>
              <a:srgbClr val="D299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用戶說「我的訂單消失了」— 什麼時候？哪個 service 出問題？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54203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安全審計 — 誰在什麼時候刪除了這筆資料？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54096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2A0F0F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54096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沒有 Log：只能重現問題、猜測原因、無法審計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594360"/>
            <a:ext cx="4160520" cy="4224528"/>
          </a:xfrm>
          <a:prstGeom prst="roundRect">
            <a:avLst>
              <a:gd name="adj" fmla="val 2198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4480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4480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Log Example (JSON)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37176" y="704088"/>
            <a:ext cx="3904488" cy="4041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"2024-03-15T14:32:01.234Z",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"level": "ERROR",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"service": "payment-service",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"version": "v2.1.3",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"trace_id": "abc-123-xyz",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"span_id": "def-456",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"user_id": "user-789",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"event": "payment_failed",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"amount": 299.99,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"currency": "USD",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"error": "insufficient_funds",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"Payment processing failed",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"duration_ms": 145,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"env": "production"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49194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651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一條好的 Log 應該能讓你在不重現問題的情況下，100% 知道發生了什麼 — 包含 trace_id 讓你串聯 Traces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結構化日誌 vs 非結構化日誌：機器可讀才是關鍵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LOGS  · 107 / 150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非結構化日誌（人能讀，機器難讀）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987552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4124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4124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 text logs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2336" y="1097280"/>
            <a:ext cx="376732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2024-03-15 14:32:01 ERROR User login failed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2024-03-15 14:32:01 ERROR john@example.com bad pwd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2024-03-15 14:33:45 INFO  request GET /api/users 200 145ms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2024-03-15 14:33:52 WARN  high memory: 89%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724912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249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難以 grep: 要猜 format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36392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363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無法自動解析 email / latency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547872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478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Kibana/Loki 無法做 aggregation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結構化日誌（JSON / key=value）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987552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84124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84124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JSON logs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82896" y="1097280"/>
            <a:ext cx="376732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{"time":"2024-03-15T14:32:01Z","level":"ERROR",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"event":"login_failed","user":"john@ex.com",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"reason":"wrong_password","attempt":3}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{"time":"2024-03-15T14:33:45Z","level":"INFO",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"method":"GET","path":"/api/users","status":200,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"duration_ms":145}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{"time":"2024-03-15T14:33:52Z","level":"WARN",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"event":"high_memory","usage_pct":89}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724912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7249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機器自動解析 — ES/Loki 自動建 index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136392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1363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 aggregation: avg(duration_ms) by user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547872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5478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可直接 join with Traces (trace_id)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730752"/>
            <a:ext cx="8595360" cy="1024128"/>
          </a:xfrm>
          <a:prstGeom prst="roundRect">
            <a:avLst>
              <a:gd name="adj" fmla="val 89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58444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58444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structlog example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02336" y="3840480"/>
            <a:ext cx="833932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structlog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= structlog.get_logger()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log.error('login_failed', user=email, reason='wrong_password', attempt=3, trace_id=get_trace_id())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等級設計：什麼情況記哪個等級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LOGS  · 108 / 150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524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2179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DEBUG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621792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詳細的除錯資訊 — 只在開發/除錯時開啟，Production 通常關閉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0" y="62179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query: SELECT * FROM users WHERE id=123 (12ms)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335024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33502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INFO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335024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正常運作的重要事件 — 服務啟動、請求成功、狀態變更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1335024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payment_completed: order_id=456, amount=299.99, user=john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048256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2A1F00"/>
          </a:solidFill>
          <a:ln w="15240">
            <a:solidFill>
              <a:srgbClr val="D299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04825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WARN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048256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不預期但已處理的情況 — 不影響主流程，但值得注意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2048256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retry_attempt: db_connection failed, retry 2/3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761488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76148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2761488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發生了不預期的錯誤 — 需要人工介入，影響部分功能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76148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payment_failed: stripe_api_error, user_id=789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47472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4747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CRITICAL/FATAL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3474720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系統無法繼續運作 — 整個服務掛掉，立即需要人工處理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3474720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db_connection_pool_exhausted: all 100 connections in use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4224528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2245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常見錯誤：ERROR catch Exception (全部 catch 都用 ERROR) | INFO 記太多（噪音）| DEBUG 留在 Prod（效能問題）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8920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937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Production 建議：INFO 以上，關鍵路徑才用 DEBUG | 每條 Log 都問：On-Call 人員看到這條能做什麼决定？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ID：如何在分散式系統中串聯日誌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LOGS  · 109 / 150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沒有 Correlation 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0241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用戶說結帳失敗，你要查哪裡？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984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api-service: ERROR payment failed user_id=123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373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payment-svc: WARN stripe timeout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17627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2700">
            <a:solidFill>
              <a:srgbClr val="E362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762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db: ERROR connection timeout 14:32:01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6700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這三條 Log 是同一個請求嗎？🤷 完全無法確定！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使用 Trace ID 作為 Correlation ID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024128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0F2A1A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02412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api-svc: ERROR payment_failed trace_id="abc-123"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627632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0F2A1A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62763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payment-svc: WARN stripe_timeout trace_id="abc-123"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231136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0F2A1A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23113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db: ERROR conn_timeout trace_id="abc-123"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8529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用 trace_id='abc-123' 一次查到所有相關 Log！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218688"/>
            <a:ext cx="8595360" cy="1389888"/>
          </a:xfrm>
          <a:prstGeom prst="roundRect">
            <a:avLst>
              <a:gd name="adj" fmla="val 657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07238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07238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FastAPI + OpenTelemetry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02336" y="3328416"/>
            <a:ext cx="833932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opentelemetry import trace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structlog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@app.middleware('http')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logging_middleware(request, call_next):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span = trace.get_current_span()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trace_id = format(span.get_span_context().trace_id, '032x')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所有後續 log 自動帶 trace_id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structlog.contextvars.bind_contextvars(trace_id=trace_id)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await call_next(request)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681728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27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使用 OpenTelemetry trace_id 作為 Correlation ID — 一個 ID 串聯 Logs + Traces + Metrics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單體服務 Log 收集：從 stdout 到集中儲存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2/10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192024" cy="822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LOGS  · 110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749808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9050">
            <a:solidFill>
              <a:srgbClr val="23863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" y="804672"/>
            <a:ext cx="146304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7744" y="1320394"/>
            <a:ext cx="13533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9456" y="1548994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print()/logging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stdout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91640" y="1399032"/>
            <a:ext cx="36576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1645920" y="124358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stdout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148840" y="749808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48840" y="804672"/>
            <a:ext cx="137160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203704" y="1320394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85416" y="154899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/var/log/app.log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journald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566160" y="1399032"/>
            <a:ext cx="365760" cy="0"/>
          </a:xfrm>
          <a:prstGeom prst="line">
            <a:avLst/>
          </a:prstGeom>
          <a:noFill/>
          <a:ln w="19050">
            <a:solidFill>
              <a:srgbClr val="D29922"/>
            </a:solidFill>
            <a:prstDash val="solid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3520440" y="124358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023360" y="749808"/>
            <a:ext cx="155448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023360" y="804672"/>
            <a:ext cx="1554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078224" y="1320394"/>
            <a:ext cx="14447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Filebeat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059936" y="1548994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623560" y="1399032"/>
            <a:ext cx="36576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arrow"/>
          </a:ln>
        </p:spPr>
      </p:sp>
      <p:sp>
        <p:nvSpPr>
          <p:cNvPr id="26" name="Text 24"/>
          <p:cNvSpPr/>
          <p:nvPr/>
        </p:nvSpPr>
        <p:spPr>
          <a:xfrm>
            <a:off x="5577840" y="124358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80760" y="749808"/>
            <a:ext cx="150876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80760" y="804672"/>
            <a:ext cx="150876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135624" y="1320394"/>
            <a:ext cx="1399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Loki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17336" y="1548994"/>
            <a:ext cx="1435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35240" y="1399032"/>
            <a:ext cx="36576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arrow"/>
          </a:ln>
        </p:spPr>
      </p:sp>
      <p:sp>
        <p:nvSpPr>
          <p:cNvPr id="32" name="Text 30"/>
          <p:cNvSpPr/>
          <p:nvPr/>
        </p:nvSpPr>
        <p:spPr>
          <a:xfrm>
            <a:off x="7589520" y="124358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092440" y="749808"/>
            <a:ext cx="960120" cy="109728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9050">
            <a:solidFill>
              <a:srgbClr val="1F6F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092440" y="804672"/>
            <a:ext cx="96012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147304" y="1320394"/>
            <a:ext cx="8503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129016" y="1548994"/>
            <a:ext cx="886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950208" y="1920240"/>
            <a:ext cx="1691640" cy="777240"/>
          </a:xfrm>
          <a:prstGeom prst="roundRect">
            <a:avLst>
              <a:gd name="adj" fmla="val 11765"/>
            </a:avLst>
          </a:prstGeom>
          <a:ln w="12700">
            <a:solidFill>
              <a:srgbClr val="D2992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041648" y="177393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D299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59936" y="17739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023360" y="2029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Filebeat (Elastic)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023360" y="23317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Fluentd (CNCF)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023360" y="263347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(Rust)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2852928"/>
            <a:ext cx="8595360" cy="1444752"/>
          </a:xfrm>
          <a:prstGeom prst="roundRect">
            <a:avLst>
              <a:gd name="adj" fmla="val 63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5760" y="270662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27066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Fluentd config (single server)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02336" y="2962656"/>
            <a:ext cx="833932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&lt;source&gt;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@type tail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 /var/log/app/*.log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pos_file /var/log/fluentd/app.pos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&lt;parse&gt;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@type json  # structured JSON log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&lt;/parse&gt;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 app.logs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&lt;/source&gt;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&lt;match app.logs&gt;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@type elasticsearch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 elasticsearch.logging.svc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 9200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logstash_format true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&lt;/match&gt;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4407408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453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單體服務 Log 收集很簡單 — 輸出到 stdout，OS 幫你存到 journald，Filebeat/Fluentd 收集傳送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分散式架構 Log 收集：Container 環境的挑戰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LOGS  · 111 / 150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分散式 Log 的四大挑戰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2412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容器是短暫的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2435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重啟/刪除 → Log 消失！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不能再 tail log file 了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572768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2A0F0F"/>
          </a:solidFill>
          <a:ln w="15240">
            <a:solidFill>
              <a:srgbClr val="F851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9105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Pod 分散在多個 Node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1810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個 Pod × 10 台 Node = Log 到處都是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 kubectl logs 是不可能的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139696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2A1F00"/>
          </a:solidFill>
          <a:ln w="15240">
            <a:solidFill>
              <a:srgbClr val="D299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579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Log 量爆炸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個微服務 × 1000 req/s = TB 級 Log/天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需要取樣與過濾策略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706624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2A1F00"/>
          </a:solidFill>
          <a:ln w="15240">
            <a:solidFill>
              <a:srgbClr val="D299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2491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無法關聯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29443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同一個請求跨多 service 的 Log 分散各處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 Correlation ID 無從查起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566928"/>
            <a:ext cx="4114800" cy="365760"/>
          </a:xfrm>
          <a:prstGeom prst="roundRect">
            <a:avLst>
              <a:gd name="adj" fmla="val 20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566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解決方案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0F2A1A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02412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Log 輸出到 stdout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12435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不寫檔案，K8s 自動保存 stdout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logs 就能看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1572768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0F2A1A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59105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DaemonSet / Sidecar 收集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18105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Node 跑一個 log collector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自動收集所有 Container 的 stdout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139696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15798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加入 Metadata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2377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自動附加：pod name, namespace, node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label → 方便過濾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706624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72491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集中儲存 + 搜尋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29443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/ Loki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全文搜尋 + 結構化查詢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37083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165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K8s 的 Container stdout → /var/log/containers/*.log 會自動保存 — Log collector 只需要 tail 這個目錄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0D8A6C"/>
          </a:solidFill>
          <a:ln w="12700">
            <a:solidFill>
              <a:srgbClr val="0D8A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收集架構：Sidecar 模式 vs DaemonSet 模式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LOGS  · 112 / 150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DaemonSet 模式（推薦）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3931920" cy="3108960"/>
          </a:xfrm>
          <a:prstGeom prst="roundRect">
            <a:avLst>
              <a:gd name="adj" fmla="val 2941"/>
            </a:avLst>
          </a:prstGeom>
          <a:ln w="12700">
            <a:solidFill>
              <a:srgbClr val="0D8A6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65760" y="76809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0D8A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76809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Node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14300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1430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1143000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Pod 1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66420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66420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1664208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Pod 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18541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18541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" y="2185416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Pod 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27632" y="1078992"/>
            <a:ext cx="1024128" cy="2011680"/>
          </a:xfrm>
          <a:prstGeom prst="roundRect">
            <a:avLst>
              <a:gd name="adj" fmla="val 5357"/>
            </a:avLst>
          </a:prstGeom>
          <a:solidFill>
            <a:srgbClr val="1C2128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27632" y="1115568"/>
            <a:ext cx="102412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containers/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*.log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536192" y="1527048"/>
            <a:ext cx="7315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536192" y="2029968"/>
            <a:ext cx="7315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536192" y="2532888"/>
            <a:ext cx="7315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2880360" y="150876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880360" y="1563624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935224" y="1984248"/>
            <a:ext cx="1124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Bit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(DaemonSet)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916936" y="2212848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per Node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670048" y="2167128"/>
            <a:ext cx="182880" cy="0"/>
          </a:xfrm>
          <a:prstGeom prst="line">
            <a:avLst/>
          </a:prstGeom>
          <a:noFill/>
          <a:ln w="19050">
            <a:solidFill>
              <a:srgbClr val="D29922"/>
            </a:solidFill>
            <a:prstDash val="solid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365760" y="41330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1個 Collector = 1個Node | 輕量 | 所有Pod共享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594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Sidecar 模式（特殊場景）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914400"/>
            <a:ext cx="4114800" cy="1691640"/>
          </a:xfrm>
          <a:prstGeom prst="roundRect">
            <a:avLst>
              <a:gd name="adj" fmla="val 5405"/>
            </a:avLst>
          </a:prstGeom>
          <a:ln w="12700">
            <a:solidFill>
              <a:srgbClr val="D2992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754880" y="76809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D299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76809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(with sidecar)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46320" y="126187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261872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38928" y="1261872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29400" y="126187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1261872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🔄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22008" y="1261872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Bit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63640" y="1764792"/>
            <a:ext cx="347472" cy="0"/>
          </a:xfrm>
          <a:prstGeom prst="line">
            <a:avLst/>
          </a:prstGeom>
          <a:noFill/>
          <a:ln w="19050">
            <a:solidFill>
              <a:srgbClr val="D29922"/>
            </a:solidFill>
            <a:prstDash val="solid"/>
            <a:tailEnd type="arrow"/>
          </a:ln>
        </p:spPr>
      </p:sp>
      <p:sp>
        <p:nvSpPr>
          <p:cNvPr id="41" name="Text 39"/>
          <p:cNvSpPr/>
          <p:nvPr/>
        </p:nvSpPr>
        <p:spPr>
          <a:xfrm>
            <a:off x="6217920" y="1609344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0" y="274320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27432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適合：需要每個 App 有自己的 Log 格式設定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3182112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1821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適合：寫到檔案的 legacy app（不改 code）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621024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2A1F00"/>
          </a:solidFill>
          <a:ln w="10160">
            <a:solidFill>
              <a:srgbClr val="D299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62102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缺點：每個 Pod 多一個 sidecar container（資源×2）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4059936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2A1F00"/>
          </a:solidFill>
          <a:ln w="10160">
            <a:solidFill>
              <a:srgbClr val="D299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40599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缺點：設定複雜，難統一管理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437083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4165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K8s 環境 99% 用 DaemonSet (Fluent Bit) — 除非你有 legacy app 無法改為 stdout 輸出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/ EFK Stack：業界最廣泛的 Log 集中管理方案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LOGS  · 113 / 150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1874520" cy="2468880"/>
          </a:xfrm>
          <a:prstGeom prst="roundRect">
            <a:avLst>
              <a:gd name="adj" fmla="val 4878"/>
            </a:avLst>
          </a:prstGeom>
          <a:ln w="12700">
            <a:solidFill>
              <a:srgbClr val="23863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74320" y="51206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51206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2608" y="96012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96012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" y="960120"/>
            <a:ext cx="493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170432" y="96012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96012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960120"/>
            <a:ext cx="493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" y="1572768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157276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📦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" y="1572768"/>
            <a:ext cx="493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170432" y="1572768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6152" y="157276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💳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1572768"/>
            <a:ext cx="493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" y="2185416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218541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" y="2185416"/>
            <a:ext cx="493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70432" y="2185416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E362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16152" y="218541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🗄️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63040" y="2185416"/>
            <a:ext cx="493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21408" y="1965960"/>
            <a:ext cx="43891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28" name="Text 26"/>
          <p:cNvSpPr/>
          <p:nvPr/>
        </p:nvSpPr>
        <p:spPr>
          <a:xfrm>
            <a:off x="2075688" y="1810512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stdout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33472" y="713232"/>
            <a:ext cx="1417320" cy="2395728"/>
          </a:xfrm>
          <a:prstGeom prst="roundRect">
            <a:avLst>
              <a:gd name="adj" fmla="val 6452"/>
            </a:avLst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33472" y="768096"/>
            <a:ext cx="1417320" cy="1102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688336" y="1959011"/>
            <a:ext cx="1307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Fluentd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Bit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70048" y="2187611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DaemonSet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tail logs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parse JSON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add k8s meta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filter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33088" y="1984248"/>
            <a:ext cx="411480" cy="0"/>
          </a:xfrm>
          <a:prstGeom prst="line">
            <a:avLst/>
          </a:prstGeom>
          <a:noFill/>
          <a:ln w="19050">
            <a:solidFill>
              <a:srgbClr val="D29922"/>
            </a:solidFill>
            <a:prstDash val="solid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4087368" y="182880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45152" y="1143000"/>
            <a:ext cx="1234440" cy="137160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45152" y="1197864"/>
            <a:ext cx="12344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700016" y="1856232"/>
            <a:ext cx="1124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Logstash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81728" y="2084832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(optional)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transform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enrich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route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943600" y="1920240"/>
            <a:ext cx="347472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6382512" y="713232"/>
            <a:ext cx="1389888" cy="2395728"/>
          </a:xfrm>
          <a:prstGeom prst="roundRect">
            <a:avLst>
              <a:gd name="adj" fmla="val 6579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382512" y="768096"/>
            <a:ext cx="1389888" cy="1102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437376" y="1959011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419088" y="2187611"/>
            <a:ext cx="1316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index logs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full-text search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retention ILM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shard/replica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845552" y="1984248"/>
            <a:ext cx="32004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8229600" y="1188720"/>
            <a:ext cx="822960" cy="138988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9050">
            <a:solidFill>
              <a:srgbClr val="1F6F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229600" y="1243584"/>
            <a:ext cx="822960" cy="639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8284464" y="1911462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266176" y="214006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74320" y="3310128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15240">
            <a:solidFill>
              <a:srgbClr val="0D8A6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33467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EFK Stack = E + Fluentd + K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11480" y="36027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Logstash → Fluentd（更輕量，CNCF 標準）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434840" y="3310128"/>
            <a:ext cx="4434840" cy="59436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0" y="33467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Grafana Loki：輕量替代方案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72000" y="36027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標籤式索引（不全文索引）→ 儲存成本降低 90%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406908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114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ELK 強大但貴 (Elasticsearch 儲存成本高)；Loki 便宜但搜尋較弱 — 根據預算和查詢需求選擇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Fluentd / Fluent Bit：Log 收集管線的瑞士刀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LOGS  · 114 / 150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62179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524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INPUT 插件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225296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1C2128"/>
          </a:solidFill>
          <a:ln w="10160">
            <a:solidFill>
              <a:srgbClr val="D299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25296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(file)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36192" y="1225296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1C2128"/>
          </a:solidFill>
          <a:ln w="10160">
            <a:solidFill>
              <a:srgbClr val="D299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6192" y="1225296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15184" y="1225296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1C2128"/>
          </a:solidFill>
          <a:ln w="10160">
            <a:solidFill>
              <a:srgbClr val="D299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5184" y="1225296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 (TCP)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94176" y="1225296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1C2128"/>
          </a:solidFill>
          <a:ln w="10160">
            <a:solidFill>
              <a:srgbClr val="D299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4176" y="1225296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78608" y="1883664"/>
            <a:ext cx="0" cy="128016"/>
          </a:xfrm>
          <a:prstGeom prst="line">
            <a:avLst/>
          </a:prstGeom>
          <a:noFill/>
          <a:ln w="19050">
            <a:solidFill>
              <a:srgbClr val="D29922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365760" y="1938528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56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FILTER 插件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267712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1C2128"/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67712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 (JSON/regex)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536192" y="2267712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1C2128"/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36192" y="2267712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(filter)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15184" y="2267712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1C2128"/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15184" y="2267712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record_transformer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94176" y="2267712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1C2128"/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94176" y="2267712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kubernetes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78608" y="2907792"/>
            <a:ext cx="0" cy="128016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365760" y="2962656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9809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OUTPUT 插件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291840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1C2128"/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91840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elasticsearch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536192" y="3291840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1C2128"/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36192" y="3291840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kafka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615184" y="3291840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1C2128"/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5184" y="3291840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(archive)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94176" y="3291840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1C2128"/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94176" y="3291840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stdout (debug)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257800" y="685800"/>
            <a:ext cx="3520440" cy="1353312"/>
          </a:xfrm>
          <a:prstGeom prst="roundRect">
            <a:avLst>
              <a:gd name="adj" fmla="val 540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57800" y="685800"/>
            <a:ext cx="3520440" cy="2743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9240" y="6858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比較項目  |  Fluentd  |  Fluent Bit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257800" y="987552"/>
            <a:ext cx="352044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98755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語言  |  Ruby  |  C/Rust (輕量)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7800" y="1243584"/>
            <a:ext cx="3520440" cy="25603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49240" y="124358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記憶體  |  ~40MB  |  ~650KB(!)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257800" y="1499616"/>
            <a:ext cx="352044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49240" y="149961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 |  1000+  |  70+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257800" y="1755648"/>
            <a:ext cx="3520440" cy="25603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49240" y="175564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  |  伺服器  |  K8s DaemonSet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57800" y="2148840"/>
            <a:ext cx="3520440" cy="2697480"/>
          </a:xfrm>
          <a:prstGeom prst="roundRect">
            <a:avLst>
              <a:gd name="adj" fmla="val 339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349240" y="200253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67528" y="20025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fluent-bit.conf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85816" y="2258568"/>
            <a:ext cx="3264408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[SERVICE]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Flush        5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Log_Level    info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[INPUT]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tail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         /var/log/containers/*.log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Parser       docker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          kube.*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[FILTER]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kubernetes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        kube.*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Merge_Log    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Keep_Log     Off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[OUTPUT]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        *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         elasticsearch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         9200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        k8s-logs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493776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983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Fluent Bit 在 K8s 中幾乎是標準配置 — 只佔 650KB 記憶體，每個 Node 跑一個，自動收集所有 Container Log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Loki：像 Prometheus 一樣管理 Log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LOGS  · 115 / 150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vs Loki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0584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索引方式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1005840"/>
            <a:ext cx="1463040" cy="475488"/>
          </a:xfrm>
          <a:prstGeom prst="roundRect">
            <a:avLst>
              <a:gd name="adj" fmla="val 11538"/>
            </a:avLst>
          </a:prstGeom>
          <a:solidFill>
            <a:srgbClr val="2A1F00"/>
          </a:solidFill>
          <a:ln w="10160">
            <a:solidFill>
              <a:srgbClr val="D299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0058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Elasticsearch: 全文索引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儲存成本高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005840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0F2A1A"/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00584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Loki: 只索引 Labels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儲存成本低 90%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1536192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搜尋能力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1536192"/>
            <a:ext cx="1463040" cy="475488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53619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全文任意搜尋，非常強大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0" y="1536192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153619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LogQL 查詢，需要有 label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206654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2066544"/>
            <a:ext cx="1463040" cy="475488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06654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(需另外安裝)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0" y="2066544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206654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原生支援（一站式）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2596896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" y="2596896"/>
            <a:ext cx="1463040" cy="475488"/>
          </a:xfrm>
          <a:prstGeom prst="roundRect">
            <a:avLst>
              <a:gd name="adj" fmla="val 11538"/>
            </a:avLst>
          </a:prstGeom>
          <a:solidFill>
            <a:srgbClr val="2A0F0F"/>
          </a:solidFill>
          <a:ln w="10160">
            <a:solidFill>
              <a:srgbClr val="F851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259689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昂貴（EC2 + Disk 開銷大）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0" y="2596896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0F2A1A"/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259689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 便宜（S3 儲存 log data）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182112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2186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 Loki：有 Grafana 生態、成本敏感、logs 主要按 service/namespace 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35295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 ES：需要複雜全文搜尋、已有 Elastic 投資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658368"/>
            <a:ext cx="4160520" cy="2084832"/>
          </a:xfrm>
          <a:prstGeom prst="roundRect">
            <a:avLst>
              <a:gd name="adj" fmla="val 438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51206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51206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LogQL Examples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37176" y="768096"/>
            <a:ext cx="3904488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過濾特定 service 的 ERROR log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{service="payment-svc", env="prod"}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|= "ERROR"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解析 JSON + 過濾欄位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{service="api"}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json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status &gt;= 500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計算每分鐘錯誤率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sum(rate({service="api"} |= "ERROR" [1m]))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by (service)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用 trace_id 找關聯 log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{namespace="prod"}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|= `trace_id="abc-123-xyz"`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852928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09160" y="2907792"/>
            <a:ext cx="192024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764024" y="3423514"/>
            <a:ext cx="18105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Promtail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45736" y="3652114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logs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(DaemonSet)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675120" y="3447288"/>
            <a:ext cx="384048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arrow"/>
          </a:ln>
        </p:spPr>
      </p:sp>
      <p:sp>
        <p:nvSpPr>
          <p:cNvPr id="40" name="Text 38"/>
          <p:cNvSpPr/>
          <p:nvPr/>
        </p:nvSpPr>
        <p:spPr>
          <a:xfrm>
            <a:off x="6629400" y="329184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32320" y="2852928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132320" y="2907792"/>
            <a:ext cx="182880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187184" y="3423514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168896" y="365211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index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S3 storage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406908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114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Loki 的理念：只索引 Label（service, env, pod），log 正文存 S3 — 省錢但犧牲全文搜尋彈性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取樣策略：在完整性與成本之間取得平衡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LOGS  · 116 / 150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2A1F00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典型系統的 Log 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914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微服務 × 1000 req/s × avg 3 log lines × 500 bytes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1887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75 MB/s = 6.5 TB/天 = 195 TB/月 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0F2A1A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1109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100% 記錄 Errors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1488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ERROR 都保留 — 不取樣，成本可接受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054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N% 取樣 Success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27432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正常請求只記 10% — 統計上夠用，省 90% 成本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9981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Head-based 取樣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3375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請求開始時決定：如果 trace 被取樣，所有 log 都保留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15240">
            <a:solidFill>
              <a:srgbClr val="6E40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6941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Dynamic 取樣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39319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新型 trace_id 全保留，重複 pattern 降取樣率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6217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保留政策 (ILM)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96012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0F2A1A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005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Hot (0-7天)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12618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儲存、快速查詢 | 最近發生的問題 | 最貴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618488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2A1F00"/>
          </a:solidFill>
          <a:ln w="15240">
            <a:solidFill>
              <a:srgbClr val="D299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664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Warm (7-30天)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1920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 儲存 | 本月事件 | 中等成本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276856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1524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3225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Cold (30天以上)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25786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S3/GCS 物件儲存 | 合規/審計用 | 極低成本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2971800"/>
            <a:ext cx="4160520" cy="1572768"/>
          </a:xfrm>
          <a:prstGeom prst="roundRect">
            <a:avLst>
              <a:gd name="adj" fmla="val 5814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282549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282549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Fluent Bit sampling filter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37176" y="3081528"/>
            <a:ext cx="390448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[FILTER]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grep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    *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只保留 ERROR 和 WARN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Regex    level ^(ERROR|WARN)$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[FILTER]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sampling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    *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每 10 條 INFO 保留 1 條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Rate     0.1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  level INFO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Log 成本控制三原則：ERROR 100% 保留、INFO 取樣 10%、DEBUG 不進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查詢實戰：從混亂到洞察只需幾個指令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LOGS  · 117 / 150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224528"/>
          </a:xfrm>
          <a:prstGeom prst="roundRect">
            <a:avLst>
              <a:gd name="adj" fmla="val 216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4480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480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Query Examples (Kibana KQL / Loki LogQL)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2336" y="704088"/>
            <a:ext cx="8339328" cy="4041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===== Kibana KQL =====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找特定服務最近 1 小時的 ERROR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service:"payment-svc" AND level:ERROR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找特定用戶的所有操作（審計）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user_id:"user-789" AND @timestamp:[now-24h TO now]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找高延遲請求 (&gt;1000ms)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service:"api" AND duration_ms:&gt;1000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找特定 trace 的所有相關 log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trace_id:"abc-123-xyz"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===== Grafana LogQL (Loki) =====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統計每個服務的錯誤率 (per minute)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by(service) (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rate({namespace="prod"} |= "ERROR" [1m])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從 JSON log 提取欄位並過濾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{service="order-svc"}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json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duration_ms &gt; 500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line_format "{{.user_id}} took {{.duration_ms}}ms"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7. 找最慢的 API endpoints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topk(10,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 by(path) (rate({service="api"}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json | duration_ms &gt; 0 [5m])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49194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9651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在 Grafana 裡可以從 Metrics 告警直接跳到 Logs（Explore），再跳到 Traces — 這就是可觀測性的魔力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Log-based 告警：讓 Log 不只是被動紀錄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LOGS  · 118 / 150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6217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告警三種模式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1524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01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關鍵字告警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2161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出現 CRITICAL / OOM / panic → 立即告警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15240">
            <a:solidFill>
              <a:srgbClr val="D299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184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頻率告警 (Rate Alert)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874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1分鐘內 ERROR &gt; 50 條 → 代表事情不對勁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768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缺失告警 (Absence Alert)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5328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健康檢查 log 5分鐘沒出現 → 服務可能掛了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07792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6148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76148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Kibana Alert Rule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02336" y="3017520"/>
            <a:ext cx="385876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Kibana Watcher (JSON)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index: k8s-logs-*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filter: level:ERROR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threshold: count &gt; 100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time_window: 5m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schedule: every 1m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slack_webhook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685800"/>
            <a:ext cx="4160520" cy="2148840"/>
          </a:xfrm>
          <a:prstGeom prst="roundRect">
            <a:avLst>
              <a:gd name="adj" fmla="val 425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53949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53949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Loki Ruler Alert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37176" y="795528"/>
            <a:ext cx="3904488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prometheus-style alert from logs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log-alerts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rules: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alert: HighErrorRate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expr: |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sum(rate({namespace='prod'}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|= 'ERROR' [5m]))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/ sum(rate({namespace='prod'} [5m]))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&gt; 0.05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for: 2m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labels: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severity: critical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annotations: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summary: 'Error rate &gt;5%'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944368"/>
            <a:ext cx="4160520" cy="1444752"/>
          </a:xfrm>
          <a:prstGeom prst="roundRect">
            <a:avLst>
              <a:gd name="adj" fmla="val 5063"/>
            </a:avLst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809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從 Log 提取 Metrics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291840"/>
            <a:ext cx="38404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可以從 Log 即時計算 Metrics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不需要在 App 裡多加 Prometheus client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適合 Legacy App 快速補 Metrics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55371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5994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Log 告警比 Metric 告警更 context-rich — 告警訊息可以直接附上 log 內容，On-Call 一眼看到問題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工程最佳實踐：讓 Log 真正有價值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LOGS  · 119 / 150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Log 的正確做法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987552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058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統一輸出到 stdout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2070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容器化環境的標準，K8s/Docker 自動處理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463040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813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使用結構化 JSON 格式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168249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機器可讀，Kibana/Loki 可自動解析欄位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938528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9568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每條 Log 帶 trace_id / correlation_id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15798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串聯跨服務請求，一個 ID 追蹤所有相關 Log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414016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323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包含必要 Context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263347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service, version, env, duration_ms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889504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077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Error Log 帶完整 Stack Trace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310896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不要只記 message，要記 exception chain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364992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3832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設定合理的 Log Level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358444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INFO+，DEBUG 只在需要時開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Log 的錯誤做法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987552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0058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Log 敏感資料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12070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密碼、信用卡號、個人資料 — GDPR 違規！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1463040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4813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DEBUG Log 留在 Production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168249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效能問題 + 儲存成本爆炸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1938528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9568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catch(e) { logger.error('error') }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00600" y="215798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 context，無法除錯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2414016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2A1F00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4323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Log 但不看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00600" y="263347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收集了大量 Log 但沒有 Dashboard 或告警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2889504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2A1F00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9077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每個 request 都 Log 全部欄位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00600" y="310896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無取樣策略 → 儲存成本 ×10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3364992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2A1F00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3832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只記錯誤，不記成功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00600" y="358444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無法分析正常流量 pattern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最重要的 Log 原則：每一條 Log 都要有讀的人 — 寫了沒人看的 Log 是浪費，告警和 Dashboard 才是目的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小結：從事件記錄到系統洞察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LOGS  · 120 / 150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9050">
            <a:solidFill>
              <a:srgbClr val="23863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713232"/>
            <a:ext cx="132588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7744" y="1276502"/>
            <a:ext cx="1216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" y="1505102"/>
            <a:ext cx="1252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structlog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output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54480" y="1325880"/>
            <a:ext cx="32004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11" name="Text 9"/>
          <p:cNvSpPr/>
          <p:nvPr/>
        </p:nvSpPr>
        <p:spPr>
          <a:xfrm>
            <a:off x="1508760" y="117043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stdout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65960" y="658368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65960" y="713232"/>
            <a:ext cx="132588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20824" y="1276502"/>
            <a:ext cx="1216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Bit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02536" y="1505102"/>
            <a:ext cx="1252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DaemonSet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collect+parse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37560" y="1325880"/>
            <a:ext cx="347472" cy="0"/>
          </a:xfrm>
          <a:prstGeom prst="line">
            <a:avLst/>
          </a:prstGeom>
          <a:noFill/>
          <a:ln w="19050">
            <a:solidFill>
              <a:srgbClr val="D29922"/>
            </a:solidFill>
            <a:prstDash val="solid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3291840" y="1170432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76472" y="658368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76472" y="713232"/>
            <a:ext cx="132588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831336" y="1276502"/>
            <a:ext cx="1216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/ 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13048" y="1505102"/>
            <a:ext cx="1252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index+store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148072" y="1325880"/>
            <a:ext cx="347472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5102352" y="1170432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586984" y="658368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9050">
            <a:solidFill>
              <a:srgbClr val="1F6F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86984" y="713232"/>
            <a:ext cx="132588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41848" y="1276502"/>
            <a:ext cx="1216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23560" y="1505102"/>
            <a:ext cx="1252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958584" y="1325880"/>
            <a:ext cx="347472" cy="0"/>
          </a:xfrm>
          <a:prstGeom prst="line">
            <a:avLst/>
          </a:prstGeom>
          <a:noFill/>
          <a:ln w="19050">
            <a:solidFill>
              <a:srgbClr val="F85149"/>
            </a:solidFill>
            <a:prstDash val="solid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6912864" y="1170432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97496" y="658368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97496" y="713232"/>
            <a:ext cx="160020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52360" y="1276502"/>
            <a:ext cx="1490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34072" y="1505102"/>
            <a:ext cx="1527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investigate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resolve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210312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1762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結構化優先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4048" y="2542032"/>
            <a:ext cx="24323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格式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機器可讀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trace_id 必帶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包含足夠 context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不含敏感資料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54680" y="210312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 w="19050">
            <a:solidFill>
              <a:srgbClr val="0D8A6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21762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DaemonSet 收集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64408" y="2542032"/>
            <a:ext cx="24323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環境標準: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Bit DaemonSet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自動收集 stdout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自動加 k8s metadata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 Loki 或 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35040" y="210312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1762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成本控制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44768" y="2542032"/>
            <a:ext cx="24323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→ 100% 保留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→ 10% 取樣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→ 不進 Prod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Hot/Warm/Cold 分層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比 ES 省 90%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2026-03-16T15:22:58Z</dcterms:created>
  <dcterms:modified xsi:type="dcterms:W3CDTF">2026-03-16T15:22:58Z</dcterms:modified>
</cp:coreProperties>
</file>