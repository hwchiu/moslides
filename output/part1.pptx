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27432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217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COURSE  ·  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系統部署實務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從單體部署到 Cloud Native 的完整演進之路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碩士課程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00200" y="374904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3749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小時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3749040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749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62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"/>
            <a:ext cx="0" cy="448056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59436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914400"/>
            <a:ext cx="219456" cy="219456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14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93208" y="685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傳統部署演進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93208" y="9784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單機 → 三層架構 → 分散式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55280" y="90525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C212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9052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低複雜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874520"/>
            <a:ext cx="219456" cy="219456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8745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93208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挑戰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93208" y="19385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 / Session / DB Replica / Cache / MQ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955280" y="186537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C2128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8653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高複雜 🔺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51460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834640"/>
            <a:ext cx="219456" cy="219456"/>
          </a:xfrm>
          <a:prstGeom prst="ellipse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34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93208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革命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93208" y="28986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Compose · Registry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955280" y="28254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C2128"/>
          </a:solidFill>
          <a:ln w="9525">
            <a:solidFill>
              <a:srgbClr val="0D8A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8254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794760"/>
            <a:ext cx="219456" cy="21945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7947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93208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+ DevOps + SRE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93208" y="38587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工程最佳實踐 · CI/CD · 可觀測性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55280" y="378561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C2128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37856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工程紀律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82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8A6FF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課程大綱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完整演進之路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50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91440" cy="5303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219456" cy="219456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17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167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51790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傳統部署演進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單機 → 三層架構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56232"/>
            <a:ext cx="91440" cy="530352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011680"/>
            <a:ext cx="219456" cy="219456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0116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19110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11226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挑戰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/ Session / DB 擴展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5059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450592"/>
            <a:ext cx="91440" cy="530352"/>
          </a:xfrm>
          <a:prstGeom prst="rect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606040"/>
            <a:ext cx="219456" cy="219456"/>
          </a:xfrm>
          <a:prstGeom prst="ellipse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060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505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27066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革命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606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 / Registry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4495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044952"/>
            <a:ext cx="9144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200400"/>
            <a:ext cx="219456" cy="21945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200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0998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33009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3200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應用設計原則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3931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639312"/>
            <a:ext cx="91440" cy="5303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3794760"/>
            <a:ext cx="219456" cy="21945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7947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38953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整合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3794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GitOps · 部署策略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3367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233672"/>
            <a:ext cx="91440" cy="5303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4389120"/>
            <a:ext cx="219456" cy="21945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3891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42885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4400" y="448970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閉環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69280" y="4389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可觀測性 · SRE · Post-mortem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起點：最簡單的部署架構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1/10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96012" cy="822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03 / 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669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243584"/>
            <a:ext cx="11430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" y="1687982"/>
            <a:ext cx="1033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19165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72768" y="1709928"/>
            <a:ext cx="54864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1527048" y="15544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HTTP/80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94560" y="822960"/>
            <a:ext cx="6400800" cy="2103120"/>
          </a:xfrm>
          <a:prstGeom prst="roundRect">
            <a:avLst>
              <a:gd name="adj" fmla="val 4348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286000" y="6766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6766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ubuntu-01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68880" y="105156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1106424"/>
            <a:ext cx="1645920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23744" y="1812341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05456" y="2040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:80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78808" y="1783080"/>
            <a:ext cx="512064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133088" y="1627632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106424"/>
            <a:ext cx="1645920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9744" y="1812341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2040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:8080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64808" y="1783080"/>
            <a:ext cx="512064" cy="0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6419088" y="1627632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1051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40880" y="1106424"/>
            <a:ext cx="1371600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95744" y="1812341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77456" y="2040941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:5432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94560" y="26517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同一台機器共享：CPU / RAM / Disk / Network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優點 / 適用場景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限制 / 痛點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部署超簡單，一台搞定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幾分鐘內可完成部署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≈ Prod，除錯方便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log 在同一處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單點故障 (SPOF)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任一進程掛掉，整個服務停止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無法水平擴展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流量增加只能換更大的機器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HTTP Request 的完整旅程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04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9264"/>
            <a:ext cx="91440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437437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666037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瀏覽器輸入 URL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9144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969264"/>
            <a:ext cx="91440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57984" y="1437437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39696" y="1666037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解析 IP 位址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0" y="9144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969264"/>
            <a:ext cx="91440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95344" y="1437437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77056" y="1666037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:80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77840" y="9144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969264"/>
            <a:ext cx="91440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32704" y="1437437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14416" y="1666037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:8080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0" y="9144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969264"/>
            <a:ext cx="91440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70064" y="1437437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51776" y="1666037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:5432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44168" y="1463040"/>
            <a:ext cx="694944" cy="0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298448" y="1307592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Query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81528" y="1463040"/>
            <a:ext cx="694944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3035808" y="1307592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:80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18888" y="1463040"/>
            <a:ext cx="694944" cy="0"/>
          </a:xfrm>
          <a:prstGeom prst="line">
            <a:avLst/>
          </a:prstGeom>
          <a:noFill/>
          <a:ln w="19050">
            <a:solidFill>
              <a:srgbClr val="238636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4773168" y="1307592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Pass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56248" y="1463040"/>
            <a:ext cx="694944" cy="0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6510528" y="1307592"/>
            <a:ext cx="786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80160" y="2606040"/>
            <a:ext cx="603504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1828800" y="2450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HTTP Response (JSON)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035808"/>
            <a:ext cx="672998" cy="201168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55264"/>
            <a:ext cx="6729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~5ms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38758" y="3035808"/>
            <a:ext cx="1009498" cy="20116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8758" y="3255264"/>
            <a:ext cx="10094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~20ms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48256" y="3035808"/>
            <a:ext cx="1261872" cy="20116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48256" y="325526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~40ms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10128" y="3035808"/>
            <a:ext cx="2103120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~80ms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13248" y="3035808"/>
            <a:ext cx="3364992" cy="201168"/>
          </a:xfrm>
          <a:prstGeom prst="rect">
            <a:avLst/>
          </a:prstGeom>
          <a:solidFill>
            <a:srgbClr val="E36209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13248" y="325526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— 通常是瓶頸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~200ms+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35478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593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在單機架構中，所有步驟共用同一組資源 — 任何一步過載，全部都跟著慢下來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E36209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第一步擴展：分離資料庫 Server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05 / 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66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TWO-MACHINE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" y="13716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" y="1426464"/>
            <a:ext cx="73152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" y="1751990"/>
            <a:ext cx="6217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3736" y="198059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1828800"/>
            <a:ext cx="50292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868680" y="16733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63040" y="777240"/>
            <a:ext cx="3200400" cy="2011680"/>
          </a:xfrm>
          <a:prstGeom prst="roundRect">
            <a:avLst>
              <a:gd name="adj" fmla="val 4545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554480" y="630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630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app-server-01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0" y="10058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0" y="1060704"/>
            <a:ext cx="237744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83664" y="1814170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65376" y="2042770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+ Backend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+ FastAPI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822960" cy="0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709160" y="16733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:5432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69280" y="777240"/>
            <a:ext cx="3200400" cy="2011680"/>
          </a:xfrm>
          <a:prstGeom prst="roundRect">
            <a:avLst>
              <a:gd name="adj" fmla="val 4545"/>
            </a:avLst>
          </a:prstGeom>
          <a:ln w="12700">
            <a:solidFill>
              <a:srgbClr val="E3620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760720" y="630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E362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630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62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db-server-01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35040" y="10058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1060704"/>
            <a:ext cx="237744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89904" y="1814170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71616" y="2042770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:5432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専用機器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優點 / 適用場景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限制 / 痛點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資料獨立備份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機器可獨立 snapshot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可重啟不影響資料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分離職責，故障範圍縮小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網路延遲增加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同主機 IPC → 跨機器 TCP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仍然是單點故障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或 DB 任一掛掉，服務中斷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三層架構：前端 + 後端 + 資料庫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06 /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740664"/>
            <a:ext cx="109728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" y="1351483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35608" y="1463040"/>
            <a:ext cx="420624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1389888" y="13075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HTTP/443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20240" y="6858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20240" y="740664"/>
            <a:ext cx="155448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75104" y="1494130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56816" y="172273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38728" y="1508760"/>
            <a:ext cx="457200" cy="0"/>
          </a:xfrm>
          <a:prstGeom prst="line">
            <a:avLst/>
          </a:prstGeom>
          <a:noFill/>
          <a:ln w="19050">
            <a:solidFill>
              <a:srgbClr val="238636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3493008" y="13533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69080" y="6858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69080" y="740664"/>
            <a:ext cx="155448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23944" y="1494130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05656" y="172273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87568" y="1508760"/>
            <a:ext cx="457200" cy="0"/>
          </a:xfrm>
          <a:prstGeom prst="line">
            <a:avLst/>
          </a:prstGeom>
          <a:noFill/>
          <a:ln w="19050">
            <a:solidFill>
              <a:srgbClr val="E36209"/>
            </a:solidFill>
            <a:prstDash val="solid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5641848" y="13533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6858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740664"/>
            <a:ext cx="155448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72784" y="1494130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4496" y="172273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靜態資源 / 反向代理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6908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 / API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資料持久化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優點 / 適用場景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限制 / 痛點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職責分離，各自獨立擴展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前後端可以分別 Scale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技術棧靈活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各層可選用最適合的技術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部署順序問題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Backend → Frontend，順序錯誤就失敗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版本相依地獄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 repo 的版本必須匹配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三層架構的真實挑戰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07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766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💣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部署順序地雷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必須先啟動 DB，再啟動 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再啟動 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順序錯一個 → 服務全掛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56692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6766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1133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版本相依地獄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前端 v2.1 依賴後端 API v3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後端 v3 依賴 DB Schema v5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任一版本不對齊 → 整個掛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8712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1148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環境差異問題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開發: Mac OS + brew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正式: Ubuntu 20.04 + apt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「在我這裡可以跑！」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6148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8712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⛔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9204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前提條件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儲存在本機 → 無法多機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本機快取 → 各機器資料不同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本機寫檔 → 資料只在一台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如何找出系統瓶頸？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08 / 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找瓶頸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68580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685800"/>
            <a:ext cx="73152" cy="6583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77724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74066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飽和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99669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症狀: 請求越來越慢 | 工具: top, htop, Prometheus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46304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463040"/>
            <a:ext cx="73152" cy="65836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55448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60520" y="151790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記憶體不足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60520" y="177393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症狀: OOM kills | 工具: free -m, memory_usage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240280"/>
            <a:ext cx="73152" cy="658368"/>
          </a:xfrm>
          <a:prstGeom prst="rect">
            <a:avLst/>
          </a:prstGeom>
          <a:solidFill>
            <a:srgbClr val="E36209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33172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229514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磁碟 I/O 瓶頸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255117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症狀: DB 查詢慢 | 工具: iostat, pg_stat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301752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017520"/>
            <a:ext cx="73152" cy="65836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10896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60520" y="307238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網路頻寬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332841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症狀: 大檔案傳輸慢 | 工具: iftop, netstat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379476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3794760"/>
            <a:ext cx="73152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88620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60520" y="384962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慢查詢 (最常見)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60520" y="410565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症狀: API P99 高 | 工具: EXPLAIN ANALYZE, slow_log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先量測再優化 — 沒有量測數據就動手，等於猜測。Profile first, optimize second.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何時需要開始思考 Scale？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09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795528"/>
            <a:ext cx="2468880" cy="79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70%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65872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 5 分鐘以上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1475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不是偶發 spike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795528"/>
            <a:ext cx="2468880" cy="79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&gt; 1s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165872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尾端延遲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1475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使用者已感受到卡頓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85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795528"/>
            <a:ext cx="2468880" cy="79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&gt; 0.1%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165872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錯誤率超過閾值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91475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或 timeout 增加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2A1F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42616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常見錯誤：過早 Scale — 先從程式優化開始 (索引、快取、查詢)，不要一有問題就加機器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先做這些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加索引 (最快、最便宜)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引入 Redis 快取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優化 N+1 查詢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CDN 靜態資源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再考慮 Scale 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758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確認瓶頸真的是機器不足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502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應用必須先設計成 Stateless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224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vs Scale Out：兩種擴展策略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10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02920"/>
            <a:ext cx="0" cy="443484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Scale Up（垂直擴展）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06424"/>
            <a:ext cx="8229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" y="1479499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1708099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vCPU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5920" y="96012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45920" y="1014984"/>
            <a:ext cx="100584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00784" y="1483157"/>
            <a:ext cx="8961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2496" y="1711757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vCPU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34640" y="8229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877824"/>
            <a:ext cx="123444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89504" y="1464869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71216" y="1693469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vCPU 💸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0" y="868680"/>
            <a:ext cx="320040" cy="1097280"/>
          </a:xfrm>
          <a:prstGeom prst="roundRect">
            <a:avLst>
              <a:gd name="adj" fmla="val 14286"/>
            </a:avLst>
          </a:prstGeom>
          <a:ln w="12700">
            <a:solidFill>
              <a:srgbClr val="F85149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096512" y="8046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上限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267712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33172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3225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30428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不需改程式碼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" y="24963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直接升級機器規格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871216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9260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" y="290779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費用指數成長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" y="3099816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高階機器貴、且仍是單點故障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49300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55701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54787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" y="352958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物理上限存在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512" y="372160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停機才能升級，有天花板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Scale Out（水平擴展）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10058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8229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82296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10528" y="82296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60720" y="1024128"/>
            <a:ext cx="457200" cy="0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6217920" y="13716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137160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10528" y="137160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60720" y="1572768"/>
            <a:ext cx="457200" cy="0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62179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192024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10528" y="192024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760720" y="2121408"/>
            <a:ext cx="457200" cy="0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4754880" y="2267712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28032" y="233172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23225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148072" y="230428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線性成本增長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148072" y="24963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用小機器組成艦隊，彈性高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2871216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28032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29260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48072" y="290779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無停機擴容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148072" y="3099816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動態加減節點，應對流量高峰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349300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28032" y="355701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54787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48072" y="352958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前提：應用必須 Stateless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148072" y="372160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Session、本機快取、本機寫檔 → 都要重新設計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設計：Scale Out 的先決條件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11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02920"/>
            <a:ext cx="0" cy="443484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Stateful — 無法 Scale 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43584"/>
            <a:ext cx="91440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0624" y="1592885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44168" y="1673352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764792" y="1188720"/>
            <a:ext cx="82296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1243584"/>
            <a:ext cx="82296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19656" y="1592885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8686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923544"/>
            <a:ext cx="10972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89504" y="1225296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640" y="169164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1746504"/>
            <a:ext cx="10972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89504" y="2048256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87752" y="1298448"/>
            <a:ext cx="246888" cy="-137160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587752" y="1417320"/>
            <a:ext cx="246888" cy="502920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274320" y="2514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 找不到 Session → 被登出！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85292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8437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825496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存在本機記憶體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37413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3649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334670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必須用 Sticky Session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" y="353872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一台掛掉，使用者全部登出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Stateless — 可自由 Scale Out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11887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1243584"/>
            <a:ext cx="91440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901184" y="1592885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24728" y="1673352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245352" y="1188720"/>
            <a:ext cx="822960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45352" y="1243584"/>
            <a:ext cx="82296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00216" y="1592885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78040" y="822960"/>
            <a:ext cx="1508760" cy="1600200"/>
          </a:xfrm>
          <a:prstGeom prst="roundRect">
            <a:avLst>
              <a:gd name="adj" fmla="val 6061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269480" y="96012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96012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62088" y="96012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69480" y="141732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141732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562088" y="141732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68312" y="1353312"/>
            <a:ext cx="201168" cy="-146304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7068312" y="1435608"/>
            <a:ext cx="201168" cy="201168"/>
          </a:xfrm>
          <a:prstGeom prst="line">
            <a:avLst/>
          </a:prstGeom>
          <a:noFill/>
          <a:ln w="12700">
            <a:solidFill>
              <a:srgbClr val="6E40C9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7589520" y="256032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89520" y="261518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644384" y="298825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26096" y="321685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Store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29600" y="1371600"/>
            <a:ext cx="0" cy="1188720"/>
          </a:xfrm>
          <a:prstGeom prst="line">
            <a:avLst/>
          </a:prstGeom>
          <a:noFill/>
          <a:ln w="12700">
            <a:solidFill>
              <a:srgbClr val="6E40C9"/>
            </a:solidFill>
            <a:prstDash val="dash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754880" y="27889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28032" y="285292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28437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48072" y="2825496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集中存入 Redis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331012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28032" y="337413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3649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48072" y="334670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 Server 都能處理任意請求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148072" y="353872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可自由分配，Server 可隨時加減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385876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28032" y="39227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913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48072" y="389534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其他需注意：本機快取、本機寫檔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148072" y="408736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任何「狀態」都要外部化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小結：架構演進路線圖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12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24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675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單機部署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設定簡單，快速啟動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SPOF 單點故障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不可 Scale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24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6675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28032" y="106984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62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分離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資料與應用分開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獨立備份與優化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901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仍舊 2 個 SPOF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907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" y="33101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三層架構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301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職責分離清楚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技術棧彈性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1422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版本相依複雜化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907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28032" y="33101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準備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6301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 Load Balancer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必須 Stateless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1422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準備好了嗎？→ Part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4828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 2: Scale Out 的挑戰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2026-03-16T14:26:19Z</dcterms:created>
  <dcterms:modified xsi:type="dcterms:W3CDTF">2026-03-16T14:26:19Z</dcterms:modified>
</cp:coreProperties>
</file>