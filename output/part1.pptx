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13232"/>
            <a:ext cx="274320" cy="2743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2179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COURSE  · 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-1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系統部署實務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從單體部署到 Cloud Native 的完整演進之路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碩士課程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0020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小時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97480" y="3749040"/>
            <a:ext cx="1005840" cy="256032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3749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頁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274320"/>
            <a:ext cx="9144" cy="448056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9436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91440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914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93208" y="685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97840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單機 → 三層架構 → 分散式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955280" y="90525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90525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低複雜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5448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8745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93208" y="1645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93208" y="193852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 / Session / DB Replica / Cache / MQ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955280" y="186537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8653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高複雜 🔺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8346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28346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93208" y="26060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93208" y="28986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· Compose · Registry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955280" y="282549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0D8A6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5280" y="282549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複雜↓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474720"/>
            <a:ext cx="429768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0600" y="379476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93208" y="35661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+ DevOps + SRE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93208" y="385876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工程最佳實踐 · CI/CD · 可觀測性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955280" y="3785616"/>
            <a:ext cx="914400" cy="219456"/>
          </a:xfrm>
          <a:prstGeom prst="roundRect">
            <a:avLst>
              <a:gd name="adj" fmla="val 25000"/>
            </a:avLst>
          </a:prstGeom>
          <a:solidFill>
            <a:srgbClr val="1C2128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55280" y="378561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工程紀律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" y="18288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58A6FF">
                    <a:alpha val="2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914400" y="25603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課程大綱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完整演進之路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61872"/>
            <a:ext cx="91440" cy="530352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17320"/>
            <a:ext cx="219456" cy="219456"/>
          </a:xfrm>
          <a:prstGeom prst="ellipse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4173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14400" y="13167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14400" y="15179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傳統部署演進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4173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 → 三層架構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185623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1856232"/>
            <a:ext cx="91440" cy="530352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011680"/>
            <a:ext cx="219456" cy="219456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01168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191109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211226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挑戰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0" y="2011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/ Session / DB 擴展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45059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450592"/>
            <a:ext cx="91440" cy="530352"/>
          </a:xfrm>
          <a:prstGeom prst="rect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2606040"/>
            <a:ext cx="219456" cy="219456"/>
          </a:xfrm>
          <a:prstGeom prst="ellipse">
            <a:avLst/>
          </a:prstGeom>
          <a:solidFill>
            <a:srgbClr val="0D8A6C"/>
          </a:solidFill>
          <a:ln w="12700">
            <a:solidFill>
              <a:srgbClr val="0D8A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60604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14400" y="250545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70662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革命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2606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 /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304495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044952"/>
            <a:ext cx="91440" cy="5303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200400"/>
            <a:ext cx="219456" cy="219456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20040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4400" y="309981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4400" y="330098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 App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0" y="32004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Cloud-Ready 應用設計原則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3931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639312"/>
            <a:ext cx="91440" cy="53035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6928" y="3794760"/>
            <a:ext cx="219456" cy="219456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79476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14400" y="389534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整合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0" y="3794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GitOps · 部署策略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5760" y="4233672"/>
            <a:ext cx="8412480" cy="530352"/>
          </a:xfrm>
          <a:prstGeom prst="roundRect">
            <a:avLst>
              <a:gd name="adj" fmla="val 13793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33672"/>
            <a:ext cx="91440" cy="53035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43891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4389120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914400" y="42885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14400" y="4489704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閉環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669280" y="438912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 · SRE · Post-mortem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起點：最簡單的部署架構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1/10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96012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03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HOST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1188720"/>
            <a:ext cx="1143000" cy="960120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43584"/>
            <a:ext cx="11430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20624" y="1687982"/>
            <a:ext cx="10332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2336" y="1916582"/>
            <a:ext cx="10698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572768" y="1709928"/>
            <a:ext cx="54864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1527048" y="155448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HTTP/80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194560" y="822960"/>
            <a:ext cx="6400800" cy="2103120"/>
          </a:xfrm>
          <a:prstGeom prst="roundRect">
            <a:avLst>
              <a:gd name="adj" fmla="val 4348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86000" y="6766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04288" y="6766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468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468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523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505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78808" y="1783080"/>
            <a:ext cx="51206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133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754880" y="105156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1106424"/>
            <a:ext cx="164592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809744" y="1812341"/>
            <a:ext cx="15361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91456" y="2040941"/>
            <a:ext cx="15727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64808" y="1783080"/>
            <a:ext cx="512064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6419088" y="1627632"/>
            <a:ext cx="603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1051560"/>
            <a:ext cx="1371600" cy="14630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040880" y="1106424"/>
            <a:ext cx="1371600" cy="6729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95744" y="1812341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077456" y="2040941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194560" y="2651760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同一台機器共享：CPU / RAM / Disk / Network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部署超簡單，一台搞定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幾分鐘內可完成部署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≈ Prod，除錯方便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log 在同一處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單點故障 (SPOF)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任一進程掛掉，整個服務停止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無法水平擴展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流量增加只能換更大的機器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 HTTP Request 的完整旅程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062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0233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瀏覽器輸入 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10312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5798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3969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解析 IP 位址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84048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84048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89534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7705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:80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57784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57784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63270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1441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:8080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315200" y="914400"/>
            <a:ext cx="914400" cy="10058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0" y="969264"/>
            <a:ext cx="91440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370064" y="1437437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51776" y="1666037"/>
            <a:ext cx="841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:5432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344168" y="1463040"/>
            <a:ext cx="694944" cy="9144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129844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 Query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081528" y="1463040"/>
            <a:ext cx="69494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03580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:80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18888" y="1463040"/>
            <a:ext cx="694944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477316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 Pass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556248" y="1463040"/>
            <a:ext cx="694944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6510528" y="1307592"/>
            <a:ext cx="7863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280160" y="2606040"/>
            <a:ext cx="603504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1828800" y="245059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HTTP Response (JSON)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292608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035808"/>
            <a:ext cx="672998" cy="201168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255264"/>
            <a:ext cx="672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~5ms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38758" y="3035808"/>
            <a:ext cx="1009498" cy="2011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8758" y="3255264"/>
            <a:ext cx="10094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~20ms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48256" y="3035808"/>
            <a:ext cx="1261872" cy="201168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48256" y="3255264"/>
            <a:ext cx="1261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~40ms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310128" y="3035808"/>
            <a:ext cx="2103120" cy="201168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10128" y="32552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~80ms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413248" y="3035808"/>
            <a:ext cx="3364992" cy="2011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13248" y="3255264"/>
            <a:ext cx="3364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— 通常是瓶頸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~200ms+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74320" y="35478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在單機架構中，所有步驟共用同一組資源 — 任何一步過載，全部都跟著慢下來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第一步擴展：分離資料庫 Server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3/10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288036" cy="822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05 / 50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56692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DEPLOYMENT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37160" y="137160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37160" y="1426464"/>
            <a:ext cx="731520" cy="3364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92024" y="1751990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73736" y="198059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828800"/>
            <a:ext cx="50292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868680" y="167335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46304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55448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238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app-server-01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82880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82880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88366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6537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+ Backend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+ FastAPI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1828800"/>
            <a:ext cx="82296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4709160" y="16733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:5432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777240"/>
            <a:ext cx="3200400" cy="2011680"/>
          </a:xfrm>
          <a:prstGeom prst="roundRect">
            <a:avLst>
              <a:gd name="adj" fmla="val 4545"/>
            </a:avLst>
          </a:prstGeom>
          <a:ln w="12700">
            <a:solidFill>
              <a:srgbClr val="E36209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760720" y="630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E362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79008" y="630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db-server-01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035040" y="100584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1060704"/>
            <a:ext cx="237744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089904" y="1814170"/>
            <a:ext cx="2267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071616" y="2042770"/>
            <a:ext cx="2304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 :5432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専用機器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資料獨立備份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機器可獨立 snapshot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可重啟不影響資料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分離職責，故障範圍縮小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網路延遲增加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同主機 IPC → 跨機器 TCP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仍然是單點故障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或 DB 任一掛掉，服務中斷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三層架構：前端 + 後端 + 資料庫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複雜度  5/10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252D38"/>
          </a:solidFill>
          <a:ln w="12700">
            <a:solidFill>
              <a:srgbClr val="252D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480060" cy="822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06 / 50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685800"/>
            <a:ext cx="1097280" cy="128016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740664"/>
            <a:ext cx="1097280" cy="5888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" y="1351483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35608" y="1463040"/>
            <a:ext cx="420624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1389888" y="1307592"/>
            <a:ext cx="512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HTTP/443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92024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92024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97510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5681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538728" y="1508760"/>
            <a:ext cx="45720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349300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06908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06908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12394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0565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687568" y="1508760"/>
            <a:ext cx="457200" cy="9144"/>
          </a:xfrm>
          <a:prstGeom prst="line">
            <a:avLst/>
          </a:prstGeom>
          <a:noFill/>
          <a:ln w="19050">
            <a:solidFill>
              <a:srgbClr val="E36209"/>
            </a:solidFill>
            <a:prstDash val="solid"/>
            <a:tailEnd type="arrow"/>
          </a:ln>
        </p:spPr>
      </p:sp>
      <p:sp>
        <p:nvSpPr>
          <p:cNvPr id="25" name="Text 23"/>
          <p:cNvSpPr/>
          <p:nvPr/>
        </p:nvSpPr>
        <p:spPr>
          <a:xfrm>
            <a:off x="5641848" y="1353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362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17920" y="685800"/>
            <a:ext cx="1554480" cy="1554480"/>
          </a:xfrm>
          <a:prstGeom prst="roundRect">
            <a:avLst>
              <a:gd name="adj" fmla="val 5882"/>
            </a:avLst>
          </a:prstGeom>
          <a:solidFill>
            <a:srgbClr val="161B22"/>
          </a:solidFill>
          <a:ln w="1905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17920" y="740664"/>
            <a:ext cx="1554480" cy="7150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272784" y="1494130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54496" y="1722730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server-03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92024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靜態資源 / 反向代理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6908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業務邏輯 / API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2331720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資料持久化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3246120"/>
            <a:ext cx="4572000" cy="1783080"/>
          </a:xfrm>
          <a:prstGeom prst="rect">
            <a:avLst/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3246120"/>
            <a:ext cx="4572000" cy="1783080"/>
          </a:xfrm>
          <a:prstGeom prst="rect">
            <a:avLst/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2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優點 / 適用場景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0" y="333756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限制 / 痛點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64592" y="3694176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職責分離，各自獨立擴展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84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前後端可以分別 Scale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4592" y="4187952"/>
            <a:ext cx="146304" cy="146304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技術棧靈活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4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各層可選用最適合的技術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36592" y="3694176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56048" y="3648456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部署順序問題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956048" y="3840480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→ Backend → Frontend，順序錯誤就失敗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36592" y="4187952"/>
            <a:ext cx="146304" cy="146304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4142232"/>
            <a:ext cx="4069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956048" y="4334256"/>
            <a:ext cx="4069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 repo 的版本必須匹配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三層架構的真實挑戰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💣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部署順序地雷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必須先啟動 DB，再啟動 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再啟動 Frontend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順序錯一個 → 服務全掛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56692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7665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892040" y="1133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版本相依地獄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14996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前端 v2.1 依賴後端 API v3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8288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後端 v3 依賴 DB Schema v5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15798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任一版本不對齊 → 整個掛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😱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1148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環境差異問題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開發: Mac OS + brew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正式: Ubuntu 20.04 + apt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「在我這裡可以跑！」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761488"/>
            <a:ext cx="4114800" cy="2057400"/>
          </a:xfrm>
          <a:prstGeom prst="roundRect">
            <a:avLst>
              <a:gd name="adj" fmla="val 5333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871216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⛔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4892040" y="3328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前提條件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92040" y="36941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儲存在本機 → 無法多機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4023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本機快取 → 各機器資料不同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52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本機寫檔 → 資料只在一台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如何找出系統瓶頸？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🔍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74320" y="26060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找瓶頸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66160" y="68580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685800"/>
            <a:ext cx="73152" cy="658368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77724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160520" y="74066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飽和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60520" y="99669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請求越來越慢 | 工具: top, htop, Prometheus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46304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66160" y="1463040"/>
            <a:ext cx="73152" cy="658368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55448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160520" y="151790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記憶體不足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160520" y="177393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OOM kills | 工具: free -m, memory_usage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566160" y="224028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2240280"/>
            <a:ext cx="73152" cy="658368"/>
          </a:xfrm>
          <a:prstGeom prst="rect">
            <a:avLst/>
          </a:prstGeom>
          <a:solidFill>
            <a:srgbClr val="E36209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233172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💿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160520" y="229514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磁碟 I/O 瓶頸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60520" y="255117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DB 查詢慢 | 工具: iostat, pg_stat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301752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017520"/>
            <a:ext cx="73152" cy="658368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10896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160520" y="307238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網路頻寬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160520" y="332841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大檔案傳輸慢 | 工具: iftop, netstat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66160" y="3794760"/>
            <a:ext cx="5212080" cy="658368"/>
          </a:xfrm>
          <a:prstGeom prst="roundRect">
            <a:avLst>
              <a:gd name="adj" fmla="val 9722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6160" y="3794760"/>
            <a:ext cx="73152" cy="658368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3886200"/>
            <a:ext cx="3840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160520" y="3849624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慢查詢 (最常見)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160520" y="4105656"/>
            <a:ext cx="4480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症狀: API P99 高 | 工具: EXPLAIN ANALYZE, slow_log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先量測再優化 — 沒有量測數據就動手，等於猜測。Profile first, optimize second.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何時需要開始思考 Scale？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09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&gt; 70%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 5 分鐘以上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不是偶發 spike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&gt; 1s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29184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尾端延遲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使用者已感受到卡頓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35040" y="68580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795528"/>
            <a:ext cx="2468880" cy="7991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&gt; 0.1%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126480" y="165872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錯誤率超過閾值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191475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或 timeout 增加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2727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42616"/>
            <a:ext cx="822960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常見錯誤：過早 Scale — 先從程式優化開始 (索引、快取、查詢)，不要一有問題就加機器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先做這些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加索引 (最快、最便宜)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引入 Redis 快取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優化 N+1 查詢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9884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CDN 靜態資源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3246120"/>
            <a:ext cx="4114800" cy="1600200"/>
          </a:xfrm>
          <a:prstGeom prst="roundRect">
            <a:avLst>
              <a:gd name="adj" fmla="val 5714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3337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再考慮 Scale Out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7588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確認瓶頸真的是機器不足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37760" y="395020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應用必須先設計成 Stateless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4224528"/>
            <a:ext cx="3749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 vs Scale Out：兩種擴展策略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 Scale Up（垂直擴展）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1106424"/>
            <a:ext cx="8229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1479499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" y="1708099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vCPU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3258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45920" y="96012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645920" y="1014984"/>
            <a:ext cx="1005840" cy="462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00784" y="1483157"/>
            <a:ext cx="8961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82496" y="1711757"/>
            <a:ext cx="9326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vCPU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697480" y="1325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2834640" y="822960"/>
            <a:ext cx="123444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877824"/>
            <a:ext cx="1234440" cy="5678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1464869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71216" y="1693469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vCPU 💸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0" y="868680"/>
            <a:ext cx="320040" cy="1097280"/>
          </a:xfrm>
          <a:prstGeom prst="roundRect">
            <a:avLst>
              <a:gd name="adj" fmla="val 14286"/>
            </a:avLst>
          </a:prstGeom>
          <a:ln w="12700">
            <a:solidFill>
              <a:srgbClr val="F85149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4096512" y="8046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不需改程式碼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6751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直接升級機器規格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747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6751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費用指數成長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6751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高階機器貴、且仍是單點故障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4747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747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751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物理上限存在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6751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停機才能升級，有天花板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Scale Out（水平擴展）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937760" y="10058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0" y="1005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217920" y="82296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3640" y="82296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510528" y="82296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60720" y="102412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6217920" y="137160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63640" y="137160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10528" y="137160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760720" y="157276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6217920" y="1920240"/>
            <a:ext cx="100584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263640" y="192024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510528" y="1920240"/>
            <a:ext cx="6766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760720" y="2121408"/>
            <a:ext cx="457200" cy="914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4754880" y="2267712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28032" y="2331720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28032" y="2322576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148072" y="2304288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線性成本增長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148072" y="2496312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用小機器組成艦隊，彈性高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54880" y="2871216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2935224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2926080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2907792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無停機擴容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099816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動態加減節點，應對流量高峰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49300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55701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54787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52958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前提：應用必須 Stateless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372160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Session、本機快取、本機寫檔 → 都要重新設計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設計：Scale Out 的先決條件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0" y="502920"/>
            <a:ext cx="9144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Stateful — 無法 Scale 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2062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344168" y="167335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76479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76479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1965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834640" y="86868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34640" y="92354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889504" y="122529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834640" y="169164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834640" y="1746504"/>
            <a:ext cx="109728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889504" y="2048256"/>
            <a:ext cx="9875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587752" y="1161288"/>
            <a:ext cx="246888" cy="13716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2587752" y="1417320"/>
            <a:ext cx="246888" cy="502920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" y="251460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#2 找不到 Session → 被登出！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存在本機記憶體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0F0F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必須用 Sticky Session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6751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一台掛掉，使用者全部登出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Stateless — 可自由 Scale Out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46320" y="1188720"/>
            <a:ext cx="91440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846320" y="1243584"/>
            <a:ext cx="91440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901184" y="1592885"/>
            <a:ext cx="8046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824728" y="1673352"/>
            <a:ext cx="36576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245352" y="1188720"/>
            <a:ext cx="822960" cy="777240"/>
          </a:xfrm>
          <a:prstGeom prst="roundRect">
            <a:avLst>
              <a:gd name="adj" fmla="val 1176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6245352" y="1243584"/>
            <a:ext cx="822960" cy="3575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300216" y="1592885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178040" y="822960"/>
            <a:ext cx="1508760" cy="1600200"/>
          </a:xfrm>
          <a:prstGeom prst="roundRect">
            <a:avLst>
              <a:gd name="adj" fmla="val 6061"/>
            </a:avLst>
          </a:prstGeom>
          <a:ln w="12700">
            <a:solidFill>
              <a:srgbClr val="238636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7269480" y="9601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9601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62088" y="9601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269480" y="1417320"/>
            <a:ext cx="1325880" cy="41148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1417320"/>
            <a:ext cx="23774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62088" y="1417320"/>
            <a:ext cx="9966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B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068312" y="1207008"/>
            <a:ext cx="201168" cy="146304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7068312" y="1435608"/>
            <a:ext cx="201168" cy="201168"/>
          </a:xfrm>
          <a:prstGeom prst="line">
            <a:avLst/>
          </a:prstGeom>
          <a:noFill/>
          <a:ln w="12700">
            <a:solidFill>
              <a:srgbClr val="6E40C9"/>
            </a:solidFill>
            <a:prstDash val="solid"/>
            <a:tailEnd type="arrow"/>
          </a:ln>
        </p:spPr>
      </p:sp>
      <p:sp>
        <p:nvSpPr>
          <p:cNvPr id="52" name="Shape 50"/>
          <p:cNvSpPr/>
          <p:nvPr/>
        </p:nvSpPr>
        <p:spPr>
          <a:xfrm>
            <a:off x="7589520" y="256032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589520" y="261518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7644384" y="298825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7626096" y="321685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Store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29600" y="1371600"/>
            <a:ext cx="9144" cy="1188720"/>
          </a:xfrm>
          <a:prstGeom prst="line">
            <a:avLst/>
          </a:prstGeom>
          <a:noFill/>
          <a:ln w="12700">
            <a:solidFill>
              <a:srgbClr val="6E40C9"/>
            </a:solidFill>
            <a:prstDash val="dash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4754880" y="2788920"/>
            <a:ext cx="4023360" cy="365760"/>
          </a:xfrm>
          <a:prstGeom prst="roundRect">
            <a:avLst>
              <a:gd name="adj" fmla="val 17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28032" y="2852928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2843784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148072" y="2825496"/>
            <a:ext cx="3529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集中存入 Redis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754880" y="331012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28032" y="337413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0F2A1A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36499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148072" y="334670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任一 Server 都能處理任意請求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148072" y="353872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 可自由分配，Server 可隨時加減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754880" y="3858768"/>
            <a:ext cx="4023360" cy="512064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28032" y="3922776"/>
            <a:ext cx="246888" cy="246888"/>
          </a:xfrm>
          <a:prstGeom prst="roundRect">
            <a:avLst>
              <a:gd name="adj" fmla="val 18519"/>
            </a:avLst>
          </a:prstGeom>
          <a:solidFill>
            <a:srgbClr val="2A1F00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28032" y="3913632"/>
            <a:ext cx="246888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148072" y="3895344"/>
            <a:ext cx="35295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其他需注意：本機快取、本機寫檔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148072" y="4087368"/>
            <a:ext cx="3529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任何「狀態」都要外部化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238636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小結：架構演進路線圖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12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23863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🖥️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8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單機部署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設定簡單，快速啟動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SPOF 單點故障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不可 Scale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59436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E3620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66751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828032" y="106984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分離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資料與應用分開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6459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獨立備份與優化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9019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仍舊 2 個 SPOF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1F6FEB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三層架構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職責分離清楚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技術棧彈性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版本相依複雜化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114800" cy="205740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2907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⚖️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828032" y="3310128"/>
            <a:ext cx="3968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 準備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46320" y="3630168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需要 Load Balancer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388620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必須 Stateless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414223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準備好了嗎？→ Part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4828032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Part 2: Scale Out 的挑戰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2026-03-16T23:24:30Z</dcterms:created>
  <dcterms:modified xsi:type="dcterms:W3CDTF">2026-03-16T23:24:30Z</dcterms:modified>
</cp:coreProperties>
</file>