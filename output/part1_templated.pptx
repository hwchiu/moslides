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405"/>
  </p:normalViewPr>
  <p:slideViewPr>
    <p:cSldViewPr snapToGrid="0">
      <p:cViewPr varScale="1">
        <p:scale>
          <a:sx n="131" d="100"/>
          <a:sy n="131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4/8/26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71600"/>
            <a:ext cx="5120640" cy="1122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kern="0" spc="-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609600" y="2369127"/>
            <a:ext cx="5120640" cy="1122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kern="0" spc="-10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09600" y="3740727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Deployment in Practice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600" y="4426527"/>
            <a:ext cx="5120640" cy="4364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evolution from monolithic deployment to Cloud Native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96000" y="374073"/>
            <a:ext cx="12192" cy="6109855"/>
          </a:xfrm>
          <a:prstGeom prst="line">
            <a:avLst/>
          </a:prstGeom>
          <a:noFill/>
          <a:ln w="9525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810491"/>
            <a:ext cx="5730240" cy="1184564"/>
          </a:xfrm>
          <a:prstGeom prst="roundRect">
            <a:avLst>
              <a:gd name="adj" fmla="val 10526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246909"/>
            <a:ext cx="292608" cy="299258"/>
          </a:xfrm>
          <a:prstGeom prst="ellipse">
            <a:avLst/>
          </a:prstGeom>
          <a:solidFill>
            <a:srgbClr val="5A9B6E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246909"/>
            <a:ext cx="292608" cy="2992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790944" y="935182"/>
            <a:ext cx="377952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Deployment Evolution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90944" y="1334193"/>
            <a:ext cx="377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Server → Three-Tier → Distributed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0607040" y="1234440"/>
            <a:ext cx="1219200" cy="299258"/>
          </a:xfrm>
          <a:prstGeom prst="roundRect">
            <a:avLst>
              <a:gd name="adj" fmla="val 25000"/>
            </a:avLst>
          </a:prstGeom>
          <a:solidFill>
            <a:srgbClr val="ECE6DD"/>
          </a:solidFill>
          <a:ln w="9525">
            <a:solidFill>
              <a:srgbClr val="4A99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0" y="1234440"/>
            <a:ext cx="1219200" cy="2992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Complexity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217920" y="2119745"/>
            <a:ext cx="5730240" cy="1184564"/>
          </a:xfrm>
          <a:prstGeom prst="roundRect">
            <a:avLst>
              <a:gd name="adj" fmla="val 10526"/>
            </a:avLst>
          </a:prstGeom>
          <a:solidFill>
            <a:srgbClr val="F5F1EB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2556164"/>
            <a:ext cx="292608" cy="29925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556164"/>
            <a:ext cx="292608" cy="2992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90944" y="2244436"/>
            <a:ext cx="377952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Out Challenges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90944" y="2643447"/>
            <a:ext cx="377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LB / Session / DB Replica / Cache / MQ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607040" y="2543695"/>
            <a:ext cx="1219200" cy="299258"/>
          </a:xfrm>
          <a:prstGeom prst="roundRect">
            <a:avLst>
              <a:gd name="adj" fmla="val 25000"/>
            </a:avLst>
          </a:prstGeom>
          <a:solidFill>
            <a:srgbClr val="ECE6DD"/>
          </a:solidFill>
          <a:ln w="9525">
            <a:solidFill>
              <a:srgbClr val="C460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07040" y="2543695"/>
            <a:ext cx="1219200" cy="2992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Complexity 🔺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217920" y="3429000"/>
            <a:ext cx="5730240" cy="1184564"/>
          </a:xfrm>
          <a:prstGeom prst="roundRect">
            <a:avLst>
              <a:gd name="adj" fmla="val 10526"/>
            </a:avLst>
          </a:prstGeom>
          <a:solidFill>
            <a:srgbClr val="F5F1EB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3865418"/>
            <a:ext cx="292608" cy="299258"/>
          </a:xfrm>
          <a:prstGeom prst="ellipse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865418"/>
            <a:ext cx="292608" cy="2992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90944" y="3553691"/>
            <a:ext cx="377952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Revolution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90944" y="3952702"/>
            <a:ext cx="377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Compose · Registry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0607040" y="3852949"/>
            <a:ext cx="1219200" cy="299258"/>
          </a:xfrm>
          <a:prstGeom prst="roundRect">
            <a:avLst>
              <a:gd name="adj" fmla="val 25000"/>
            </a:avLst>
          </a:prstGeom>
          <a:solidFill>
            <a:srgbClr val="ECE6DD"/>
          </a:solidFill>
          <a:ln w="9525">
            <a:solidFill>
              <a:srgbClr val="4A9B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07040" y="3852949"/>
            <a:ext cx="1219200" cy="2992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Complexity↓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217920" y="4738255"/>
            <a:ext cx="5730240" cy="1184564"/>
          </a:xfrm>
          <a:prstGeom prst="roundRect">
            <a:avLst>
              <a:gd name="adj" fmla="val 10526"/>
            </a:avLst>
          </a:prstGeom>
          <a:solidFill>
            <a:srgbClr val="F5F1EB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5174673"/>
            <a:ext cx="292608" cy="29925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5174673"/>
            <a:ext cx="292608" cy="2992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90944" y="4862945"/>
            <a:ext cx="377952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12-Factor + DevOps + SRE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90944" y="5261956"/>
            <a:ext cx="377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 Best Practices · CI/CD · Observability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0607040" y="5162204"/>
            <a:ext cx="1219200" cy="299258"/>
          </a:xfrm>
          <a:prstGeom prst="roundRect">
            <a:avLst>
              <a:gd name="adj" fmla="val 25000"/>
            </a:avLst>
          </a:prstGeom>
          <a:solidFill>
            <a:srgbClr val="ECE6DD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07040" y="5162204"/>
            <a:ext cx="1219200" cy="2992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Discipline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" y="249382"/>
            <a:ext cx="2194560" cy="12469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4A7FB5">
                    <a:alpha val="2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1219200" y="349135"/>
            <a:ext cx="609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Outline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19200" y="935182"/>
            <a:ext cx="609600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The Complete Evolution Path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87680" y="1720735"/>
            <a:ext cx="11216640" cy="723207"/>
          </a:xfrm>
          <a:prstGeom prst="roundRect">
            <a:avLst>
              <a:gd name="adj" fmla="val 13793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7680" y="1720735"/>
            <a:ext cx="121920" cy="723207"/>
          </a:xfrm>
          <a:prstGeom prst="rect">
            <a:avLst/>
          </a:prstGeom>
          <a:solidFill>
            <a:srgbClr val="5A9B6E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5904" y="1932709"/>
            <a:ext cx="292608" cy="299258"/>
          </a:xfrm>
          <a:prstGeom prst="ellipse">
            <a:avLst/>
          </a:prstGeom>
          <a:solidFill>
            <a:srgbClr val="5A9B6E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5904" y="1932709"/>
            <a:ext cx="292608" cy="2992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19200" y="1795549"/>
            <a:ext cx="1219200" cy="3117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19200" y="2069869"/>
            <a:ext cx="5486400" cy="3117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Deployment Evolution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59040" y="1932709"/>
            <a:ext cx="3901440" cy="3117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Server → Three-Tier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7680" y="2531225"/>
            <a:ext cx="11216640" cy="723207"/>
          </a:xfrm>
          <a:prstGeom prst="roundRect">
            <a:avLst>
              <a:gd name="adj" fmla="val 13793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7680" y="2531225"/>
            <a:ext cx="121920" cy="723207"/>
          </a:xfrm>
          <a:prstGeom prst="rect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5904" y="2743200"/>
            <a:ext cx="292608" cy="29925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5904" y="2743200"/>
            <a:ext cx="292608" cy="2992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19200" y="2606040"/>
            <a:ext cx="1219200" cy="3117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19200" y="2880360"/>
            <a:ext cx="5486400" cy="3117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Out Challenges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59040" y="2743200"/>
            <a:ext cx="3901440" cy="3117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/ Session / DB Scaling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7680" y="3341716"/>
            <a:ext cx="11216640" cy="723207"/>
          </a:xfrm>
          <a:prstGeom prst="roundRect">
            <a:avLst>
              <a:gd name="adj" fmla="val 13793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7680" y="3341716"/>
            <a:ext cx="121920" cy="723207"/>
          </a:xfrm>
          <a:prstGeom prst="rect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5904" y="3553691"/>
            <a:ext cx="292608" cy="299258"/>
          </a:xfrm>
          <a:prstGeom prst="ellipse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5904" y="3553691"/>
            <a:ext cx="292608" cy="2992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19200" y="3416531"/>
            <a:ext cx="1219200" cy="3117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219200" y="3690851"/>
            <a:ext cx="5486400" cy="3117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Revolution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59040" y="3553691"/>
            <a:ext cx="3901440" cy="3117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Compose / Registry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7680" y="4152207"/>
            <a:ext cx="11216640" cy="723207"/>
          </a:xfrm>
          <a:prstGeom prst="roundRect">
            <a:avLst>
              <a:gd name="adj" fmla="val 13793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7680" y="4152207"/>
            <a:ext cx="121920" cy="723207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5904" y="4364182"/>
            <a:ext cx="292608" cy="29925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5904" y="4364182"/>
            <a:ext cx="292608" cy="2992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219200" y="4227022"/>
            <a:ext cx="1219200" cy="3117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219200" y="4501342"/>
            <a:ext cx="5486400" cy="3117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12-Factor App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59040" y="4364182"/>
            <a:ext cx="3901440" cy="3117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Cloud-Ready App Design Principles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7680" y="4962698"/>
            <a:ext cx="11216640" cy="723207"/>
          </a:xfrm>
          <a:prstGeom prst="roundRect">
            <a:avLst>
              <a:gd name="adj" fmla="val 13793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7680" y="4962698"/>
            <a:ext cx="121920" cy="723207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5904" y="5174673"/>
            <a:ext cx="292608" cy="299258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5904" y="5174673"/>
            <a:ext cx="292608" cy="2992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219200" y="5037513"/>
            <a:ext cx="1219200" cy="3117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219200" y="5311833"/>
            <a:ext cx="5486400" cy="3117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Integration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559040" y="5174673"/>
            <a:ext cx="3901440" cy="3117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· GitOps · Deployment Strategies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7680" y="5773189"/>
            <a:ext cx="11216640" cy="723207"/>
          </a:xfrm>
          <a:prstGeom prst="roundRect">
            <a:avLst>
              <a:gd name="adj" fmla="val 13793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7680" y="5773189"/>
            <a:ext cx="121920" cy="723207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5904" y="5985164"/>
            <a:ext cx="292608" cy="299258"/>
          </a:xfrm>
          <a:prstGeom prst="ellipse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5904" y="5985164"/>
            <a:ext cx="292608" cy="2992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219200" y="5848004"/>
            <a:ext cx="1219200" cy="3117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219200" y="6122324"/>
            <a:ext cx="5486400" cy="3117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Closed Loop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559040" y="5985164"/>
            <a:ext cx="3901440" cy="3117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· SRE · Post-mortem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8393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2222"/>
            <a:ext cx="60960" cy="423949"/>
          </a:xfrm>
          <a:prstGeom prst="rect">
            <a:avLst/>
          </a:prstGeom>
          <a:solidFill>
            <a:srgbClr val="5A9B6E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7924800" cy="648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Point: The Simplest Deployment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0" y="12469"/>
            <a:ext cx="1280160" cy="187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1/10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229600" y="149629"/>
            <a:ext cx="1280160" cy="112222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149629"/>
            <a:ext cx="128016" cy="112222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0" y="0"/>
            <a:ext cx="2560320" cy="648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773084"/>
            <a:ext cx="3657600" cy="249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HOST DEPLOYMENT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3840" y="1309255"/>
            <a:ext cx="1584960" cy="1496291"/>
          </a:xfrm>
          <a:prstGeom prst="roundRect">
            <a:avLst>
              <a:gd name="adj" fmla="val 8333"/>
            </a:avLst>
          </a:prstGeom>
          <a:solidFill>
            <a:srgbClr val="F5F1EB"/>
          </a:solidFill>
          <a:ln w="19050">
            <a:solidFill>
              <a:srgbClr val="908880"/>
            </a:solidFill>
            <a:prstDash val="solid"/>
          </a:ln>
          <a:effectLst>
            <a:outerShdw blurRad="76200" dist="25400" dir="2700000" algn="bl" rotWithShape="0">
              <a:srgbClr val="9E9488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3840" y="1384069"/>
            <a:ext cx="1584960" cy="6882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6992" y="2087326"/>
            <a:ext cx="1438656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2608" y="2399054"/>
            <a:ext cx="1487424" cy="249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914144" y="2119745"/>
            <a:ext cx="609600" cy="12469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853184" y="1882833"/>
            <a:ext cx="731520" cy="274320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53184" y="1882833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HTTP/80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621280" y="935182"/>
            <a:ext cx="9326880" cy="3241964"/>
          </a:xfrm>
          <a:prstGeom prst="roundRect">
            <a:avLst>
              <a:gd name="adj" fmla="val 3846"/>
            </a:avLst>
          </a:prstGeom>
          <a:ln w="12700">
            <a:solidFill>
              <a:srgbClr val="5A9B6E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743200" y="735676"/>
            <a:ext cx="1219200" cy="249382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6350">
            <a:solidFill>
              <a:srgbClr val="5A9B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67584" y="735676"/>
            <a:ext cx="1170432" cy="249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ubuntu-01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926080" y="1221971"/>
            <a:ext cx="2438400" cy="2244436"/>
          </a:xfrm>
          <a:prstGeom prst="roundRect">
            <a:avLst>
              <a:gd name="adj" fmla="val 5556"/>
            </a:avLst>
          </a:prstGeom>
          <a:solidFill>
            <a:srgbClr val="F5F1EB"/>
          </a:solidFill>
          <a:ln w="19050">
            <a:solidFill>
              <a:srgbClr val="5B8DB8"/>
            </a:solidFill>
            <a:prstDash val="solid"/>
          </a:ln>
          <a:effectLst>
            <a:outerShdw blurRad="76200" dist="25400" dir="2700000" algn="bl" rotWithShape="0">
              <a:srgbClr val="9E9488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926080" y="1296785"/>
            <a:ext cx="2438400" cy="1032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999232" y="2389077"/>
            <a:ext cx="2292096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974848" y="2700805"/>
            <a:ext cx="2340864" cy="249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 :80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49824" y="2369127"/>
            <a:ext cx="682752" cy="12469"/>
          </a:xfrm>
          <a:prstGeom prst="line">
            <a:avLst/>
          </a:prstGeom>
          <a:noFill/>
          <a:ln w="19050">
            <a:solidFill>
              <a:srgbClr val="5B8DB8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5425440" y="2132215"/>
            <a:ext cx="731520" cy="274320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5B8D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25440" y="2132215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B8D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proxy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217920" y="1221971"/>
            <a:ext cx="2438400" cy="2244436"/>
          </a:xfrm>
          <a:prstGeom prst="roundRect">
            <a:avLst>
              <a:gd name="adj" fmla="val 5556"/>
            </a:avLst>
          </a:prstGeom>
          <a:solidFill>
            <a:srgbClr val="F5F1EB"/>
          </a:solidFill>
          <a:ln w="19050">
            <a:solidFill>
              <a:srgbClr val="5A9B6E"/>
            </a:solidFill>
            <a:prstDash val="solid"/>
          </a:ln>
          <a:effectLst>
            <a:outerShdw blurRad="76200" dist="25400" dir="2700000" algn="bl" rotWithShape="0">
              <a:srgbClr val="9E9488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17920" y="1296785"/>
            <a:ext cx="2438400" cy="1032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291072" y="2389077"/>
            <a:ext cx="2292096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66688" y="2700805"/>
            <a:ext cx="2340864" cy="249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:8080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741664" y="2369127"/>
            <a:ext cx="682752" cy="12469"/>
          </a:xfrm>
          <a:prstGeom prst="line">
            <a:avLst/>
          </a:prstGeom>
          <a:noFill/>
          <a:ln w="19050">
            <a:solidFill>
              <a:srgbClr val="C4804A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8717280" y="2132215"/>
            <a:ext cx="731520" cy="274320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C480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17280" y="2132215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48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9509760" y="1221971"/>
            <a:ext cx="2194560" cy="2244436"/>
          </a:xfrm>
          <a:prstGeom prst="roundRect">
            <a:avLst>
              <a:gd name="adj" fmla="val 5556"/>
            </a:avLst>
          </a:prstGeom>
          <a:solidFill>
            <a:srgbClr val="F5F1EB"/>
          </a:solidFill>
          <a:ln w="19050">
            <a:solidFill>
              <a:srgbClr val="C4804A"/>
            </a:solidFill>
            <a:prstDash val="solid"/>
          </a:ln>
          <a:effectLst>
            <a:outerShdw blurRad="76200" dist="25400" dir="2700000" algn="bl" rotWithShape="0">
              <a:srgbClr val="9E9488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509760" y="1296785"/>
            <a:ext cx="2194560" cy="1032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9582912" y="2389077"/>
            <a:ext cx="2048256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558528" y="2700805"/>
            <a:ext cx="2097024" cy="249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 :5432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621280" y="3803073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sharing a single machine: CPU / RAM / Disk / Network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4114800"/>
            <a:ext cx="6096000" cy="2743200"/>
          </a:xfrm>
          <a:prstGeom prst="rect">
            <a:avLst/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96000" y="4114800"/>
            <a:ext cx="6096000" cy="2743200"/>
          </a:xfrm>
          <a:prstGeom prst="rect">
            <a:avLst/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3840" y="4239491"/>
            <a:ext cx="5730240" cy="3491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Advantages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339840" y="4239491"/>
            <a:ext cx="5730240" cy="3491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19456" y="4725785"/>
            <a:ext cx="195072" cy="199505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" y="4663440"/>
            <a:ext cx="542544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simple deployment — one machine handles frontend, backend, and database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19456" y="5261956"/>
            <a:ext cx="195072" cy="199505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2064" y="5199611"/>
            <a:ext cx="542544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colocated, making debugging and tuning easy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19456" y="5798127"/>
            <a:ext cx="195072" cy="199505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2064" y="5735782"/>
            <a:ext cx="542544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a one-person team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19456" y="6334298"/>
            <a:ext cx="195072" cy="199505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2064" y="6271953"/>
            <a:ext cx="542544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machine specs when performance is insufficient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315456" y="4725785"/>
            <a:ext cx="195072" cy="199505"/>
          </a:xfrm>
          <a:prstGeom prst="ellipse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08064" y="4663440"/>
            <a:ext cx="542544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 (SPOF)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315456" y="5261956"/>
            <a:ext cx="195072" cy="199505"/>
          </a:xfrm>
          <a:prstGeom prst="ellipse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08064" y="5199611"/>
            <a:ext cx="542544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component failure takes down the entire service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315456" y="5798127"/>
            <a:ext cx="195072" cy="199505"/>
          </a:xfrm>
          <a:prstGeom prst="ellipse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08064" y="5735782"/>
            <a:ext cx="542544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component can be scaled independently to handle traffic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8393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2222"/>
            <a:ext cx="60960" cy="423949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7924800" cy="648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Journey of an HTTP Request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09760" y="0"/>
            <a:ext cx="2560320" cy="648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43840" y="685800"/>
            <a:ext cx="609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traceroute  https://api.example.com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43840" y="1059873"/>
            <a:ext cx="1584960" cy="1683327"/>
          </a:xfrm>
          <a:prstGeom prst="roundRect">
            <a:avLst>
              <a:gd name="adj" fmla="val 7692"/>
            </a:avLst>
          </a:prstGeom>
          <a:solidFill>
            <a:srgbClr val="F5F1EB"/>
          </a:solidFill>
          <a:ln w="19050">
            <a:solidFill>
              <a:srgbClr val="908880"/>
            </a:solidFill>
            <a:prstDash val="solid"/>
          </a:ln>
          <a:effectLst>
            <a:outerShdw blurRad="76200" dist="25400" dir="2700000" algn="bl" rotWithShape="0">
              <a:srgbClr val="9E9488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3840" y="1134687"/>
            <a:ext cx="1584960" cy="774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16992" y="1935203"/>
            <a:ext cx="1438656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0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2608" y="2246930"/>
            <a:ext cx="1487424" cy="249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 enters URL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60320" y="1059873"/>
            <a:ext cx="1584960" cy="1683327"/>
          </a:xfrm>
          <a:prstGeom prst="roundRect">
            <a:avLst>
              <a:gd name="adj" fmla="val 7692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  <a:effectLst>
            <a:outerShdw blurRad="76200" dist="25400" dir="2700000" algn="bl" rotWithShape="0">
              <a:srgbClr val="9E9488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1134687"/>
            <a:ext cx="1584960" cy="774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33472" y="1935203"/>
            <a:ext cx="1438656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09088" y="2246930"/>
            <a:ext cx="1487424" cy="249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Resolves IP address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876800" y="1059873"/>
            <a:ext cx="1584960" cy="1683327"/>
          </a:xfrm>
          <a:prstGeom prst="roundRect">
            <a:avLst>
              <a:gd name="adj" fmla="val 7692"/>
            </a:avLst>
          </a:prstGeom>
          <a:solidFill>
            <a:srgbClr val="F5F1EB"/>
          </a:solidFill>
          <a:ln w="19050">
            <a:solidFill>
              <a:srgbClr val="5B8DB8"/>
            </a:solidFill>
            <a:prstDash val="solid"/>
          </a:ln>
          <a:effectLst>
            <a:outerShdw blurRad="76200" dist="25400" dir="2700000" algn="bl" rotWithShape="0">
              <a:srgbClr val="9E9488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76800" y="1134687"/>
            <a:ext cx="1584960" cy="774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949952" y="1935203"/>
            <a:ext cx="1438656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25568" y="2246930"/>
            <a:ext cx="1487424" cy="249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 :443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TLS + routing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193280" y="1059873"/>
            <a:ext cx="1584960" cy="1683327"/>
          </a:xfrm>
          <a:prstGeom prst="roundRect">
            <a:avLst>
              <a:gd name="adj" fmla="val 7692"/>
            </a:avLst>
          </a:prstGeom>
          <a:solidFill>
            <a:srgbClr val="F5F1EB"/>
          </a:solidFill>
          <a:ln w="19050">
            <a:solidFill>
              <a:srgbClr val="5A9B6E"/>
            </a:solidFill>
            <a:prstDash val="solid"/>
          </a:ln>
          <a:effectLst>
            <a:outerShdw blurRad="76200" dist="25400" dir="2700000" algn="bl" rotWithShape="0">
              <a:srgbClr val="9E9488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93280" y="1134687"/>
            <a:ext cx="1584960" cy="774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266432" y="1935203"/>
            <a:ext cx="1438656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242048" y="2246930"/>
            <a:ext cx="1487424" cy="249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:8080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logic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509760" y="1059873"/>
            <a:ext cx="1584960" cy="1683327"/>
          </a:xfrm>
          <a:prstGeom prst="roundRect">
            <a:avLst>
              <a:gd name="adj" fmla="val 7692"/>
            </a:avLst>
          </a:prstGeom>
          <a:solidFill>
            <a:srgbClr val="F5F1EB"/>
          </a:solidFill>
          <a:ln w="19050">
            <a:solidFill>
              <a:srgbClr val="C4804A"/>
            </a:solidFill>
            <a:prstDash val="solid"/>
          </a:ln>
          <a:effectLst>
            <a:outerShdw blurRad="76200" dist="25400" dir="2700000" algn="bl" rotWithShape="0">
              <a:srgbClr val="9E9488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509760" y="1134687"/>
            <a:ext cx="1584960" cy="774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582912" y="1935203"/>
            <a:ext cx="1438656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48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558528" y="2246930"/>
            <a:ext cx="1487424" cy="249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 :5432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persistent store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914144" y="1720735"/>
            <a:ext cx="560832" cy="12469"/>
          </a:xfrm>
          <a:prstGeom prst="line">
            <a:avLst/>
          </a:prstGeom>
          <a:noFill/>
          <a:ln w="19050">
            <a:solidFill>
              <a:srgbClr val="8B6AB5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1828800" y="1483822"/>
            <a:ext cx="731520" cy="274320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8B6A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0" y="148382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B6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 Query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230624" y="1720735"/>
            <a:ext cx="560832" cy="12469"/>
          </a:xfrm>
          <a:prstGeom prst="line">
            <a:avLst/>
          </a:prstGeom>
          <a:noFill/>
          <a:ln w="19050">
            <a:solidFill>
              <a:srgbClr val="5B8DB8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4145280" y="1483822"/>
            <a:ext cx="731520" cy="274320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5B8D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45280" y="148382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B8D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 :443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547104" y="1720735"/>
            <a:ext cx="560832" cy="12469"/>
          </a:xfrm>
          <a:prstGeom prst="line">
            <a:avLst/>
          </a:prstGeom>
          <a:noFill/>
          <a:ln w="19050">
            <a:solidFill>
              <a:srgbClr val="5A9B6E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6461760" y="1483822"/>
            <a:ext cx="731520" cy="274320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5A9B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61760" y="148382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9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proxy pass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8741664" y="1720735"/>
            <a:ext cx="682752" cy="12469"/>
          </a:xfrm>
          <a:prstGeom prst="line">
            <a:avLst/>
          </a:prstGeom>
          <a:noFill/>
          <a:ln w="19050">
            <a:solidFill>
              <a:srgbClr val="C4804A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8717280" y="1483822"/>
            <a:ext cx="731520" cy="274320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C480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17280" y="148382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48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828800" y="3179618"/>
            <a:ext cx="8168640" cy="12469"/>
          </a:xfrm>
          <a:prstGeom prst="line">
            <a:avLst/>
          </a:prstGeom>
          <a:noFill/>
          <a:ln w="19050">
            <a:solidFill>
              <a:srgbClr val="4A9968"/>
            </a:solidFill>
            <a:prstDash val="dash"/>
            <a:headEnd type="arrow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4693920" y="2867891"/>
            <a:ext cx="2438400" cy="274320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4A996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93920" y="2867891"/>
            <a:ext cx="243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A9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200 OK (JSON)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43840" y="3553691"/>
            <a:ext cx="11704320" cy="897775"/>
          </a:xfrm>
          <a:prstGeom prst="roundRect">
            <a:avLst>
              <a:gd name="adj" fmla="val 8333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6720" y="3578629"/>
            <a:ext cx="4876800" cy="249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latency_breakdown = {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26720" y="3865418"/>
            <a:ext cx="858317" cy="199505"/>
          </a:xfrm>
          <a:prstGeom prst="roundRect">
            <a:avLst>
              <a:gd name="adj" fmla="val 18750"/>
            </a:avLst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6720" y="4077393"/>
            <a:ext cx="907085" cy="224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6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 ~5ms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333805" y="3865418"/>
            <a:ext cx="1311859" cy="199505"/>
          </a:xfrm>
          <a:prstGeom prst="roundRect">
            <a:avLst>
              <a:gd name="adj" fmla="val 18750"/>
            </a:avLst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33805" y="4077393"/>
            <a:ext cx="1360627" cy="224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B8D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 ~20ms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2694432" y="3865418"/>
            <a:ext cx="1652016" cy="199505"/>
          </a:xfrm>
          <a:prstGeom prst="roundRect">
            <a:avLst>
              <a:gd name="adj" fmla="val 18750"/>
            </a:avLst>
          </a:prstGeom>
          <a:solidFill>
            <a:srgbClr val="5A9B6E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94432" y="4077393"/>
            <a:ext cx="1700784" cy="224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9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 ~40ms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4395216" y="3865418"/>
            <a:ext cx="2785872" cy="199505"/>
          </a:xfrm>
          <a:prstGeom prst="roundRect">
            <a:avLst>
              <a:gd name="adj" fmla="val 18750"/>
            </a:avLst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95216" y="4077393"/>
            <a:ext cx="2834640" cy="224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9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~80ms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7229856" y="3865418"/>
            <a:ext cx="4486656" cy="199505"/>
          </a:xfrm>
          <a:prstGeom prst="roundRect">
            <a:avLst>
              <a:gd name="adj" fmla="val 18750"/>
            </a:avLst>
          </a:prstGeom>
          <a:solidFill>
            <a:srgbClr val="C4804A"/>
          </a:solidFill>
          <a:ln w="12700">
            <a:solidFill>
              <a:srgbClr val="C480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29856" y="4077393"/>
            <a:ext cx="4535424" cy="224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48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+ Network ~200ms+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365760" y="4638502"/>
            <a:ext cx="11460480" cy="648393"/>
          </a:xfrm>
          <a:prstGeom prst="roundRect">
            <a:avLst>
              <a:gd name="adj" fmla="val 11538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9600" y="46634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a monolithic architecture, all layers share resources.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53440" y="4937760"/>
            <a:ext cx="1072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slow layer blocks the entire request chain — hotspots: N+1 queries, unindexed lookups, blocking I/O.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43840" y="5424055"/>
            <a:ext cx="3779520" cy="1309255"/>
          </a:xfrm>
          <a:prstGeom prst="roundRect">
            <a:avLst>
              <a:gd name="adj" fmla="val 7619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43840" y="5424055"/>
            <a:ext cx="3779520" cy="49876"/>
          </a:xfrm>
          <a:prstGeom prst="rect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90144" y="5548745"/>
            <a:ext cx="3486912" cy="3491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Resolution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90144" y="5897880"/>
            <a:ext cx="34869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~5ms avg; reduced by OS / browser caching.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controls how long cached records live.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206240" y="5424055"/>
            <a:ext cx="3779520" cy="1309255"/>
          </a:xfrm>
          <a:prstGeom prst="roundRect">
            <a:avLst>
              <a:gd name="adj" fmla="val 7619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206240" y="5424055"/>
            <a:ext cx="3779520" cy="49876"/>
          </a:xfrm>
          <a:prstGeom prst="rect">
            <a:avLst/>
          </a:prstGeom>
          <a:solidFill>
            <a:srgbClr val="5A9B6E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352544" y="5548745"/>
            <a:ext cx="3486912" cy="3491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Processing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352544" y="5897880"/>
            <a:ext cx="34869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and external I/O are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throughput hotspots.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168640" y="5424055"/>
            <a:ext cx="3779520" cy="1309255"/>
          </a:xfrm>
          <a:prstGeom prst="roundRect">
            <a:avLst>
              <a:gd name="adj" fmla="val 7619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168640" y="5424055"/>
            <a:ext cx="3779520" cy="49876"/>
          </a:xfrm>
          <a:prstGeom prst="rect">
            <a:avLst/>
          </a:prstGeom>
          <a:solidFill>
            <a:srgbClr val="C4804A"/>
          </a:solidFill>
          <a:ln w="12700">
            <a:solidFill>
              <a:srgbClr val="C480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314944" y="5548745"/>
            <a:ext cx="3486912" cy="3491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8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Query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8314944" y="5897880"/>
            <a:ext cx="34869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and query patterns set tail latency.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EXPLAIN ANALYZE to find slow queries.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8393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2222"/>
            <a:ext cx="60960" cy="423949"/>
          </a:xfrm>
          <a:prstGeom prst="rect">
            <a:avLst/>
          </a:prstGeom>
          <a:solidFill>
            <a:srgbClr val="C4804A"/>
          </a:solidFill>
          <a:ln w="12700">
            <a:solidFill>
              <a:srgbClr val="C480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7924800" cy="648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Expansion: Separate Database Server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0" y="12469"/>
            <a:ext cx="1280160" cy="187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3/10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229600" y="149629"/>
            <a:ext cx="1280160" cy="112222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149629"/>
            <a:ext cx="384048" cy="112222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0" y="0"/>
            <a:ext cx="2560320" cy="648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773084"/>
            <a:ext cx="4876800" cy="249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TWO-MACHINE DEPLOYMENT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2880" y="1870364"/>
            <a:ext cx="975360" cy="997527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19050">
            <a:solidFill>
              <a:srgbClr val="908880"/>
            </a:solidFill>
            <a:prstDash val="solid"/>
          </a:ln>
          <a:effectLst>
            <a:outerShdw blurRad="76200" dist="25400" dir="2700000" algn="bl" rotWithShape="0">
              <a:srgbClr val="9E9488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82880" y="1945178"/>
            <a:ext cx="975360" cy="458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6032" y="2389077"/>
            <a:ext cx="829056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1648" y="2700805"/>
            <a:ext cx="877824" cy="249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219200" y="2493818"/>
            <a:ext cx="670560" cy="12469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188720" y="2256905"/>
            <a:ext cx="731520" cy="274320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256905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950720" y="1059873"/>
            <a:ext cx="4267200" cy="2743200"/>
          </a:xfrm>
          <a:prstGeom prst="roundRect">
            <a:avLst>
              <a:gd name="adj" fmla="val 4545"/>
            </a:avLst>
          </a:prstGeom>
          <a:ln w="12700">
            <a:solidFill>
              <a:srgbClr val="5A9B6E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072640" y="860367"/>
            <a:ext cx="1219200" cy="249382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6350">
            <a:solidFill>
              <a:srgbClr val="5A9B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97024" y="860367"/>
            <a:ext cx="1170432" cy="249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app-server-01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438400" y="1371600"/>
            <a:ext cx="3169920" cy="2119745"/>
          </a:xfrm>
          <a:prstGeom prst="roundRect">
            <a:avLst>
              <a:gd name="adj" fmla="val 5882"/>
            </a:avLst>
          </a:prstGeom>
          <a:solidFill>
            <a:srgbClr val="F5F1EB"/>
          </a:solidFill>
          <a:ln w="19050">
            <a:solidFill>
              <a:srgbClr val="5A9B6E"/>
            </a:solidFill>
            <a:prstDash val="solid"/>
          </a:ln>
          <a:effectLst>
            <a:outerShdw blurRad="76200" dist="25400" dir="2700000" algn="bl" rotWithShape="0">
              <a:srgbClr val="9E9488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438400" y="1446415"/>
            <a:ext cx="3169920" cy="975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511552" y="2473868"/>
            <a:ext cx="3023616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487168" y="2785595"/>
            <a:ext cx="3072384" cy="249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+ Backend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 + FastAPI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339840" y="2493818"/>
            <a:ext cx="1097280" cy="12469"/>
          </a:xfrm>
          <a:prstGeom prst="line">
            <a:avLst/>
          </a:prstGeom>
          <a:noFill/>
          <a:ln w="19050">
            <a:solidFill>
              <a:srgbClr val="C4804A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6422136" y="2256905"/>
            <a:ext cx="932688" cy="274320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C480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22136" y="2256905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48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:5432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559040" y="1059873"/>
            <a:ext cx="4267200" cy="2743200"/>
          </a:xfrm>
          <a:prstGeom prst="roundRect">
            <a:avLst>
              <a:gd name="adj" fmla="val 4545"/>
            </a:avLst>
          </a:prstGeom>
          <a:ln w="12700">
            <a:solidFill>
              <a:srgbClr val="C4804A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7680960" y="860367"/>
            <a:ext cx="1219200" cy="249382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6350">
            <a:solidFill>
              <a:srgbClr val="C480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05344" y="860367"/>
            <a:ext cx="1170432" cy="249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48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db-server-01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8046720" y="1371600"/>
            <a:ext cx="3169920" cy="2119745"/>
          </a:xfrm>
          <a:prstGeom prst="roundRect">
            <a:avLst>
              <a:gd name="adj" fmla="val 5882"/>
            </a:avLst>
          </a:prstGeom>
          <a:solidFill>
            <a:srgbClr val="F5F1EB"/>
          </a:solidFill>
          <a:ln w="19050">
            <a:solidFill>
              <a:srgbClr val="C4804A"/>
            </a:solidFill>
            <a:prstDash val="solid"/>
          </a:ln>
          <a:effectLst>
            <a:outerShdw blurRad="76200" dist="25400" dir="2700000" algn="bl" rotWithShape="0">
              <a:srgbClr val="9E9488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046720" y="1446415"/>
            <a:ext cx="3169920" cy="975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119872" y="2473868"/>
            <a:ext cx="3023616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095488" y="2785595"/>
            <a:ext cx="3072384" cy="249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 :5432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Dedicated Machine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0" y="4426527"/>
            <a:ext cx="6096000" cy="2431473"/>
          </a:xfrm>
          <a:prstGeom prst="rect">
            <a:avLst/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96000" y="4426527"/>
            <a:ext cx="6096000" cy="2431473"/>
          </a:xfrm>
          <a:prstGeom prst="rect">
            <a:avLst/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3840" y="4551218"/>
            <a:ext cx="5730240" cy="3491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Advantages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339840" y="4551218"/>
            <a:ext cx="5730240" cy="3491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19456" y="5037513"/>
            <a:ext cx="195072" cy="199505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" y="4975167"/>
            <a:ext cx="542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Data Backup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12064" y="5237018"/>
            <a:ext cx="5425440" cy="249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machine can be snapshotted independently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19456" y="5710844"/>
            <a:ext cx="195072" cy="199505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" y="5648498"/>
            <a:ext cx="542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Server restarts without data loss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12064" y="5910349"/>
            <a:ext cx="5425440" cy="249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responsibilities, reduced failure scope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15456" y="5037513"/>
            <a:ext cx="195072" cy="199505"/>
          </a:xfrm>
          <a:prstGeom prst="ellipse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08064" y="4975167"/>
            <a:ext cx="542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network latency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608064" y="5237018"/>
            <a:ext cx="5425440" cy="249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Same-host IPC → cross-machine TCP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315456" y="5710844"/>
            <a:ext cx="195072" cy="199505"/>
          </a:xfrm>
          <a:prstGeom prst="ellipse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08064" y="5648498"/>
            <a:ext cx="542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a Single Point of Failure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608064" y="5910349"/>
            <a:ext cx="5425440" cy="249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App or DB going down causes service outage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8393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2222"/>
            <a:ext cx="60960" cy="423949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7924800" cy="648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Architecture: Frontend + Backend + Database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0" y="12469"/>
            <a:ext cx="1280160" cy="187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5/10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229600" y="149629"/>
            <a:ext cx="1280160" cy="112222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149629"/>
            <a:ext cx="640080" cy="112222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0" y="0"/>
            <a:ext cx="2560320" cy="648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935182"/>
            <a:ext cx="1463040" cy="1745673"/>
          </a:xfrm>
          <a:prstGeom prst="roundRect">
            <a:avLst>
              <a:gd name="adj" fmla="val 8333"/>
            </a:avLst>
          </a:prstGeom>
          <a:solidFill>
            <a:srgbClr val="F5F1EB"/>
          </a:solidFill>
          <a:ln w="19050">
            <a:solidFill>
              <a:srgbClr val="908880"/>
            </a:solidFill>
            <a:prstDash val="solid"/>
          </a:ln>
          <a:effectLst>
            <a:outerShdw blurRad="76200" dist="25400" dir="2700000" algn="bl" rotWithShape="0">
              <a:srgbClr val="9E9488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009996"/>
            <a:ext cx="1463040" cy="803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38912" y="1842931"/>
            <a:ext cx="1316736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914144" y="1995055"/>
            <a:ext cx="560832" cy="12469"/>
          </a:xfrm>
          <a:prstGeom prst="line">
            <a:avLst/>
          </a:prstGeom>
          <a:noFill/>
          <a:ln w="19050">
            <a:solidFill>
              <a:srgbClr val="5B8DB8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1828800" y="1758142"/>
            <a:ext cx="731520" cy="274320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5B8D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175814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B8D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HTTP/443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560320" y="935182"/>
            <a:ext cx="2072640" cy="2119745"/>
          </a:xfrm>
          <a:prstGeom prst="roundRect">
            <a:avLst>
              <a:gd name="adj" fmla="val 5882"/>
            </a:avLst>
          </a:prstGeom>
          <a:solidFill>
            <a:srgbClr val="F5F1EB"/>
          </a:solidFill>
          <a:ln w="19050">
            <a:solidFill>
              <a:srgbClr val="5B8DB8"/>
            </a:solidFill>
            <a:prstDash val="solid"/>
          </a:ln>
          <a:effectLst>
            <a:outerShdw blurRad="76200" dist="25400" dir="2700000" algn="bl" rotWithShape="0">
              <a:srgbClr val="9E9488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60320" y="1009996"/>
            <a:ext cx="2072640" cy="975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633472" y="2037450"/>
            <a:ext cx="1926336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09088" y="2349177"/>
            <a:ext cx="1975104" cy="249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server-01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18304" y="2057400"/>
            <a:ext cx="609600" cy="12469"/>
          </a:xfrm>
          <a:prstGeom prst="line">
            <a:avLst/>
          </a:prstGeom>
          <a:noFill/>
          <a:ln w="19050">
            <a:solidFill>
              <a:srgbClr val="5A9B6E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4657344" y="1820487"/>
            <a:ext cx="731520" cy="274320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5A9B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57344" y="1820487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9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Proxy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425440" y="935182"/>
            <a:ext cx="2072640" cy="2119745"/>
          </a:xfrm>
          <a:prstGeom prst="roundRect">
            <a:avLst>
              <a:gd name="adj" fmla="val 5882"/>
            </a:avLst>
          </a:prstGeom>
          <a:solidFill>
            <a:srgbClr val="F5F1EB"/>
          </a:solidFill>
          <a:ln w="19050">
            <a:solidFill>
              <a:srgbClr val="5A9B6E"/>
            </a:solidFill>
            <a:prstDash val="solid"/>
          </a:ln>
          <a:effectLst>
            <a:outerShdw blurRad="76200" dist="25400" dir="2700000" algn="bl" rotWithShape="0">
              <a:srgbClr val="9E9488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25440" y="1009996"/>
            <a:ext cx="2072640" cy="975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98592" y="2037450"/>
            <a:ext cx="1926336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74208" y="2349177"/>
            <a:ext cx="1975104" cy="249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server-02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583424" y="2057400"/>
            <a:ext cx="609600" cy="12469"/>
          </a:xfrm>
          <a:prstGeom prst="line">
            <a:avLst/>
          </a:prstGeom>
          <a:noFill/>
          <a:ln w="19050">
            <a:solidFill>
              <a:srgbClr val="C4804A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7522464" y="1820487"/>
            <a:ext cx="731520" cy="274320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C480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22464" y="1820487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48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8290560" y="935182"/>
            <a:ext cx="2072640" cy="2119745"/>
          </a:xfrm>
          <a:prstGeom prst="roundRect">
            <a:avLst>
              <a:gd name="adj" fmla="val 5882"/>
            </a:avLst>
          </a:prstGeom>
          <a:solidFill>
            <a:srgbClr val="F5F1EB"/>
          </a:solidFill>
          <a:ln w="19050">
            <a:solidFill>
              <a:srgbClr val="C4804A"/>
            </a:solidFill>
            <a:prstDash val="solid"/>
          </a:ln>
          <a:effectLst>
            <a:outerShdw blurRad="76200" dist="25400" dir="2700000" algn="bl" rotWithShape="0">
              <a:srgbClr val="9E9488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290560" y="1009996"/>
            <a:ext cx="2072640" cy="9750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363712" y="2037450"/>
            <a:ext cx="1926336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339328" y="2349177"/>
            <a:ext cx="1975104" cy="249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server-03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560320" y="3179618"/>
            <a:ext cx="207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Assets / Reverse Proxy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25440" y="3179618"/>
            <a:ext cx="207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/ API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90560" y="3179618"/>
            <a:ext cx="207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426527"/>
            <a:ext cx="6096000" cy="2431473"/>
          </a:xfrm>
          <a:prstGeom prst="rect">
            <a:avLst/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96000" y="4426527"/>
            <a:ext cx="6096000" cy="2431473"/>
          </a:xfrm>
          <a:prstGeom prst="rect">
            <a:avLst/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3840" y="4551218"/>
            <a:ext cx="5730240" cy="3491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Advantages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339840" y="4551218"/>
            <a:ext cx="5730240" cy="3491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19456" y="5037513"/>
            <a:ext cx="195072" cy="199505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2064" y="4975167"/>
            <a:ext cx="542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concerns, independent scaling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12064" y="5237018"/>
            <a:ext cx="5425440" cy="249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and backend can scale separately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19456" y="5710844"/>
            <a:ext cx="195072" cy="199505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" y="5648498"/>
            <a:ext cx="542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tech stack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12064" y="5910349"/>
            <a:ext cx="5425440" cy="249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tier can use its most suitable technology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315456" y="5037513"/>
            <a:ext cx="195072" cy="199505"/>
          </a:xfrm>
          <a:prstGeom prst="ellipse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08064" y="4975167"/>
            <a:ext cx="542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order issues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608064" y="5237018"/>
            <a:ext cx="5425440" cy="249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→ Backend → Frontend; wrong order = failure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315456" y="5710844"/>
            <a:ext cx="195072" cy="199505"/>
          </a:xfrm>
          <a:prstGeom prst="ellipse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08064" y="5648498"/>
            <a:ext cx="542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dependency hell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608064" y="5910349"/>
            <a:ext cx="5425440" cy="249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 across three repos must match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8393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2222"/>
            <a:ext cx="60960" cy="423949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7924800" cy="648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Challenges of Three-Tier 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09760" y="0"/>
            <a:ext cx="2560320" cy="648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773084"/>
            <a:ext cx="5486400" cy="2805545"/>
          </a:xfrm>
          <a:prstGeom prst="roundRect">
            <a:avLst>
              <a:gd name="adj" fmla="val 5333"/>
            </a:avLst>
          </a:prstGeom>
          <a:solidFill>
            <a:srgbClr val="F8ECEC"/>
          </a:solidFill>
          <a:ln w="15240">
            <a:solidFill>
              <a:srgbClr val="C4605B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922713"/>
            <a:ext cx="5486400" cy="561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💣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546167"/>
            <a:ext cx="5120640" cy="399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Order Landmines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044931"/>
            <a:ext cx="512064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Must start DB first, then Backend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93818"/>
            <a:ext cx="512064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Then start Frontend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942705"/>
            <a:ext cx="512064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Wrong order → entire service goes 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39840" y="773084"/>
            <a:ext cx="5486400" cy="2805545"/>
          </a:xfrm>
          <a:prstGeom prst="roundRect">
            <a:avLst>
              <a:gd name="adj" fmla="val 5333"/>
            </a:avLst>
          </a:prstGeom>
          <a:solidFill>
            <a:srgbClr val="F8ECEC"/>
          </a:solidFill>
          <a:ln w="15240">
            <a:solidFill>
              <a:srgbClr val="C4605B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39840" y="922713"/>
            <a:ext cx="5486400" cy="561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522720" y="1546167"/>
            <a:ext cx="5120640" cy="399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Dependency Hell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22720" y="2044931"/>
            <a:ext cx="512064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Frontend v2.1 depends on Backend API v3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22720" y="2493818"/>
            <a:ext cx="512064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Backend v3 depends on DB Schema v5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22720" y="2942705"/>
            <a:ext cx="512064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 version mismatch → everything breaks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765665"/>
            <a:ext cx="5486400" cy="2805545"/>
          </a:xfrm>
          <a:prstGeom prst="roundRect">
            <a:avLst>
              <a:gd name="adj" fmla="val 5333"/>
            </a:avLst>
          </a:prstGeom>
          <a:solidFill>
            <a:srgbClr val="F8ECEC"/>
          </a:solidFill>
          <a:ln w="15240">
            <a:solidFill>
              <a:srgbClr val="C4605B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3915295"/>
            <a:ext cx="5486400" cy="561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😱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48640" y="4538749"/>
            <a:ext cx="5120640" cy="399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Inconsistency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5037513"/>
            <a:ext cx="512064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Dev: Mac OS + brew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486400"/>
            <a:ext cx="512064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Prod: Ubuntu 20.04 + apt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5935287"/>
            <a:ext cx="512064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"It works on my machine!"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39840" y="3765665"/>
            <a:ext cx="5486400" cy="2805545"/>
          </a:xfrm>
          <a:prstGeom prst="roundRect">
            <a:avLst>
              <a:gd name="adj" fmla="val 5333"/>
            </a:avLst>
          </a:prstGeom>
          <a:solidFill>
            <a:srgbClr val="F8ECEC"/>
          </a:solidFill>
          <a:ln w="15240">
            <a:solidFill>
              <a:srgbClr val="C4605B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39840" y="3915295"/>
            <a:ext cx="5486400" cy="561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⛔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522720" y="4538749"/>
            <a:ext cx="5120640" cy="399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Out Prerequisites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22720" y="5037513"/>
            <a:ext cx="512064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 stored locally → can't go multi-node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22720" y="5486400"/>
            <a:ext cx="512064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 cache → data differs per machine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22720" y="5935287"/>
            <a:ext cx="512064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 file writes → data on one machine only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8393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2222"/>
            <a:ext cx="60960" cy="423949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7924800" cy="648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Identify System Bottlenecks?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09760" y="0"/>
            <a:ext cx="2560320" cy="648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1246909"/>
            <a:ext cx="3657600" cy="1995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🔍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365760" y="3553691"/>
            <a:ext cx="3657600" cy="6234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Bottlenecks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54880" y="935182"/>
            <a:ext cx="6949440" cy="897775"/>
          </a:xfrm>
          <a:prstGeom prst="roundRect">
            <a:avLst>
              <a:gd name="adj" fmla="val 9722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35182"/>
            <a:ext cx="97536" cy="897775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59873"/>
            <a:ext cx="512064" cy="648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47360" y="1009996"/>
            <a:ext cx="5974080" cy="324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Saturation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547360" y="1359131"/>
            <a:ext cx="5974080" cy="324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Symptoms: requests slowing down | Tools: top, htop, Prometheus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995055"/>
            <a:ext cx="6949440" cy="897775"/>
          </a:xfrm>
          <a:prstGeom prst="roundRect">
            <a:avLst>
              <a:gd name="adj" fmla="val 9722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995055"/>
            <a:ext cx="97536" cy="897775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119745"/>
            <a:ext cx="512064" cy="648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547360" y="2069869"/>
            <a:ext cx="5974080" cy="324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Exhaustion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547360" y="2419004"/>
            <a:ext cx="5974080" cy="324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Symptoms: OOM kills | Tools: free -m, memory_usage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3054927"/>
            <a:ext cx="6949440" cy="897775"/>
          </a:xfrm>
          <a:prstGeom prst="roundRect">
            <a:avLst>
              <a:gd name="adj" fmla="val 9722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3054927"/>
            <a:ext cx="97536" cy="897775"/>
          </a:xfrm>
          <a:prstGeom prst="rect">
            <a:avLst/>
          </a:prstGeom>
          <a:solidFill>
            <a:srgbClr val="C4804A"/>
          </a:solidFill>
          <a:ln w="12700">
            <a:solidFill>
              <a:srgbClr val="C480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179618"/>
            <a:ext cx="512064" cy="648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💿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47360" y="3129742"/>
            <a:ext cx="5974080" cy="324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I/O Bottleneck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547360" y="3478876"/>
            <a:ext cx="5974080" cy="324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Symptoms: slow DB queries | Tools: iostat, pg_stat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4114800"/>
            <a:ext cx="6949440" cy="897775"/>
          </a:xfrm>
          <a:prstGeom prst="roundRect">
            <a:avLst>
              <a:gd name="adj" fmla="val 9722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4114800"/>
            <a:ext cx="97536" cy="897775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4239491"/>
            <a:ext cx="512064" cy="648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47360" y="4189615"/>
            <a:ext cx="5974080" cy="324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Bandwidth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547360" y="4538749"/>
            <a:ext cx="5974080" cy="324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Symptoms: slow large file transfers | Tools: iftop, netstat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5174673"/>
            <a:ext cx="6949440" cy="897775"/>
          </a:xfrm>
          <a:prstGeom prst="roundRect">
            <a:avLst>
              <a:gd name="adj" fmla="val 9722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5174673"/>
            <a:ext cx="97536" cy="897775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5299364"/>
            <a:ext cx="512064" cy="648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547360" y="5249487"/>
            <a:ext cx="5974080" cy="324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Queries (Most Common)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547360" y="5598622"/>
            <a:ext cx="5974080" cy="324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Symptoms: high API P99 | Tools: EXPLAIN ANALYZE, slow_log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6047509"/>
            <a:ext cx="11460480" cy="523702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9600" y="6109855"/>
            <a:ext cx="10972800" cy="399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Measure before optimizing — acting without data is guessing. Profile first, optimize second.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8393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2222"/>
            <a:ext cx="60960" cy="423949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7924800" cy="648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Should You Start Thinking About Scaling?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09760" y="0"/>
            <a:ext cx="2560320" cy="648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87680" y="935182"/>
            <a:ext cx="3535680" cy="2369127"/>
          </a:xfrm>
          <a:prstGeom prst="roundRect">
            <a:avLst>
              <a:gd name="adj" fmla="val 6316"/>
            </a:avLst>
          </a:prstGeom>
          <a:solidFill>
            <a:srgbClr val="F5F1EB"/>
          </a:solidFill>
          <a:ln w="19050">
            <a:solidFill>
              <a:srgbClr val="C4605B"/>
            </a:solidFill>
            <a:prstDash val="solid"/>
          </a:ln>
          <a:effectLst>
            <a:outerShdw blurRad="101600" dist="38100" dir="2700000" algn="bl" rotWithShape="0">
              <a:srgbClr val="9E9488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9600" y="1084811"/>
            <a:ext cx="3291840" cy="1089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&gt; 70%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09600" y="2261894"/>
            <a:ext cx="329184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for 5+ minutes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2611028"/>
            <a:ext cx="3291840" cy="3117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occasional spike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67200" y="935182"/>
            <a:ext cx="3535680" cy="2369127"/>
          </a:xfrm>
          <a:prstGeom prst="roundRect">
            <a:avLst>
              <a:gd name="adj" fmla="val 6316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  <a:effectLst>
            <a:outerShdw blurRad="101600" dist="38100" dir="2700000" algn="bl" rotWithShape="0">
              <a:srgbClr val="9E9488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9120" y="1084811"/>
            <a:ext cx="3291840" cy="1089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&gt; 1s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389120" y="2261894"/>
            <a:ext cx="329184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Tail Latency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2611028"/>
            <a:ext cx="3291840" cy="3117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are noticing lag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046720" y="935182"/>
            <a:ext cx="3535680" cy="2369127"/>
          </a:xfrm>
          <a:prstGeom prst="roundRect">
            <a:avLst>
              <a:gd name="adj" fmla="val 6316"/>
            </a:avLst>
          </a:prstGeom>
          <a:solidFill>
            <a:srgbClr val="F5F1EB"/>
          </a:solidFill>
          <a:ln w="19050">
            <a:solidFill>
              <a:srgbClr val="C4605B"/>
            </a:solidFill>
            <a:prstDash val="solid"/>
          </a:ln>
          <a:effectLst>
            <a:outerShdw blurRad="101600" dist="38100" dir="2700000" algn="bl" rotWithShape="0">
              <a:srgbClr val="9E9488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68640" y="1084811"/>
            <a:ext cx="3291840" cy="1089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&gt; 0.1%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168640" y="2261894"/>
            <a:ext cx="329184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Over Threshold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68640" y="2611028"/>
            <a:ext cx="3291840" cy="3117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5xx or timeouts increasing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553691"/>
            <a:ext cx="11460480" cy="685800"/>
          </a:xfrm>
          <a:prstGeom prst="roundRect">
            <a:avLst>
              <a:gd name="adj" fmla="val 12727"/>
            </a:avLst>
          </a:prstGeom>
          <a:solidFill>
            <a:srgbClr val="F3EDE0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9600" y="3603567"/>
            <a:ext cx="10972800" cy="5860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Common mistake: premature scaling — start with code optimization (indexes, caching, queries); don't add machines at the first sign of trouble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426527"/>
            <a:ext cx="5486400" cy="2182091"/>
          </a:xfrm>
          <a:prstGeom prst="roundRect">
            <a:avLst>
              <a:gd name="adj" fmla="val 5714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9600" y="4551218"/>
            <a:ext cx="499872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 These First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9600" y="5012575"/>
            <a:ext cx="4998720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indexes (fastest, cheapest)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9600" y="5386647"/>
            <a:ext cx="4998720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Introduce Redis caching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9600" y="5760720"/>
            <a:ext cx="4998720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Optimize N+1 queries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9600" y="6134793"/>
            <a:ext cx="4998720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CDN for static assets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39840" y="4426527"/>
            <a:ext cx="5486400" cy="2182091"/>
          </a:xfrm>
          <a:prstGeom prst="roundRect">
            <a:avLst>
              <a:gd name="adj" fmla="val 5714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4551218"/>
            <a:ext cx="499872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Then Consider Scale Out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0" y="5012575"/>
            <a:ext cx="4998720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Confirm the bottleneck is truly insufficient capacity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5386647"/>
            <a:ext cx="4998720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Application must be designed stateless first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5760720"/>
            <a:ext cx="4998720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a Load Balancer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8393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2222"/>
            <a:ext cx="60960" cy="423949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7924800" cy="648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Up vs Scale Out: Two Scaling Strategies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09760" y="0"/>
            <a:ext cx="2560320" cy="648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096000" y="685800"/>
            <a:ext cx="12192" cy="6047509"/>
          </a:xfrm>
          <a:prstGeom prst="line">
            <a:avLst/>
          </a:prstGeom>
          <a:noFill/>
          <a:ln w="9525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773084"/>
            <a:ext cx="5364480" cy="498764"/>
          </a:xfrm>
          <a:prstGeom prst="roundRect">
            <a:avLst>
              <a:gd name="adj" fmla="val 20000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773084"/>
            <a:ext cx="5120640" cy="498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Scale Up (Vertical Scaling)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600" y="1433945"/>
            <a:ext cx="1097280" cy="1122218"/>
          </a:xfrm>
          <a:prstGeom prst="roundRect">
            <a:avLst>
              <a:gd name="adj" fmla="val 11111"/>
            </a:avLst>
          </a:prstGeom>
          <a:solidFill>
            <a:srgbClr val="F5F1EB"/>
          </a:solidFill>
          <a:ln w="19050">
            <a:solidFill>
              <a:srgbClr val="8A8078"/>
            </a:solidFill>
            <a:prstDash val="solid"/>
          </a:ln>
          <a:effectLst>
            <a:outerShdw blurRad="76200" dist="25400" dir="2700000" algn="bl" rotWithShape="0">
              <a:srgbClr val="9E9488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9600" y="1508760"/>
            <a:ext cx="1097280" cy="5162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2752" y="2017499"/>
            <a:ext cx="950976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8368" y="2329226"/>
            <a:ext cx="999744" cy="249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vCPU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767840" y="1808018"/>
            <a:ext cx="36576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194560" y="1309255"/>
            <a:ext cx="1341120" cy="1371600"/>
          </a:xfrm>
          <a:prstGeom prst="roundRect">
            <a:avLst>
              <a:gd name="adj" fmla="val 9091"/>
            </a:avLst>
          </a:prstGeom>
          <a:solidFill>
            <a:srgbClr val="F5F1EB"/>
          </a:solidFill>
          <a:ln w="19050">
            <a:solidFill>
              <a:srgbClr val="5A9B6E"/>
            </a:solidFill>
            <a:prstDash val="solid"/>
          </a:ln>
          <a:effectLst>
            <a:outerShdw blurRad="76200" dist="25400" dir="2700000" algn="bl" rotWithShape="0">
              <a:srgbClr val="9E9488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94560" y="1384069"/>
            <a:ext cx="1341120" cy="630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267712" y="2022487"/>
            <a:ext cx="1194816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243328" y="2334214"/>
            <a:ext cx="1243584" cy="249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vCPU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596640" y="1808018"/>
            <a:ext cx="36576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79520" y="1122218"/>
            <a:ext cx="1645920" cy="1683327"/>
          </a:xfrm>
          <a:prstGeom prst="roundRect">
            <a:avLst>
              <a:gd name="adj" fmla="val 7407"/>
            </a:avLst>
          </a:prstGeom>
          <a:solidFill>
            <a:srgbClr val="F5F1EB"/>
          </a:solidFill>
          <a:ln w="19050">
            <a:solidFill>
              <a:srgbClr val="C4605B"/>
            </a:solidFill>
            <a:prstDash val="solid"/>
          </a:ln>
          <a:effectLst>
            <a:outerShdw blurRad="76200" dist="25400" dir="2700000" algn="bl" rotWithShape="0">
              <a:srgbClr val="9E9488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779520" y="1197033"/>
            <a:ext cx="1645920" cy="774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852672" y="1997549"/>
            <a:ext cx="1499616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28288" y="2309276"/>
            <a:ext cx="1548384" cy="249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 vCPU 💸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86400" y="1184564"/>
            <a:ext cx="426720" cy="1496291"/>
          </a:xfrm>
          <a:prstGeom prst="roundRect">
            <a:avLst>
              <a:gd name="adj" fmla="val 14286"/>
            </a:avLst>
          </a:prstGeom>
          <a:ln w="12700">
            <a:solidFill>
              <a:srgbClr val="C4605B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5462016" y="1097280"/>
            <a:ext cx="487680" cy="224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65760" y="3092335"/>
            <a:ext cx="5364480" cy="698269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3296" y="3179618"/>
            <a:ext cx="329184" cy="336665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3296" y="3167149"/>
            <a:ext cx="329184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90016" y="3142211"/>
            <a:ext cx="470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Changes Required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90016" y="3404062"/>
            <a:ext cx="4706112" cy="2992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Simply upgrade machine specs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915295"/>
            <a:ext cx="5364480" cy="698269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3296" y="4002578"/>
            <a:ext cx="329184" cy="336665"/>
          </a:xfrm>
          <a:prstGeom prst="roundRect">
            <a:avLst>
              <a:gd name="adj" fmla="val 18519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3296" y="3990109"/>
            <a:ext cx="329184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90016" y="3965171"/>
            <a:ext cx="470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Cost Growth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90016" y="4227022"/>
            <a:ext cx="4706112" cy="2992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High-end machines are expensive and still a SPOF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4763193"/>
            <a:ext cx="5364480" cy="698269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3296" y="4850476"/>
            <a:ext cx="329184" cy="336665"/>
          </a:xfrm>
          <a:prstGeom prst="roundRect">
            <a:avLst>
              <a:gd name="adj" fmla="val 18519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3296" y="4838007"/>
            <a:ext cx="329184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90016" y="4813069"/>
            <a:ext cx="470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Limits Exist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90016" y="5074920"/>
            <a:ext cx="4706112" cy="2992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downtime to upgrade; has a ceiling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339840" y="773084"/>
            <a:ext cx="5364480" cy="498764"/>
          </a:xfrm>
          <a:prstGeom prst="roundRect">
            <a:avLst>
              <a:gd name="adj" fmla="val 20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86144" y="773084"/>
            <a:ext cx="5120640" cy="498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 Scale Out (Horizontal Scaling)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583680" y="1371600"/>
            <a:ext cx="1097280" cy="1122218"/>
          </a:xfrm>
          <a:prstGeom prst="roundRect">
            <a:avLst>
              <a:gd name="adj" fmla="val 11111"/>
            </a:avLst>
          </a:prstGeom>
          <a:solidFill>
            <a:srgbClr val="F5F1EB"/>
          </a:solidFill>
          <a:ln w="15240">
            <a:solidFill>
              <a:srgbClr val="8B6AB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1371600"/>
            <a:ext cx="1097280" cy="1122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290560" y="1122218"/>
            <a:ext cx="1341120" cy="561109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51520" y="1122218"/>
            <a:ext cx="316992" cy="561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680704" y="1122218"/>
            <a:ext cx="902208" cy="561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680960" y="1396538"/>
            <a:ext cx="609600" cy="12469"/>
          </a:xfrm>
          <a:prstGeom prst="line">
            <a:avLst/>
          </a:prstGeom>
          <a:noFill/>
          <a:ln w="12700">
            <a:solidFill>
              <a:srgbClr val="8B6AB5"/>
            </a:solidFill>
            <a:prstDash val="solid"/>
            <a:tailEnd type="arrow"/>
          </a:ln>
        </p:spPr>
      </p:sp>
      <p:sp>
        <p:nvSpPr>
          <p:cNvPr id="48" name="Shape 46"/>
          <p:cNvSpPr/>
          <p:nvPr/>
        </p:nvSpPr>
        <p:spPr>
          <a:xfrm>
            <a:off x="8290560" y="1870364"/>
            <a:ext cx="1341120" cy="561109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51520" y="1870364"/>
            <a:ext cx="316992" cy="561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680704" y="1870364"/>
            <a:ext cx="902208" cy="561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680960" y="2144684"/>
            <a:ext cx="609600" cy="12469"/>
          </a:xfrm>
          <a:prstGeom prst="line">
            <a:avLst/>
          </a:prstGeom>
          <a:noFill/>
          <a:ln w="12700">
            <a:solidFill>
              <a:srgbClr val="8B6AB5"/>
            </a:solidFill>
            <a:prstDash val="solid"/>
            <a:tailEnd type="arrow"/>
          </a:ln>
        </p:spPr>
      </p:sp>
      <p:sp>
        <p:nvSpPr>
          <p:cNvPr id="52" name="Shape 50"/>
          <p:cNvSpPr/>
          <p:nvPr/>
        </p:nvSpPr>
        <p:spPr>
          <a:xfrm>
            <a:off x="8290560" y="2618509"/>
            <a:ext cx="1341120" cy="561109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51520" y="2618509"/>
            <a:ext cx="316992" cy="561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680704" y="2618509"/>
            <a:ext cx="902208" cy="561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680960" y="2892829"/>
            <a:ext cx="609600" cy="12469"/>
          </a:xfrm>
          <a:prstGeom prst="line">
            <a:avLst/>
          </a:prstGeom>
          <a:noFill/>
          <a:ln w="12700">
            <a:solidFill>
              <a:srgbClr val="8B6AB5"/>
            </a:solidFill>
            <a:prstDash val="solid"/>
            <a:tailEnd type="arrow"/>
          </a:ln>
        </p:spPr>
      </p:sp>
      <p:sp>
        <p:nvSpPr>
          <p:cNvPr id="56" name="Shape 54"/>
          <p:cNvSpPr/>
          <p:nvPr/>
        </p:nvSpPr>
        <p:spPr>
          <a:xfrm>
            <a:off x="6339840" y="3092335"/>
            <a:ext cx="5364480" cy="698269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37376" y="3179618"/>
            <a:ext cx="329184" cy="336665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37376" y="3167149"/>
            <a:ext cx="329184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864096" y="3142211"/>
            <a:ext cx="470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Cost Growth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6864096" y="3404062"/>
            <a:ext cx="4706112" cy="2992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fleet with small machines for high flexibility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339840" y="3915295"/>
            <a:ext cx="5364480" cy="698269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37376" y="4002578"/>
            <a:ext cx="329184" cy="336665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37376" y="3990109"/>
            <a:ext cx="329184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864096" y="3965171"/>
            <a:ext cx="470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Without Downtime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6864096" y="4227022"/>
            <a:ext cx="4706112" cy="2992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add/remove nodes to handle traffic peaks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339840" y="4763193"/>
            <a:ext cx="5364480" cy="698269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37376" y="4850476"/>
            <a:ext cx="329184" cy="336665"/>
          </a:xfrm>
          <a:prstGeom prst="roundRect">
            <a:avLst>
              <a:gd name="adj" fmla="val 18519"/>
            </a:avLst>
          </a:prstGeom>
          <a:solidFill>
            <a:srgbClr val="F3EDE0"/>
          </a:solidFill>
          <a:ln w="6350">
            <a:solidFill>
              <a:srgbClr val="B8892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37376" y="4838007"/>
            <a:ext cx="329184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864096" y="4813069"/>
            <a:ext cx="470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Prerequisite: App Must Be Stateless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6864096" y="5074920"/>
            <a:ext cx="4706112" cy="2992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Session, local cache, local file writes → all need redesign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8393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2222"/>
            <a:ext cx="60960" cy="423949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7924800" cy="648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Design: The Prerequisite for Scale Out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09760" y="0"/>
            <a:ext cx="2560320" cy="648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096000" y="685800"/>
            <a:ext cx="12192" cy="6047509"/>
          </a:xfrm>
          <a:prstGeom prst="line">
            <a:avLst/>
          </a:prstGeom>
          <a:noFill/>
          <a:ln w="9525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773084"/>
            <a:ext cx="5364480" cy="498764"/>
          </a:xfrm>
          <a:prstGeom prst="roundRect">
            <a:avLst>
              <a:gd name="adj" fmla="val 20000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773084"/>
            <a:ext cx="5120640" cy="498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Stateful — Cannot Scale Out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7680" y="1620982"/>
            <a:ext cx="1219200" cy="1059873"/>
          </a:xfrm>
          <a:prstGeom prst="roundRect">
            <a:avLst>
              <a:gd name="adj" fmla="val 11765"/>
            </a:avLst>
          </a:prstGeom>
          <a:solidFill>
            <a:srgbClr val="F5F1EB"/>
          </a:solidFill>
          <a:ln w="19050">
            <a:solidFill>
              <a:srgbClr val="908880"/>
            </a:solidFill>
            <a:prstDash val="solid"/>
          </a:ln>
          <a:effectLst>
            <a:outerShdw blurRad="76200" dist="25400" dir="2700000" algn="bl" rotWithShape="0">
              <a:srgbClr val="9E9488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7680" y="1695796"/>
            <a:ext cx="1219200" cy="4875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60832" y="2172116"/>
            <a:ext cx="1072896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792224" y="2281844"/>
            <a:ext cx="487680" cy="12469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2353056" y="1620982"/>
            <a:ext cx="1097280" cy="1059873"/>
          </a:xfrm>
          <a:prstGeom prst="roundRect">
            <a:avLst>
              <a:gd name="adj" fmla="val 11765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  <a:effectLst>
            <a:outerShdw blurRad="76200" dist="25400" dir="2700000" algn="bl" rotWithShape="0">
              <a:srgbClr val="9E948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353056" y="1695796"/>
            <a:ext cx="1097280" cy="4875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26208" y="2172116"/>
            <a:ext cx="950976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779520" y="1184564"/>
            <a:ext cx="1463040" cy="935182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9050">
            <a:solidFill>
              <a:srgbClr val="5A9B6E"/>
            </a:solidFill>
            <a:prstDash val="solid"/>
          </a:ln>
          <a:effectLst>
            <a:outerShdw blurRad="76200" dist="25400" dir="2700000" algn="bl" rotWithShape="0">
              <a:srgbClr val="9E9488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79520" y="1259378"/>
            <a:ext cx="1463040" cy="430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852672" y="1670858"/>
            <a:ext cx="1316736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779520" y="2306782"/>
            <a:ext cx="1463040" cy="935182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9050">
            <a:solidFill>
              <a:srgbClr val="5A9B6E"/>
            </a:solidFill>
            <a:prstDash val="solid"/>
          </a:ln>
          <a:effectLst>
            <a:outerShdw blurRad="76200" dist="25400" dir="2700000" algn="bl" rotWithShape="0">
              <a:srgbClr val="9E9488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779520" y="2381596"/>
            <a:ext cx="1463040" cy="430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852672" y="2793076"/>
            <a:ext cx="1316736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B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50336" y="1583575"/>
            <a:ext cx="329184" cy="187036"/>
          </a:xfrm>
          <a:prstGeom prst="line">
            <a:avLst/>
          </a:prstGeom>
          <a:noFill/>
          <a:ln w="12700">
            <a:solidFill>
              <a:srgbClr val="8B6AB5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3450336" y="1932709"/>
            <a:ext cx="329184" cy="685800"/>
          </a:xfrm>
          <a:prstGeom prst="line">
            <a:avLst/>
          </a:prstGeom>
          <a:noFill/>
          <a:ln w="12700">
            <a:solidFill>
              <a:srgbClr val="8B6AB5"/>
            </a:solidFill>
            <a:prstDash val="solid"/>
            <a:tailEnd type="arrow"/>
          </a:ln>
        </p:spPr>
      </p:sp>
      <p:sp>
        <p:nvSpPr>
          <p:cNvPr id="24" name="Text 22"/>
          <p:cNvSpPr/>
          <p:nvPr/>
        </p:nvSpPr>
        <p:spPr>
          <a:xfrm>
            <a:off x="365760" y="3429000"/>
            <a:ext cx="5364480" cy="3491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#2 can't find Session → user gets logged out!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803073"/>
            <a:ext cx="5364480" cy="498764"/>
          </a:xfrm>
          <a:prstGeom prst="roundRect">
            <a:avLst>
              <a:gd name="adj" fmla="val 17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3296" y="3890356"/>
            <a:ext cx="329184" cy="336665"/>
          </a:xfrm>
          <a:prstGeom prst="roundRect">
            <a:avLst>
              <a:gd name="adj" fmla="val 18519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3296" y="3877887"/>
            <a:ext cx="329184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90016" y="3852949"/>
            <a:ext cx="4706112" cy="399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stored in local memory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513811"/>
            <a:ext cx="5364480" cy="698269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3296" y="4601095"/>
            <a:ext cx="329184" cy="336665"/>
          </a:xfrm>
          <a:prstGeom prst="roundRect">
            <a:avLst>
              <a:gd name="adj" fmla="val 18519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3296" y="4588625"/>
            <a:ext cx="329184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90016" y="4563687"/>
            <a:ext cx="470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must use Sticky Session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90016" y="4825538"/>
            <a:ext cx="4706112" cy="2992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server down = all its users logged out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339840" y="773084"/>
            <a:ext cx="5364480" cy="498764"/>
          </a:xfrm>
          <a:prstGeom prst="roundRect">
            <a:avLst>
              <a:gd name="adj" fmla="val 20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86144" y="773084"/>
            <a:ext cx="5120640" cy="498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Stateless — Free to Scale Out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61760" y="1620982"/>
            <a:ext cx="1219200" cy="1059873"/>
          </a:xfrm>
          <a:prstGeom prst="roundRect">
            <a:avLst>
              <a:gd name="adj" fmla="val 11765"/>
            </a:avLst>
          </a:prstGeom>
          <a:solidFill>
            <a:srgbClr val="F5F1EB"/>
          </a:solidFill>
          <a:ln w="19050">
            <a:solidFill>
              <a:srgbClr val="908880"/>
            </a:solidFill>
            <a:prstDash val="solid"/>
          </a:ln>
          <a:effectLst>
            <a:outerShdw blurRad="76200" dist="25400" dir="2700000" algn="bl" rotWithShape="0">
              <a:srgbClr val="9E9488">
                <a:alpha val="1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61760" y="1695796"/>
            <a:ext cx="1219200" cy="4875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534912" y="2172116"/>
            <a:ext cx="1072896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766304" y="2281844"/>
            <a:ext cx="487680" cy="12469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8327136" y="1620982"/>
            <a:ext cx="1097280" cy="1059873"/>
          </a:xfrm>
          <a:prstGeom prst="roundRect">
            <a:avLst>
              <a:gd name="adj" fmla="val 11765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  <a:effectLst>
            <a:outerShdw blurRad="76200" dist="25400" dir="2700000" algn="bl" rotWithShape="0">
              <a:srgbClr val="9E9488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327136" y="1695796"/>
            <a:ext cx="1097280" cy="4875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8400288" y="2172116"/>
            <a:ext cx="950976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570720" y="1122218"/>
            <a:ext cx="2011680" cy="2182091"/>
          </a:xfrm>
          <a:prstGeom prst="roundRect">
            <a:avLst>
              <a:gd name="adj" fmla="val 6061"/>
            </a:avLst>
          </a:prstGeom>
          <a:ln w="12700">
            <a:solidFill>
              <a:srgbClr val="5A9B6E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9692640" y="1309255"/>
            <a:ext cx="1767840" cy="561109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753600" y="1309255"/>
            <a:ext cx="316992" cy="561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082784" y="1309255"/>
            <a:ext cx="1328928" cy="561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692640" y="1932709"/>
            <a:ext cx="1767840" cy="561109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753600" y="1932709"/>
            <a:ext cx="316992" cy="561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082784" y="1932709"/>
            <a:ext cx="1328928" cy="561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B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424416" y="1645920"/>
            <a:ext cx="268224" cy="199505"/>
          </a:xfrm>
          <a:prstGeom prst="line">
            <a:avLst/>
          </a:prstGeom>
          <a:noFill/>
          <a:ln w="12700">
            <a:solidFill>
              <a:srgbClr val="8B6AB5"/>
            </a:solidFill>
            <a:prstDash val="solid"/>
            <a:tailEnd type="arrow"/>
          </a:ln>
        </p:spPr>
      </p:sp>
      <p:sp>
        <p:nvSpPr>
          <p:cNvPr id="51" name="Shape 49"/>
          <p:cNvSpPr/>
          <p:nvPr/>
        </p:nvSpPr>
        <p:spPr>
          <a:xfrm>
            <a:off x="9424416" y="1957647"/>
            <a:ext cx="268224" cy="274320"/>
          </a:xfrm>
          <a:prstGeom prst="line">
            <a:avLst/>
          </a:prstGeom>
          <a:noFill/>
          <a:ln w="12700">
            <a:solidFill>
              <a:srgbClr val="8B6AB5"/>
            </a:solidFill>
            <a:prstDash val="solid"/>
            <a:tailEnd type="arrow"/>
          </a:ln>
        </p:spPr>
      </p:sp>
      <p:sp>
        <p:nvSpPr>
          <p:cNvPr id="52" name="Shape 50"/>
          <p:cNvSpPr/>
          <p:nvPr/>
        </p:nvSpPr>
        <p:spPr>
          <a:xfrm>
            <a:off x="10119360" y="3491345"/>
            <a:ext cx="1706880" cy="1122218"/>
          </a:xfrm>
          <a:prstGeom prst="roundRect">
            <a:avLst>
              <a:gd name="adj" fmla="val 11111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  <a:effectLst>
            <a:outerShdw blurRad="76200" dist="25400" dir="2700000" algn="bl" rotWithShape="0">
              <a:srgbClr val="9E9488">
                <a:alpha val="1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10119360" y="3566160"/>
            <a:ext cx="1706880" cy="5162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10192512" y="4074899"/>
            <a:ext cx="1560576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0168128" y="4386626"/>
            <a:ext cx="1609344" cy="249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Store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0972800" y="1870364"/>
            <a:ext cx="12192" cy="1620982"/>
          </a:xfrm>
          <a:prstGeom prst="line">
            <a:avLst/>
          </a:prstGeom>
          <a:noFill/>
          <a:ln w="12700">
            <a:solidFill>
              <a:srgbClr val="8B6AB5"/>
            </a:solidFill>
            <a:prstDash val="dash"/>
            <a:tailEnd type="arrow"/>
          </a:ln>
        </p:spPr>
      </p:sp>
      <p:sp>
        <p:nvSpPr>
          <p:cNvPr id="57" name="Shape 55"/>
          <p:cNvSpPr/>
          <p:nvPr/>
        </p:nvSpPr>
        <p:spPr>
          <a:xfrm>
            <a:off x="6339840" y="3803073"/>
            <a:ext cx="5364480" cy="498764"/>
          </a:xfrm>
          <a:prstGeom prst="roundRect">
            <a:avLst>
              <a:gd name="adj" fmla="val 17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37376" y="3890356"/>
            <a:ext cx="329184" cy="336665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37376" y="3877887"/>
            <a:ext cx="329184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864096" y="3852949"/>
            <a:ext cx="4706112" cy="399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centralized in Redis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339840" y="4513811"/>
            <a:ext cx="5364480" cy="698269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37376" y="4601095"/>
            <a:ext cx="329184" cy="336665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37376" y="4588625"/>
            <a:ext cx="329184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864096" y="4563687"/>
            <a:ext cx="470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server can handle any request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6864096" y="4825538"/>
            <a:ext cx="4706112" cy="2992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distributes freely; servers can be added or removed anytime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339840" y="5261956"/>
            <a:ext cx="5364480" cy="698269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37376" y="5349240"/>
            <a:ext cx="329184" cy="336665"/>
          </a:xfrm>
          <a:prstGeom prst="roundRect">
            <a:avLst>
              <a:gd name="adj" fmla="val 18519"/>
            </a:avLst>
          </a:prstGeom>
          <a:solidFill>
            <a:srgbClr val="F3EDE0"/>
          </a:solidFill>
          <a:ln w="6350">
            <a:solidFill>
              <a:srgbClr val="B8892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37376" y="5336771"/>
            <a:ext cx="329184" cy="336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864096" y="5311833"/>
            <a:ext cx="470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watch out: local cache, local file writes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6864096" y="5573684"/>
            <a:ext cx="4706112" cy="2992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 must be externalized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8393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2222"/>
            <a:ext cx="60960" cy="423949"/>
          </a:xfrm>
          <a:prstGeom prst="rect">
            <a:avLst/>
          </a:prstGeom>
          <a:solidFill>
            <a:srgbClr val="5A9B6E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7924800" cy="648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Summary: Architecture Evolution Roadmap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09760" y="0"/>
            <a:ext cx="2560320" cy="648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810491"/>
            <a:ext cx="5486400" cy="2805545"/>
          </a:xfrm>
          <a:prstGeom prst="roundRect">
            <a:avLst>
              <a:gd name="adj" fmla="val 4444"/>
            </a:avLst>
          </a:prstGeom>
          <a:solidFill>
            <a:srgbClr val="F5F1EB"/>
          </a:solidFill>
          <a:ln w="15240">
            <a:solidFill>
              <a:srgbClr val="5A9B6E"/>
            </a:solidFill>
            <a:prstDash val="solid"/>
          </a:ln>
          <a:effectLst>
            <a:outerShdw blurRad="76200" dist="25400" dir="2700000" algn="bl" rotWithShape="0">
              <a:srgbClr val="9E9488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910244"/>
            <a:ext cx="5486400" cy="5237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63296" y="1458884"/>
            <a:ext cx="5291328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Single-Server Deployment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7680" y="1895302"/>
            <a:ext cx="5242560" cy="324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 setup, fast to start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7680" y="2244436"/>
            <a:ext cx="5242560" cy="324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SPOF — Single Point of Failure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7680" y="2593571"/>
            <a:ext cx="5242560" cy="324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Cannot scale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39840" y="810491"/>
            <a:ext cx="5486400" cy="2805545"/>
          </a:xfrm>
          <a:prstGeom prst="roundRect">
            <a:avLst>
              <a:gd name="adj" fmla="val 4444"/>
            </a:avLst>
          </a:prstGeom>
          <a:solidFill>
            <a:srgbClr val="F5F1EB"/>
          </a:solidFill>
          <a:ln w="15240">
            <a:solidFill>
              <a:srgbClr val="C4804A"/>
            </a:solidFill>
            <a:prstDash val="solid"/>
          </a:ln>
          <a:effectLst>
            <a:outerShdw blurRad="76200" dist="25400" dir="2700000" algn="bl" rotWithShape="0">
              <a:srgbClr val="9E9488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39840" y="910244"/>
            <a:ext cx="5486400" cy="5237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37376" y="1458884"/>
            <a:ext cx="5291328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48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Separation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61760" y="1895302"/>
            <a:ext cx="5242560" cy="324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separated from application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61760" y="2244436"/>
            <a:ext cx="5242560" cy="324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Independent backup and optimization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61760" y="2593571"/>
            <a:ext cx="5242560" cy="324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Still 2 SPOFs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865418"/>
            <a:ext cx="5486400" cy="2805545"/>
          </a:xfrm>
          <a:prstGeom prst="roundRect">
            <a:avLst>
              <a:gd name="adj" fmla="val 4444"/>
            </a:avLst>
          </a:prstGeom>
          <a:solidFill>
            <a:srgbClr val="F5F1EB"/>
          </a:solidFill>
          <a:ln w="15240">
            <a:solidFill>
              <a:srgbClr val="5B8DB8"/>
            </a:solidFill>
            <a:prstDash val="solid"/>
          </a:ln>
          <a:effectLst>
            <a:outerShdw blurRad="76200" dist="25400" dir="2700000" algn="bl" rotWithShape="0">
              <a:srgbClr val="9E9488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3965171"/>
            <a:ext cx="5486400" cy="5237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63296" y="4513811"/>
            <a:ext cx="5291328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Architecture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7680" y="4950229"/>
            <a:ext cx="5242560" cy="324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Clear separation of concerns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7680" y="5299364"/>
            <a:ext cx="5242560" cy="324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Flexible tech stack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7680" y="5648498"/>
            <a:ext cx="5242560" cy="324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Version dependencies grow complex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39840" y="3865418"/>
            <a:ext cx="5486400" cy="2805545"/>
          </a:xfrm>
          <a:prstGeom prst="roundRect">
            <a:avLst>
              <a:gd name="adj" fmla="val 4444"/>
            </a:avLst>
          </a:prstGeom>
          <a:solidFill>
            <a:srgbClr val="F5F1EB"/>
          </a:solidFill>
          <a:ln w="15240">
            <a:solidFill>
              <a:srgbClr val="8B6AB5"/>
            </a:solidFill>
            <a:prstDash val="solid"/>
          </a:ln>
          <a:effectLst>
            <a:outerShdw blurRad="76200" dist="25400" dir="2700000" algn="bl" rotWithShape="0">
              <a:srgbClr val="9E9488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39840" y="3965171"/>
            <a:ext cx="5486400" cy="5237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37376" y="4513811"/>
            <a:ext cx="5291328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Out Readiness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61760" y="4950229"/>
            <a:ext cx="5242560" cy="324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Load Balancer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61760" y="5299364"/>
            <a:ext cx="5242560" cy="324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must be stateless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61760" y="5648498"/>
            <a:ext cx="5242560" cy="324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Ready? → Part 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0" y="6583680"/>
            <a:ext cx="12192000" cy="249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Part 2: The Challenges of Scale Out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1300</Words>
  <Application>Microsoft Macintosh PowerPoint</Application>
  <PresentationFormat>Widescreen</PresentationFormat>
  <Paragraphs>344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Gill Sans MT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HungWei Chiu</dc:creator>
  <cp:lastModifiedBy>HungWei Chiu</cp:lastModifiedBy>
  <cp:revision>2</cp:revision>
  <dcterms:created xsi:type="dcterms:W3CDTF">2026-04-08T13:54:55Z</dcterms:created>
  <dcterms:modified xsi:type="dcterms:W3CDTF">2026-04-08T14:05:46Z</dcterms:modified>
</cp:coreProperties>
</file>