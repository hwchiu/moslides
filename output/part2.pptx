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Balancer：流量分發的核心元件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13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77724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7772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" y="77724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82880" y="128016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" y="12801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" y="128016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2880" y="178308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17830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" y="178308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280160" y="950976"/>
            <a:ext cx="201168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1280160" y="1453896"/>
            <a:ext cx="201168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1280160" y="1956816"/>
            <a:ext cx="201168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1554480" y="1005840"/>
            <a:ext cx="137160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554480" y="1060704"/>
            <a:ext cx="137160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609344" y="1719072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91056" y="1947672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 Robin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Least Conn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37160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1C2128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Robin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124712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1C2128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24712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Conn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2112264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1C2128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12264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Hash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099816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1C2128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99816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200400" y="548640"/>
            <a:ext cx="1828800" cy="2578608"/>
          </a:xfrm>
          <a:prstGeom prst="roundRect">
            <a:avLst>
              <a:gd name="adj" fmla="val 5000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291840" y="4023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10128" y="4023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GROUP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337560" y="658368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337560" y="713232"/>
            <a:ext cx="1463040" cy="302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3392424" y="1000719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374136" y="1229319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37560" y="1371600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337560" y="1426464"/>
            <a:ext cx="1463040" cy="302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3392424" y="1713951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374136" y="1942551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337560" y="2084832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3337560" y="2139696"/>
            <a:ext cx="1463040" cy="302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3392424" y="2427183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api-03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3374136" y="2655783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971800" y="950976"/>
            <a:ext cx="32004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9" name="Shape 47"/>
          <p:cNvSpPr/>
          <p:nvPr/>
        </p:nvSpPr>
        <p:spPr>
          <a:xfrm>
            <a:off x="2971800" y="1664208"/>
            <a:ext cx="32004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50" name="Shape 48"/>
          <p:cNvSpPr/>
          <p:nvPr/>
        </p:nvSpPr>
        <p:spPr>
          <a:xfrm>
            <a:off x="2971800" y="2377440"/>
            <a:ext cx="32004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5577840" y="1188720"/>
            <a:ext cx="1554480" cy="1005840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577840" y="1243584"/>
            <a:ext cx="155448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5632704" y="1711757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614416" y="1940357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Primary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846320" y="950976"/>
            <a:ext cx="685800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56" name="Shape 54"/>
          <p:cNvSpPr/>
          <p:nvPr/>
        </p:nvSpPr>
        <p:spPr>
          <a:xfrm>
            <a:off x="4846320" y="1664208"/>
            <a:ext cx="685800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4846320" y="2377440"/>
            <a:ext cx="685800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58" name="Shape 56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流量均勻分散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避免單一節點過載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高可用性 (HA)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一台掛掉，LB 自動排除，服務不中斷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黏性問題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同一使用者可能被派到不同 Server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本身也需要 HA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掛掉 → 整個服務掛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的陷阱：Session 狀態問題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Session 黏性問題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515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12648" y="105156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463040" y="1051560"/>
            <a:ext cx="9144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08760" y="10515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⚖️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755648" y="1051560"/>
            <a:ext cx="5852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371600" y="1325880"/>
            <a:ext cx="4572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2514600" y="960120"/>
            <a:ext cx="1371600" cy="475488"/>
          </a:xfrm>
          <a:prstGeom prst="roundRect">
            <a:avLst>
              <a:gd name="adj" fmla="val 13462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14600" y="96012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Server A  💾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23160" y="1252728"/>
            <a:ext cx="4572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2514600" y="1737360"/>
            <a:ext cx="1371600" cy="475488"/>
          </a:xfrm>
          <a:prstGeom prst="roundRect">
            <a:avLst>
              <a:gd name="adj" fmla="val 13462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173736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Server B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423160" y="2029968"/>
            <a:ext cx="4572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1" name="Text 19"/>
          <p:cNvSpPr/>
          <p:nvPr/>
        </p:nvSpPr>
        <p:spPr>
          <a:xfrm>
            <a:off x="320040" y="251460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#2 → Server B → 找不到 Session → 被登出！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0" y="502920"/>
            <a:ext cx="0" cy="4480560"/>
          </a:xfrm>
          <a:prstGeom prst="line">
            <a:avLst/>
          </a:prstGeom>
          <a:noFill/>
          <a:ln w="6350">
            <a:solidFill>
              <a:srgbClr val="30363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三種解決方案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100584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10972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JWT Token（無狀態）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92040" y="140817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Token存Client，Server無狀態 | 推薦 REST API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54880" y="196596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0574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Redis 集中 Session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92040" y="236829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Session集中存Redis，所有Server共用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754880" y="292608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92040" y="30175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Sticky Session（不推薦⚠️）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92040" y="332841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LB固定綁定IP | 失去Scale Out彈性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現代架構首選 JWT + Redis 的組合 — 讓 Server 真正 Stateless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資料庫的擴展：Read Replica 架構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15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685800"/>
            <a:ext cx="2011680" cy="2286000"/>
          </a:xfrm>
          <a:prstGeom prst="roundRect">
            <a:avLst>
              <a:gd name="adj" fmla="val 4545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365760" y="5394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5394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11480" y="91440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04088" y="91440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11480" y="141732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4173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04088" y="141732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11480" y="192024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9202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04088" y="192024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api-03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331720" y="1225296"/>
            <a:ext cx="71323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2" name="Text 20"/>
          <p:cNvSpPr/>
          <p:nvPr/>
        </p:nvSpPr>
        <p:spPr>
          <a:xfrm>
            <a:off x="2286000" y="1069848"/>
            <a:ext cx="804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331720" y="1956816"/>
            <a:ext cx="713232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286000" y="1801368"/>
            <a:ext cx="804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108960" y="731520"/>
            <a:ext cx="164592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108960" y="786384"/>
            <a:ext cx="164592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163824" y="1444752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145536" y="1673352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Only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800600" y="132588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→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800600" y="1554480"/>
            <a:ext cx="22860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5074920" y="594360"/>
            <a:ext cx="1920240" cy="2423160"/>
          </a:xfrm>
          <a:prstGeom prst="roundRect">
            <a:avLst>
              <a:gd name="adj" fmla="val 4762"/>
            </a:avLst>
          </a:prstGeom>
          <a:ln w="12700">
            <a:solidFill>
              <a:srgbClr val="3FB95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51663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846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REPLICAS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212080" y="86868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57800" y="868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504688" y="86868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1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212080" y="141732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57800" y="14173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504688" y="141732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2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212080" y="196596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57800" y="19659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504688" y="196596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3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800600" y="1097280"/>
            <a:ext cx="36576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4800600" y="1645920"/>
            <a:ext cx="36576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45" name="Shape 43"/>
          <p:cNvSpPr/>
          <p:nvPr/>
        </p:nvSpPr>
        <p:spPr>
          <a:xfrm>
            <a:off x="4800600" y="2194560"/>
            <a:ext cx="36576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46" name="Text 44"/>
          <p:cNvSpPr/>
          <p:nvPr/>
        </p:nvSpPr>
        <p:spPr>
          <a:xfrm>
            <a:off x="274320" y="292608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非同步複製 (async) — 可能有微小延遲 (Replication Lag)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讀取效能大幅提升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操作是 Read，Replica 分流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專注寫入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效能不受 Read 影響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Lag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資料可能落後 Primary 數毫秒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不解決 Write 瓶頸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高頻寫入仍然是 Primary 的問題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 Caching 策略：從外到內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16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48640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1A7F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48640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66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☁️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4864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CDN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61288"/>
            <a:ext cx="109728" cy="109728"/>
          </a:xfrm>
          <a:prstGeom prst="ellipse">
            <a:avLst/>
          </a:prstGeom>
          <a:solidFill>
            <a:srgbClr val="1A7F64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0972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靜態資源 (JS/CSS/圖片)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2984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天/週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63624"/>
            <a:ext cx="109728" cy="109728"/>
          </a:xfrm>
          <a:prstGeom prst="ellipse">
            <a:avLst/>
          </a:prstGeom>
          <a:solidFill>
            <a:srgbClr val="1A7F64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49961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Cloudflare, CloudFront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65960"/>
            <a:ext cx="109728" cy="109728"/>
          </a:xfrm>
          <a:prstGeom prst="ellipse">
            <a:avLst/>
          </a:prstGeom>
          <a:solidFill>
            <a:srgbClr val="1A7F64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0195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Hit → 不碰後端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68296"/>
            <a:ext cx="109728" cy="109728"/>
          </a:xfrm>
          <a:prstGeom prst="ellipse">
            <a:avLst/>
          </a:prstGeom>
          <a:solidFill>
            <a:srgbClr val="1A7F64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0428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Rate: ~60-80%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39440" y="548640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39440" y="548640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39440" y="566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560064" y="54864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Redis 快取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67456" y="116128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32048" y="10972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回應快取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432048" y="12984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秒/分鐘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67456" y="156362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32048" y="149961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儲存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67456" y="196596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90195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Redis, Memcached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236829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230428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Rate: ~30-50%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096000" y="548640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96000" y="548640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96000" y="566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516624" y="54864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In-Process 快取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224016" y="116128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88608" y="10972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超熱資料 (config/常數)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388608" y="12984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秒級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224016" y="156362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8608" y="149961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不可跨 Server 共用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24016" y="196596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8608" y="190195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需特別處理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24016" y="236829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230428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Rate: ~10-20%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快取失效 (Cache Invalidation) 是分散式系統中最難的問題之一 — 想清楚 TTL 再設計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訊息佇列：非同步解耦的利器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17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同步呼叫鏈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1887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188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188720"/>
            <a:ext cx="539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691640" y="11887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1188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984248" y="1188720"/>
            <a:ext cx="539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017520" y="11887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63240" y="1188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10128" y="1188720"/>
            <a:ext cx="539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280160" y="1444752"/>
            <a:ext cx="36576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1234440" y="128930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06040" y="1444752"/>
            <a:ext cx="36576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560320" y="128930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" y="1920240"/>
            <a:ext cx="4023360" cy="475488"/>
          </a:xfrm>
          <a:prstGeom prst="roundRect">
            <a:avLst>
              <a:gd name="adj" fmla="val 13462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192024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任一步驟慢 → 全部等待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任一步驟失敗 → 整個 Request 失敗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20040" y="2487168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總延遲 = 所有步驟之和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" y="2743200"/>
            <a:ext cx="914400" cy="201168"/>
          </a:xfrm>
          <a:prstGeom prst="rect">
            <a:avLst/>
          </a:prstGeom>
          <a:solidFill>
            <a:srgbClr val="238636"/>
          </a:solidFill>
          <a:ln w="6350">
            <a:solidFill>
              <a:srgbClr val="0D111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34440" y="2743200"/>
            <a:ext cx="1097280" cy="201168"/>
          </a:xfrm>
          <a:prstGeom prst="rect">
            <a:avLst/>
          </a:prstGeom>
          <a:solidFill>
            <a:srgbClr val="D29922"/>
          </a:solidFill>
          <a:ln w="6350">
            <a:solidFill>
              <a:srgbClr val="0D111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31720" y="2743200"/>
            <a:ext cx="1280160" cy="201168"/>
          </a:xfrm>
          <a:prstGeom prst="rect">
            <a:avLst/>
          </a:prstGeom>
          <a:solidFill>
            <a:srgbClr val="F85149"/>
          </a:solidFill>
          <a:ln w="6350">
            <a:solidFill>
              <a:srgbClr val="0D111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訊息佇列（非同步）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846320" y="91440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846320" y="96926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📤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901184" y="134233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82896" y="157093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Service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172200" y="1325880"/>
            <a:ext cx="54864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6126480" y="11704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766560" y="914400"/>
            <a:ext cx="118872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766560" y="969264"/>
            <a:ext cx="118872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6821424" y="1342339"/>
            <a:ext cx="10789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803136" y="1570939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RabbitMQ/Kafka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8001000" y="1115568"/>
            <a:ext cx="18288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8229600" y="86868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75320" y="868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522208" y="86868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001000" y="1572768"/>
            <a:ext cx="18288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8229600" y="132588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75320" y="13258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522208" y="132588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001000" y="2029968"/>
            <a:ext cx="18288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8" name="Shape 46"/>
          <p:cNvSpPr/>
          <p:nvPr/>
        </p:nvSpPr>
        <p:spPr>
          <a:xfrm>
            <a:off x="8229600" y="178308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75320" y="17830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📊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522208" y="178308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274320" y="26060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263347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📬 訂單→通知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65760" y="28986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非同步寄信  ·  用戶無需等待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46120" y="26060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63347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🏔️ 削峰填谷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337560" y="28986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瞬間大量請求  ·  Queue緩衝消化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217920" y="26060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9360" y="263347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🔓 服務解耦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309360" y="28986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各服務獨立Scale  ·  互不影響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完整分散式架構：你現在需要維運什麼？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9/10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864108" cy="822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18 / 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5720" y="713232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68680" y="621792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62179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👥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621792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(1000+)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377440" y="62179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62179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☁️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70048" y="621792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520440" y="62179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66160" y="62179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🛡️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813048" y="621792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554480" y="987552"/>
            <a:ext cx="0" cy="14630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45720" y="1225296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868680" y="1133856"/>
            <a:ext cx="18288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113385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⚖️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61288" y="1133856"/>
            <a:ext cx="14996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(HA Pair)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554480" y="1490472"/>
            <a:ext cx="0" cy="14630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822960" y="1545336"/>
            <a:ext cx="2103120" cy="530352"/>
          </a:xfrm>
          <a:prstGeom prst="roundRect">
            <a:avLst>
              <a:gd name="adj" fmla="val 17241"/>
            </a:avLst>
          </a:prstGeom>
          <a:ln w="12700">
            <a:solidFill>
              <a:srgbClr val="1F6FEB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914400" y="1399032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1F6F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2688" y="1399032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×3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914400" y="163677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" y="163677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207008" y="163677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nginx-01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965960" y="163677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11680" y="163677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258568" y="163677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nginx-02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554480" y="2084832"/>
            <a:ext cx="0" cy="14630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822960" y="2139696"/>
            <a:ext cx="2103120" cy="530352"/>
          </a:xfrm>
          <a:prstGeom prst="roundRect">
            <a:avLst>
              <a:gd name="adj" fmla="val 17241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914400" y="1993392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32688" y="1993392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×3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91440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20700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96596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1168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25856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10896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15468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⚡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340156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29768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4340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📋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9028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1554480" y="2679192"/>
            <a:ext cx="0" cy="14630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868680" y="2825496"/>
            <a:ext cx="12801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1440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1161288" y="2825496"/>
            <a:ext cx="9509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(W)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2240280" y="29443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replication →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3063240" y="282549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10896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3355848" y="282549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1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251960" y="282549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29768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544568" y="282549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2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5440680" y="282549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8640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733288" y="282549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3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126480" y="64008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你在維運的機器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217920" y="1005840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55080" y="100584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CDN/WAF/LB ×3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8321040" y="100584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6217920" y="1481328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9525">
            <a:solidFill>
              <a:srgbClr val="1F6FE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355080" y="148132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Frontend+Backend ×6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8321040" y="1481328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6217920" y="1956816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9525">
            <a:solidFill>
              <a:srgbClr val="E36209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355080" y="1956816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Primary+Replicas ×4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8321040" y="1956816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6217920" y="2432304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355080" y="2432304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Redis+RabbitMQ ×2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321040" y="2432304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77" name="Shape 75"/>
          <p:cNvSpPr/>
          <p:nvPr/>
        </p:nvSpPr>
        <p:spPr>
          <a:xfrm>
            <a:off x="6126480" y="2944368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26480" y="2944368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台機器</a:t>
            </a:r>
            <a:endParaRPr lang="en-US" sz="2000" dirty="0"/>
          </a:p>
        </p:txBody>
      </p:sp>
      <p:sp>
        <p:nvSpPr>
          <p:cNvPr id="79" name="Shape 77"/>
          <p:cNvSpPr/>
          <p:nvPr/>
        </p:nvSpPr>
        <p:spPr>
          <a:xfrm>
            <a:off x="274320" y="340156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57200" y="3447288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每台機器設定各不相同、環境飄移 — 部署靠手動 SSH，每次都是一場冒險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7132320" y="347472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32320" y="350215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環境不一致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7626096" y="347472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626096" y="350215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設定漂移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8119872" y="347472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119872" y="350215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更新困難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部署惡夢：維運複雜度爆炸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19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704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😱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70408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環境不一致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1887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Dev: Mac + Python 3.9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5361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Staging: Ubuntu + Python 3.8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88366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Prod: CentOS + Python 3.6 (!!)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23113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「在我這裡可以跑！」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92040" y="704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🔄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394960" y="70408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更新困難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11887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15台機器逐一SSH更新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37760" y="15361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更新中失敗 → 版本不一致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37760" y="188366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需要停機維護窗口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37760" y="223113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每次部署都提心吊膽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278892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11480" y="2898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4400" y="289864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設定管理混亂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3383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DB密碼寫死在程式碼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37307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各機器設定微妙不同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07822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沒有版本控管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442569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新人入職需一週搞懂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278892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892040" y="2898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🤯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5394960" y="289864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Dev/Prod 落差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937760" y="3383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Dev本機 vs 15台Prod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937760" y="37307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本機測試通過 → Prod爆炸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937760" y="407822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「It works on my machine」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37760" y="442569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除錯難度 ×10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小結：問題累積，需要新思維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20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347472"/>
          </a:xfrm>
          <a:prstGeom prst="roundRect">
            <a:avLst>
              <a:gd name="adj" fmla="val 13158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5943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834640" y="5943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解決了什麼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60720" y="59436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帶來的代價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960120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960120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Load Balancer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834640" y="96012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流量分散、高可用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760720" y="960120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黏性問題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1307592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307592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Redis Session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834640" y="1307592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實現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1307592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本身要 HA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1655064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655064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Read Replica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834640" y="1655064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讀取效能提升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60720" y="1655064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Lag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2002536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002536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Cache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834640" y="200253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效能大幅提升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760720" y="2002536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快取失效複雜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2350008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350008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Message Queue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834640" y="235000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非同步解耦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760720" y="2350008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最終一致性問題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2697480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0D1117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697480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分散式架構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834640" y="269748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高可用、可擴展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760720" y="2697480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維運 15+ 台機器！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58000" y="621792"/>
            <a:ext cx="1920240" cy="27432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62179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10/10 🔴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74320" y="3200400"/>
            <a:ext cx="8595360" cy="731520"/>
          </a:xfrm>
          <a:prstGeom prst="roundRect">
            <a:avLst>
              <a:gd name="adj" fmla="val 10000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這樣下去不行了！15 台機器各自獨立設定 — 部署一次靠手動 SSH，版本飄移是常態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74320" y="4041648"/>
            <a:ext cx="8595360" cy="749808"/>
          </a:xfrm>
          <a:prstGeom prst="roundRect">
            <a:avLst>
              <a:gd name="adj" fmla="val 9756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0416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Part 3 預告：Container 技術如何把這一切簡化 — 統一打包、環境一致、秒級部署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2026-03-16T14:26:19Z</dcterms:created>
  <dcterms:modified xsi:type="dcterms:W3CDTF">2026-03-16T14:26:19Z</dcterms:modified>
</cp:coreProperties>
</file>