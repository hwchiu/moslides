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Balancer：流量分發的核心元件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13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7724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77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77724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82880" y="128016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801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" y="128016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" y="178308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" y="178308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280160" y="95097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280160" y="145389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280160" y="1956816"/>
            <a:ext cx="201168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554480" y="100584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554480" y="1060704"/>
            <a:ext cx="137160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609344" y="1719072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91056" y="1947672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 Robin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Least Conn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37160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Robin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124712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24712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112264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12264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Hash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099816" y="2487168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1C2128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99816" y="2487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00400" y="548640"/>
            <a:ext cx="1828800" cy="2578608"/>
          </a:xfrm>
          <a:prstGeom prst="roundRect">
            <a:avLst>
              <a:gd name="adj" fmla="val 5000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291840" y="4023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10128" y="4023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GROUP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337560" y="658368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337560" y="713232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3392424" y="1000719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374136" y="1229319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37560" y="1371600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37560" y="1426464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92424" y="1713951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374136" y="1942551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337560" y="2084832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337560" y="2139696"/>
            <a:ext cx="1463040" cy="3028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392424" y="2427183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74136" y="2655783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971800" y="950976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2971800" y="1664208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0" name="Shape 48"/>
          <p:cNvSpPr/>
          <p:nvPr/>
        </p:nvSpPr>
        <p:spPr>
          <a:xfrm>
            <a:off x="2971800" y="2377440"/>
            <a:ext cx="3200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5577840" y="1188720"/>
            <a:ext cx="155448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577840" y="1243584"/>
            <a:ext cx="155448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5632704" y="1711757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14416" y="1940357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Primary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46320" y="950976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846320" y="1664208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846320" y="2377440"/>
            <a:ext cx="685800" cy="0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流量均勻分散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避免單一節點過載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高可用性 (HA)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一台掛掉，LB 自動排除，服務不中斷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同一使用者可能被派到不同 Server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本身也需要 HA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掛掉 → 整個服務掛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的陷阱：Session 狀態問題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Session 黏性問題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515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1051560"/>
            <a:ext cx="676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1051560"/>
            <a:ext cx="9144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10515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55648" y="1051560"/>
            <a:ext cx="5852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371600" y="1325880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2514600" y="96012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14600" y="96012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A  💾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23160" y="125272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2514600" y="1737360"/>
            <a:ext cx="1371600" cy="475488"/>
          </a:xfrm>
          <a:prstGeom prst="roundRect">
            <a:avLst>
              <a:gd name="adj" fmla="val 13462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173736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Server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3160" y="2029968"/>
            <a:ext cx="4572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320040" y="25146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→ Server B → 找不到 Session → 被登出！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502920"/>
            <a:ext cx="0" cy="4480560"/>
          </a:xfrm>
          <a:prstGeom prst="line">
            <a:avLst/>
          </a:prstGeom>
          <a:noFill/>
          <a:ln w="635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三種解決方案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00584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0972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JWT Token（無狀態）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14081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Token存Client，Server無狀態 | 推薦 REST API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19659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20574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集中 Session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236829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Session集中存Redis，所有Server共用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54880" y="292608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30175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Sticky Session（不推薦⚠️）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LB固定綁定IP | 失去Scale Out彈性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現代架構首選 JWT + Redis 的組合 — 讓 Server 真正 Stateless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資料庫的擴展：Read Replica 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7/10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672084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15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2011680" cy="228600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6576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11480" y="91440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9144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" y="91440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114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040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1480" y="192024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9202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" y="192024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1225296"/>
            <a:ext cx="71323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2286000" y="106984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331720" y="1956816"/>
            <a:ext cx="713232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286000" y="1801368"/>
            <a:ext cx="804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731520"/>
            <a:ext cx="164592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08960" y="786384"/>
            <a:ext cx="164592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163824" y="1444752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145536" y="1673352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Only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00600" y="1325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→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00600" y="1554480"/>
            <a:ext cx="22860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5074920" y="594360"/>
            <a:ext cx="1920240" cy="2423160"/>
          </a:xfrm>
          <a:prstGeom prst="roundRect">
            <a:avLst>
              <a:gd name="adj" fmla="val 4762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1663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846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REPLICAS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12080" y="86868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04688" y="86868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212080" y="141732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14173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04688" y="141732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12080" y="1965960"/>
            <a:ext cx="15544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57800" y="196596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504688" y="1965960"/>
            <a:ext cx="1225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00600" y="109728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4800600" y="164592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4800600" y="2194560"/>
            <a:ext cx="36576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274320" y="292608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非同步複製 (async) — 可能有微小延遲 (Replication Lag)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讀取效能大幅提升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操作是 Read，Replica 分流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專注寫入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效能不受 Read 影響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資料可能落後 Primary 數毫秒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不解決 Write 瓶頸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高頻寫入仍然是 Primary 的問題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 Caching 策略：從外到內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1A7F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CDN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61288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(JS/CSS/圖片)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天/週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63624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Cloudflare, CloudFront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65960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→ 不碰後端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68296"/>
            <a:ext cx="109728" cy="109728"/>
          </a:xfrm>
          <a:prstGeom prst="ellipse">
            <a:avLst/>
          </a:prstGeom>
          <a:solidFill>
            <a:srgbClr val="1A7F64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~60-80%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3944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3944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3944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56006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Redis 快取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67456" y="116128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204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回應快取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3204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秒/分鐘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67456" y="156362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3204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儲存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7456" y="196596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Redis, Memcached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236829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~30-50%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96000" y="548640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96000" y="548640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96000" y="566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516624" y="548640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In-Process 快取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4016" y="116128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608" y="1097280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超熱資料 (config/常數)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388608" y="1298448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TTL: 秒級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224016" y="156362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88608" y="149961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不可跨 Server 共用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24016" y="196596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88608" y="190195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需特別處理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224016" y="236829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88608" y="230428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Rate: ~10-20%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快取失效 (Cache Invalidation) 是分散式系統中最難的問題之一 — 想清楚 TTL 再設計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訊息佇列：非同步解耦的利器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同步呼叫鏈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8424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17520" y="11887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63240" y="1188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10128" y="1188720"/>
            <a:ext cx="5394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28016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123444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06040" y="1444752"/>
            <a:ext cx="365760" cy="0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2560320" y="1289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1920240"/>
            <a:ext cx="4023360" cy="475488"/>
          </a:xfrm>
          <a:prstGeom prst="roundRect">
            <a:avLst>
              <a:gd name="adj" fmla="val 13462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92024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任一步驟慢 → 全部等待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任一步驟失敗 → 整個 Request 失敗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0040" y="2487168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總延遲 = 所有步驟之和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914400" cy="201168"/>
          </a:xfrm>
          <a:prstGeom prst="rect">
            <a:avLst/>
          </a:prstGeom>
          <a:solidFill>
            <a:srgbClr val="238636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4440" y="2743200"/>
            <a:ext cx="1097280" cy="201168"/>
          </a:xfrm>
          <a:prstGeom prst="rect">
            <a:avLst/>
          </a:prstGeom>
          <a:solidFill>
            <a:srgbClr val="D29922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31720" y="2743200"/>
            <a:ext cx="1280160" cy="201168"/>
          </a:xfrm>
          <a:prstGeom prst="rect">
            <a:avLst/>
          </a:prstGeom>
          <a:solidFill>
            <a:srgbClr val="F85149"/>
          </a:solidFill>
          <a:ln w="6350">
            <a:solidFill>
              <a:srgbClr val="0D111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訊息佇列（非同步）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90118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8289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Service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72200" y="1325880"/>
            <a:ext cx="54864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6126480" y="1170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914400"/>
            <a:ext cx="118872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766560" y="969264"/>
            <a:ext cx="11887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821424" y="1342339"/>
            <a:ext cx="10789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803136" y="1570939"/>
            <a:ext cx="11155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RabbitMQ/Kafka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001000" y="11155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229600" y="8686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8686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22208" y="8686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01000" y="15727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229600" y="13258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75320" y="13258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22208" y="13258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001000" y="2029968"/>
            <a:ext cx="18288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8229600" y="178308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75320" y="178308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522208" y="178308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 訂單→通知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657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非同步寄信  ·  用戶無需等待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461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削峰填谷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3375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瞬間大量請求  ·  Queue緩衝消化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17920" y="260604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9360" y="263347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服務解耦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09360" y="289864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各服務獨立Scale  ·  互不影響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完整分散式架構：你現在需要維運什麼？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9/10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864108" cy="822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18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720" y="713232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68680" y="62179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62179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(1000+)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377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A7F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☁️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70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520440" y="621792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62179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🛡️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813048" y="621792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554480" y="98755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0" name="Text 18"/>
          <p:cNvSpPr/>
          <p:nvPr/>
        </p:nvSpPr>
        <p:spPr>
          <a:xfrm>
            <a:off x="45720" y="1225296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868680" y="1133856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113385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61288" y="1133856"/>
            <a:ext cx="14996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(HA Pair)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149047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22960" y="154533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1F6FEB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14400" y="139903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1F6F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139903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×3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91440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0700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965960" y="163677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163677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58568" y="163677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nginx-02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54480" y="208483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822960" y="2139696"/>
            <a:ext cx="2103120" cy="530352"/>
          </a:xfrm>
          <a:prstGeom prst="roundRect">
            <a:avLst>
              <a:gd name="adj" fmla="val 1724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14400" y="1993392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" y="1993392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×3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1440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20700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965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11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258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0896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5468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340156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297680" y="223113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43400" y="223113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📋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90288" y="223113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1554480" y="2679192"/>
            <a:ext cx="0" cy="146304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868680" y="2825496"/>
            <a:ext cx="12801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14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1161288" y="2825496"/>
            <a:ext cx="9509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(W)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240280" y="29443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replication →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06324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10896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35584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1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25196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4456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440680" y="282549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0" y="282549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733288" y="282549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 3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126480" y="6400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你在維運的機器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217920" y="1005840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55080" y="10058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CDN/WAF/LB ×3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321040" y="10058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6217920" y="1481328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1F6FE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55080" y="148132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Frontend+Backend ×6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321040" y="1481328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6217920" y="1956816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E3620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55080" y="195681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Primary+Replicas ×4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321040" y="1956816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6217920" y="2432304"/>
            <a:ext cx="2560320" cy="411480"/>
          </a:xfrm>
          <a:prstGeom prst="roundRect">
            <a:avLst>
              <a:gd name="adj" fmla="val 15556"/>
            </a:avLst>
          </a:prstGeom>
          <a:solidFill>
            <a:srgbClr val="161B22"/>
          </a:solidFill>
          <a:ln w="9525">
            <a:solidFill>
              <a:srgbClr val="6E40C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55080" y="2432304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Redis+RabbitMQ ×2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321040" y="2432304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6126480" y="294436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26480" y="2944368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台機器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274320" y="340156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447288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每台機器設定各不相同、環境飄移 — 部署靠手動 SSH，每次都是一場冒險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7132320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32320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626096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626096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設定漂移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8119872" y="3474720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119872" y="3502152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部署惡夢：維運複雜度爆炸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19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😱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環境不一致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Dev: Mac + Python 3.9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Staging: Ubuntu + Python 3.8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Prod: CentOS + Python 3.6 (!!)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92040" y="704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394960" y="7040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更新困難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11887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15台機器逐一SSH更新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更新中失敗 → 版本不一致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8366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需要停機維護窗口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23113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每次部署都提心吊膽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設定管理混亂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DB密碼寫死在程式碼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各機器設定微妙不同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沒有版本控管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新人入職需一週搞懂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78892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92040" y="2898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🤯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394960" y="289864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Dev/Prod 落差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937760" y="3383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Dev本機 vs 15台Prod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37760" y="373075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本機測試通過 → Prod爆炸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407822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「It works on my machine」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42569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除錯難度 ×10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小結：問題累積，需要新思維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20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347472"/>
          </a:xfrm>
          <a:prstGeom prst="roundRect">
            <a:avLst>
              <a:gd name="adj" fmla="val 13158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5943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34640" y="594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解決了什麼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60720" y="594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帶來的代價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96012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96012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Load Balancer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834640" y="96012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流量分散、高可用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96012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黏性問題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307592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1307592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Redis Session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834640" y="13075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實現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130759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本身要 HA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655064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1655064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Read Replica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34640" y="1655064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讀取效能提升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1655064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 Lag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002536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002536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Cache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34640" y="2002536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效能大幅提升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2002536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快取失效複雜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350008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381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50008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Message Queue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235000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非同步解耦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760720" y="2350008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最終一致性問題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2697480"/>
            <a:ext cx="8595360" cy="329184"/>
          </a:xfrm>
          <a:prstGeom prst="roundRect">
            <a:avLst>
              <a:gd name="adj" fmla="val 11111"/>
            </a:avLst>
          </a:prstGeom>
          <a:solidFill>
            <a:srgbClr val="0D1117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697480"/>
            <a:ext cx="2286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分散式架構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34640" y="269748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高可用、可擴展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760720" y="2697480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維運 15+ 台機器！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621792"/>
            <a:ext cx="1920240" cy="27432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621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10/10 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74320" y="3200400"/>
            <a:ext cx="8595360" cy="731520"/>
          </a:xfrm>
          <a:prstGeom prst="roundRect">
            <a:avLst>
              <a:gd name="adj" fmla="val 10000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這樣下去不行了！15 台機器各自獨立設定 — 部署一次靠手動 SSH，版本飄移是常態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" y="4041648"/>
            <a:ext cx="8595360" cy="749808"/>
          </a:xfrm>
          <a:prstGeom prst="roundRect">
            <a:avLst>
              <a:gd name="adj" fmla="val 9756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416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Part 3 預告：Container 技術如何把這一切簡化 — 統一打包、環境一致、秒級部署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2026-03-16T15:22:55Z</dcterms:created>
  <dcterms:modified xsi:type="dcterms:W3CDTF">2026-03-16T15:22:55Z</dcterms:modified>
</cp:coreProperties>
</file>