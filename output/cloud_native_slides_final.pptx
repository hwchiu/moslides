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notesMasterIdLst>
    <p:notesMasterId r:id="rId14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Deployment in Practice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evolution from monolithic deployment to Cloud Native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274320"/>
            <a:ext cx="9144" cy="448056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59436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914400"/>
            <a:ext cx="219456" cy="219456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14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93208" y="685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Evolution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93208" y="9784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Server → Three-Tier → Distributed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55280" y="90525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9052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874520"/>
            <a:ext cx="219456" cy="219456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8745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93208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93208" y="19385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 / Session / DB Replica / Cache / MQ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55280" y="186537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8653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51460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834640"/>
            <a:ext cx="219456" cy="219456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34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93208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Revolution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93208" y="289864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Compose · Registry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55280" y="282549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8254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42976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794760"/>
            <a:ext cx="219456" cy="219456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7947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93208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+ DevOps + SRE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93208" y="38587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Best Practices · CI/CD · Observability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955280" y="3785616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7856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Discipline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82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4A7FB5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The Complete Evolution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91440" cy="530352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219456" cy="219456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3167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51790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Evolution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417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 → Three-Tier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56232"/>
            <a:ext cx="91440" cy="530352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011680"/>
            <a:ext cx="219456" cy="219456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0116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19110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11226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0116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/ Session / DB Scaling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5059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50592"/>
            <a:ext cx="91440" cy="530352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606040"/>
            <a:ext cx="219456" cy="219456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6060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505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7066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Revolution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2606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 / Registry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4495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044952"/>
            <a:ext cx="91440" cy="53035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200400"/>
            <a:ext cx="219456" cy="219456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200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0998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3009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3200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App Design Principles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3931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639312"/>
            <a:ext cx="91440" cy="530352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3794760"/>
            <a:ext cx="219456" cy="219456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7947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38953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Integration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3794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GitOps · Deployment Strategies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3367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233672"/>
            <a:ext cx="91440" cy="53035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389120"/>
            <a:ext cx="219456" cy="219456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3891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" y="42885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448970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Closed Loop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69280" y="4389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SRE · Post-mortem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The Simplest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1/10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96012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669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96012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" y="1014984"/>
            <a:ext cx="118872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7744" y="1530706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" y="175930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35608" y="1554480"/>
            <a:ext cx="45720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89888" y="13807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13807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HTTP/80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65960" y="685800"/>
            <a:ext cx="6995160" cy="2377440"/>
          </a:xfrm>
          <a:prstGeom prst="roundRect">
            <a:avLst>
              <a:gd name="adj" fmla="val 3846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057400" y="539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539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ubuntu-01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94560" y="896112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950976"/>
            <a:ext cx="182880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249424" y="175199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31136" y="1980590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:80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87368" y="1737360"/>
            <a:ext cx="512064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069080" y="15636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15636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896112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950976"/>
            <a:ext cx="182880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18304" y="175199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0016" y="1980590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:8080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56248" y="1737360"/>
            <a:ext cx="512064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6537960" y="15636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5636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32320" y="896112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2320" y="950976"/>
            <a:ext cx="164592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87184" y="1751990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68896" y="198059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:5432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965960" y="2788920"/>
            <a:ext cx="6995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sharing a single machine: CPU / RAM / Disk / Network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3017520"/>
            <a:ext cx="4572000" cy="2011680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017520"/>
            <a:ext cx="4572000" cy="2011680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3108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3108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64592" y="3465576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4198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simple deployment — one machine handles frontend, backend, and database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4592" y="3858768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8130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colocated, making debugging and tuning easy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64592" y="4251960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a one-person team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64592" y="4645152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5994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machine specs when performance is insufficient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36592" y="3465576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34198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(SPOF)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36592" y="3858768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38130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component failure takes down the entire service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736592" y="4251960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56048" y="42062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component can be scaled independently to handle traffic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Journey of an HTTP Request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8288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traceroute  https://api.example.com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7772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832104"/>
            <a:ext cx="11887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7744" y="141914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0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" y="164774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enters URL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7772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832104"/>
            <a:ext cx="11887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75104" y="141914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56816" y="164774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Resolves IP address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0" y="7772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832104"/>
            <a:ext cx="11887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12464" y="141914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94176" y="164774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:443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 + routing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94960" y="7772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832104"/>
            <a:ext cx="11887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9824" y="141914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31536" y="164774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:8080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32320" y="7772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832104"/>
            <a:ext cx="11887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87184" y="141914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68896" y="164774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:5432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store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435608" y="1261872"/>
            <a:ext cx="420624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71600" y="10881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10881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Query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172968" y="1261872"/>
            <a:ext cx="420624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3108960" y="10881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10881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:443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10328" y="1261872"/>
            <a:ext cx="420624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846320" y="10881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0881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pass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56248" y="1261872"/>
            <a:ext cx="512064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6537960" y="10881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10881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371600" y="2331720"/>
            <a:ext cx="612648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dash"/>
            <a:headEnd type="arrow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3520440" y="2103120"/>
            <a:ext cx="182880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200 OK (JSON)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2606040"/>
            <a:ext cx="8778240" cy="658368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624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latency_breakdown = {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2834640"/>
            <a:ext cx="643738" cy="146304"/>
          </a:xfrm>
          <a:prstGeom prst="roundRect">
            <a:avLst>
              <a:gd name="adj" fmla="val 18750"/>
            </a:avLst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990088"/>
            <a:ext cx="6803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~5ms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00354" y="2834640"/>
            <a:ext cx="983894" cy="146304"/>
          </a:xfrm>
          <a:prstGeom prst="roundRect">
            <a:avLst>
              <a:gd name="adj" fmla="val 1875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0354" y="2990088"/>
            <a:ext cx="102047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~20ms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020824" y="2834640"/>
            <a:ext cx="1239012" cy="146304"/>
          </a:xfrm>
          <a:prstGeom prst="roundRect">
            <a:avLst>
              <a:gd name="adj" fmla="val 18750"/>
            </a:avLst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20824" y="2990088"/>
            <a:ext cx="12755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~40ms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96412" y="2834640"/>
            <a:ext cx="2089404" cy="146304"/>
          </a:xfrm>
          <a:prstGeom prst="roundRect">
            <a:avLst>
              <a:gd name="adj" fmla="val 18750"/>
            </a:avLst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6412" y="2990088"/>
            <a:ext cx="21259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~80ms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22392" y="2834640"/>
            <a:ext cx="3364992" cy="146304"/>
          </a:xfrm>
          <a:prstGeom prst="roundRect">
            <a:avLst>
              <a:gd name="adj" fmla="val 18750"/>
            </a:avLst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22392" y="2990088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+ Network ~200ms+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4320" y="3401568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4198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 monolithic architecture, all layers share resources.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" y="362102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slow layer blocks the entire request chain — hotspots: N+1 queries, unindexed lookups, blocking I/O.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82880" y="39776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" y="3977640"/>
            <a:ext cx="2834640" cy="3657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2608" y="40690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92608" y="432511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~5ms avg; reduced by OS / browser caching.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controls how long cached records live.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154680" y="39776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54680" y="3977640"/>
            <a:ext cx="2834640" cy="36576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64408" y="40690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Processing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264408" y="432511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and external I/O 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throughput hotspots.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26480" y="39776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26480" y="3977640"/>
            <a:ext cx="2834640" cy="36576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36208" y="406908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36208" y="432511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query patterns set tail latency.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 ANALYZE to find slow queries.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Expansion: Separate Database Server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66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TWO-MACHINE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" y="13716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" y="1426464"/>
            <a:ext cx="73152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" y="1751990"/>
            <a:ext cx="6217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3736" y="198059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1828800"/>
            <a:ext cx="5029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91540" y="16550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" y="16550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463040" y="777240"/>
            <a:ext cx="3200400" cy="2011680"/>
          </a:xfrm>
          <a:prstGeom prst="roundRect">
            <a:avLst>
              <a:gd name="adj" fmla="val 4545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554480" y="630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630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app-server-01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0" y="10058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0" y="1060704"/>
            <a:ext cx="237744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83664" y="1814170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65376" y="2042770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+ Backend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+ FastAPI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822960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816602" y="1655064"/>
            <a:ext cx="699516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6602" y="1655064"/>
            <a:ext cx="699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:5432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69280" y="777240"/>
            <a:ext cx="3200400" cy="2011680"/>
          </a:xfrm>
          <a:prstGeom prst="roundRect">
            <a:avLst>
              <a:gd name="adj" fmla="val 4545"/>
            </a:avLst>
          </a:prstGeom>
          <a:ln w="12700">
            <a:solidFill>
              <a:srgbClr val="C4804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760720" y="630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C480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630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db-server-01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35040" y="10058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1060704"/>
            <a:ext cx="237744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089904" y="1814170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71616" y="2042770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:5432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Dedicated Machine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Data Backup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machine can be snapshotted independently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restarts without data loss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responsibilities, reduced failure scope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network latency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Same-host IPC → cross-machine TCP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Single Point of Failure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App or DB going down causes service outage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Frontend + Backend + Database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740664"/>
            <a:ext cx="109728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" y="1351483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35608" y="1463040"/>
            <a:ext cx="420624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371600" y="128930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2893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HTTP/443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0240" y="6858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20240" y="740664"/>
            <a:ext cx="155448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75104" y="1494130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56816" y="172273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38728" y="1508760"/>
            <a:ext cx="457200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493008" y="13350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3350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69080" y="6858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69080" y="740664"/>
            <a:ext cx="155448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23944" y="1494130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05656" y="172273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87568" y="1508760"/>
            <a:ext cx="457200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641848" y="13350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13350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17920" y="6858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740664"/>
            <a:ext cx="1554480" cy="715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72784" y="1494130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54496" y="172273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2024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/ Reverse Proxy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908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/ API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concerns, independent scaling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can scale separately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tech stack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can use its most suitable technology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order issues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Backend → Frontend; wrong order = failure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dependency hell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across three repos must match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Challenges of Three-Tier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766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💣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Order Landmines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start DB first, then 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Then start 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order → entire service goes 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56692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6766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1133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Dependency Hell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499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v2.1 depends on Backend API v3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v3 depends on DB Schema v5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version mismatch → everything breaks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8712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1148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Inconsistency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Dev: Mac OS + brew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Prod: Ubuntu 20.04 + apt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"It works on my machine!"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61488"/>
            <a:ext cx="4114800" cy="2057400"/>
          </a:xfrm>
          <a:prstGeom prst="roundRect">
            <a:avLst>
              <a:gd name="adj" fmla="val 5333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8712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⛔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9204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Prerequisites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694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stored locally → can't go multi-node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cache → data differs per machine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file writes → data on one machine only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System Bottlenecks?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Bottlenecks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66160" y="68580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685800"/>
            <a:ext cx="73152" cy="658368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77724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74066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Saturation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99669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requests slowing down | Tools: top, htop, Prometheus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46304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463040"/>
            <a:ext cx="73152" cy="658368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55448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60520" y="151790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Exhaustion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60520" y="177393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OOM kills | Tools: free -m, memory_usage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240280"/>
            <a:ext cx="73152" cy="658368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33172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💿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60520" y="229514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 Bottleneck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255117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slow DB queries | Tools: iostat, pg_stat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301752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017520"/>
            <a:ext cx="73152" cy="65836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10896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60520" y="307238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Bandwidth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332841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slow large file transfers | Tools: iftop, netstat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3794760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6160" y="3794760"/>
            <a:ext cx="73152" cy="658368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88620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60520" y="384962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Queries (Most Common)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60520" y="410565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Symptoms: high API P99 | Tools: EXPLAIN ANALYZE, slow_log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Measure before optimizing — acting without data is guessing. Profile first, optimize second.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Start Thinking About Scaling?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795528"/>
            <a:ext cx="2468880" cy="79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70%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65872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for 5+ minutes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1475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occasional spike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795528"/>
            <a:ext cx="2468880" cy="79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&gt; 1s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165872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Tail Latency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1475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noticing lag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858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795528"/>
            <a:ext cx="2468880" cy="79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&gt; 0.1%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165872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Over Threshold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91475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or timeouts increasing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42616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mistake: premature scaling — start with code optimization (indexes, caching, queries); don't add machines at the first sign of trouble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 These First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indexes (fastest, cheapest)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Introduce Redis caching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N+1 queries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CDN for static assets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Then Consider Scale 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758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the bottleneck is truly insufficient capacity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502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must be designed stateless first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2245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a Load Balancer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vs Scale Out: Two Scaling Strategies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02920"/>
            <a:ext cx="9144" cy="4434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Scale Up (Vertical Scaling)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A807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06424"/>
            <a:ext cx="8229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" y="1479499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1708099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vCPU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5920" y="96012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45920" y="1014984"/>
            <a:ext cx="100584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00784" y="1483157"/>
            <a:ext cx="8961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2496" y="1711757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vCPU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1325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34640" y="8229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877824"/>
            <a:ext cx="123444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89504" y="1464869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71216" y="1693469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vCPU 💸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0" y="868680"/>
            <a:ext cx="320040" cy="1097280"/>
          </a:xfrm>
          <a:prstGeom prst="roundRect">
            <a:avLst>
              <a:gd name="adj" fmla="val 14286"/>
            </a:avLst>
          </a:prstGeom>
          <a:ln w="12700">
            <a:solidFill>
              <a:srgbClr val="C4605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096512" y="8046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267712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33172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3225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30428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Required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" y="24963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upgrade machine specs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871216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9260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" y="290779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Cost Growth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" y="3099816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machines are expensive and still a SPOF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49300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355701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54787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" y="352958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Limits Exist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512" y="372160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downtime to upgrade; has a ceiling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Scale Out (Horizontal Scaling)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10058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8229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82296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10528" y="82296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60720" y="1024128"/>
            <a:ext cx="457200" cy="9144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6217920" y="13716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137160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10528" y="137160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60720" y="1572768"/>
            <a:ext cx="457200" cy="9144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62179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192024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10528" y="192024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760720" y="2121408"/>
            <a:ext cx="457200" cy="9144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4754880" y="2267712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28032" y="233172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23225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148072" y="2304288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Cost Growth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148072" y="249631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fleet with small machines for high flexibility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2871216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28032" y="29352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29260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48072" y="2907792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Downtime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148072" y="3099816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add/remove nodes to handle traffic peaks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349300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28032" y="355701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54787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48072" y="352958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App Must Be Stateless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148072" y="372160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local cache, local file writes → all need redesign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Design: The Prerequisite for Scale 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02920"/>
            <a:ext cx="9144" cy="4434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Stateful — Cannot Scale 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43584"/>
            <a:ext cx="91440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0624" y="1592885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44168" y="1673352"/>
            <a:ext cx="36576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764792" y="1188720"/>
            <a:ext cx="82296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64792" y="1243584"/>
            <a:ext cx="82296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19656" y="1592885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8686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923544"/>
            <a:ext cx="10972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89504" y="1225296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640" y="169164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834640" y="1746504"/>
            <a:ext cx="10972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89504" y="2048256"/>
            <a:ext cx="9875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87752" y="1161288"/>
            <a:ext cx="246888" cy="137160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587752" y="1417320"/>
            <a:ext cx="246888" cy="502920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274320" y="2514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 can't find Session → user gets logged out!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85292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8437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825496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 in local memory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37413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3649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334670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must use Sticky Session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" y="353872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down = all its users logged 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Stateless — Free to Scale Out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11887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1243584"/>
            <a:ext cx="91440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901184" y="1592885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24728" y="1673352"/>
            <a:ext cx="36576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245352" y="1188720"/>
            <a:ext cx="82296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45352" y="1243584"/>
            <a:ext cx="82296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00216" y="1592885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78040" y="822960"/>
            <a:ext cx="1508760" cy="1600200"/>
          </a:xfrm>
          <a:prstGeom prst="roundRect">
            <a:avLst>
              <a:gd name="adj" fmla="val 6061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269480" y="96012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96012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62088" y="96012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69480" y="141732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0" y="141732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562088" y="141732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68312" y="1207008"/>
            <a:ext cx="201168" cy="146304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7068312" y="1435608"/>
            <a:ext cx="201168" cy="201168"/>
          </a:xfrm>
          <a:prstGeom prst="line">
            <a:avLst/>
          </a:prstGeom>
          <a:noFill/>
          <a:ln w="12700">
            <a:solidFill>
              <a:srgbClr val="8B6AB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7589520" y="256032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89520" y="261518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644384" y="298825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26096" y="321685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Store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29600" y="1371600"/>
            <a:ext cx="9144" cy="1188720"/>
          </a:xfrm>
          <a:prstGeom prst="line">
            <a:avLst/>
          </a:prstGeom>
          <a:noFill/>
          <a:ln w="12700">
            <a:solidFill>
              <a:srgbClr val="8B6AB5"/>
            </a:solidFill>
            <a:prstDash val="dash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754880" y="27889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28032" y="285292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28437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48072" y="2825496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centralized in Redis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331012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28032" y="337413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3649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148072" y="334670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server can handle any request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148072" y="353872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distributes freely; servers can be added or removed anytime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3858768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28032" y="39227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913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48072" y="3895344"/>
            <a:ext cx="3529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watch out: local cache, local file writes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148072" y="408736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must be externalized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Summary: Architecture Evolution 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675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Single-Server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setup, fast to start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SPOF — Single Point of Failure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scale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6675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28032" y="106984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Separation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separated from application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backup and optimization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901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Still 2 SPOFs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907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" y="33101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301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separation of concerns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Flexible tech stack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1422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dependencies grow complex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907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28032" y="33101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Readiness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6301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Load Balancer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must be stateless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41422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Ready? → Part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48280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 2: The Challenges of Scale Out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Balancer: Core Traffic Distribution Component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77724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77724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28016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2801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28016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78308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7830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178308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80160" y="950976"/>
            <a:ext cx="201168" cy="9144"/>
          </a:xfrm>
          <a:prstGeom prst="line">
            <a:avLst/>
          </a:prstGeom>
          <a:noFill/>
          <a:ln w="19050">
            <a:solidFill>
              <a:srgbClr val="90888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80160" y="1453896"/>
            <a:ext cx="201168" cy="9144"/>
          </a:xfrm>
          <a:prstGeom prst="line">
            <a:avLst/>
          </a:prstGeom>
          <a:noFill/>
          <a:ln w="19050">
            <a:solidFill>
              <a:srgbClr val="90888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280160" y="1956816"/>
            <a:ext cx="201168" cy="9144"/>
          </a:xfrm>
          <a:prstGeom prst="line">
            <a:avLst/>
          </a:prstGeom>
          <a:noFill/>
          <a:ln w="19050">
            <a:solidFill>
              <a:srgbClr val="908880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554480" y="10058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1060704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9344" y="1719072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91056" y="1947672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Robin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Least Conn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37160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CE6DD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124712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CE6DD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12264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CE6DD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12264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Hash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99816" y="2487168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CE6DD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9816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0" y="548640"/>
            <a:ext cx="1828800" cy="2578608"/>
          </a:xfrm>
          <a:prstGeom prst="roundRect">
            <a:avLst>
              <a:gd name="adj" fmla="val 5000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91840" y="4023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4023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GROUP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37560" y="65836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37560" y="713232"/>
            <a:ext cx="1463040" cy="302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392424" y="1000719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74136" y="1229319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37560" y="13716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37560" y="1426464"/>
            <a:ext cx="1463040" cy="302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392424" y="1713951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74136" y="1942551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2084832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337560" y="2139696"/>
            <a:ext cx="1463040" cy="302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392424" y="2427183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374136" y="2655783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71800" y="950976"/>
            <a:ext cx="32004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971800" y="1664208"/>
            <a:ext cx="32004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2971800" y="2377440"/>
            <a:ext cx="32004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5577840" y="11887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577840" y="1243584"/>
            <a:ext cx="155448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632704" y="1711757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14416" y="1940357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Primary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46320" y="950976"/>
            <a:ext cx="685800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4846320" y="1664208"/>
            <a:ext cx="685800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846320" y="2377440"/>
            <a:ext cx="685800" cy="9144"/>
          </a:xfrm>
          <a:prstGeom prst="line">
            <a:avLst/>
          </a:prstGeom>
          <a:noFill/>
          <a:ln w="19050">
            <a:solidFill>
              <a:srgbClr val="C4804A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Traffic Distribution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single-node overload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(HA)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server fails, LB auto-excludes it — no service interruption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Stickiness Issue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may be routed to different servers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Itself Needs HA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failure → entire service goes down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Pitfalls: Session State Issues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Session Stickiness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05156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63040" y="10515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0515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55648" y="1051560"/>
            <a:ext cx="585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0" y="1325880"/>
            <a:ext cx="4572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514600" y="96012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9601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Server A  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1252728"/>
            <a:ext cx="4572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514600" y="17373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7373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Server 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23160" y="2029968"/>
            <a:ext cx="4572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320040" y="2514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#2 → Server B → Session not found → Logged out!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502920"/>
            <a:ext cx="9144" cy="448056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Three Solutions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JWT Token (Stateless)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4081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on client, server is stateless | Recommended for REST 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057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Redis Centralized Session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368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stored centrally in Redis, shared by all servers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17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Sticky Session (Not Recommended ⚠️)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328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binds to fixed IP | Loses scale out flexibility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Modern architectures prefer the JWT + Redis combo — making servers truly stateless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Scaling: Read Replica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011680" cy="2286000"/>
          </a:xfrm>
          <a:prstGeom prst="roundRect">
            <a:avLst>
              <a:gd name="adj" fmla="val 4545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539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39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9144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91440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14173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173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" y="141732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92024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20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" y="192024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1225296"/>
            <a:ext cx="71323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385212" y="1051560"/>
            <a:ext cx="606247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85212" y="1051560"/>
            <a:ext cx="6062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31720" y="1956816"/>
            <a:ext cx="713232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385212" y="1783080"/>
            <a:ext cx="606247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85212" y="1783080"/>
            <a:ext cx="6062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08960" y="731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08960" y="786384"/>
            <a:ext cx="16459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163824" y="1444752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45536" y="16733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Only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554480"/>
            <a:ext cx="22860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5074920" y="594360"/>
            <a:ext cx="1920240" cy="2423160"/>
          </a:xfrm>
          <a:prstGeom prst="roundRect">
            <a:avLst>
              <a:gd name="adj" fmla="val 4762"/>
            </a:avLst>
          </a:prstGeom>
          <a:ln w="12700">
            <a:solidFill>
              <a:srgbClr val="4A996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1663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12080" y="86868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868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04688" y="86868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0" y="141732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14173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04688" y="141732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196596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19659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04688" y="196596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1097280"/>
            <a:ext cx="36576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4800600" y="1645920"/>
            <a:ext cx="36576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4800600" y="2194560"/>
            <a:ext cx="36576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48" name="Text 46"/>
          <p:cNvSpPr/>
          <p:nvPr/>
        </p:nvSpPr>
        <p:spPr>
          <a:xfrm>
            <a:off x="274320" y="29260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replication — may have slight delay (Replication Lag)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3246120"/>
            <a:ext cx="4572000" cy="1783080"/>
          </a:xfrm>
          <a:prstGeom prst="rect">
            <a:avLst/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246120"/>
            <a:ext cx="4572000" cy="1783080"/>
          </a:xfrm>
          <a:prstGeom prst="rect">
            <a:avLst/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54880" y="33375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64592" y="3694176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Performance Boost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84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operations are reads — offloaded to replicas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4592" y="4187952"/>
            <a:ext cx="146304" cy="146304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Focuses on Writes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84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performance unaffected by reads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36592" y="3694176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56048" y="364845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956048" y="3840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data may lag behind primary by milliseconds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36592" y="4187952"/>
            <a:ext cx="146304" cy="146304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56048" y="4142232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Solve Write Bottleneck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956048" y="4334256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writes remain a primary-only problem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Caching Strategy: Outside to Inside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48640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48640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66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4864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CDN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61288"/>
            <a:ext cx="109728" cy="109728"/>
          </a:xfrm>
          <a:prstGeom prst="ellipse">
            <a:avLst/>
          </a:prstGeom>
          <a:solidFill>
            <a:srgbClr val="4A917E"/>
          </a:solidFill>
          <a:ln w="12700">
            <a:solidFill>
              <a:srgbClr val="4A91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972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(JS/CSS/images)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2984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days/weeks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63624"/>
            <a:ext cx="109728" cy="109728"/>
          </a:xfrm>
          <a:prstGeom prst="ellipse">
            <a:avLst/>
          </a:prstGeom>
          <a:solidFill>
            <a:srgbClr val="4A917E"/>
          </a:solidFill>
          <a:ln w="12700">
            <a:solidFill>
              <a:srgbClr val="4A91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49961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Cloudflare, CloudFront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65960"/>
            <a:ext cx="109728" cy="109728"/>
          </a:xfrm>
          <a:prstGeom prst="ellipse">
            <a:avLst/>
          </a:prstGeom>
          <a:solidFill>
            <a:srgbClr val="4A917E"/>
          </a:solidFill>
          <a:ln w="12700">
            <a:solidFill>
              <a:srgbClr val="4A91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0195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no backend contact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68296"/>
            <a:ext cx="109728" cy="109728"/>
          </a:xfrm>
          <a:prstGeom prst="ellipse">
            <a:avLst/>
          </a:prstGeom>
          <a:solidFill>
            <a:srgbClr val="4A917E"/>
          </a:solidFill>
          <a:ln w="12700">
            <a:solidFill>
              <a:srgbClr val="4A91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0428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~60-80%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39440" y="548640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9440" y="548640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9440" y="566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0064" y="54864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Redis Cache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7456" y="116128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2048" y="10972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caching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32048" y="12984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seconds/minutes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67456" y="156362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2048" y="149961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7456" y="196596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90195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Redis, Memcached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236829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230428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~30-50%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96000" y="548640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6000" y="548640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6000" y="566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16624" y="54864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In-Process Cache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24016" y="116128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8608" y="10972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data (config/constants)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88608" y="12984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seconds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24016" y="156362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608" y="149961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shared across servers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4016" y="196596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8608" y="190195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 handling for scale out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24016" y="236829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230428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~10-20%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Cache invalidation is one of the hardest problems in distributed systems — design your TTL strategy carefully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Queues: Async Decoupling Tool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Synchronous Call Chain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18872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11887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188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84248" y="118872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0" y="118872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188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18872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80160" y="1444752"/>
            <a:ext cx="36576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88720" y="127101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12710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06040" y="1444752"/>
            <a:ext cx="36576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514600" y="127101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2710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1920240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920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slow step → everything waits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failed step → entire request fails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24871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 latency = sum of all steps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914400" cy="201168"/>
          </a:xfrm>
          <a:prstGeom prst="rect">
            <a:avLst/>
          </a:prstGeom>
          <a:solidFill>
            <a:srgbClr val="5A9B6E"/>
          </a:solidFill>
          <a:ln w="6350">
            <a:solidFill>
              <a:srgbClr val="FFF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2743200"/>
            <a:ext cx="1097280" cy="201168"/>
          </a:xfrm>
          <a:prstGeom prst="rect">
            <a:avLst/>
          </a:prstGeom>
          <a:solidFill>
            <a:srgbClr val="B8892C"/>
          </a:solidFill>
          <a:ln w="6350">
            <a:solidFill>
              <a:srgbClr val="FFF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2743200"/>
            <a:ext cx="1280160" cy="201168"/>
          </a:xfrm>
          <a:prstGeom prst="rect">
            <a:avLst/>
          </a:prstGeom>
          <a:solidFill>
            <a:srgbClr val="C4605B"/>
          </a:solidFill>
          <a:ln w="6350">
            <a:solidFill>
              <a:srgbClr val="FFF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Message Queue (Async)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91440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96926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01184" y="134233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82896" y="157093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Service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72200" y="1325880"/>
            <a:ext cx="54864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172200" y="11521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152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66560" y="91440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969264"/>
            <a:ext cx="118872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21424" y="1342339"/>
            <a:ext cx="1078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03136" y="157093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RabbitMQ/Kafka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01000" y="1115568"/>
            <a:ext cx="18288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8229600" y="8686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868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22208" y="86868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01000" y="1572768"/>
            <a:ext cx="18288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8229600" y="13258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5320" y="13258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522208" y="132588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01000" y="2029968"/>
            <a:ext cx="18288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8229600" y="17830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17830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522208" y="178308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2606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Order→Notify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2898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email sending  ·  Users don't wait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46120" y="2606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3756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Peak Shaving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337560" y="2898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traffic spikes  ·  Queue absorbs the load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2606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2633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Service Decoupling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309360" y="2898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scale independently  ·  No mutual impact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Distributed Architecture: What You Now Need to Operate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" y="71323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68680" y="62179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6217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62179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(1000+)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62179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1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6217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☁️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621792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0440" y="621792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6217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🛡️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3048" y="621792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54480" y="987552"/>
            <a:ext cx="9144" cy="14630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45720" y="12252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68680" y="113385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13385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" y="1133856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(HA Pair)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54480" y="1490472"/>
            <a:ext cx="9144" cy="14630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22960" y="1545336"/>
            <a:ext cx="2103120" cy="530352"/>
          </a:xfrm>
          <a:prstGeom prst="roundRect">
            <a:avLst>
              <a:gd name="adj" fmla="val 17241"/>
            </a:avLst>
          </a:prstGeom>
          <a:ln w="12700">
            <a:solidFill>
              <a:srgbClr val="5B8DB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0" y="139903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B8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39903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×3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14400" y="163677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16367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07008" y="163677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nginx-01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65960" y="163677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63677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58568" y="163677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nginx-02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554480" y="2084832"/>
            <a:ext cx="9144" cy="14630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822960" y="2139696"/>
            <a:ext cx="2103120" cy="530352"/>
          </a:xfrm>
          <a:prstGeom prst="roundRect">
            <a:avLst>
              <a:gd name="adj" fmla="val 17241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914400" y="199339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199339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×3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1440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0700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6596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5856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0156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97680" y="223113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43400" y="223113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90288" y="223113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554480" y="2679192"/>
            <a:ext cx="9144" cy="14630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868680" y="2825496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61288" y="2825496"/>
            <a:ext cx="950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(W)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240280" y="2944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replication →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063240" y="282549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355848" y="282549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51960" y="282549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44568" y="282549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40680" y="282549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282549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733288" y="282549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126480" y="6400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You Operate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217920" y="1005840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1005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CDN/WAF/LB ×3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321040" y="1005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6217920" y="1481328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14813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Frontend+Backend ×6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21040" y="1481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6217920" y="1956816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55080" y="195681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Primary+Replicas ×4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21040" y="19568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6217920" y="2432304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55080" y="24323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Redis+RabbitMQ ×2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321040" y="243230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6126480" y="294436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29443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Machines</a:t>
            </a:r>
            <a:endParaRPr lang="en-US" sz="2000" dirty="0"/>
          </a:p>
        </p:txBody>
      </p:sp>
      <p:sp>
        <p:nvSpPr>
          <p:cNvPr id="79" name="Shape 77"/>
          <p:cNvSpPr/>
          <p:nvPr/>
        </p:nvSpPr>
        <p:spPr>
          <a:xfrm>
            <a:off x="274320" y="340156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34472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Each machine configured differently, environments drift — deployment via manual SSH, every release is a gamble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7132320" y="3474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32320" y="3502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Inconsistency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626096" y="3474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6096" y="3502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119872" y="3474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19872" y="3502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Updates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Nightmare: Operations Complexity Explosion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704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7040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Inconsistency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Dev: Mac + Python 3.9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Staging: Ubuntu + Python 3.8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Prod: CentOS + Python 3.6 (!!)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"It works on my machine!"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436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704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94960" y="7040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Updates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SSH into 15 machines one by 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Mid-update failure → version mismatch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883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maintenance downtime window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231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deployment is nerve-wracking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2898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 Chaos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passwords hardcoded in source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machine's config subtly differs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078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version control for configs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425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hires need a week to understand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🤯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94960" y="2898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Dev/Prod Gap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dev vs 15 prod machines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Passes locally → blows up in prod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4078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"It works on my machine"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Debugging difficulty ×10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Summary: Problems Accumulate, Need New Thinking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594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5943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Incurred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381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01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Load Balancer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9601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distribution, HA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960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stickiness issue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307592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3810">
            <a:solidFill>
              <a:srgbClr val="D6C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075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Redis Session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3075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achieved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30759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itself needs HA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655064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381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550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Read Replica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16550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performance boost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16550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002536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381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0025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Cache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20025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perf improvement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20025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 complexity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350008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381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500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Message Queue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350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decoupling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35000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issues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697480"/>
            <a:ext cx="8595360" cy="329184"/>
          </a:xfrm>
          <a:prstGeom prst="roundRect">
            <a:avLst>
              <a:gd name="adj" fmla="val 11111"/>
            </a:avLst>
          </a:prstGeom>
          <a:solidFill>
            <a:srgbClr val="FFFDF8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697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Distributed 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26974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scalable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26974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15+ machines!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62179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621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10/10 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200400"/>
            <a:ext cx="8595360" cy="731520"/>
          </a:xfrm>
          <a:prstGeom prst="roundRect">
            <a:avLst>
              <a:gd name="adj" fmla="val 10000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This can't go on! 15 machines each configured independently — deployment via manual SSH, version drift is the norm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041648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Part 3 Preview: How container technology simplifies all of this — unified packaging, consistent environments, instant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Container? What Problems Does It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02920"/>
            <a:ext cx="9144" cy="4434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Containers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424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Dev (Mac)  —  Python 3.9 + brew Postgres 14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2984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brew install all dependencies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10512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47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Staging (Ubuntu 20.04)  —  Python 3.8 + apt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103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versions differ from Dev, random mysterious errors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Prod (CentOS 7)  —  Python 3.6 (!!) + yum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07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System-bundled Python, nearly impossible to upgrade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56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"It works on my machine!" — Version Hell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Containers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9601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81381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81381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74336" y="1069848"/>
            <a:ext cx="15727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1627632"/>
            <a:ext cx="457200" cy="9144"/>
          </a:xfrm>
          <a:prstGeom prst="line">
            <a:avLst/>
          </a:prstGeom>
          <a:noFill/>
          <a:ln w="19050">
            <a:solidFill>
              <a:srgbClr val="4A9B8E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720840" y="14538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4538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15200" y="960120"/>
            <a:ext cx="1417320" cy="1645920"/>
          </a:xfrm>
          <a:prstGeom prst="roundRect">
            <a:avLst>
              <a:gd name="adj" fmla="val 6452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0" y="1014984"/>
            <a:ext cx="141732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70064" y="1815998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51776" y="2044598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(Immutable Snapshot)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→ Runs identically on any host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9260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926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29260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2926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Server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98080" y="29260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2926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40156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5464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Consistent Env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55464" y="3730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Dev=Staging=Prod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340156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Startup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27064" y="3730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vs VM Minutes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543800" y="340156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98664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Version Control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98664" y="3730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= Rollback-Ready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43434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Container packages your app + all dependencies into an immutable Image — runs the same everywhere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Container: Architecture Deep Comparison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66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Virtual Machine (VM)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4241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6276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/ Runtime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67712" y="10058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04241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67712" y="13716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67712" y="16276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/ Runtime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9339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Guest OS 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67712" y="19933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99339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Guest OS 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67004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Hypervisor (VMware/KVM)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Host 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0156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Hardware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Boot: Minutes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4592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GB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7180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Strong (OS)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56692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66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1005840"/>
            <a:ext cx="1874520" cy="1627632"/>
          </a:xfrm>
          <a:prstGeom prst="roundRect">
            <a:avLst>
              <a:gd name="adj" fmla="val 3371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04241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00600" y="142646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16824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bundled in Image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48272" y="1005840"/>
            <a:ext cx="1874520" cy="1627632"/>
          </a:xfrm>
          <a:prstGeom prst="roundRect">
            <a:avLst>
              <a:gd name="adj" fmla="val 3371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104241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48272" y="142646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48272" y="16824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bundled in Image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00600" y="267004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061E18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 Runtime (Docker)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03580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Host 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340156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Hardware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Boot: Seconds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MB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5236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A1929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 Light (Process)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22452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2428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→ Sec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7472" y="4608576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Time: VM → Container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422452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42428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→ MB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64992" y="4608576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9360" y="4224528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4242816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→ Light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82512" y="4608576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Core Concepts: Image → Container → Registry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937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937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49808"/>
            <a:ext cx="2075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399032"/>
            <a:ext cx="822960" cy="9144"/>
          </a:xfrm>
          <a:prstGeom prst="line">
            <a:avLst/>
          </a:prstGeom>
          <a:noFill/>
          <a:ln w="19050">
            <a:solidFill>
              <a:srgbClr val="4A9B8E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759202" y="1225296"/>
            <a:ext cx="699516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9202" y="1225296"/>
            <a:ext cx="699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11880" y="713232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768096"/>
            <a:ext cx="14173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66744" y="1545336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48456" y="177393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 Snapshot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0" y="1399032"/>
            <a:ext cx="7772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178933" y="1225296"/>
            <a:ext cx="660654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8933" y="1225296"/>
            <a:ext cx="6606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89320" y="713232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768096"/>
            <a:ext cx="14173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44184" y="1545336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25896" y="177393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Instance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(Multiple OK)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0" y="1399032"/>
            <a:ext cx="59436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520940" y="12252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0940" y="1225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push/pull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183880" y="713232"/>
            <a:ext cx="822960" cy="160020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83880" y="768096"/>
            <a:ext cx="82296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38744" y="154533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0456" y="177393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Hub/ECR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578608"/>
            <a:ext cx="8595360" cy="320040"/>
          </a:xfrm>
          <a:prstGeom prst="roundRect">
            <a:avLst>
              <a:gd name="adj" fmla="val 17143"/>
            </a:avLst>
          </a:prstGeom>
          <a:solidFill>
            <a:srgbClr val="ECE6DD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Docker Commands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94436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96265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myapp:v1.2.3 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296265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from Dockerfile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31012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32841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8080:8080 myapp:v1.2.3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32841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Container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67588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69417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69417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04164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05993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&lt;container-id&gt;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05993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Container logs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40740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442569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&lt;container-id&gt; bash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43600" y="442569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into Container for debugging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Multi-Container Apps in One Command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4251960"/>
          </a:xfrm>
          <a:prstGeom prst="roundRect">
            <a:avLst>
              <a:gd name="adj" fmla="val 2273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3767328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["80:80"]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[backend]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./backend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DB_URL: postgresql://db/app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[db, redis]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pgdata:/var/lib/postgresql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redis:7-alpine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pgdata: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07408" y="2487168"/>
            <a:ext cx="329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4114800" cy="4114800"/>
          </a:xfrm>
          <a:prstGeom prst="roundRect">
            <a:avLst>
              <a:gd name="adj" fmla="val 2222"/>
            </a:avLst>
          </a:prstGeom>
          <a:ln w="12700">
            <a:solidFill>
              <a:srgbClr val="4A9B8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84632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83480" y="9144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96926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38344" y="141366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0056" y="164226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40880" y="9144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96926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95744" y="141366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77456" y="164226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83480" y="233172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38658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38344" y="283098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0056" y="305958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40880" y="233172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238658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95744" y="283098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77456" y="305958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:6379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37960" y="1325880"/>
            <a:ext cx="457200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492240" y="11521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152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33288" y="1901952"/>
            <a:ext cx="9144" cy="402336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903720" y="2880360"/>
            <a:ext cx="10972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684264" y="27066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27066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One command does it all: docker compose up -d — No more manually starting multiple services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Registry: Image Repository &amp; Version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23444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300277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28877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Changes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08760" y="1188720"/>
            <a:ext cx="7315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563624" y="101498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3624" y="101498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31720" y="658368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713232"/>
            <a:ext cx="123444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86584" y="1300277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68296" y="1528877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1188720"/>
            <a:ext cx="7315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712464" y="101498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01498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80560" y="658368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713232"/>
            <a:ext cx="137160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35424" y="1300277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17136" y="1528877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 / GCR / Harbor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73152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998464" y="101498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101498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66560" y="658368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713232"/>
            <a:ext cx="21031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1424" y="1300277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03136" y="1528877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app-server-01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app-server-02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app-server-03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2331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Strategy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26060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642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:latest — Avoid in Production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trace back; unknown which version is running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6060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642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:v1.2.3 (Semantic Version) — Recommended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version, rollback anytime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547872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584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:git-abc1234 (Commit Hash)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maps to an immutable Image, common in CI/CD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547872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84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:20240315-abc1234 (Date+Hash)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Hash for readability and uniqueness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49884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44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Never use :latest in Prod — you can never be sure which version 'latest' actually is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Containerization: From Operations Nightmare to Consistent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02920"/>
            <a:ext cx="9144" cy="2852928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Containerization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18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69848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65376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60904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56432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3EDE0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69848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3EDE0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65376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3EDE0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65376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660904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3EDE0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60904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56432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3EDE0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1.14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69848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848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1.16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65376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65376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1.18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60904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1.20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56432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F8ECEC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1965960"/>
            <a:ext cx="4023360" cy="237744"/>
          </a:xfrm>
          <a:prstGeom prst="roundRect">
            <a:avLst>
              <a:gd name="adj" fmla="val 19231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19659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SSH deploy scripts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240280"/>
            <a:ext cx="4023360" cy="237744"/>
          </a:xfrm>
          <a:prstGeom prst="roundRect">
            <a:avLst>
              <a:gd name="adj" fmla="val 19231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2402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host configured differently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2514600"/>
            <a:ext cx="4023360" cy="237744"/>
          </a:xfrm>
          <a:prstGeom prst="roundRect">
            <a:avLst>
              <a:gd name="adj" fmla="val 19231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5146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"Only I know how to restart it"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97180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15+ hosts × N different configs = Operations Hell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Containerization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0600" y="868680"/>
            <a:ext cx="3977640" cy="2194560"/>
          </a:xfrm>
          <a:prstGeom prst="roundRect">
            <a:avLst>
              <a:gd name="adj" fmla="val 4167"/>
            </a:avLst>
          </a:prstGeom>
          <a:ln w="12700">
            <a:solidFill>
              <a:srgbClr val="4A9B8E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892040" y="7223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B8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7223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ON ALL HOSTS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983480" y="1024128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83480" y="1078992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5038344" y="1461577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nginx:1.25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20056" y="1690177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58000" y="1024128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858000" y="1078992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912864" y="1461577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backend:v2.1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894576" y="1690177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83480" y="1993392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F5F1EB"/>
          </a:solidFill>
          <a:ln w="19050">
            <a:solidFill>
              <a:srgbClr val="C4804A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983480" y="2048256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5038344" y="2430841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postgres:16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020056" y="2659441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858000" y="1993392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858000" y="2048256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912864" y="2430841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redis:7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894576" y="2659441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54880" y="29718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 Container Images, identical across all environments — Dev = Staging = Prod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3401568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340156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9/10  →  5/10  ↓  Operations Nightmare  →  Standardized Deployment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7432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1513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Consistent Env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65760" y="4434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= Staging = Prod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24612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37560" y="41513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Version Locked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337560" y="4434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= instant rollback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21792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41513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Rapid Deployment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309360" y="4434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+ run in seconds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App: Modern Application Design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12-Factor App?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principles distilled by Heroku engineers to help applications thrive in Cloud Native environments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Codebase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many deploys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Dependencies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dep declaration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11887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 environment vars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993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Backing Services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DB/MQ/Cache as attached resources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1993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Build/Release/Run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18688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build → release → run stages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1993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53328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processes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7980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843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Port Binding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Self-contained: export via 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08960" y="27980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2843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Concurrency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1868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process model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27980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28437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Disposability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5332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startup, graceful shutdown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6027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648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Dev/Prod Parity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mirrors production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08960" y="36027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3648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Logs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18688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as event streams (stdout)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3602736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36484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Admin Processes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53328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 one-off processes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These 12 principles are guidelines, not rules — but following them lets your app run naturally in Container/Cloud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1-3: Codebase, Dependencies, Config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Codebase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 = One application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multiple apps in a single repo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environments = Same codebase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strategy: main/dev/feature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always maps to Prod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Different branch per environment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Dependencies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204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declare all dependencies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3204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/ package.json / go.mod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system-level package assumptions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3204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assume host has curl or zip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perfectly satisfy this factor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3204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is your dependency manifest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pip install without version pinning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60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config in environment variables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8860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DB_URL, API_KEY, PORT...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os.getenv('DB_URL')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8860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Kubernetes ConfigMap/Secret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Hardcoded config in source code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8860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config.dev.py / config.prod.py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must not be committed to version control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Storing config in env vars is the most impactful 12-Factor rule — the same image runs across dev/staging/prod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4-6: Backing Services, Build/Release/Run, Processes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C48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Backing 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DB/MQ/Cache = Attached resources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and third-party services treated equally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DB only requires changing the URL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URL/credential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Hardcoded localhost:5432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C4804A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DB_URL env var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Build/Release/Run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Source code → Executable artifact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Release: Build + Config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3204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version, immutable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Execute a specific Release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strictly separated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immutable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must be stateless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= Can scale freely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8860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prerequisite for Scale Out!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Session/State → External storage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88608" y="212140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DB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Storing sessions on local filesystem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JWT + Redis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Stateless Process (Factor 6) is the cornerstone of Scale Out — without it, horizontal scaling is impossible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7-9: Port Binding, Concurrency, Disposability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5B8D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Port Binding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includes its own HTTP server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1790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services via port binding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171907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Apache/Nginx required to run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Flask/FastAPI/Express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naturally satisfies this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PORT=8080 controlled via env var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Concurrency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via process types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Process × N = Scale Out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Process = Async tasks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232257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scales independently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32048" y="252374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× 5, Worker × 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supports this perfectly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Disposability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860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must start quickly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8860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10 seconds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SIGTERM → Finish current requests, then exit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are fine — fast restart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K8s are a perfect match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Disposability lets Kubernetes kill/restart your containers at any time — design it right, and there's nothing to worry about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10-12: Dev/Prod Parity, Logs, Admin Processes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Dev/Prod Parity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should closely mirror Prod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Dev uses SQLite, Prod uses Postgres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Docker Compose to replicate all services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the Dev → Deploy cycle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make parity easy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Logs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logs to stdout/stderr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manage log files yourself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platform collect them (FluentD, CloudWatch)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232257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(JSON)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32048" y="252374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search and analyze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/ docker logs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Admin Processes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admin tasks = Separate process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Migration: kubectl exec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Cleanup: Dedicated Job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admin scripts into the same Image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SSH into production machines directly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Logs as streams (Factor 11) enables ELK Stack / CloudWatch to centrally manage all container logs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Naturally Align with 12-Factor App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566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Docker Support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43800" y="566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93268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326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Codebase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932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in repo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43800" y="9326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2527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2527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Dependencies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2527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requirements.txt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2527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5727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15727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in docker-compose / K8s Secret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15727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89280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8928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Backing Services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189280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18928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221284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128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Build/Release/Run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22128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→ tag → run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22128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53288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5328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Processes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25328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Container = Scale Out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5328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8529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529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Port Binding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28529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+ -p flag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28529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317296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729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Concurrency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317296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×N / K8s replicas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317296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349300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4930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Disposability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1840" y="349300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start/stop quickly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43800" y="34930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81304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8130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Dev/Prod Parity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91840" y="38130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image, consistent environments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43800" y="38130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413308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5F1EB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330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Logs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91840" y="41330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logs / stdout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43800" y="41330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4453128"/>
            <a:ext cx="8595360" cy="301752"/>
          </a:xfrm>
          <a:prstGeom prst="roundRect">
            <a:avLst>
              <a:gd name="adj" fmla="val 15152"/>
            </a:avLst>
          </a:prstGeom>
          <a:solidFill>
            <a:srgbClr val="FFFDF8"/>
          </a:solidFill>
          <a:ln w="5080">
            <a:solidFill>
              <a:srgbClr val="D6CC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5312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Admin Processes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91840" y="44531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 / K8s Job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43800" y="44531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Containers don't just solve environment consistency — they nearly perfectly support all 12-Factor App principles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in Practice: A Compliant FastAPI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206240" cy="1280160"/>
          </a:xfrm>
          <a:prstGeom prst="roundRect">
            <a:avLst>
              <a:gd name="adj" fmla="val 7143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DB_URL = os.getenv('DATABASE_URL')  # Factor 3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@app.get('/health')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health():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{'status': 'ok'}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73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73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2029968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    # Factor 2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# Factor 7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"main:app", "--port", "8080"]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16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16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" y="3172968"/>
            <a:ext cx="39502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DATABASE_URL: postgresql://db/app  # Factor 3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['8080:8080']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       # Factor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594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are covered?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005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2 — Dep Declaration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600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6002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3 — Config via Env Vars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1945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194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6 — Stateless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788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788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9 — Fast Startup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005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4 — Backing Svc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1600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16002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7 — Port Binding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219456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2194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10 — Dev/Prod Parity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2788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2788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 11 — Stdout Log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12-Factor compliant app is inherently container-ready — this is the standard for modern Cloud Native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Summary: Well-Designed Cloud Native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675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App: Not Rules, but Distilled Wisdom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practices distilled from hundreds of apps by Heroku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factor addresses a real-world engineering pain point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77072" y="667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19476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23500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Naturally Align with 12-Factor — They Reinforce Each Other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dependencies with Dockerfile (Factor 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via environment variables (Factor 3)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Process = Scale Out (Factor 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77072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8595360" cy="1207008"/>
          </a:xfrm>
          <a:prstGeom prst="roundRect">
            <a:avLst>
              <a:gd name="adj" fmla="val 757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278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7472" y="363016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Automate Everything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5020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docker build/push is just the beginning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Pipelines automate deployment on every commit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4622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Part 5: DevOps and CI/CD Pipelines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77072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Preview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Breaking Down the Wall Between Dev and 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Dev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Rapidly develop new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Frequently merge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Push code at 5 PM Friday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96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"Ship it now!"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1737360" cy="621792"/>
          </a:xfrm>
          <a:prstGeom prst="roundRect">
            <a:avLst>
              <a:gd name="adj" fmla="val 14706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992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feature/week  ·  Dev Velocity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0" y="502920"/>
            <a:ext cx="9144" cy="4224528"/>
          </a:xfrm>
          <a:prstGeom prst="line">
            <a:avLst/>
          </a:prstGeom>
          <a:noFill/>
          <a:ln w="38100">
            <a:solidFill>
              <a:srgbClr val="C46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4224528" y="210312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THE WALL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118872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90288" y="118872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4114800" y="192024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590288" y="192024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headEnd type="arrow"/>
          </a:ln>
        </p:spPr>
      </p:sp>
      <p:sp>
        <p:nvSpPr>
          <p:cNvPr id="25" name="Shape 23"/>
          <p:cNvSpPr/>
          <p:nvPr/>
        </p:nvSpPr>
        <p:spPr>
          <a:xfrm>
            <a:off x="4114800" y="265176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590288" y="2651760"/>
            <a:ext cx="43891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headEnd type="arrow"/>
          </a:ln>
        </p:spPr>
      </p:sp>
      <p:sp>
        <p:nvSpPr>
          <p:cNvPr id="27" name="Shape 25"/>
          <p:cNvSpPr/>
          <p:nvPr/>
        </p:nvSpPr>
        <p:spPr>
          <a:xfrm>
            <a:off x="4846320" y="566928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Ops Team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100584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069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Stability first, don't touch it!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1481328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1545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No deploys on Friday at 5 PM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1956816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020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Change management requires approval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432304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496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"You broke Prod!"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2999232"/>
            <a:ext cx="1737360" cy="621792"/>
          </a:xfrm>
          <a:prstGeom prst="roundRect">
            <a:avLst>
              <a:gd name="adj" fmla="val 14706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9992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×3h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937760" y="3364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 ·  Mean Time To Restore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91363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core goal of DevOps: tear down this wall — unify dev, test, deploy, and ops into one continuous flow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DevOps is not a job title — it's a culture and practice. Dev understands Ops, Ops understands Dev, automate everything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Pipeline: Fully Automated from Commit to Production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379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196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381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98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834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383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00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658368"/>
            <a:ext cx="1280160" cy="132588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713232"/>
            <a:ext cx="128016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38544" y="1347826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0256" y="1576426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apply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83880" y="658368"/>
            <a:ext cx="868680" cy="13258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713232"/>
            <a:ext cx="86868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38744" y="134782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0456" y="1576426"/>
            <a:ext cx="795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481328" y="1463040"/>
            <a:ext cx="2743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4356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81528" y="1463040"/>
            <a:ext cx="2743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30358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81728" y="1463040"/>
            <a:ext cx="27432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46360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81928" y="1463040"/>
            <a:ext cx="274320" cy="9144"/>
          </a:xfrm>
          <a:prstGeom prst="line">
            <a:avLst/>
          </a:prstGeom>
          <a:noFill/>
          <a:ln w="19050">
            <a:solidFill>
              <a:srgbClr val="4A9B8E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62362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882128" y="1463040"/>
            <a:ext cx="27432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7836408" y="1261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37160" y="566928"/>
            <a:ext cx="5120640" cy="1508760"/>
          </a:xfrm>
          <a:prstGeom prst="roundRect">
            <a:avLst>
              <a:gd name="adj" fmla="val 6061"/>
            </a:avLst>
          </a:prstGeom>
          <a:ln w="12700">
            <a:solidFill>
              <a:srgbClr val="4A7FB5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2860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92040" y="566928"/>
            <a:ext cx="4114800" cy="1508760"/>
          </a:xfrm>
          <a:prstGeom prst="roundRect">
            <a:avLst>
              <a:gd name="adj" fmla="val 6061"/>
            </a:avLst>
          </a:prstGeom>
          <a:ln w="12700">
            <a:solidFill>
              <a:srgbClr val="4A996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98348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0176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Continuous Delivery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468880"/>
            <a:ext cx="4389120" cy="2331720"/>
          </a:xfrm>
          <a:prstGeom prst="roundRect">
            <a:avLst>
              <a:gd name="adj" fmla="val 392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3225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23225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02336" y="2578608"/>
            <a:ext cx="413308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CI/CD Pipeline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build -t myapp:$GITHUB_SHA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docker push registry/myapp:$GITHUB_SHA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kubectl set image deploy/api api=myapp:$GITHUB_SHA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37760" y="251460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29200" y="262432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10min</a:t>
            </a:r>
            <a:endParaRPr lang="en-US" sz="3400" dirty="0"/>
          </a:p>
        </p:txBody>
      </p:sp>
      <p:sp>
        <p:nvSpPr>
          <p:cNvPr id="52" name="Text 50"/>
          <p:cNvSpPr/>
          <p:nvPr/>
        </p:nvSpPr>
        <p:spPr>
          <a:xfrm>
            <a:off x="5029200" y="305226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Time Target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251460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995160" y="262432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6995160" y="305226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Coverage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937760" y="361188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29200" y="372160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50+</a:t>
            </a:r>
            <a:endParaRPr lang="en-US" sz="3400" dirty="0"/>
          </a:p>
        </p:txBody>
      </p:sp>
      <p:sp>
        <p:nvSpPr>
          <p:cNvPr id="58" name="Text 56"/>
          <p:cNvSpPr/>
          <p:nvPr/>
        </p:nvSpPr>
        <p:spPr>
          <a:xfrm>
            <a:off x="5029200" y="414954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Deploys/Day (Netflix)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03720" y="361188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995160" y="3721608"/>
            <a:ext cx="16002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1hr</a:t>
            </a:r>
            <a:endParaRPr lang="en-US" sz="3400" dirty="0"/>
          </a:p>
        </p:txBody>
      </p:sp>
      <p:sp>
        <p:nvSpPr>
          <p:cNvPr id="61" name="Text 59"/>
          <p:cNvSpPr/>
          <p:nvPr/>
        </p:nvSpPr>
        <p:spPr>
          <a:xfrm>
            <a:off x="6995160" y="414954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Commit→Prod Time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GitOps: Git as the Single Source of Truth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Core Principles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Git is the Single Source of Truth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All changes go through Pull Requests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Auto-sync — Git state = Cluster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96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Auditable &amp; rollbackable — git revert = rollback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08760" y="29260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2926080"/>
            <a:ext cx="1005840" cy="347472"/>
          </a:xfrm>
          <a:prstGeom prst="roundRect">
            <a:avLst>
              <a:gd name="adj" fmla="val 18421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926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96926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18304" y="134233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0016" y="157093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03520" y="1764792"/>
            <a:ext cx="9144" cy="347472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5349240" y="18196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220370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18304" y="257677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0016" y="280537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app-config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89320" y="2578608"/>
            <a:ext cx="50292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5989320" y="24231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7960" y="214884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37960" y="2203704"/>
            <a:ext cx="128016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592824" y="2576779"/>
            <a:ext cx="11704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74536" y="2805379"/>
            <a:ext cx="1207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GitOps Operator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63840" y="2578608"/>
            <a:ext cx="41148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7845552" y="24231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321040" y="2148840"/>
            <a:ext cx="731520" cy="822960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21040" y="2203704"/>
            <a:ext cx="731520" cy="378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75904" y="2576779"/>
            <a:ext cx="6217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57616" y="2805379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863840" y="3246120"/>
            <a:ext cx="822960" cy="9144"/>
          </a:xfrm>
          <a:prstGeom prst="line">
            <a:avLst/>
          </a:prstGeom>
          <a:noFill/>
          <a:ln w="15240">
            <a:solidFill>
              <a:srgbClr val="B8892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537960" y="2999232"/>
            <a:ext cx="9144" cy="246888"/>
          </a:xfrm>
          <a:prstGeom prst="line">
            <a:avLst/>
          </a:prstGeom>
          <a:noFill/>
          <a:ln w="15240">
            <a:solidFill>
              <a:srgbClr val="B8892C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537960" y="3246120"/>
            <a:ext cx="1325880" cy="9144"/>
          </a:xfrm>
          <a:prstGeom prst="line">
            <a:avLst/>
          </a:prstGeom>
          <a:noFill/>
          <a:ln w="15240">
            <a:solidFill>
              <a:srgbClr val="B8892C"/>
            </a:solidFill>
            <a:prstDash val="dash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6565392" y="32918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detect → auto-heal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GitOps turns infrastructure into code — every Prod change has a git commit record, auditable and rollbackable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Decouple Deployment from Feature Release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Traditional: Deploy = Release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Every deploy impacts all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45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Issues require a full rollback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Cannot test with specific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502920"/>
            <a:ext cx="9144" cy="384048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Feature Flags: Deploy ≠ Release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987552"/>
            <a:ext cx="3977640" cy="1536192"/>
          </a:xfrm>
          <a:prstGeom prst="roundRect">
            <a:avLst>
              <a:gd name="adj" fmla="val 595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8412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8412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28616" y="1097280"/>
            <a:ext cx="37216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Flag control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feature_flags.is_enabled('new_checkout', user):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new_checkout_flow(user)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old_checkout_flow(user)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A/B Testing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🐤 Canary Release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438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Internal Beta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2735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on Prod server — but Flag = OFF, users can't see 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246120"/>
            <a:ext cx="9144" cy="1005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735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Release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Flag to ON — feature visible to users (can turn off anytime)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Feature Flags enable Continuous Deployment — deploy dozens of times a day, let PM decide when to release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Strategies: Blue/Green vs Canary Release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🔵🟢 Blue/Green Deployment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Deploy new version to Green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Blue (v1) — 100% Traffic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1155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115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(v2) — 0% Traffic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66420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LB switches traffic to Green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94560" y="1792224"/>
            <a:ext cx="54864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Blue (v1) — 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18745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(v2) — 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871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Zero downtime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761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Rollback by switching LB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Requires two environments (cost)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502920"/>
            <a:ext cx="9144" cy="4434840"/>
          </a:xfrm>
          <a:prstGeom prst="line">
            <a:avLst/>
          </a:prstGeom>
          <a:noFill/>
          <a:ln w="9525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594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🐤 Canary Release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109728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09728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10972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1572768"/>
            <a:ext cx="9144" cy="320040"/>
          </a:xfrm>
          <a:prstGeom prst="line">
            <a:avLst/>
          </a:prstGeom>
          <a:noFill/>
          <a:ln w="15240">
            <a:solidFill>
              <a:srgbClr val="9088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1892808"/>
            <a:ext cx="301752" cy="9144"/>
          </a:xfrm>
          <a:prstGeom prst="line">
            <a:avLst/>
          </a:prstGeom>
          <a:noFill/>
          <a:ln w="15240">
            <a:solidFill>
              <a:srgbClr val="90888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532120" y="1572768"/>
            <a:ext cx="9144" cy="320040"/>
          </a:xfrm>
          <a:prstGeom prst="line">
            <a:avLst/>
          </a:prstGeom>
          <a:noFill/>
          <a:ln w="15240">
            <a:solidFill>
              <a:srgbClr val="B889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892808"/>
            <a:ext cx="896112" cy="9144"/>
          </a:xfrm>
          <a:prstGeom prst="line">
            <a:avLst/>
          </a:prstGeom>
          <a:noFill/>
          <a:ln w="15240">
            <a:solidFill>
              <a:srgbClr val="B8892C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0600" y="19202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908880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975104"/>
            <a:ext cx="13716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55464" y="2276856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× 9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37176" y="25054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 Traffic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29400" y="19202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29400" y="1975104"/>
            <a:ext cx="13716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684264" y="2276856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× 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65976" y="25054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Traffic (Canary)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66560" y="278892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2843784"/>
            <a:ext cx="182880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21424" y="3159801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03136" y="3388401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Rate &lt; 0.1%?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P99 Latency OK?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633472"/>
            <a:ext cx="9144" cy="137160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4800600" y="29260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Auto-increase Canary traffic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12280" y="356616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Auto-rollback Canary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46320" y="3703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Validate new version at small scale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46320" y="3959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Issues only affect a small subset of users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Four Indicators of DevOps Maturity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85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110642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you deploy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Multiple/day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Daily to weekly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67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Weekly to monthly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436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685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64608" y="110642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137160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Commit to Prod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1618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1 hour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892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&lt; 1 day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1671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1 week to 1 month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" y="320954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47472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deploys causing Prod issues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5%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9959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&lt; 15%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15-45%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697480"/>
            <a:ext cx="4023360" cy="1965960"/>
          </a:xfrm>
          <a:prstGeom prst="roundRect">
            <a:avLst>
              <a:gd name="adj" fmla="val 5581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2788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64608" y="3209544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347472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Restore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Elite: &lt; 1 hour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99592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&lt; 1 day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1 day to 1 week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DORA Research (2019): Elite performers vs low performers — 208x faster deploys, 2604x faster recovery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Pyramid: Layers and Speed of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367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E2E Tests (10%)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86537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users | Minutes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68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Integration Tests (20%)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968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DB integration | Seconds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272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Unit Tests (70%)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35584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| Isolated | Milliseconds    jest, pytest, go test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26280" y="1554480"/>
            <a:ext cx="9144" cy="2194560"/>
          </a:xfrm>
          <a:prstGeom prst="line">
            <a:avLst/>
          </a:prstGeom>
          <a:noFill/>
          <a:ln w="15240">
            <a:solidFill>
              <a:srgbClr val="8A8078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4434840" y="1463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5943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/ jest commands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65776" y="704088"/>
            <a:ext cx="36758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 Pipeline test order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Unit Tests (fail fast)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tests/unit/ --tb=short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js: jest --testPathPattern=unit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Integration Tests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tests/integration/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--docker-compose=docker-compose.test.yml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E2E Tests (only on main)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tests/e2e/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--base-url=https://staging.myapp.com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47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935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Fail Fast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313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pipeline immediately on unit test failure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547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5935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Test Isolation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8313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is independent, no order dependency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54787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59359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Coverage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83133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80%+, critical paths 100%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Summary: DevOps Makes Software Delivery Fly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675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06984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Culture, CI/CD Is the Toolchain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 down the Dev/Ops wall — shared responsibility for delivery quality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 ensures every commit can be safely deployed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77072" y="667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859536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0116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241401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Progress with DORA Metrics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340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metrics — Deploy Frequency, Lead Time, Failure Rate, MTTR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Elite performers are not born — they are built by DevOps culture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77072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82696"/>
            <a:ext cx="859536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3558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" y="3758184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GitOps + CI/CD = The Modern Deployment Trio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0782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Container: Consistent environments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3342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GitOps: Infrastructure as Code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5902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CI/CD: Automated delivery → Part 6: Observability &amp; SRE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77072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View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Three Pillars: Metrics, Logs, Traces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time-series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CPU%, Memory, Requests/sec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Prometheus + Grafana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rules: CPU &gt; 80% → Notify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'What went wrong'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Months to Years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3944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Logs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204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event stream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3204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format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ELK Stack, Loki, CloudWatch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→ Centralized collection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'Why it went wrong'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Weeks to Months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6000" y="566928"/>
            <a:ext cx="2865120" cy="405079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Traces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request chain tracing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 spans all services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Jaeger, Zipkin, Tempo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'Where it went wrong'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Days to Weeks (high cost)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three pillars are essential: Metrics tell you something is wrong, Logs tell you why, Traces tell you which service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/ SLO / SLA: Three Levels of Reliability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943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SLI — Service Level Indicator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measured service metric values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representing current service performance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4708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99.95%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2257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Latency: 245ms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79776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9806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0.03%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7355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1200 req/s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5943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5943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SLO — Service Level Objective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10789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defined target numbers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1389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is the target value for SLI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18288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84708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SLO: ≥ 99.9%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30428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2257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SLO: ≤ 500ms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779776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79806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SLO: ≤ 0.1%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2552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27355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0.1% = 43min/mo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5943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943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SLA — Service Level Agreement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10789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External-facing legal agreement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1389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 → Compensation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18288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84708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EC2: 99.99% Availability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30428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32257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 Service Credit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2779776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79806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&lt; SLA (keep buffer)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32552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327355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"SLO is the internal target, SLA is the external commitment"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63240" y="1325880"/>
            <a:ext cx="16459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3072384" y="120700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035040" y="1325880"/>
            <a:ext cx="16459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48" name="Text 46"/>
          <p:cNvSpPr/>
          <p:nvPr/>
        </p:nvSpPr>
        <p:spPr>
          <a:xfrm>
            <a:off x="6044184" y="120700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SLO should be 10x stricter than SLA — if SLA is 99.9%, your SLO should be 99.99%, the gap is your Error Budget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Turning Downtime into a Decision Tool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= 1 - SLO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= 99.9%  →  Error Budget = 0.1% = 43.8 min/month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Budget Sufficient → Deploy new features rapidly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ECEC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91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Budget Exhausted → Freeze feature deploys, focus on stability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27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198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&gt; 50%: Normal deploys, risky deploys allowed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6667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25-50%: Deploy cautiously, increase testing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&lt; 25%: Freeze feature deployments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Monthly Error Budget Consumption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87552"/>
            <a:ext cx="4069080" cy="9144"/>
          </a:xfrm>
          <a:prstGeom prst="line">
            <a:avLst/>
          </a:prstGeom>
          <a:noFill/>
          <a:ln w="12700">
            <a:solidFill>
              <a:srgbClr val="C4605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32320" y="8412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Limit (100%)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237744" cy="502920"/>
          </a:xfrm>
          <a:prstGeom prst="roundRect">
            <a:avLst>
              <a:gd name="adj" fmla="val 11538"/>
            </a:avLst>
          </a:prstGeom>
          <a:solidFill>
            <a:srgbClr val="C4605B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18304" y="269748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84064" y="3040380"/>
            <a:ext cx="237744" cy="342900"/>
          </a:xfrm>
          <a:prstGeom prst="roundRect">
            <a:avLst>
              <a:gd name="adj" fmla="val 11538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47488" y="28575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413248" y="3200400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76672" y="30175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742432" y="2354580"/>
            <a:ext cx="237744" cy="1028700"/>
          </a:xfrm>
          <a:prstGeom prst="roundRect">
            <a:avLst>
              <a:gd name="adj" fmla="val 11538"/>
            </a:avLst>
          </a:prstGeom>
          <a:solidFill>
            <a:srgbClr val="B8892C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05856" y="21717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071616" y="1965960"/>
            <a:ext cx="237744" cy="1417320"/>
          </a:xfrm>
          <a:prstGeom prst="roundRect">
            <a:avLst>
              <a:gd name="adj" fmla="val 11538"/>
            </a:avLst>
          </a:prstGeom>
          <a:solidFill>
            <a:srgbClr val="C4605B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35040" y="178308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400800" y="2971800"/>
            <a:ext cx="237744" cy="411480"/>
          </a:xfrm>
          <a:prstGeom prst="roundRect">
            <a:avLst>
              <a:gd name="adj" fmla="val 11538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64224" y="27889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729984" y="3154680"/>
            <a:ext cx="237744" cy="228600"/>
          </a:xfrm>
          <a:prstGeom prst="roundRect">
            <a:avLst>
              <a:gd name="adj" fmla="val 12000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93408" y="29718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7059168" y="3268980"/>
            <a:ext cx="237744" cy="114300"/>
          </a:xfrm>
          <a:prstGeom prst="roundRect">
            <a:avLst>
              <a:gd name="adj" fmla="val 24000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22592" y="30861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388352" y="2514600"/>
            <a:ext cx="237744" cy="868680"/>
          </a:xfrm>
          <a:prstGeom prst="roundRect">
            <a:avLst>
              <a:gd name="adj" fmla="val 11538"/>
            </a:avLst>
          </a:prstGeom>
          <a:solidFill>
            <a:srgbClr val="B8892C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88352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351776" y="23317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717536" y="1211580"/>
            <a:ext cx="237744" cy="2171700"/>
          </a:xfrm>
          <a:prstGeom prst="roundRect">
            <a:avLst>
              <a:gd name="adj" fmla="val 11538"/>
            </a:avLst>
          </a:prstGeom>
          <a:solidFill>
            <a:srgbClr val="C4605B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7536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680960" y="102870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046720" y="2743200"/>
            <a:ext cx="237744" cy="640080"/>
          </a:xfrm>
          <a:prstGeom prst="roundRect">
            <a:avLst>
              <a:gd name="adj" fmla="val 11538"/>
            </a:avLst>
          </a:prstGeom>
          <a:solidFill>
            <a:srgbClr val="B8892C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010144" y="256032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8375904" y="3108960"/>
            <a:ext cx="237744" cy="274320"/>
          </a:xfrm>
          <a:prstGeom prst="roundRect">
            <a:avLst>
              <a:gd name="adj" fmla="val 11538"/>
            </a:avLst>
          </a:prstGeom>
          <a:solidFill>
            <a:srgbClr val="4A996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75904" y="3401568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339328" y="2926080"/>
            <a:ext cx="310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274320" y="3520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5661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October Error Budget exhausted! → Immediately freeze feature deploys, SRE intervenes for stability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132320" y="359359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36210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Deploys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626096" y="359359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26096" y="36210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Action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119872" y="359359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19872" y="362102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Error Budget gives Dev and Ops a shared language — not 'stability vs speed', but 'how much budget is left to spend'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 Practice: Prometheus + Grafana Combo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83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795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070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070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2070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3040" y="1344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5564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175564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18928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03120" y="1371600"/>
            <a:ext cx="45720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2084832" y="11155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51760" y="621792"/>
            <a:ext cx="1463040" cy="1389888"/>
          </a:xfrm>
          <a:prstGeom prst="roundRect">
            <a:avLst>
              <a:gd name="adj" fmla="val 657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676656"/>
            <a:ext cx="1463040" cy="63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06624" y="1344534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88336" y="157313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Time-Series 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15s scrape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1344168"/>
            <a:ext cx="41148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663440" y="621792"/>
            <a:ext cx="1463040" cy="1389888"/>
          </a:xfrm>
          <a:prstGeom prst="roundRect">
            <a:avLst>
              <a:gd name="adj" fmla="val 6579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676656"/>
            <a:ext cx="1463040" cy="63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18304" y="1344534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0016" y="157313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233172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23317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331720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2057400"/>
            <a:ext cx="9144" cy="256032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206240" y="2743200"/>
            <a:ext cx="45720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4187952" y="25146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237744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3774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93208" y="2377440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59436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37376" y="704088"/>
            <a:ext cx="230428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 Error 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rate(http_requests_total{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status=~'5..'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}[5m]) 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P99 Latency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rate(http_duration_bucket[5m])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CPU Alert Rule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container_cpu_usage &gt; 0.8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9443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Critical: Error Rate &gt; 1%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08960" y="2944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18688" y="29443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Warning: P99 &gt; 500ms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294436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53328" y="2944368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Info: Deployment Completed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520440"/>
            <a:ext cx="8595360" cy="932688"/>
          </a:xfrm>
          <a:prstGeom prst="roundRect">
            <a:avLst>
              <a:gd name="adj" fmla="val 9804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3741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3741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rule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2336" y="3630168"/>
            <a:ext cx="83393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HighErrorRate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rate(http_requests_total{status=~'5..'}[5m]) / rate(http_requests_total[5m]) &gt; 0.01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2m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 { severity: critical 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 { summary: 'Error rate {{ $value | humanizePercentage }}' }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Tracing: Finding Performance Bottlenecks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908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7132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50976" y="1033272"/>
            <a:ext cx="274320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813816" y="8595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8595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8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/checkout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80160" y="71323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71323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2768" y="7132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48256" y="1033272"/>
            <a:ext cx="274320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911096" y="8595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1096" y="8595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77440" y="71323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71323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048" y="7132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1298448"/>
            <a:ext cx="9144" cy="292608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920240" y="160020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12848" y="1600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0" y="160020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35808" y="1600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66160" y="160020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58768" y="16002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713232"/>
            <a:ext cx="4480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7132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ID: abc-123-xyz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7132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the entire request chain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1234440"/>
            <a:ext cx="3383280" cy="137160"/>
          </a:xfrm>
          <a:prstGeom prst="roundRect">
            <a:avLst>
              <a:gd name="adj" fmla="val 20000"/>
            </a:avLst>
          </a:prstGeom>
          <a:solidFill>
            <a:srgbClr val="1A2A40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123444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40680" y="1417320"/>
            <a:ext cx="3108960" cy="137160"/>
          </a:xfrm>
          <a:prstGeom prst="roundRect">
            <a:avLst>
              <a:gd name="adj" fmla="val 20000"/>
            </a:avLst>
          </a:prstGeom>
          <a:solidFill>
            <a:srgbClr val="1A2A1A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141732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1600200"/>
            <a:ext cx="2560320" cy="1371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160020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1783080"/>
            <a:ext cx="365760" cy="137160"/>
          </a:xfrm>
          <a:prstGeom prst="roundRect">
            <a:avLst>
              <a:gd name="adj" fmla="val 20000"/>
            </a:avLst>
          </a:prstGeom>
          <a:solidFill>
            <a:srgbClr val="1A1A2A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178308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21040" y="1965960"/>
            <a:ext cx="457200" cy="137160"/>
          </a:xfrm>
          <a:prstGeom prst="roundRect">
            <a:avLst>
              <a:gd name="adj" fmla="val 20000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1965960"/>
            <a:ext cx="777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Email(async)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38160" y="15819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DB query: 245ms — Bottleneck!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176272"/>
            <a:ext cx="8595360" cy="1389888"/>
          </a:xfrm>
          <a:prstGeom prst="roundRect">
            <a:avLst>
              <a:gd name="adj" fmla="val 6579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202996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202996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(OpenTelemetry)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2336" y="2286000"/>
            <a:ext cx="833932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trace.get_tracer(__name__)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@app.get('/checkout')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checkout(user_id: str):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tracer.start_as_current_span('checkout') as span: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span.set_attribute('user.id', user_id)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tracer.start_as_current_span('db.query'):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await db.fetch_cart(user_id)  # Auto-records duration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Debugging a distributed system without tracing is like solving a puzzle blindfolded — OpenTelemetry is the modern standard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SRE: Treating Operations as a Software Engineering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SRE Responsibilities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Eliminate Toil — Automate repetitive manual 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SLI/SLO/Error Budget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4825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Incident Response &amp; On-Call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1518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Postmortem Culture — Blameless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8211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821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Build more reliable system architectures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Budget: &lt; 50% of work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7764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50% → SRE automates until it drops below 50%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594360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594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960120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9601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9601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89520" y="9601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435608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435608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43560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143560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0" y="1435608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911096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911096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191109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Forget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37960" y="191109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0" y="1911096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Required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386584"/>
            <a:ext cx="4206240" cy="420624"/>
          </a:xfrm>
          <a:prstGeom prst="roundRect">
            <a:avLst>
              <a:gd name="adj" fmla="val 8696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386584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238658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Uptime/Downtime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37960" y="238658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89520" y="2386584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SLO/Error Budget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Google SRE Handbook: 'SRE is what happens when you ask a software engineer to design an operations team — they automate everything'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Postmortem: Learning from Failures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Blameless Postmortem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root cause, not someone to blame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04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Describe facts, don't blame individuals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007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5-Why root cause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311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Systemic improvement, not punishment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5F0E9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614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Share learnings openly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8ECEC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101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Forbidden: 'It was all XXX's fault'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59436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Postmortem Template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704088"/>
            <a:ext cx="395020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Incident Summary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Date: 2024-03-15 14:32 UTC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Duration: 47 minutes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Impact: 23% of global users unable to log 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Severity: SEV-1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Timeline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- 14:32 Alert triggered: Error rate &gt; 5%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- 14:38 SRE on-call paged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- 14:45 Root cause identified: DB migration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- 15:19 Rollback completed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Root Cause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migration script locked the users table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causing all login requests to timeout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Action Items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Add DB migration smoke test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Schedule migrations during maintenance window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Improve rollback SOP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Summary: You Now Understand Real-World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Single→Split→3-Tier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64208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LB+Cache+MQ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99816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2968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72968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72968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35424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08576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08576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08576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71032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44184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44184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44184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06640" y="594360"/>
            <a:ext cx="1298448" cy="1572768"/>
          </a:xfrm>
          <a:prstGeom prst="roundRect">
            <a:avLst>
              <a:gd name="adj" fmla="val 7042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621792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79792" y="8503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79792" y="13716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79792" y="16184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81912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3017520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453128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5888736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7324344" y="1371600"/>
            <a:ext cx="6400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274320" y="228600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331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Core Insight: Complexity is inevitable — but it can be managed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74320" y="27157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+ 12-Factor + CI/CD + Observability = The Modern Cloud Native Engineer's Toolkit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273552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3375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Architecture Evolves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3675888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 to distributed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has a reason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over-engineer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54680" y="3273552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64408" y="33375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Containers Are the Foundation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64408" y="3675888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environments + Versioning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modern deployment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Docker well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5040" y="3273552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333756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Let Data Decide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44768" y="3675888"/>
            <a:ext cx="2432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SLO/SLA/DORA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improvement with 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gut feelings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vs Monitoring: Beyond Just Charts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30352"/>
            <a:ext cx="9144" cy="3310128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Traditional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332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to look for in advance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2161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Dashboards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knows WHAT is broken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6916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CPU, slow responses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956816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84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unknown questions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1671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Helpless against novel failures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9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alert thresholds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426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CPU &gt; 80%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Observability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332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internal system state from external outputs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481328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/ Why / Where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16916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956816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984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answer any question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21671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first-time incidents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432304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459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and queryable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6426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pre-built dashboards needed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40156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015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tells you WHEN things break. Observability tells you WHY.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Three Pillars of Observability: Metrics (what is broken) + Logs (why) + Traces (which service) — all three are essential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Overview: What Metrics, Logs, Traces Each Solve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9786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time-series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" y="160020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now?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" y="200253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CPU%, Req/s, Error Rate, P99 Latency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" y="240487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Alerting, capacity planning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" y="280720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Months to years (low cost)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" y="320954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Prometheus, Grafana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944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3944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944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6006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67456" y="119786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204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event stream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7456" y="160020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7456" y="200253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204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details, error stack traces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7456" y="240487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204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Debugging, auditing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7456" y="280720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Days to months (high cost)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67456" y="320954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204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ELK, Loki, Fluentd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600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9600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600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51662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Traces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24016" y="119786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860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request path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4016" y="160020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860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slow?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24016" y="200253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860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service, which function, how long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24016" y="240487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Perf analysis, dependency tracking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24016" y="280720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Days to weeks (highest cost)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24016" y="320954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860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Jaeger, Tempo, Zipkin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Cost perspective: Metrics are cheapest (numbers), Logs are moderate (text), Traces are most expensive (every Span must be stored)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 Distributed: Why Observability Becomes Critical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30352"/>
            <a:ext cx="9144" cy="393192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66928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Monolith: Simple Debugging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10058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06070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52144" y="1481328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3856" y="17099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Process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app.log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 / console.log()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169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gdb / pdb local debugging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3840480" cy="347472"/>
          </a:xfrm>
          <a:prstGeom prst="roundRect">
            <a:avLst>
              <a:gd name="adj" fmla="val 15789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64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problem is in this process — just search here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Distributed: Debugging Nightmare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9144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914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9144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0" y="914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07808" y="91440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auth-svc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4630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4630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47488" y="146304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order-svc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14630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4630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27648" y="146304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payment-svc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0" y="14630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920" y="14630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07808" y="146304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inventory-svc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0116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011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47488" y="201168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email-svc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20116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2011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27648" y="201168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15200" y="20116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20116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07808" y="201168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29077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95351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User says checkout is slow! Which service? Which function? Without tracing, you have to check logs on every service...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32320" y="29809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0083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to find issue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626096" y="29809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26096" y="30083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unfindable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4320" y="43434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distributed systems, a single request may touch 10+ services — without Traces, you have no idea where the bottleneck is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Numbers Tell You System Health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297680" cy="804672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21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= Numeric Time-Series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8961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(timestamp, metric_name, labels, value)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481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 is running in production — but how do you know it's healthy?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28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📈 http_requests_total: 15,847 req (counter)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677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api_response_p99_ms: 245ms (gauge)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066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http_error_rate: 0.03% (gauge)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process_memory_bytes: 512MB (gauge)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3016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Metrics, it's like driving without a dashboard — no speed, fuel, or engine 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68580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749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 (rate/s)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66360" y="2651760"/>
            <a:ext cx="411480" cy="43891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468880"/>
            <a:ext cx="411480" cy="62179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5896" y="2286000"/>
            <a:ext cx="411480" cy="80467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5664" y="1828800"/>
            <a:ext cx="411480" cy="1261872"/>
          </a:xfrm>
          <a:prstGeom prst="rect">
            <a:avLst/>
          </a:prstGeom>
          <a:solidFill>
            <a:srgbClr val="B8892C">
              <a:alpha val="60000"/>
            </a:srgbClr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1280160"/>
            <a:ext cx="411480" cy="1810512"/>
          </a:xfrm>
          <a:prstGeom prst="rect">
            <a:avLst/>
          </a:prstGeom>
          <a:solidFill>
            <a:srgbClr val="C4605B">
              <a:alpha val="60000"/>
            </a:srgbClr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011680"/>
            <a:ext cx="411480" cy="1078992"/>
          </a:xfrm>
          <a:prstGeom prst="rect">
            <a:avLst/>
          </a:prstGeom>
          <a:solidFill>
            <a:srgbClr val="B8892C">
              <a:alpha val="60000"/>
            </a:srgbClr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44968" y="2423160"/>
            <a:ext cx="411480" cy="667512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4736" y="2633472"/>
            <a:ext cx="256032" cy="457200"/>
          </a:xfrm>
          <a:prstGeom prst="rect">
            <a:avLst/>
          </a:prstGeom>
          <a:solidFill>
            <a:srgbClr val="4A9968">
              <a:alpha val="60000"/>
            </a:srgbClr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127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914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7760" y="3456432"/>
            <a:ext cx="1207008" cy="749808"/>
          </a:xfrm>
          <a:prstGeom prst="roundRect">
            <a:avLst>
              <a:gd name="adj" fmla="val 8537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Time-Series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92624" y="37033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91072" y="3456432"/>
            <a:ext cx="1207008" cy="749808"/>
          </a:xfrm>
          <a:prstGeom prst="roundRect">
            <a:avLst>
              <a:gd name="adj" fmla="val 8537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Labels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37033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env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region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44384" y="3456432"/>
            <a:ext cx="1207008" cy="749808"/>
          </a:xfrm>
          <a:prstGeom prst="roundRect">
            <a:avLst>
              <a:gd name="adj" fmla="val 853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Efficient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99248" y="370332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= small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storage cost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49884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44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Metrics are not Logs — Metrics only store numbers, extremely low cost, suitable for long-term retention (1+ years is no problem)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 Data Types: Counter, Gauge, Histogram,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Counter — Only Goes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Total requests, total errors, bytes transferred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133856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33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http_requests_total{method='GET',status='200'}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Counter alone is meaningless — use rate() to compute per-second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304288"/>
            <a:ext cx="9144" cy="155448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148840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2148840"/>
            <a:ext cx="9144" cy="155448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993392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993392"/>
            <a:ext cx="9144" cy="14630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1847088"/>
            <a:ext cx="32004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1847088"/>
            <a:ext cx="9144" cy="128016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5943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658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Gauge — Goes Up and Down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914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Active connections, memory usage, queue depth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1133856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0D1117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133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process_resident_memory_bytes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value directly — no rate() needed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029968"/>
            <a:ext cx="228600" cy="14630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2029968"/>
            <a:ext cx="228600" cy="2377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1993392"/>
            <a:ext cx="228600" cy="27432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1993392"/>
            <a:ext cx="228600" cy="219456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2057400"/>
            <a:ext cx="228600" cy="155448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057400"/>
            <a:ext cx="228600" cy="246888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76148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Histogram — Bucketed Distribution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Request latency and response size distribution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291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Buckets: _le=0.1, _le=0.5, _le=1.0, _le=+Inf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histogram_quantile(0.99, ...) to compute P99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quantile computation — most flexible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76148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Summary — Client-Side Quantiles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When precise quantiles needed, low data volume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3291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outputs P50, P90, P99 quantiles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Cannot aggregate across instances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Histogram in most cases; Summary is rarely used now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vs Pull: Fundamental Collection Mode Differences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530352"/>
            <a:ext cx="9144" cy="443484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21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Pull Mode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1732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0992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6148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1417320"/>
            <a:ext cx="9144" cy="347472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920240" y="1417320"/>
            <a:ext cx="9144" cy="347472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71800" y="1417320"/>
            <a:ext cx="9144" cy="347472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57200" y="1783080"/>
            <a:ext cx="2560320" cy="804672"/>
          </a:xfrm>
          <a:prstGeom prst="roundRect">
            <a:avLst>
              <a:gd name="adj" fmla="val 11364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1837944"/>
            <a:ext cx="2560320" cy="370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" y="2201509"/>
            <a:ext cx="2450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2430109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Actively scrapes every 15s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24912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249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Collector controls scrape timing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63824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638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Detects service down immediately (scrape fails)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027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Services must expose HTTP /metrics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41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Short-lived batch jobs may be missed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621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Push Mode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3892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9904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914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9144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59168" y="91440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49240" y="1417320"/>
            <a:ext cx="9144" cy="384048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309360" y="1417320"/>
            <a:ext cx="9144" cy="384048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7269480" y="1417320"/>
            <a:ext cx="9144" cy="384048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5577840" y="1828800"/>
            <a:ext cx="2103120" cy="804672"/>
          </a:xfrm>
          <a:prstGeom prst="roundRect">
            <a:avLst>
              <a:gd name="adj" fmla="val 11364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77840" y="1883664"/>
            <a:ext cx="2103120" cy="370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632704" y="2247229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14416" y="2475829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StatsD / CloudWatch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OTLP Receiver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2724912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27249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 for short-lived Batch/Cron Jobs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163824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31638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 traverse NAT and firewalls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3602736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36027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Collector becomes the traffic sink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4041648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4041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Hard to detect when a service is down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Kubernetes, Pull (Prometheus) is the go-to — K8s service discovery lets Prometheus automatically find all Pods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Architecture Deep Dive: Pull Mode in 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68096"/>
            <a:ext cx="1554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426464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65506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" y="21214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/metrics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http_req_total 1024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http_duration_sum 5.2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0" y="1463040"/>
            <a:ext cx="73152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883664" y="128930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128930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15s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51760" y="713232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768096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06624" y="1426464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88336" y="1655064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Evaluator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64008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800600" y="128930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893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0" y="713232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0" y="768096"/>
            <a:ext cx="137160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41264" y="1046074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22976" y="127467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11880" y="2148840"/>
            <a:ext cx="9144" cy="411480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2651760" y="26060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2660904"/>
            <a:ext cx="20116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06624" y="2962656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88336" y="3191256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Slack/PagerDuty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044952"/>
            <a:ext cx="64008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800600" y="287121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712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0" y="260604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2660904"/>
            <a:ext cx="13716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41264" y="2962656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22976" y="3191256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PagerDuty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310128"/>
            <a:ext cx="8595360" cy="1554480"/>
          </a:xfrm>
          <a:prstGeom prst="roundRect">
            <a:avLst>
              <a:gd name="adj" fmla="val 588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163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163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prometheus.yml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" y="3419856"/>
            <a:ext cx="83393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scrape_interval: 15s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evaluation_interval: 15s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'api-service'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targets: ['api-01:8080', 'api-02:8080']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job_name: 'kubernetes-pods'  # K8s auto service discovery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kubernetes_sd_configs: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role: pod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relabel_configs: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source_labels: [__meta_kubernetes_pod_annotation_prometheus_io_scrape]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action: keep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regex: true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Prometheus: Auto Service Discovery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572000" cy="4114800"/>
          </a:xfrm>
          <a:prstGeom prst="roundRect">
            <a:avLst>
              <a:gd name="adj" fmla="val 2222"/>
            </a:avLst>
          </a:prstGeom>
          <a:ln w="12700">
            <a:solidFill>
              <a:srgbClr val="4A9B8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B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9144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69264"/>
            <a:ext cx="18288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7784" y="141366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api-pod-1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9496" y="164226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prometheus.io/scrape: true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prometheus.io/port: 8080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9144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969264"/>
            <a:ext cx="18288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9464" y="141366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api-pod-2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51176" y="164226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annotation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029968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084832"/>
            <a:ext cx="18288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" y="252923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(Deployment)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" y="2757830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watches K8s API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224028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028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98648" y="2240280"/>
            <a:ext cx="1362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2624328"/>
            <a:ext cx="201168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203704" y="245059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03704" y="2450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pods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417320" y="1463040"/>
            <a:ext cx="9144" cy="566928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5303520" y="6583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Auto-Discovery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1005840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0058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New Pod starts → automatically added to monitoring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1572768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5727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Pod deleted → automatically removed, no stale targets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2139696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213969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Scale out ×10 → Prometheus discovers all automatically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2706624"/>
            <a:ext cx="3520440" cy="502920"/>
          </a:xfrm>
          <a:prstGeom prst="roundRect">
            <a:avLst>
              <a:gd name="adj" fmla="val 12727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70662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0️⃣ No manual edits to prometheus.yml needed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3017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49240" y="287121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67528" y="287121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annotation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85816" y="3127248"/>
            <a:ext cx="326440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annotation to Pod spec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prometheus.io/scrape: 'true'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prometheus.io/path: '/metrics'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prometheus.io/port: '8080'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Prometheus auto-discovers all Pods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this annotation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Mode in Practice: StatsD, Pushgateway, OTLP Collector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566928"/>
            <a:ext cx="2865120" cy="3986784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 (UDP Push)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fire-and-forget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31673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for application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library is extremely simple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statsd.increment('orders.created')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High-frequency counters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DogStatsD supports Tags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319125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2724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Graphite / Prometheus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39440" y="566928"/>
            <a:ext cx="2865120" cy="3986784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Prometheus relay station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Batch Job / Cron Job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done → push → Prometheus scrapes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Not suitable for long-running services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automatic TTL cleanup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7456" y="319125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312724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K8s Job completion metrics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96000" y="566928"/>
            <a:ext cx="2865120" cy="3986784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Collector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unified pipeline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Metrics/Logs/Traces simultaneously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Receivers: OTLP, Prometheus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Exporters: Prometheus, Jaeger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Sidecar or DaemonSet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24016" y="3191256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312724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standard — recommended adoption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StatsD UDP is the lightest push mode — even if the collector is down, the app is unaffected; ideal for critical hot paths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PromQL: Prometheus Query Language in Practice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24528"/>
          </a:xfrm>
          <a:prstGeom prst="roundRect">
            <a:avLst>
              <a:gd name="adj" fmla="val 216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 Examples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8339328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Counter Rate — HTTP requests per second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Error rate grouped by status code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by(status) (rate(http_requests_total[5m]))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P99 Latency — most common SLO metric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rate(http_request_duration_seconds_bucket[5m])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Error rate (5xx / total)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sum(rate(http_requests_total{status=~'5..'}[5m]))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sum(rate(http_requests_total[5m])) * 100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Recording Rule — pre-compute complex queries (in prometheus.yml)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record: job:http_error_rate:ratio5m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expr: |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sum(rate(http_requests_total{status=~'5..'}[5m]))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sum(rate(http_requests_total[5m]))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Aggregate across K8s Pods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by(namespace, deployment)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rate(http_requests_total[5m])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Recording Rules are a performance key — pre-compute complex PromQL and store the result; Grafana queries become 10x faster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Methodologies: USE, RED, Four Golden Signals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697480" cy="4224528"/>
          </a:xfrm>
          <a:prstGeom prst="roundRect">
            <a:avLst>
              <a:gd name="adj" fmla="val 3390"/>
            </a:avLst>
          </a:prstGeom>
          <a:solidFill>
            <a:srgbClr val="F5F1EB"/>
          </a:solidFill>
          <a:ln w="15240">
            <a:solidFill>
              <a:srgbClr val="C48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8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USE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Infrastructure resources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133856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521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Utilization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3533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75%, Disk: 60%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847088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653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Saturation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saturation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Average, Queue depth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Errors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IO errors, NIC drops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224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Is this resource overloaded?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594360"/>
            <a:ext cx="2697480" cy="4224528"/>
          </a:xfrm>
          <a:prstGeom prst="roundRect">
            <a:avLst>
              <a:gd name="adj" fmla="val 3390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658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RED Method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9144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Microservice APIs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1133856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15214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13533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 second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req/s, RPC/s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64408" y="1847088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86537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Errors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2066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5xx%, failed RPC 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4408" y="2560320"/>
            <a:ext cx="247802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57860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Duration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77977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distribution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P50/P95/P99 latency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46120" y="4224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How is this service performing?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594360"/>
            <a:ext cx="2743200" cy="4224528"/>
          </a:xfrm>
          <a:prstGeom prst="roundRect">
            <a:avLst>
              <a:gd name="adj" fmla="val 3333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658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Four Golden Signals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914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SRE Book — Most important to users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1133856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152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1353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request vs bad request latency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44768" y="1847088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8653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0665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demand in req/s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44768" y="2560320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5786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27797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request ratio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44768" y="3273552"/>
            <a:ext cx="2523744" cy="640080"/>
          </a:xfrm>
          <a:prstGeom prst="roundRect">
            <a:avLst>
              <a:gd name="adj" fmla="val 1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3493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saturation (most constrained resource)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is the user experience?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Start new services with the RED method — Rate + Errors + Duration, three metrics that reveal 80% of problems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Design: Let the Data Speak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Principles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05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One Dashboard = one service/system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813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Top: RED/Golden Signals (user impact)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568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Middle: Resource usage (USE Method)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323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Bottom: Downstream dependency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07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Use Variables: env, datacenter, pod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3931920" cy="530352"/>
          </a:xfrm>
          <a:prstGeom prst="roundRect">
            <a:avLst>
              <a:gd name="adj" fmla="val 12069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015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Cramming all metrics into one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time range selector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685800"/>
            <a:ext cx="4160520" cy="347472"/>
          </a:xfrm>
          <a:prstGeom prst="roundRect">
            <a:avLst>
              <a:gd name="adj" fmla="val 13158"/>
            </a:avLst>
          </a:prstGeom>
          <a:solidFill>
            <a:srgbClr val="ECE6DD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6858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api | ENV: prod | Last: 6h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078992"/>
            <a:ext cx="1280160" cy="566928"/>
          </a:xfrm>
          <a:prstGeom prst="roundRect">
            <a:avLst>
              <a:gd name="adj" fmla="val 1129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1,234 req/s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389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08192" y="1078992"/>
            <a:ext cx="1280160" cy="566928"/>
          </a:xfrm>
          <a:prstGeom prst="roundRect">
            <a:avLst>
              <a:gd name="adj" fmla="val 11290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53912" y="1389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07224" y="1078992"/>
            <a:ext cx="1280160" cy="566928"/>
          </a:xfrm>
          <a:prstGeom prst="roundRect">
            <a:avLst>
              <a:gd name="adj" fmla="val 11290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52944" y="13898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755648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82880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Rate over time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88036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39712" y="2880360"/>
            <a:ext cx="2011680" cy="896112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2944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384048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913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Latency | Redis Hit Rate | MQ Queue Depth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Design: The Art of Avoiding Alert Fatigue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Cause-Based Alerts (Not Recommended)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80%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20700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 doesn't always affect users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35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&gt; 70%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61848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just be cache — perfectly normal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470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IOPS &gt; 1000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029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during peak business hours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Symptom-Based Alerts (Recommended)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815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&gt; 1% for 2 minutes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26440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being affected right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93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&gt; 2000ms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67588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experiencing slowness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4023360" cy="365760"/>
          </a:xfrm>
          <a:prstGeom prst="roundRect">
            <a:avLst>
              <a:gd name="adj" fmla="val 17500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04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burn rate too high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0873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is being depleted fast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Severity Levels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9326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P1 CRITICAL — Wake up On-Call immediately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1161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affected right now | Respond within 5 min | Phone call + PagerDuty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157276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3EDE0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591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P2 WARNING — Handle during business hours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1819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affect users | Fix today | Slack notification is fine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23113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2494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P3 INFO — Scheduled resolution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24780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issue | Fix this week | Track via ticket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401568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438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Every alert must have: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36576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Runbook link  2. A clear owner  3. A defined response SLA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Alert fatigue is the SRE's worst enemy — review alerts weekly; disable or downgrade alerts nobody acts on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AlertManager: Intelligent Routing &amp; Alert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68096"/>
            <a:ext cx="137160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84" y="1117397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" y="1345997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Sends alerts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124712"/>
            <a:ext cx="45720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645920" y="95097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9509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40280" y="713232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768096"/>
            <a:ext cx="164592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95144" y="1117397"/>
            <a:ext cx="15361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76856" y="134599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Engine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17520" y="1554480"/>
            <a:ext cx="9144" cy="411480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97280" y="20299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0299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89888" y="202996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#oncall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88920" y="20299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0299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81528" y="202996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 only)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202996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0299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2029968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(P3 only)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1984248"/>
            <a:ext cx="594360" cy="320040"/>
          </a:xfrm>
          <a:prstGeom prst="line">
            <a:avLst/>
          </a:prstGeom>
          <a:noFill/>
          <a:ln w="12700">
            <a:solidFill>
              <a:srgbClr val="C4605B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063240" y="1984248"/>
            <a:ext cx="457200" cy="320040"/>
          </a:xfrm>
          <a:prstGeom prst="line">
            <a:avLst/>
          </a:prstGeom>
          <a:noFill/>
          <a:ln w="12700">
            <a:solidFill>
              <a:srgbClr val="C4605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74320" y="2834640"/>
            <a:ext cx="4389120" cy="2084832"/>
          </a:xfrm>
          <a:prstGeom prst="roundRect">
            <a:avLst>
              <a:gd name="adj" fmla="val 4386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6883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883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alertmanager.yml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" y="2944368"/>
            <a:ext cx="41330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receiver: 'slack-default'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group_wait: 30s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group_interval: 5m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repeat_interval: 4h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match: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severity: critical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receiver: 'pagerduty'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match: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severity: warning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receiver: 'slack-warning'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'pagerduty'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pagerduty_configs: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service_key: '&lt;key&gt;'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685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960120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8B6A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9875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 Inhibition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74920" y="1216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is down → suppress API alerts to avoid duplicate notifications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0" y="1618488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Silence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7492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specific alerts during maintenance windows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2276856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304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Grouping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74920" y="2532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multiple alerts from the same service into one notification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2935224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Repeat Interval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74920" y="31912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repeat every minute — set 4h repeat interval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Inhibition rules can drastically reduce alert noise — if the datacenter is down, no need to notify every individual service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Summary: The Complete Pipeline from Collection to Alerting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50876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324051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52651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client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Metrics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1371600"/>
            <a:ext cx="45720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69164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658368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86000" y="713232"/>
            <a:ext cx="150876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40864" y="1324051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22576" y="1552651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 /metrics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0" y="1371600"/>
            <a:ext cx="45720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79476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389120" y="658368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713232"/>
            <a:ext cx="150876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43984" y="1324051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25696" y="1552651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0" y="1371600"/>
            <a:ext cx="45720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89788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92240" y="658368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713232"/>
            <a:ext cx="132588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47104" y="1324051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28816" y="1552651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Rules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63840" y="1371600"/>
            <a:ext cx="45720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818120" y="11978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11978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412480" y="658368"/>
            <a:ext cx="640080" cy="1280160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0" y="713232"/>
            <a:ext cx="64008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467344" y="1324051"/>
            <a:ext cx="530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49056" y="1552651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On-Call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17627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226771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Choose the Right Metric 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" y="2633472"/>
            <a:ext cx="2432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→ rate()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→ use directly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→ P99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average latency!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54680" y="217627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4408" y="226771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Pull &gt; Push in K8s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64408" y="2633472"/>
            <a:ext cx="2432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K8s SD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 all Pods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Jobs use Pushgateway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→ OTLP Collector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217627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2267712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Alerts Must Be Meaningful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2633472"/>
            <a:ext cx="24323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 first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needs a Runbook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alert volume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alert fatigue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Application Event Records — The Last Line of Defense for Debugging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= Timestamped Structured Event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happened in the system at a specific moment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81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Prod suddenly returns 500 errors — which API? which user? what cause?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User reports 'my order disappeared' — when? which service failed?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Security audit — who deleted this record and when?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5409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8ECEC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5409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Logs: Can only reproduce issues, guess causes, no audit trail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594360"/>
            <a:ext cx="4160520" cy="4224528"/>
          </a:xfrm>
          <a:prstGeom prst="roundRect">
            <a:avLst>
              <a:gd name="adj" fmla="val 2198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Log Example (JSON)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37176" y="704088"/>
            <a:ext cx="3904488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"2024-03-15T14:32:01.234Z",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"level": "ERROR",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"service": "payment-service",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"v2.1.3",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"trace_id": "abc-123-xyz",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"span_id": "def-456",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"user_id": "user-789",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"event": "payment_failed",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299.99,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"currency": "USD",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"insufficient_funds",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"Payment processing failed",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"duration_ms": 145,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"production"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good log entry should tell you 100% what happened without reproducing the issue — include trace_id to correlate with Traces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vs Unstructured Logs: Machine-Readability Is Key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Unstructured Logs (Human-readable, Machine-unfriendly)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412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text logs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2336" y="1097280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14:32:01 ERROR User login failed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14:32:01 ERROR john@example.com bad pwd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14:33:45 INFO  request GET /api/users 200 145ms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 14:33:52 WARN  high memory: 89%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 to grep: must guess the format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auto-parse email / 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Kibana/Loki cannot perform aggregation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Structured Logs (JSON / key=value)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87552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8412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8412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JSON logs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82896" y="1097280"/>
            <a:ext cx="37673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{"time":"2024-03-15T14:32:01Z","level":"ERROR",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"event":"login_failed","user":"john@ex.com",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"reason":"wrong_password","attempt":3}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{"time":"2024-03-15T14:33:45Z","level":"INFO",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"method":"GET","path":"/api/users","status":200,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"duration_ms":145}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{"time":"2024-03-15T14:33:52Z","level":"WARN",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"event":"high_memory","usage_pct":89}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72491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724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Auto-parsed by machines — ES/Loki auto-index fields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3639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36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Supports aggregation: avg(duration_ms) by user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4787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47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 join with Traces via trace_id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30752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5844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5844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structlog example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2336" y="3840480"/>
            <a:ext cx="833932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structlog.get_logger()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log.error('login_failed', user=email, reason='wrong_password', attempt=3, trace_id=get_trace_id())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 Design: When to Use Which Level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5240">
            <a:solidFill>
              <a:srgbClr val="8A80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217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DEBUG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62179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debug info — enable only in dev/debug, usually off in Production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62179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query: SELECT * FROM users WHERE id=123 (12ms)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335024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350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INFO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33502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 events — service start, request success, state changes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33502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payment_completed: order_id=456, amount=299.99, user=john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482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WARN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04825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but handled situations — no impact on main flow, but worth noting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04825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retry_attempt: db_connection failed, retry 2/3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614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76148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error occurred — requires human intervention, partial functionality affected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76148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payment_failed: stripe_api_error, user_id=789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74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CRITICAL/FATAL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4747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cannot continue — entire service is down, immediate human action required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474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db_connection_pool_exhausted: all 100 connections in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245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Common Mistakes: ERROR catch Exception (catching everything as ERROR) | Too many INFO logs (noise) | DEBUG left in Prod (perf issue)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8920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Production recommendation: INFO and above, use DEBUG only for critical paths | For every log ask: What decision can the on-call engineer make from this?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ID: How to Correlate Logs in Distributed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Correlation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checkout failure — where do you look?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api-service: ERROR payment failed user_id=123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payment-svc: WARN stripe timeout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ERROR connection timeout 14:32:01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670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3 logs from the same request? 🤷 No way to tell!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Using Trace ID as Correlation 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2412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241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api-svc: ERROR payment_failed trace_id="abc-123"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627632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276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payment-svc: WARN stripe_timeout trace_id="abc-123"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231136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3113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ERROR conn_timeout trace_id="abc-123"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8529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Query trace_id='abc-123' to find all related logs at once!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1389888"/>
          </a:xfrm>
          <a:prstGeom prst="roundRect">
            <a:avLst>
              <a:gd name="adj" fmla="val 6579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7238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07238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FastAPI + OpenTelemetry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2336" y="3328416"/>
            <a:ext cx="833932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@app.middleware('http')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logging_middleware(request, call_next):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 = trace.get_current_span()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trace_id = format(span.get_span_context().trace_id, '032x')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All subsequent logs automatically include trace_id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structlog.contextvars.bind_contextvars(trace_id=trace_id)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await call_next(request)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68172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OpenTelemetry trace_id as Correlation ID — one ID to link Logs + Traces + Metrics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Service Log Collection: From stdout to Centralized Storage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2/10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192024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749808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804672"/>
            <a:ext cx="146304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" y="1320394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" y="154899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print()/logging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stdout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1399032"/>
            <a:ext cx="36576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600200" y="12252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1225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48840" y="749808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D6CCBF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48840" y="804672"/>
            <a:ext cx="137160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03704" y="1320394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85416" y="1548994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/var/log/app.log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journald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66160" y="1399032"/>
            <a:ext cx="36576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474720" y="12252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225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023360" y="749808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0" y="804672"/>
            <a:ext cx="1554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78224" y="1320394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59936" y="154899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23560" y="1399032"/>
            <a:ext cx="36576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532120" y="12252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225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749808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80760" y="804672"/>
            <a:ext cx="150876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35624" y="1320394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Loki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17336" y="1548994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35240" y="1399032"/>
            <a:ext cx="36576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7543800" y="122529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225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092440" y="749808"/>
            <a:ext cx="960120" cy="109728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92440" y="804672"/>
            <a:ext cx="96012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147304" y="1320394"/>
            <a:ext cx="850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129016" y="1548994"/>
            <a:ext cx="886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950208" y="1920240"/>
            <a:ext cx="1691640" cy="777240"/>
          </a:xfrm>
          <a:prstGeom prst="roundRect">
            <a:avLst>
              <a:gd name="adj" fmla="val 11765"/>
            </a:avLst>
          </a:prstGeom>
          <a:ln w="12700">
            <a:solidFill>
              <a:srgbClr val="B8892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41648" y="17739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9936" y="17739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023360" y="2029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(Elastic)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0" y="23317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(CNCF)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023360" y="263347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(Rust)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2852928"/>
            <a:ext cx="8595360" cy="1444752"/>
          </a:xfrm>
          <a:prstGeom prst="roundRect">
            <a:avLst>
              <a:gd name="adj" fmla="val 6329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2706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2706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Fluentd config (single server)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2336" y="2962656"/>
            <a:ext cx="833932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@type tail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/var/log/app/*.log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pos_file /var/log/fluentd/app.pos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&lt;parse&gt;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@type json  # structured JSON 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&lt;/parse&gt;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 app.logs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&lt;/source&gt;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&lt;match app.logs&gt;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@type elasticsearch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 elasticsearch.logging.svc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 9200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logstash_format true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&lt;/match&gt;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40740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453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Monolithic log collection is straightforward — output to stdout, OS saves to journald, Filebeat/Fluentd collects and ships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Log Collection: Container Environment Challenges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Challenges of Distributed Logs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Containers Are Ephemeral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243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restart/delete → Logs are gone!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 longer tail log files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910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Pods Spread Across Nodes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810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Pods × 10 Nodes = Logs everywhere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kubectl logs is impossible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579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Log Volume Explosion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microservices × 1000 req/s = TB-level Logs/day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and filtering strategies needed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249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Cannot Correlate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2944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from the same request span multiple 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Correlation ID, impossible to trace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56692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566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241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Output Logs to stdout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1243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don't write files, K8s auto-saves stdout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just works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572768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5910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DaemonSet / Sidecar Collection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810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 collector per Node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Auto-collects stdout from all Containers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139696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1579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Attach Metadata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Auto-append: pod name, namespace, node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label → easy filtering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06624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249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Centralized Storage + Search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/ Loki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+ structured queries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K8s Container stdout → /var/log/containers/*.log is auto-saved — Log collectors only need to tail this directory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Collection Architecture: Sidecar vs DaemonSet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DaemonSet Pattern (Recommended)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931920" cy="3108960"/>
          </a:xfrm>
          <a:prstGeom prst="roundRect">
            <a:avLst>
              <a:gd name="adj" fmla="val 2941"/>
            </a:avLst>
          </a:prstGeom>
          <a:ln w="12700">
            <a:solidFill>
              <a:srgbClr val="4A9B8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7680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B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680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Node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430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143000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642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16642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8541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2185416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27632" y="1078992"/>
            <a:ext cx="1024128" cy="2011680"/>
          </a:xfrm>
          <a:prstGeom prst="roundRect">
            <a:avLst>
              <a:gd name="adj" fmla="val 5357"/>
            </a:avLst>
          </a:prstGeom>
          <a:solidFill>
            <a:srgbClr val="ECE6DD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1115568"/>
            <a:ext cx="102412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536192" y="1527048"/>
            <a:ext cx="7315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536192" y="2029968"/>
            <a:ext cx="7315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536192" y="2532888"/>
            <a:ext cx="7315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880360" y="150876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80360" y="156362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935224" y="1984248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(DaemonSet)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16936" y="2212848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per Node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70048" y="2167128"/>
            <a:ext cx="18288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365760" y="4133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 Collector = 1 Node | Lightweight | Shared by all Pods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594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Sidecar Pattern (Special Cases)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114800" cy="1691640"/>
          </a:xfrm>
          <a:prstGeom prst="roundRect">
            <a:avLst>
              <a:gd name="adj" fmla="val 5405"/>
            </a:avLst>
          </a:prstGeom>
          <a:ln w="12700">
            <a:solidFill>
              <a:srgbClr val="B8892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754880" y="7680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7680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(with sidecar)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12618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26187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38928" y="126187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0" y="12618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26187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22008" y="1261872"/>
            <a:ext cx="1042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1764792"/>
            <a:ext cx="347472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6163056" y="159105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15910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63440" y="274320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each app needs its own log format configuration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182112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182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legacy app writes to files (no code change)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621024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3EDE0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6210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Downside: extra sidecar container per Pod (2× resources)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059936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F3EDE0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0599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Downside: complex config, hard to manage uniformly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K8s, 99% use DaemonSet (Fluent Bit) — unless you have a legacy app that cannot output to stdout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/ EFK Stack: The Industry's Most Widely Used Log Management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874520" cy="2468880"/>
          </a:xfrm>
          <a:prstGeom prst="roundRect">
            <a:avLst>
              <a:gd name="adj" fmla="val 4878"/>
            </a:avLst>
          </a:prstGeom>
          <a:ln w="12700">
            <a:solidFill>
              <a:srgbClr val="5A9B6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5A9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01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9601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" y="96012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170432" y="9601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96012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⚙️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960120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157276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5727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1572768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70432" y="157276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157276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1572768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2185416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18541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" y="2185416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70432" y="2185416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2185416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🗄️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2185416"/>
            <a:ext cx="4937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21408" y="1965960"/>
            <a:ext cx="438912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066544" y="17922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17922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633472" y="713232"/>
            <a:ext cx="1417320" cy="2395728"/>
          </a:xfrm>
          <a:prstGeom prst="roundRect">
            <a:avLst>
              <a:gd name="adj" fmla="val 6452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33472" y="768096"/>
            <a:ext cx="1417320" cy="1102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88336" y="1959011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70048" y="2187611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tail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parse JSON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k8s meta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filter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33088" y="1984248"/>
            <a:ext cx="41148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064508" y="181051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4508" y="18105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45152" y="114300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45152" y="1197864"/>
            <a:ext cx="1234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700016" y="1856232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81728" y="2084832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(optional)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transform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enrich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route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0" y="1920240"/>
            <a:ext cx="347472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6382512" y="713232"/>
            <a:ext cx="1389888" cy="2395728"/>
          </a:xfrm>
          <a:prstGeom prst="roundRect">
            <a:avLst>
              <a:gd name="adj" fmla="val 6579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82512" y="768096"/>
            <a:ext cx="1389888" cy="1102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37376" y="1959011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19088" y="2187611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index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full-text 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retention ILM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shard/replica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845552" y="1984248"/>
            <a:ext cx="320040" cy="9144"/>
          </a:xfrm>
          <a:prstGeom prst="line">
            <a:avLst/>
          </a:prstGeom>
          <a:noFill/>
          <a:ln w="19050">
            <a:solidFill>
              <a:srgbClr val="5B8DB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8229600" y="1188720"/>
            <a:ext cx="822960" cy="138988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29600" y="1243584"/>
            <a:ext cx="822960" cy="63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284464" y="1911462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266176" y="214006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3310128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EFK Stack = E + Fluentd + 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" y="3602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 → Fluentd (lighter, CNCF standard)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34840" y="3310128"/>
            <a:ext cx="443484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33467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Grafana Loki: Lightweight Alternative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0" y="3602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indexing (no full-text indexing) → 90% storage cost reduction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0690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ELK is powerful but expensive (Elasticsearch storage costs are high); Loki is cheap but weaker at search — choose based on budget and query needs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/ Fluent Bit: The Swiss Army Knife of Log Pipelines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INPUT Plugins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(file)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36192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15184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(TCP)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94176" y="1225296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225296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78608" y="1883664"/>
            <a:ext cx="9144" cy="128016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65760" y="1938528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FILTER Plugins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(JSON/regex)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536192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(filter)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15184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record_transformer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94176" y="2267712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2267712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78608" y="2907792"/>
            <a:ext cx="9144" cy="128016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65760" y="2962656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80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OUTPUT Plugins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536192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36192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15184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5184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(archive)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94176" y="329184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CE6DD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4176" y="329184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 (debug)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257800" y="685800"/>
            <a:ext cx="3520440" cy="1353312"/>
          </a:xfrm>
          <a:prstGeom prst="roundRect">
            <a:avLst>
              <a:gd name="adj" fmla="val 5405"/>
            </a:avLst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685800"/>
            <a:ext cx="3520440" cy="274320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685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 |  Fluentd  |  Fluent Bit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57800" y="987552"/>
            <a:ext cx="3520440" cy="256032"/>
          </a:xfrm>
          <a:prstGeom prst="rect">
            <a:avLst/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987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 |  Ruby  |  C/Rust (lightweight)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7800" y="1243584"/>
            <a:ext cx="3520440" cy="256032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12435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|  ~40MB  |  ~650KB(!)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57800" y="1499616"/>
            <a:ext cx="3520440" cy="256032"/>
          </a:xfrm>
          <a:prstGeom prst="rect">
            <a:avLst/>
          </a:prstGeom>
          <a:solidFill>
            <a:srgbClr val="F5F1EB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14996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 |  1000+  |  70+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7800" y="1755648"/>
            <a:ext cx="3520440" cy="256032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17556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|  Servers  |  K8s DaemonSet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7800" y="2148840"/>
            <a:ext cx="3520440" cy="2697480"/>
          </a:xfrm>
          <a:prstGeom prst="roundRect">
            <a:avLst>
              <a:gd name="adj" fmla="val 3390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349240" y="20025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67528" y="20025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fluent-bit.conf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85816" y="2258568"/>
            <a:ext cx="326440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[SERVICE]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Flush        5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Log_Level    info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[INPUT]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tail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        /var/log/containers/*.log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Parser       docker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          kube.*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[FILTER]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kubernetes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    kube.*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Merge_Log    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Keep_Log     Off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[OUTPUT]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    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         elasticsearch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         9200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       k8s-logs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93776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983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Fluent Bit is nearly standard in K8s — uses only 650KB memory, one per Node, auto-collects all Container logs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Loki: Managing Logs Like Prometheus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vs Loki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3EDE0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058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Elasticsearch: Full-text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storage cost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0584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Loki: Index labels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lower storage cost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53619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1536192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5361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arbitrary search, very powerful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536192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5361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LogQL queries, requires labels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06654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2066544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06654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(separate installation)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2066544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0665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Grafana support (all-in-one)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59689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2596896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8ECEC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5968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Expensive (high EC2 + Disk overhead)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2596896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E5F0E9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259689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Affordable (S3 for log data storage)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8211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18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Loki: Grafana ecosystem, cost-sensitive, logs queried by service/namespace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529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ES: Need complex full-text search, existing Elastic investment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658368"/>
            <a:ext cx="4160520" cy="2084832"/>
          </a:xfrm>
          <a:prstGeom prst="roundRect">
            <a:avLst>
              <a:gd name="adj" fmla="val 4386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LogQL Examples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37176" y="768096"/>
            <a:ext cx="39044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Filter ERROR logs for a specific service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{service="payment-svc", env="prod"}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|= "ERROR"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Parse JSON + filter fields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{service="api"}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json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status &gt;= 500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Calculate error rate per minute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sum(rate({service="api"} |= "ERROR" [1m]))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 (service)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Find correlated logs by trace_id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{namespace="prod"}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|= `trace_id="abc-123-xyz"`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852928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2907792"/>
            <a:ext cx="192024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64024" y="3423514"/>
            <a:ext cx="1810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Promtail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45736" y="3652114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(DaemonSet)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675120" y="3447288"/>
            <a:ext cx="384048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592824" y="327355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32735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132320" y="2852928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32320" y="2907792"/>
            <a:ext cx="182880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87184" y="342351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68896" y="365211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S3 storage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0690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Loki's philosophy: Index only labels (service, env, pod), store log body in S3 — saves money but sacrifices full-text search flexibility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Sampling Strategies: Balancing Completeness and Cost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3EDE0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System Log Volume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microservices × 1000 req/s × avg 3 log lines × 500 bytes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75 MB/s = 6.5 TB/day = 195 TB/month 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110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100% Record Errors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ERRORs — no sampling, cost is acceptable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05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N% Sample Success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requests keep only 10% — statistically sufficient, saves 90% cost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98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Head-based Sampling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at request start: if trace is sampled, keep all its logs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941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Dynamic Sampling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trace_ids keep all; repeated patterns reduce sample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621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 Policy (ILM)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9601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005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Hot (0-7 days)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storage, fast queries | Recent incidents | Most expensive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61848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3EDE0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Warm (7-30 days)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storage | This month's events | Medium cost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7685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5240">
            <a:solidFill>
              <a:srgbClr val="8A80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3225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Cold (30+ days)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578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S3/GCS object storage | Compliance/audit | Very low cost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4160520" cy="1572768"/>
          </a:xfrm>
          <a:prstGeom prst="roundRect">
            <a:avLst>
              <a:gd name="adj" fmla="val 5814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825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825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 Bit sampling filter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37176" y="3081528"/>
            <a:ext cx="39044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[FILTER]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grep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Keep only ERROR and WARN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Regex    level ^(ERROR|WARN)$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[FILTER]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sampling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   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Keep 1 out of every 10 INFO 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     0.1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  level INFO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Three principles for log cost control: ERROR 100% retained, INFO sampled at 10%, DEBUG never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Query in Practice: From Chaos to Insight in a Few Commands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224528"/>
          </a:xfrm>
          <a:prstGeom prst="roundRect">
            <a:avLst>
              <a:gd name="adj" fmla="val 216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Query Examples (Kibana KQL / Loki LogQL)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8339328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 Kibana KQL =====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Find ERROR logs for a specific service in the last hour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service:"payment-svc" AND level:ERROR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Find all actions by a specific user (audit)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user_id:"user-789" AND @timestamp:[now-24h TO now]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Find high-latency requests (&gt;1000ms)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service:"api" AND duration_ms:&gt;1000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Find all related logs for a specific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trace_id:"abc-123-xyz"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 Grafana LogQL (Loki) =====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Calculate error rate per service (per minute)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by(service)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rate({namespace="prod"} |= "ERROR" [1m])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Extract fields from JSON logs and filter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{service="order-svc"}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json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duration_ms &gt; 500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line_format "{{.user_id}} took {{.duration_ms}}ms"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Find the slowest API endpoints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topk(10,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by(path) (rate({service="api"}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json | duration_ms &gt; 0 [5m])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49194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65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Grafana you can jump from Metrics alerts directly to Logs (Explore), then to Traces — that is the power of observability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Alerting: Making Logs More Than Passive Records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 Alerting Modes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Keyword Alert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16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contains CRITICAL / OOM / panic → alert immediately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18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Rate Alert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count &gt; 50 in 1 minute → something is wrong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Absence Alert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32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log missing for 5 minutes → service may be down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6148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614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Kibana Alert Rule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2336" y="3017520"/>
            <a:ext cx="3858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Kibana Watcher (JSON)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k8s-logs-*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level:ERROR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count &gt; 100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time_window: 5m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every 1m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slack_webhook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685800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5394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5394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Loki Ruler Alert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37176" y="795528"/>
            <a:ext cx="390448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prometheus-style alert from logs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log-alerts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alert: HighErrorRate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expr: |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sum(rate({namespace='prod'}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|= 'ERROR' 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 sum(rate({namespace='prod'} [5m]))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&gt; 0.05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for: 2m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severity: critical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annotations: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summary: 'Error rate &gt;5%'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4160520" cy="1444752"/>
          </a:xfrm>
          <a:prstGeom prst="roundRect">
            <a:avLst>
              <a:gd name="adj" fmla="val 5063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80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Deriving Metrics from Logs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91840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can compute Metrics from Logs in real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add a Prometheus client in the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Great for quickly adding Metrics to Legacy Apps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55371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99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Log alerts are more context-rich than Metric alerts — alert messages can include log content, so on-call can see the problem at a glance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Engineering Best Practices: Making Logs Truly Valuable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Logging Best Practices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Output to stdout uniformly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2070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containerized environments, K8s/Docker auto-handles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81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structured JSON format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6824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Machine-readable, Kibana/Loki auto-parse fields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568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 trace_id / correlation_id in every log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1579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cross-service requests, one ID to trace all related logs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 necessary context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6334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service, version, env, duration_ms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logs with full Stack Trace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1089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log the message, include the exception chain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83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Set appropriate Log Levels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5844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INFO+, enable DEBUG only when needed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Logging Anti-Patterns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98755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005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 sensitive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2070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credit card numbers, PII — GDPR violation!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146304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481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DEBUG logs left in Production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16824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issues + storage cost explosion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9385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9568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catch(e) { logger.error('error') }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21579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impossible to debug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414016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 but never look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26334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massive logs but no Dashboard or alerts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88950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Log all fields for every request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31089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sampling strategy → 10× storage cost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36499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383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Only log errors, never successes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35844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analyze normal traffic patterns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most important logging principle: every log should have a reader — logs nobody reads are waste; alerts and dashboards are the purpose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Summary: From Event Records to System Insight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output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1325880"/>
            <a:ext cx="320040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440180" y="11521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0180" y="1152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65960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5960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20824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02536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collect+parse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37560" y="1325880"/>
            <a:ext cx="347472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236976" y="11521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1152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6472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76472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31336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3048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index+store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8072" y="1325880"/>
            <a:ext cx="347472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047488" y="11521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152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86984" y="658368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5B8DB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86984" y="713232"/>
            <a:ext cx="132588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41848" y="127650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150510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58584" y="1325880"/>
            <a:ext cx="347472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6858000" y="11521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152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97496" y="658368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97496" y="713232"/>
            <a:ext cx="160020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452360" y="1276502"/>
            <a:ext cx="1490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34072" y="1505102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resolve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1031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Structured First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" y="2542032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format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enough context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54680" y="21031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DaemonSet Collection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64408" y="2542032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standard: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DaemonSet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Auto-collect stdout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Auto-add k8s metadata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Loki or 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21031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 Control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2542032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100% retained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→ 10% sampled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→ not in Prod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Hot/Warm/Cold tiers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90% cheaper than ES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Tracing: Why We Need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4/10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384048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In distributed systems, a single request traverses 10+ services — every hop is a potential failure 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1732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7218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0662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8620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4106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7550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994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Svc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1170432"/>
            <a:ext cx="1170432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122529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44384" y="1645920"/>
            <a:ext cx="10607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53312" y="1581912"/>
            <a:ext cx="24688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2587752" y="1581912"/>
            <a:ext cx="24688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3822192" y="1581912"/>
            <a:ext cx="24688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5056632" y="1581912"/>
            <a:ext cx="24688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291072" y="1581912"/>
            <a:ext cx="24688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7525512" y="1581912"/>
            <a:ext cx="246888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274320" y="2212848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212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tracing: you can see errors, but have no way to trace which services a request passed through or where it failed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28346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8346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Cannot identify which service causes latency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172968" y="28346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8346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Error propagation path is unclear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71616" y="28346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8776" y="28346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Cross-service causality cannot be reconstructed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3438144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838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A request failed, but you have no idea which service caused the issue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Distributed tracing = building a complete journey map for every request, leaving no issue hidden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Span &amp; Context: Core Concepts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9224"/>
            <a:ext cx="731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78992" y="685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014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journey of a request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289304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a unique traceId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Spans across all service boundaries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39112"/>
            <a:ext cx="731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78992" y="20756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404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unit of 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679192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spanId + parentSpanId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Start/end time + attributes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3931920" cy="1261872"/>
          </a:xfrm>
          <a:prstGeom prst="roundRect">
            <a:avLst>
              <a:gd name="adj" fmla="val 7246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29000"/>
            <a:ext cx="731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78992" y="34655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propagated across service boundaries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406908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Propagated via HTTP headers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W3C Trace Context standard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594360"/>
            <a:ext cx="4434840" cy="4224528"/>
          </a:xfrm>
          <a:prstGeom prst="roundRect">
            <a:avLst>
              <a:gd name="adj" fmla="val 2165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65836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Parent-Child Span Hierarchy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024128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2D1F5E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241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HTTP POST /checkout  (traceId: abc-123)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1389888"/>
            <a:ext cx="9144" cy="228600"/>
          </a:xfrm>
          <a:prstGeom prst="line">
            <a:avLst/>
          </a:prstGeom>
          <a:noFill/>
          <a:ln w="12700">
            <a:solidFill>
              <a:srgbClr val="D6CC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1618488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61848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Auth Service Validate Token  (parentId: root)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66360" y="20574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0574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Order Service Create Order  (parentId: root)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2404872"/>
            <a:ext cx="9144" cy="228600"/>
          </a:xfrm>
          <a:prstGeom prst="line">
            <a:avLst/>
          </a:prstGeom>
          <a:noFill/>
          <a:ln w="12700">
            <a:solidFill>
              <a:srgbClr val="D6CC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23560" y="2633472"/>
            <a:ext cx="288036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12700">
            <a:solidFill>
              <a:srgbClr val="C48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6334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DB INSERT orders  (parentId: order-span)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66360" y="306324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ECE6DD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0632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Span: Inventory Service Deduct Stock  (parentId: root)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3767328"/>
            <a:ext cx="4160520" cy="9144"/>
          </a:xfrm>
          <a:prstGeom prst="line">
            <a:avLst/>
          </a:prstGeom>
          <a:noFill/>
          <a:ln w="9525">
            <a:solidFill>
              <a:srgbClr val="D6CCBF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617720" y="382219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Timeline →    Total Duration: 245ms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Each Span records start time, end time, status code, and tag attributes — fully reconstructing the execution details across services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Trace Context Standard  ·  HTTP Header: traceparent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02412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2412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 Header Format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1280160"/>
            <a:ext cx="833932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traceparent: 00-{traceId(32-hex-chars)}-{parentSpanId(16-hex-chars)}-{flags(01=sampled,00=not sampled)}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traceparent: 00-4bf92f3577b34da6a3ce929d0e0e4736-00f067aa0ba902b7-01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Propagation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A1F2E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 (Caller)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980944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root Span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traceparent header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Send HTTP request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3282696"/>
            <a:ext cx="128016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788920" y="276148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traceparent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2633472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A2E1A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 (Callee)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2980944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traceparent header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Parse traceId + parentSpanId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child Span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3282696"/>
            <a:ext cx="109728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6675120" y="276148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Service C...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Context formats (OTel Collector can convert between them):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CE6DD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 (Zipkin)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8308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CE6DD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Jaeger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443484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CE6DD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434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8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X-Ray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7365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823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traceparent header must be forwarded in every HTTP/gRPC call — missing it at any layer breaks the trace chain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 Distributed Tracing Differences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594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Monolithic 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59436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594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Distributed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04241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1064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0972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07899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Process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" y="127101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runs in the same memory space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60934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6733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66420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164592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 Tracing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" y="183794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intercept call stack traces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24028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23113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" y="221284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Instrumentation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7512" y="240487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SDK covers the entire application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8072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79806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" y="2779776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Trace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7512" y="2971800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request path, simple Span hierarchy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04241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110642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0972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48072" y="107899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Needs Instrumentation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48072" y="127101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languages/frameworks, high maintenance cost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160934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16733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66420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48072" y="164592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Gaps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48072" y="183794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 (Kafka/RabbitMQ) hard to correlate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217627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224028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223113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48072" y="221284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HTTP/gRPC Boundaries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48072" y="240487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rely on Context Propagation to link spans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743200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28072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79806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48072" y="2779776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Skew Issues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148072" y="2971800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machines have unsynchronized clocks, Span order may be wrong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Distributed tracing is inherently 10x more complex than monolithic — but OpenTelemetry dramatically lowers the implementation barrier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OpenTelemetry: The Industry Standard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2D1F5E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= Vendor-Neutral Observability Standard   ·   CNCF Graduated Project   ·   All Three Pillars Covered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2865120" cy="3246120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170432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" y="1170432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" y="178308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1907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Interface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192024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creating Spans in code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0896" y="218541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12140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Agnostic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32257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Go / Java / JS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0896" y="258775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52374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Only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272491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implementation logic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0896" y="299008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9260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Points in Code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" y="31272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tracer.start_span()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39440" y="1170432"/>
            <a:ext cx="2865120" cy="3246120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39440" y="1170432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944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560064" y="1170432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67456" y="178308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71907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Implementation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32048" y="192024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Span lifecycle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7456" y="2185416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2048" y="212140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32048" y="232257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multiple Spans before sending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67456" y="2587752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252374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Decisions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32048" y="272491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sampling logic lives here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67456" y="299008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2048" y="29260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32048" y="31272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Collector or backend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96000" y="1170432"/>
            <a:ext cx="2865120" cy="3246120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6000" y="1170432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9600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516624" y="1170432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24016" y="178308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71907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Telemetry Data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88608" y="192024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OTLP / Jaeger / Zipkin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24016" y="218541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121408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88608" y="2322576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enrich, transform formats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24016" y="258775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2523744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Export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88608" y="2724912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multiple backends simultaneously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24016" y="299008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8608" y="292608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Applications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88608" y="312724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changes need no code changes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7432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covers the three pillars of observability: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91840" y="4462272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Traces  Request Tracing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20640" y="4462272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Metrics  Metrics Monitoring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49440" y="4462272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Logs  Log Recording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Architecture: Receivers  →  Processors  →  Exporters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2560320" cy="2423160"/>
          </a:xfrm>
          <a:prstGeom prst="roundRect">
            <a:avLst>
              <a:gd name="adj" fmla="val 3774"/>
            </a:avLst>
          </a:prstGeom>
          <a:ln w="12700">
            <a:solidFill>
              <a:srgbClr val="4A7FB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" y="877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877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17043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170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(gRPC/HTTP)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70078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700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231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" y="2761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2221992"/>
            <a:ext cx="45720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200400" y="1024128"/>
            <a:ext cx="2743200" cy="2423160"/>
          </a:xfrm>
          <a:prstGeom prst="roundRect">
            <a:avLst>
              <a:gd name="adj" fmla="val 3774"/>
            </a:avLst>
          </a:prstGeom>
          <a:ln w="12700">
            <a:solidFill>
              <a:srgbClr val="8B6AB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91840" y="877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877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37560" y="1170432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11704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1700784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17007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Enrichment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231136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22311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/ Sampling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2761488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27614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Detection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2221992"/>
            <a:ext cx="45720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400800" y="1024128"/>
            <a:ext cx="2560320" cy="2423160"/>
          </a:xfrm>
          <a:prstGeom prst="roundRect">
            <a:avLst>
              <a:gd name="adj" fmla="val 3774"/>
            </a:avLst>
          </a:prstGeom>
          <a:ln w="12700">
            <a:solidFill>
              <a:srgbClr val="4A996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492240" y="8778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8778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37960" y="117043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2824" y="11704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170078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17007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 / OTLP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37960" y="223113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2231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37960" y="2761488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2761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Others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440" y="896112"/>
            <a:ext cx="8961120" cy="2670048"/>
          </a:xfrm>
          <a:prstGeom prst="roundRect">
            <a:avLst>
              <a:gd name="adj" fmla="val 3425"/>
            </a:avLst>
          </a:prstGeom>
          <a:ln w="12700">
            <a:solidFill>
              <a:srgbClr val="D6CCBF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82880" y="7498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7498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C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730752"/>
            <a:ext cx="8595360" cy="1024128"/>
          </a:xfrm>
          <a:prstGeom prst="roundRect">
            <a:avLst>
              <a:gd name="adj" fmla="val 8929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58444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58444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otel-collector-config.yaml (overview)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2336" y="3840480"/>
            <a:ext cx="833932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receivers: {otlp: {protocols: {grpc: {endpoint: 0.0.0.0:4317}}}}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processors: {batch: {timeout: 1s, send_batch_size: 1024}}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exporters: {jaeger: {endpoint: jaeger:14250}, prometheus: {endpoint: 0.0.0.0:8889}}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{pipelines: {traces: {receivers: [otlp], processors: [batch], exporters: [jaeger]}}}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800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Collector decouples apps from backends — switching from Jaeger to Tempo requires no application code changes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Jaeger: Distributed Tracing 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was open-sourced by Uber and is now a CNCF graduated project — one of the most widely used distributed tracing backends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jaeger-agent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089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Sidecar / DaemonSet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port 6831/6832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6090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jaeger-collector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4261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Validate,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to backend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9262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jaeger-query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7433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+ gRPC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69480" y="10058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060704"/>
            <a:ext cx="210312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24344" y="1600200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UI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06056" y="18288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visualization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Gantt timeline chart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77440" y="1572768"/>
            <a:ext cx="22860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709160" y="1572768"/>
            <a:ext cx="22860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040880" y="1572768"/>
            <a:ext cx="22860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27432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2240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92224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2240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61104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2240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2240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Badger (local)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91840" y="2148840"/>
            <a:ext cx="9144" cy="109728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274320" y="2816352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0160">
            <a:solidFill>
              <a:srgbClr val="8B6A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8163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traces by service / operation / tag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816352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0160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8163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Compare multiple traces to detect performance regressions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346704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3467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Service dependency graph (Service Graph) auto-generated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346704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34670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Tail sampling: Jaeger Collector supports remote sampling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5262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Jaeger UI provides Gantt timeline charts to visually show each Span's duration ratio, quickly pinpointing bottleneck services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Strategies: Head vs Tail Sampling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38912"/>
          </a:xfrm>
          <a:prstGeom prst="roundRect">
            <a:avLst>
              <a:gd name="adj" fmla="val 1666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Tracing 100% of requests is impractical — data volume too large, storage costs too high, performance overhead too great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133856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133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Head-based Sampling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33856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1338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Tail-based Sampling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572768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6367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1609344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at Request Start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" y="1801368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determines whether to trace at a fixed probability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9397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1579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14884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" y="213055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" y="232257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SDK, no extra infrastructure needed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61518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67919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67004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65176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" y="284378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Unsampled requests produce no Spans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3639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20040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19125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" y="317296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Rare Errors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" y="336499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Low-probability errors may be filtered out by sample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572768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163677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6276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48072" y="1609344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After Trace Completes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48072" y="1801368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entire trace to finish before deciding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093976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215798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14884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48072" y="2130552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All Errors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48072" y="2322576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retention of traces containing errors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615184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28032" y="267919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3EDE0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67004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48072" y="2651760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Buffer All Traces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48072" y="2843784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requires significant memory buffer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136392"/>
            <a:ext cx="411480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20040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19125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48072" y="3172968"/>
            <a:ext cx="3621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Architecture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48072" y="3364992"/>
            <a:ext cx="36210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Tail Sampling config is complex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02336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Probabilistic: Randomly sample X% of requests (most common)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72968" y="40233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82696" y="402336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Max N traces per second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71616" y="4023360"/>
            <a:ext cx="2743200" cy="438912"/>
          </a:xfrm>
          <a:prstGeom prst="roundRect">
            <a:avLst>
              <a:gd name="adj" fmla="val 14583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1344" y="4023360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Errors = 100%, normal = 1%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Production typically uses 1-10% head sampling combined with tail sampling to retain all error traces — balancing cost and observability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 Instrumentation 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Span Creation (Python / FastAPI)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896112"/>
            <a:ext cx="4206240" cy="3310128"/>
          </a:xfrm>
          <a:prstGeom prst="roundRect">
            <a:avLst>
              <a:gd name="adj" fmla="val 2762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7498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7498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OTel SDK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1005840"/>
            <a:ext cx="3950208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opentelemetry.sdk.trace import TracerProvider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opentelemetry.sdk.trace.export import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BatchSpanProcessor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opentelemetry.exporter.otlp.proto.grpc.trace_exporter import 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OTLPSpanExporter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TracerProvider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= TracerProvider()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provider.add_span_processor(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BatchSpanProcessor(OTLPSpanExporter())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trace.set_tracer_provider(provider)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Tracer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trace.get_tracer(__name__)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manual Span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tracer.start_as_current_span("process_order") as span: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custom attributes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span.set_attribute("order.id", order_id)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span.set_attribute("order.amount", amount)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process(order)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span.add_event("order_processed")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594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Auto-Instrumentation (No Code Changes)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896112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7498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7498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Auto-Instrumentation (Zero Invasion)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82896" y="1005840"/>
            <a:ext cx="38587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auto-instrumentation packages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opentelemetry-instrument-fastapi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opentelemetry-instrument-sqlalchemy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opentelemetry-instrument-requests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Auto-inject at startup (no code changes)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opentelemetry-instrument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--traces_exporter otlp \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uvicorn app:main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724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and libraries supported by auto-instrumentation: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FastAPI / Flask / Django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F5F1EB"/>
          </a:solidFill>
          <a:ln w="9525">
            <a:solidFill>
              <a:srgbClr val="C48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832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8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SQLAlchemy / psycopg2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490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requests / httpx / aiohttp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1148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Redis / Celery / Kafka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Auto-instrumentation is ideal for quick starts; manual instrumentation suits business-critical paths — both can be combined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Deployment in Kubernetes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94360"/>
            <a:ext cx="2926080" cy="4224528"/>
          </a:xfrm>
          <a:prstGeom prst="roundRect">
            <a:avLst>
              <a:gd name="adj" fmla="val 3125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58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DaemonSet Mode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00584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 OTel Collector per node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35331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CE6DD"/>
          </a:solidFill>
          <a:ln w="9525">
            <a:solidFill>
              <a:srgbClr val="D6CCB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920" y="1389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/ Pod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166420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6642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Pod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0" y="16642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2D1F5E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92608" y="23042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" y="254203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Apps send to localhost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" y="283464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Shared per node, resource-efficient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" y="3127248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Suitable for large clusters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511296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" y="3749040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Node failure loses that node's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" y="4023360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Collector upgrades affect entire node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72968" y="594360"/>
            <a:ext cx="2926080" cy="4224528"/>
          </a:xfrm>
          <a:prstGeom prst="roundRect">
            <a:avLst>
              <a:gd name="adj" fmla="val 312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658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Sidecar Mode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82696" y="100584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Pod includes a Collector sidecar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93008" y="135331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CE6DD"/>
          </a:solidFill>
          <a:ln w="9525">
            <a:solidFill>
              <a:srgbClr val="D6CCB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493008" y="1389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/ Pod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75888" y="166420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16642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Pod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36008" y="16642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2D1F5E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82696" y="23042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82696" y="254203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isolation, no interference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82696" y="283464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Per-Pod sampling strategies possible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82696" y="32186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82696" y="345643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resource overhead (extra container per Pod)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82696" y="373075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Complex maintenance with many Pods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44768" y="594360"/>
            <a:ext cx="2926080" cy="4224528"/>
          </a:xfrm>
          <a:prstGeom prst="roundRect">
            <a:avLst>
              <a:gd name="adj" fmla="val 3125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658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Central Collector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54496" y="1005840"/>
            <a:ext cx="2706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 send to a centralized deployment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64808" y="1353312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CE6DD"/>
          </a:solidFill>
          <a:ln w="9525">
            <a:solidFill>
              <a:srgbClr val="D6CCBF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6464808" y="1389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Node / Pod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47688" y="166420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47688" y="16642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Pod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07808" y="1664208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2D1F5E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07808" y="16642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Collector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54496" y="23042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54496" y="254203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Easiest to manage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54496" y="283464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Unified config and monitoring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54496" y="3218688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54496" y="345643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Single point of failure risk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254496" y="373075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Slightly higher network overhead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54496" y="400507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Horizontal scaling needed under heavy load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8920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teams start with DaemonSet and switch to Sidecar only when strong isolation is needed — Central Collector suits small clusters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Auto-Tracing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/ Envoy: Automatically inject tracing headers at the proxy layer — apps get basic tracing without any SDK instrumentation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143000"/>
            <a:ext cx="3200400" cy="1645920"/>
          </a:xfrm>
          <a:prstGeom prst="roundRect">
            <a:avLst>
              <a:gd name="adj" fmla="val 5556"/>
            </a:avLst>
          </a:prstGeom>
          <a:ln w="12700">
            <a:solidFill>
              <a:srgbClr val="4A7FB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74320" y="9966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7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9966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ECE6DD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SDK)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1F5E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13716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(Sidecar)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1947672"/>
            <a:ext cx="18288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383280" y="1947672"/>
            <a:ext cx="91440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451860" y="1773936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1860" y="17739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traceparent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97680" y="1143000"/>
            <a:ext cx="3200400" cy="1645920"/>
          </a:xfrm>
          <a:prstGeom prst="roundRect">
            <a:avLst>
              <a:gd name="adj" fmla="val 5556"/>
            </a:avLst>
          </a:prstGeom>
          <a:ln w="12700">
            <a:solidFill>
              <a:srgbClr val="4A996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389120" y="99669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99669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B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8056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D1F5E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37160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Headers)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1947672"/>
            <a:ext cx="18288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080760" y="1325880"/>
            <a:ext cx="1280160" cy="1234440"/>
          </a:xfrm>
          <a:prstGeom prst="roundRect">
            <a:avLst>
              <a:gd name="adj" fmla="val 5926"/>
            </a:avLst>
          </a:prstGeom>
          <a:solidFill>
            <a:srgbClr val="ECE6DD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3716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SDK)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98080" y="1947672"/>
            <a:ext cx="91440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7566660" y="1773936"/>
            <a:ext cx="7772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6660" y="17739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Jaeger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2944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 Limitations of Service Mesh Tracing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2918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Apps must still forward traceparent headers — otherwise parent-child Span links break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721608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7216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see application internal logic — only inter-service HTTP/gRPC calls are visible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151376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15137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Database queries, cache calls, and other internal Spans require SDK instrumentation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Service Mesh tracing is a great starting point, but ultimately OTel SDK is needed for full business-layer tracing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Traces, Logs &amp;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2D1F5E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Inject traceId and spanId into every log entry — three pillars are linked via Correlation 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2926080" cy="2450592"/>
          </a:xfrm>
          <a:prstGeom prst="roundRect">
            <a:avLst>
              <a:gd name="adj" fmla="val 3731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1965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Monitoring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231136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error_rate 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spikes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 into Grafana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170432"/>
            <a:ext cx="2926080" cy="2450592"/>
          </a:xfrm>
          <a:prstGeom prst="roundRect">
            <a:avLst>
              <a:gd name="adj" fmla="val 373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64408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/ Jaeger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965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Analysis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231136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traces in the problem 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Span has abnormal latency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 to view correlated logs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44768" y="1170432"/>
            <a:ext cx="2926080" cy="2450592"/>
          </a:xfrm>
          <a:prstGeom prst="roundRect">
            <a:avLst>
              <a:gd name="adj" fmla="val 3731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36208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965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Queries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2231136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by traceId to find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 logs for that request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exact error 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0" y="2496312"/>
            <a:ext cx="64008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866644" y="232257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6644" y="23225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80760" y="2496312"/>
            <a:ext cx="64008" cy="9144"/>
          </a:xfrm>
          <a:prstGeom prst="line">
            <a:avLst/>
          </a:prstGeom>
          <a:noFill/>
          <a:ln w="19050">
            <a:solidFill>
              <a:srgbClr val="8A807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838444" y="232257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A80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8444" y="23225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730752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307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Prometheus detects anomaly → Grafana Explore finds Trace → Tempo shows Span details → Click TraceID to jump to Loki for related logs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Correlation ID across three pillars is the core capability of observability — Grafana's Explore page enables direct navigation between all three data sources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Cost &amp; Performance Impact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58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SDK Performance Overhead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9692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CPU: ~1-3% extra for instrumentation &amp; serialization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2252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Memory: ~1-5KB per Span (incl. attributes, events)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Batch-processed transfer to Collector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7373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Async export, request latency impact &lt; 1ms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594360"/>
            <a:ext cx="4206240" cy="1481328"/>
          </a:xfrm>
          <a:prstGeom prst="roundRect">
            <a:avLst>
              <a:gd name="adj" fmla="val 6173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658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Storage Cost Estimate (100% Sampling)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69264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822960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8229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Data Volume Estimate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82896" y="1078992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1,000,000 requests/day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10 Spans per request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2 KB per Span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20 GB Trace data per day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240280"/>
            <a:ext cx="2865120" cy="2487168"/>
          </a:xfrm>
          <a:prstGeom prst="roundRect">
            <a:avLst>
              <a:gd name="adj" fmla="val 3676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240280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504" y="224028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Sampling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" y="2852928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8892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GB per day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299008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0896" y="3255264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1912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33924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queryable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" y="3657600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59359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for: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379476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for production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39440" y="2240280"/>
            <a:ext cx="2865120" cy="2487168"/>
          </a:xfrm>
          <a:prstGeom prst="roundRect">
            <a:avLst>
              <a:gd name="adj" fmla="val 367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39440" y="2240280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3944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60064" y="224028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Sampling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67456" y="285292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2048" y="278892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per day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32048" y="299008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cost reduction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67456" y="325526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2048" y="31912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coverage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32048" y="33924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issues still traceable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67456" y="365760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2048" y="359359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for: general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432048" y="379476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choice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96000" y="2240280"/>
            <a:ext cx="2865120" cy="2487168"/>
          </a:xfrm>
          <a:prstGeom prst="roundRect">
            <a:avLst>
              <a:gd name="adj" fmla="val 367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6000" y="2240280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9600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516624" y="2240280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Sampling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24016" y="2852928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788920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MB per day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388608" y="2990088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24016" y="3255264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8608" y="31912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only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88608" y="33924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issues hard to find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24016" y="3657600"/>
            <a:ext cx="109728" cy="109728"/>
          </a:xfrm>
          <a:prstGeom prst="ellipse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8608" y="3593592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tail sampling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388608" y="3794760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error traces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800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Sampling rate design principle: low sampling for normal requests + 100% retention for errors/high-latency = optimal cost-effectiveness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Tracing Anti-patterns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67512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💣  No Sampling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960120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sample rate + high traffic = storage explosion, skyrocketing costs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1435608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E5F0E9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53896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practice: Set a reasonable sample rate, use tail sampling to retain errors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667512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Missing Context Propagation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960120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layer (Message Queue, Async Job) forgetting to forward traceparent breaks the trace chain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18888" y="1435608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E5F0E9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453896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practice: All service boundaries must forward trace headers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075688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48840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🙈  Only Tracing Happy 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441448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instrumenting try blocks; catch/error paths have no Spans — failures become untraceable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916936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E5F0E9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35224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practice: Record exceptions in Spans via span.record_exception(e)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075688"/>
            <a:ext cx="4160520" cy="1353312"/>
          </a:xfrm>
          <a:prstGeom prst="roundRect">
            <a:avLst>
              <a:gd name="adj" fmla="val 675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148840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Not Correlating with Logs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441448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alone only show timing; without detailed error messages, deep debugging is impossible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18888" y="2916936"/>
            <a:ext cx="3941064" cy="411480"/>
          </a:xfrm>
          <a:prstGeom prst="roundRect">
            <a:avLst>
              <a:gd name="adj" fmla="val 11111"/>
            </a:avLst>
          </a:prstGeom>
          <a:solidFill>
            <a:srgbClr val="E5F0E9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2935224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practice: Inject trace_id and span_id into log entries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557016"/>
            <a:ext cx="8595360" cy="1353312"/>
          </a:xfrm>
          <a:prstGeom prst="roundRect">
            <a:avLst>
              <a:gd name="adj" fmla="val 6757"/>
            </a:avLst>
          </a:prstGeom>
          <a:solidFill>
            <a:srgbClr val="F8ECEC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30168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Vendor Lock-in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3922776"/>
            <a:ext cx="8375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Instrumenting directly with Jaeger SDK or Zipkin SDK means switching backends requires major code changes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" y="4398264"/>
            <a:ext cx="8375904" cy="411480"/>
          </a:xfrm>
          <a:prstGeom prst="roundRect">
            <a:avLst>
              <a:gd name="adj" fmla="val 11111"/>
            </a:avLst>
          </a:prstGeom>
          <a:solidFill>
            <a:srgbClr val="E5F0E9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416552"/>
            <a:ext cx="8193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practice: Always use OTel API/SDK; abstract backends via Collector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value of a tracing system comes from completeness and correlation — avoiding these anti-patterns maximizes tracing ROI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Chapter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request paths across service boundaries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+ Span + Context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W3C traceparent standard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Solves distributed debugging challenges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316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9631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OTel SDK auto/manual instrumentation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OTel Collector routing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Jaeger / Tempo backends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1460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DaemonSet deployment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4515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 sampling: low overhead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 sampling: retains all errors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Production: 1-10% + 100% errors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Essential for cost control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594360"/>
            <a:ext cx="2084832" cy="3767328"/>
          </a:xfrm>
          <a:prstGeom prst="roundRect">
            <a:avLst>
              <a:gd name="adj" fmla="val 4386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20840" y="66751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93992" y="106984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1389888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TraceID injected into every 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1645920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Tempo + Loki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190195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 pillars linked together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2157984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→ Trace → Log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462272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Chapter PART 10: SRE Practices — Integrating Traces + Metrics + Logs into the SLO/SLI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Integration: Grafana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2540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Grafana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 Interface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Prometheus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(Metrics)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Loki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Tempo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783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(Traces)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560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AlertManager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1719072"/>
            <a:ext cx="137160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205990" y="1545336"/>
            <a:ext cx="116586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05990" y="154533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103120" y="2907792"/>
            <a:ext cx="1371600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205990" y="2734056"/>
            <a:ext cx="116586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5990" y="273405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669280" y="1719072"/>
            <a:ext cx="109728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751576" y="1545336"/>
            <a:ext cx="932688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1576" y="154533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TraceQL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69280" y="2907792"/>
            <a:ext cx="109728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751576" y="2734056"/>
            <a:ext cx="932688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51576" y="273405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65760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Integration Flow: Click metric anomaly  →  Find Trace  →  View correlated logs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Grafana Stack = Prometheus (Metrics) + Loki (Logs) + Tempo (Traces) + Grafana (UI) — open-source, vendor-neutral, fully integrated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Incident → Postmortem Complete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59436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3093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" y="722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1033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rule triggered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508760" y="969264"/>
            <a:ext cx="201168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709928" y="59436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63093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09928" y="722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Notify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55648" y="1033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→ PagerDuty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990088" y="969264"/>
            <a:ext cx="201168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191256" y="59436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63093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91256" y="722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36976" y="1033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 accepts alert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71416" y="969264"/>
            <a:ext cx="201168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672584" y="59436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63093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72584" y="722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1033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Grafana Dashboard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52744" y="969264"/>
            <a:ext cx="201168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153912" y="59436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63093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53912" y="722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1033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or rollback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434072" y="969264"/>
            <a:ext cx="201168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635240" y="594360"/>
            <a:ext cx="1280160" cy="749808"/>
          </a:xfrm>
          <a:prstGeom prst="roundRect">
            <a:avLst>
              <a:gd name="adj" fmla="val 10976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63093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35240" y="722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680960" y="1033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review within 48 hrs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1508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1618488"/>
            <a:ext cx="237744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457200" y="207203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232806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1508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91840" y="1618488"/>
            <a:ext cx="237744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3291840" y="207203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91840" y="232806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Acknowledge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150876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126480" y="1618488"/>
            <a:ext cx="237744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6126480" y="207203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232806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278892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Alert Fired  →  Notification Sent  →  Acknowledged  →  Root Cause Found  →  Mitigated  →  Postmortem Complete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 alert should have a clear owner and runbook; production-impacting incidents must complete a postmortem within 48 hours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SLI, SLO, SLA Definitions &amp; Differences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66928"/>
            <a:ext cx="2865120" cy="35478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(Service Level Indicator)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" y="117957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measured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58191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Request success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198424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value: 99.95%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38658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latency: 180ms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278892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real traffic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39440" y="566928"/>
            <a:ext cx="2865120" cy="35478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3944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3944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6006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(Service Level Objective)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67456" y="117957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3204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target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7456" y="158191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99.9% success rate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198424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engineering team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38658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stricter than SLA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78892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error budget policy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96000" y="566928"/>
            <a:ext cx="2865120" cy="35478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6000" y="566928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6000" y="585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516624" y="566928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(Service Level Agreement)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24016" y="1179576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8608" y="111556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commitment to customers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24016" y="1581912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51790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≥ 99.5% success rate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4016" y="1984248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92024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upon with customers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2386584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232257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triggers financial penalties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788920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272491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more lenient than SLO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4078224"/>
            <a:ext cx="8595360" cy="274320"/>
          </a:xfrm>
          <a:prstGeom prst="roundRect">
            <a:avLst>
              <a:gd name="adj" fmla="val 23333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078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Core Principle: SLO must be stricter than SLA | SLI=99.95% → SLO=99.9% → SLA=99.5%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626864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SLO is your internal target, SLA is your commitment to customers — always keep SLO &gt; SLA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Budget: The Compass of Reliability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66928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= 1 − SLO  →  99.9% SLO = 0.1% budget ≈ ~43.8 min downtime/month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Consumption (Example: 68% used)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298448"/>
            <a:ext cx="8595360" cy="237744"/>
          </a:xfrm>
          <a:prstGeom prst="roundRect">
            <a:avLst>
              <a:gd name="adj" fmla="val 19231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298448"/>
            <a:ext cx="5844845" cy="237744"/>
          </a:xfrm>
          <a:prstGeom prst="roundRect">
            <a:avLst>
              <a:gd name="adj" fmla="val 19231"/>
            </a:avLst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98448"/>
            <a:ext cx="5844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700784"/>
            <a:ext cx="8595360" cy="493776"/>
          </a:xfrm>
          <a:prstGeom prst="roundRect">
            <a:avLst>
              <a:gd name="adj" fmla="val 14815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3736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Budget Healthy (&lt; 50% used)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1737360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freely · Experiment boldly · Ship features aggressively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8595360" cy="493776"/>
          </a:xfrm>
          <a:prstGeom prst="roundRect">
            <a:avLst>
              <a:gd name="adj" fmla="val 14815"/>
            </a:avLst>
          </a:prstGeom>
          <a:solidFill>
            <a:srgbClr val="F3EDE0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408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Budget Warning (50–90% used)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340864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releases · Investigate reliability issues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8595360" cy="493776"/>
          </a:xfrm>
          <a:prstGeom prst="roundRect">
            <a:avLst>
              <a:gd name="adj" fmla="val 14815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443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Budget Exhausted (≥ 100% used)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94436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deployments · Enter incident mode · SRE + Dev focus on reliability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Error budget is the shared contract between Product and SRE — when budget is exhausted, reliability takes priority over velocity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Engineer Responsibilities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Reliability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SLOs, track SLIs, maintain service health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growth, scale proactively before overload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362456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4264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173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1399032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Efficiency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1591056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latency, throughput, and resource utilization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362456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142646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41732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399032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(Safe Deploy)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1591056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deployments, Feature Flags, Canary releases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130552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19456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18541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2167128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" y="2359152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dashboards, tune alerts, reduce noise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130552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19456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18541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02352" y="2167128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Incident Response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02352" y="2359152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rotation, incident command, runbooks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547872"/>
            <a:ext cx="8595360" cy="402336"/>
          </a:xfrm>
          <a:prstGeom prst="roundRect">
            <a:avLst>
              <a:gd name="adj" fmla="val 18182"/>
            </a:avLst>
          </a:prstGeom>
          <a:solidFill>
            <a:srgbClr val="ECE6DD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5478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50% Rule: SREs should spend less than 50% of their time on toil; the rest goes to engineering improvements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SRE is not just operations — it's applying software engineering to reliability problems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Toil: What It Is and Why It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66928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Toil: Manual · Repetitive · Automatable · Scales linearly with growth · No lasting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042416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0424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Toil Examples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42416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04241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Non-Toil (Engineering Value)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52704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5179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1499616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SSH into each server to deploy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883664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94767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93852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192024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Ticket-driven capacity adjustments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36829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3591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" y="2340864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runbooks from scratch every 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78892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797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" y="2761488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restarting crashed Pods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145536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2095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20040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" y="3182112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configs between environments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1463040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152704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15179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02352" y="1499616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CI/CD pipelines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1883664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82312" y="194767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2312" y="193852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02352" y="1920240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auto-scaling controllers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2304288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82312" y="2368296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82312" y="23591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02352" y="2340864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self-healing runbooks once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09160" y="2724912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2312" y="278892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27797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02352" y="2761488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auto-restart with health checks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9160" y="3145536"/>
            <a:ext cx="4160520" cy="365760"/>
          </a:xfrm>
          <a:prstGeom prst="roundRect">
            <a:avLst>
              <a:gd name="adj" fmla="val 17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82312" y="3209544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320040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02352" y="3182112"/>
            <a:ext cx="3666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Terraform for Infrastructure as Code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4526280"/>
            <a:ext cx="8595360" cy="256032"/>
          </a:xfrm>
          <a:prstGeom prst="roundRect">
            <a:avLst>
              <a:gd name="adj" fmla="val 25000"/>
            </a:avLst>
          </a:prstGeom>
          <a:solidFill>
            <a:srgbClr val="ECE6DD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Automate toil away and keep toil under 50% of total time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Design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Must Be Actionable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needs clear response steps; otherwise it's noise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Symptoms, Not Causes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'users experiencing latency', not 'CPU usage high'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37160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4356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2646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140817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Needs a Runbook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160020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on-call engineer should be able to follow the steps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37160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143560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42646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40817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Alert Fatigue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160020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false positives make engineers ignore all alerts, destroying team culture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14884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21284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2037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218541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Must Be Sustainable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" y="237744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cycles must not cause burnout; ensure sufficient backup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14884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21284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2037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02352" y="218541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 On-call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02352" y="237744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coverage ensures adequate support for major incidents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Gold standard for alert design: when an alert fires at 3 AM, the on-call engineer knows exactly what to do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Writing Guide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66928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= Step-by-step guide for handling a specific alert — enables any on-call engineer to resolve independently, not just experts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115568"/>
            <a:ext cx="8595360" cy="3246120"/>
          </a:xfrm>
          <a:prstGeom prst="roundRect">
            <a:avLst>
              <a:gd name="adj" fmla="val 2817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9692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9692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1225296"/>
            <a:ext cx="833932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Runbook: High Error Rate Alert (high-error-rate)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Alert Description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Service: payment-service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Condition: error_rate &gt; 1% for 5 minutes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Impact Scope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Users: Unable to complete checkout flow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Investigation Steps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Check Grafana Dashboard: payment-service overview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Identify failing endpoint: /api/checkout vs /api/refund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Loki logs: {service="payment"} |= "ERROR"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Trace related spans: Click Exemplar in Grafana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Mitigation Steps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If recent deploy → Rollback immediately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If DB connection issue → Restart connection pool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If Stripe API issue → Enable degraded mode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Escalation Path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Not mitigated in 15 min → Notify Tech Lead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Not mitigated in 30 min → Initiate P1 incident process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good runbook enables even the most junior on-call engineer to handle incidents — after writing, have a colleague test if the steps actually work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66928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E5F0E9"/>
          </a:solidFill>
          <a:ln w="15240">
            <a:solidFill>
              <a:srgbClr val="4A9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Core Principle: Review systems, not people — individuals made reasonable decisions within a flawed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42416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0972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Reconstruction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353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events in chronological order to establish clear cause-and-effect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42416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0972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7448" y="1353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5 Whys to drill down layer by layer and find systemic root causes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847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103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impact: affected users, duration, revenue loss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792224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8470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27448" y="2103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trackable improvement measures with assigned owners and deadlines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33472"/>
            <a:ext cx="8595360" cy="1325880"/>
          </a:xfrm>
          <a:prstGeom prst="roundRect">
            <a:avLst>
              <a:gd name="adj" fmla="val 6207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791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Example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944368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Why did the service go down? → DB connections exhausted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136392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Why exhausted? → Connections not properly released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328416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Why not released? → Missing finally block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Why missing? → No code review checklist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712464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Fix: Establish a code review checklist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Google SRE culture: Postmortems are learning opportunities, not punishment — sharing openly benefits the entire organization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Maturity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760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7607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6217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(Critical)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62179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6217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discovered from customer complaints; fully reactive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17043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17043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161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(Warning)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12161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121615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monitoring, manual alert checking, no auto-notification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76479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76479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105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0" y="181051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18105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logs + basic dashboards, searchable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35915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048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240487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40487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Tracing + Correlation ID, cross-service tracing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5351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95351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992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299923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SLO-Driven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299923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SLO-based alerting + error budget management, user-experience focused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4787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47872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CE6DD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935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(Target)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0" y="359359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35935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OTel, auto-remediation, AIOps anomaly detection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17880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teams are at Level 2–3 — aim for Level 4 (SLO-driven); Level 5 is the long-term goal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Cost Control Strategies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66928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Observability is not free: storage, compute, and network all cost money — target 5–10% of infra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6070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12471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1155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1097280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" y="1289304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log all DEBUG in production; dynamically adjust log levels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6070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82312" y="112471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1155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02352" y="1097280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Cardinality Cap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02352" y="1289304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high-cardinality labels (e.g. user_id) — they blow up Prometheus memory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79222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185623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84708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" y="1828800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Sampling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" y="2020824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1–10% sampling rate; reduce sampling for high-traffic paths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79222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2312" y="185623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184708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1828800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Policy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02352" y="2020824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data 7 days, warm data 30 days, cold data archived for 1 year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3EDE0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00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Observability cost should be 5–10% of infra cost — exceeding that signals a design problem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767328"/>
            <a:ext cx="23774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457200" y="4041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65760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91840" y="3767328"/>
            <a:ext cx="23774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3291840" y="4041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Data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35040" y="3657600"/>
            <a:ext cx="2560320" cy="685800"/>
          </a:xfrm>
          <a:prstGeom prst="roundRect">
            <a:avLst>
              <a:gd name="adj" fmla="val 16000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101600" dist="38100" dir="2700000">
              <a:srgbClr val="9E9488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26480" y="3767328"/>
            <a:ext cx="23774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6126480" y="4041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Data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626864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 cardinality is Prometheus's biggest cost trap — never use user_id as a label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Observability Anti-patterns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on Everything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causes engineers to ignore all alerts, including critical ones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Logs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hell — searching plain-text logs with grep doesn't scale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399032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4630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5389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1435608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Sprawl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1627632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dashboards but nobody knows which to look at, and nobody maintains them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399032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14630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45389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435608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 Sampling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1627632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100% of traces causes storage costs to explode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20370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26771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2585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2240280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SLOs Defined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" y="2432304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objectively measure reliability or make data-driven decisions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203704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26771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2585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02352" y="2240280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Only in Production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02352" y="2432304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should be caught in dev; discovering them late costs the most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Observability anti-patterns are accumulated debt — each one increases MTTR for the next incident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Complete Ecosystem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58368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5F1EB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658368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658368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481328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5F1E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81328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481328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304288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5F1EB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304288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304288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SDK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127248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5F1EB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127248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127248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SDK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978408"/>
            <a:ext cx="45720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828800" y="1801368"/>
            <a:ext cx="45720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828800" y="2624328"/>
            <a:ext cx="45720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828800" y="3447288"/>
            <a:ext cx="45720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331720" y="658368"/>
            <a:ext cx="2286000" cy="3456432"/>
          </a:xfrm>
          <a:prstGeom prst="roundRect">
            <a:avLst>
              <a:gd name="adj" fmla="val 4800"/>
            </a:avLst>
          </a:prstGeom>
          <a:solidFill>
            <a:srgbClr val="F5F1EB"/>
          </a:solidFill>
          <a:ln w="2540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749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331720" y="1261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3160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· Process · Export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19385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/ Metrics / Logs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23160" y="2212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Multi-backend 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23160" y="24871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· Filtering · Transform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1280160"/>
            <a:ext cx="45720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617720" y="2743200"/>
            <a:ext cx="457200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5074920" y="658368"/>
            <a:ext cx="1828800" cy="1664208"/>
          </a:xfrm>
          <a:prstGeom prst="roundRect">
            <a:avLst>
              <a:gd name="adj" fmla="val 5495"/>
            </a:avLst>
          </a:prstGeom>
          <a:ln w="12700">
            <a:solidFill>
              <a:srgbClr val="4A996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16636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166360" y="91440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9144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66360" y="1353312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13533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66360" y="1792224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7922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Tempo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74920" y="2414016"/>
            <a:ext cx="1828800" cy="1700784"/>
          </a:xfrm>
          <a:prstGeom prst="roundRect">
            <a:avLst>
              <a:gd name="adj" fmla="val 5376"/>
            </a:avLst>
          </a:prstGeom>
          <a:ln w="12700">
            <a:solidFill>
              <a:srgbClr val="B8892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166360" y="2267712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84648" y="226771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166360" y="2651760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26517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166360" y="3090672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0906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166360" y="3529584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ECE6DD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35295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Honeycomb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95160" y="658368"/>
            <a:ext cx="1920240" cy="3456432"/>
          </a:xfrm>
          <a:prstGeom prst="roundRect">
            <a:avLst>
              <a:gd name="adj" fmla="val 4762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749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Vendor Portability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40880" y="1133856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backends without modifying application code — just change the Collector export config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OTel is the USB standard for observability — instrument once, switch any backend, protect your investment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Pre-launch Checklist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define RED metrics (Rate, Errors, Duration)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65836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63093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82296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logs with Correlation ID, no sensitive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41732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48132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4721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145389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164592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 integrated, sampling configured, Context Propagation working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41732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148132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147218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45389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02352" y="164592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 has an alert, every alert has a Runbook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24028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30428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29514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" y="227685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" y="246888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 dashboard, dependency graph, SLO dashboard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240280"/>
            <a:ext cx="4160520" cy="512064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304288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E5F0E9"/>
          </a:solidFill>
          <a:ln w="6350">
            <a:solidFill>
              <a:srgbClr val="4A99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29514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02352" y="227685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02352" y="2468880"/>
            <a:ext cx="3666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 set, escalation policy defined, postmortem process established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pre-launch checklist is not a formality — every gap is the reason the next 3 AM incident can't be resolved quickly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Complete: The Full Cloud Native Journey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3035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Congratulations on completing the full Cloud Native course!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" y="100584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0698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" y="1426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664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84248" y="1463040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2112264" y="100584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0698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57984" y="1426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57984" y="1664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Multi-server + LB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66744" y="1463040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794760" y="100584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0698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1426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1664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consistent env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49240" y="1463040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477256" y="100584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7256" y="10698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22976" y="1426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22976" y="1664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principles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31736" y="1463040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159752" y="1005840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10698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05472" y="1426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05472" y="16642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9768" y="2084832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2148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5488" y="2505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2743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engineering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984248" y="2542032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2112264" y="2084832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12264" y="2148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157984" y="2505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57984" y="2743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Prometheus+Grafana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66744" y="2542032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3794760" y="2084832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2148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840480" y="2505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0" y="2743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ELK+Loki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349240" y="2542032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5477256" y="2084832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77256" y="2148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22976" y="2505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22976" y="2743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OTel+Jaeger+Tempo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031736" y="2542032"/>
            <a:ext cx="128016" cy="9144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7159752" y="2084832"/>
            <a:ext cx="1554480" cy="914400"/>
          </a:xfrm>
          <a:prstGeom prst="roundRect">
            <a:avLst>
              <a:gd name="adj" fmla="val 9000"/>
            </a:avLst>
          </a:prstGeom>
          <a:solidFill>
            <a:srgbClr val="E5F0E9"/>
          </a:solidFill>
          <a:ln w="22860">
            <a:solidFill>
              <a:srgbClr val="4A99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59752" y="21488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205472" y="2505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05472" y="2743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unified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74320" y="30906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You now have the skills to deploy and operate distributed systems in the real world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28600" y="343814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150 Slides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14600" y="343814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14600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10 Topics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00600" y="343814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Full-stack to SRE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86600" y="343814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3438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Cloud Native Ready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4320" y="44348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Next steps: Kubernetes · Service Mesh (Istio) · GitOps (Argo CD / Flux) · FinOps · Platform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2026-04-03T16:24:51Z</dcterms:created>
  <dcterms:modified xsi:type="dcterms:W3CDTF">2026-04-03T16:24:51Z</dcterms:modified>
</cp:coreProperties>
</file>