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</p:sldIdLst>
  <p:sldSz cx="9144000" cy="5029200"/>
  <p:notesSz cx="50292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765"/>
    <p:restoredTop sz="94610"/>
  </p:normalViewPr>
  <p:slideViewPr>
    <p:cSldViewPr snapToGrid="0" snapToObjects="1">
      <p:cViewPr varScale="1">
        <p:scale>
          <a:sx n="309" d="100"/>
          <a:sy n="309" d="100"/>
        </p:scale>
        <p:origin x="3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presProps" Target="presProps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viewProps" Target="view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14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0584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kern="0" spc="-1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457200" y="173736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kern="0" spc="-10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Deployment in Practice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3536156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evolution from monolithic deployment to Cloud Native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0" y="274320"/>
            <a:ext cx="9144" cy="4480560"/>
          </a:xfrm>
          <a:prstGeom prst="line">
            <a:avLst/>
          </a:prstGeom>
          <a:noFill/>
          <a:ln w="9525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440" y="594360"/>
            <a:ext cx="4297680" cy="868680"/>
          </a:xfrm>
          <a:prstGeom prst="roundRect">
            <a:avLst>
              <a:gd name="adj" fmla="val 10526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00600" y="914400"/>
            <a:ext cx="219456" cy="219456"/>
          </a:xfrm>
          <a:prstGeom prst="ellipse">
            <a:avLst/>
          </a:prstGeom>
          <a:solidFill>
            <a:srgbClr val="5A9B6E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00600" y="91440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93208" y="6858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Deployment Evolution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93208" y="978408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Single Server → Three-Tier → Distributed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7955280" y="905256"/>
            <a:ext cx="914400" cy="219456"/>
          </a:xfrm>
          <a:prstGeom prst="roundRect">
            <a:avLst>
              <a:gd name="adj" fmla="val 25000"/>
            </a:avLst>
          </a:prstGeom>
          <a:solidFill>
            <a:srgbClr val="ECE6DD"/>
          </a:solidFill>
          <a:ln w="9525">
            <a:solidFill>
              <a:srgbClr val="4A996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0" y="905256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Complexity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663440" y="1554480"/>
            <a:ext cx="4297680" cy="868680"/>
          </a:xfrm>
          <a:prstGeom prst="roundRect">
            <a:avLst>
              <a:gd name="adj" fmla="val 10526"/>
            </a:avLst>
          </a:prstGeom>
          <a:solidFill>
            <a:srgbClr val="F5F1EB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00600" y="1874520"/>
            <a:ext cx="219456" cy="219456"/>
          </a:xfrm>
          <a:prstGeom prst="ellipse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0600" y="187452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093208" y="164592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 Challenges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93208" y="1938528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LB / Session / DB Replica / Cache / MQ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7955280" y="1865376"/>
            <a:ext cx="914400" cy="219456"/>
          </a:xfrm>
          <a:prstGeom prst="roundRect">
            <a:avLst>
              <a:gd name="adj" fmla="val 25000"/>
            </a:avLst>
          </a:prstGeom>
          <a:solidFill>
            <a:srgbClr val="ECE6DD"/>
          </a:solidFill>
          <a:ln w="9525">
            <a:solidFill>
              <a:srgbClr val="C4605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0" y="1865376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Complexity 🔺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63440" y="2514600"/>
            <a:ext cx="4297680" cy="868680"/>
          </a:xfrm>
          <a:prstGeom prst="roundRect">
            <a:avLst>
              <a:gd name="adj" fmla="val 10526"/>
            </a:avLst>
          </a:prstGeom>
          <a:solidFill>
            <a:srgbClr val="F5F1EB"/>
          </a:solidFill>
          <a:ln w="12700">
            <a:solidFill>
              <a:srgbClr val="4A9B8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00600" y="2834640"/>
            <a:ext cx="219456" cy="219456"/>
          </a:xfrm>
          <a:prstGeom prst="ellipse">
            <a:avLst/>
          </a:prstGeom>
          <a:solidFill>
            <a:srgbClr val="4A9B8E"/>
          </a:solidFill>
          <a:ln w="12700">
            <a:solidFill>
              <a:srgbClr val="4A9B8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0600" y="283464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093208" y="260604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Revolution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093208" y="2898648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· Compose · Registry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7955280" y="2825496"/>
            <a:ext cx="914400" cy="219456"/>
          </a:xfrm>
          <a:prstGeom prst="roundRect">
            <a:avLst>
              <a:gd name="adj" fmla="val 25000"/>
            </a:avLst>
          </a:prstGeom>
          <a:solidFill>
            <a:srgbClr val="ECE6DD"/>
          </a:solidFill>
          <a:ln w="9525">
            <a:solidFill>
              <a:srgbClr val="4A9B8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55280" y="2825496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A9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Complexity↓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663440" y="3474720"/>
            <a:ext cx="4297680" cy="868680"/>
          </a:xfrm>
          <a:prstGeom prst="roundRect">
            <a:avLst>
              <a:gd name="adj" fmla="val 10526"/>
            </a:avLst>
          </a:prstGeom>
          <a:solidFill>
            <a:srgbClr val="F5F1EB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00600" y="3794760"/>
            <a:ext cx="219456" cy="219456"/>
          </a:xfrm>
          <a:prstGeom prst="ellipse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00600" y="379476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093208" y="356616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 + DevOps + SRE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093208" y="3858768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Engineering Best Practices · CI/CD · Observability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955280" y="3785616"/>
            <a:ext cx="914400" cy="219456"/>
          </a:xfrm>
          <a:prstGeom prst="roundRect">
            <a:avLst>
              <a:gd name="adj" fmla="val 25000"/>
            </a:avLst>
          </a:prstGeom>
          <a:solidFill>
            <a:srgbClr val="ECE6DD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55280" y="3785616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Discipline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" y="182880"/>
            <a:ext cx="1645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0" b="1" dirty="0">
                <a:solidFill>
                  <a:srgbClr val="4A7FB5">
                    <a:alpha val="2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914400" y="25603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Outline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685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— The Complete Evolution Path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261872"/>
            <a:ext cx="8412480" cy="530352"/>
          </a:xfrm>
          <a:prstGeom prst="roundRect">
            <a:avLst>
              <a:gd name="adj" fmla="val 13793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261872"/>
            <a:ext cx="91440" cy="530352"/>
          </a:xfrm>
          <a:prstGeom prst="rect">
            <a:avLst/>
          </a:prstGeom>
          <a:solidFill>
            <a:srgbClr val="5A9B6E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219456" cy="219456"/>
          </a:xfrm>
          <a:prstGeom prst="ellipse">
            <a:avLst/>
          </a:prstGeom>
          <a:solidFill>
            <a:srgbClr val="5A9B6E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41732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14400" y="131673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A9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14400" y="1517904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Deployment Evolution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0" y="14173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Server → Three-Tier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1856232"/>
            <a:ext cx="8412480" cy="530352"/>
          </a:xfrm>
          <a:prstGeom prst="roundRect">
            <a:avLst>
              <a:gd name="adj" fmla="val 13793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1856232"/>
            <a:ext cx="91440" cy="530352"/>
          </a:xfrm>
          <a:prstGeom prst="rect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011680"/>
            <a:ext cx="219456" cy="219456"/>
          </a:xfrm>
          <a:prstGeom prst="ellipse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01168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14400" y="191109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14400" y="2112264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 Challenges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69280" y="201168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/ Session / DB Scaling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2450592"/>
            <a:ext cx="8412480" cy="530352"/>
          </a:xfrm>
          <a:prstGeom prst="roundRect">
            <a:avLst>
              <a:gd name="adj" fmla="val 13793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2450592"/>
            <a:ext cx="91440" cy="530352"/>
          </a:xfrm>
          <a:prstGeom prst="rect">
            <a:avLst/>
          </a:prstGeom>
          <a:solidFill>
            <a:srgbClr val="4A9B8E"/>
          </a:solidFill>
          <a:ln w="12700">
            <a:solidFill>
              <a:srgbClr val="4A9B8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66928" y="2606040"/>
            <a:ext cx="219456" cy="219456"/>
          </a:xfrm>
          <a:prstGeom prst="ellipse">
            <a:avLst/>
          </a:prstGeom>
          <a:solidFill>
            <a:srgbClr val="4A9B8E"/>
          </a:solidFill>
          <a:ln w="12700">
            <a:solidFill>
              <a:srgbClr val="4A9B8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260604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14400" y="25054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A9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14400" y="2706624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Revolution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669280" y="260604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/ Compose / Registry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" y="3044952"/>
            <a:ext cx="8412480" cy="530352"/>
          </a:xfrm>
          <a:prstGeom prst="roundRect">
            <a:avLst>
              <a:gd name="adj" fmla="val 13793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3044952"/>
            <a:ext cx="91440" cy="530352"/>
          </a:xfrm>
          <a:prstGeom prst="rect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6928" y="3200400"/>
            <a:ext cx="219456" cy="219456"/>
          </a:xfrm>
          <a:prstGeom prst="ellipse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320040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4400" y="309981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4400" y="3300984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 App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669280" y="320040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Cloud-Ready App Design Principles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65760" y="3639312"/>
            <a:ext cx="8412480" cy="530352"/>
          </a:xfrm>
          <a:prstGeom prst="roundRect">
            <a:avLst>
              <a:gd name="adj" fmla="val 13793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5760" y="3639312"/>
            <a:ext cx="91440" cy="530352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66928" y="3794760"/>
            <a:ext cx="219456" cy="219456"/>
          </a:xfrm>
          <a:prstGeom prst="ellipse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66928" y="379476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B8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914400" y="3895344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Integration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669280" y="379476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· GitOps · Deployment Strategies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365760" y="4233672"/>
            <a:ext cx="8412480" cy="530352"/>
          </a:xfrm>
          <a:prstGeom prst="roundRect">
            <a:avLst>
              <a:gd name="adj" fmla="val 13793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65760" y="4233672"/>
            <a:ext cx="91440" cy="530352"/>
          </a:xfrm>
          <a:prstGeom prst="rect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66928" y="4389120"/>
            <a:ext cx="219456" cy="219456"/>
          </a:xfrm>
          <a:prstGeom prst="ellipse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66928" y="438912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914400" y="428853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914400" y="4489704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Closed Loop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5669280" y="43891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· SRE · Post-mortem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3035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A9B6E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Point: The Simplest Deployment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74320" y="566928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kern="0" spc="1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HOST DEPLOYMENT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82880" y="960120"/>
            <a:ext cx="1188720" cy="1097280"/>
          </a:xfrm>
          <a:prstGeom prst="roundRect">
            <a:avLst>
              <a:gd name="adj" fmla="val 8333"/>
            </a:avLst>
          </a:prstGeom>
          <a:solidFill>
            <a:srgbClr val="F5F1EB"/>
          </a:solidFill>
          <a:ln w="19050">
            <a:solidFill>
              <a:srgbClr val="908880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82880" y="1014984"/>
            <a:ext cx="1188720" cy="5047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37744" y="1530706"/>
            <a:ext cx="10789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19456" y="1759306"/>
            <a:ext cx="11155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Browser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435608" y="1554480"/>
            <a:ext cx="457200" cy="9144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>
            <a:off x="1389888" y="1380744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89888" y="1380744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4A7F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HTTP/80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1965960" y="685800"/>
            <a:ext cx="6995160" cy="2377440"/>
          </a:xfrm>
          <a:prstGeom prst="roundRect">
            <a:avLst>
              <a:gd name="adj" fmla="val 3846"/>
            </a:avLst>
          </a:prstGeom>
          <a:ln w="12700">
            <a:solidFill>
              <a:srgbClr val="5A9B6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2057400" y="53949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FFFDF8"/>
          </a:solidFill>
          <a:ln w="6350">
            <a:solidFill>
              <a:srgbClr val="5A9B6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075688" y="53949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9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ubuntu-01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2194560" y="896112"/>
            <a:ext cx="1828800" cy="1645920"/>
          </a:xfrm>
          <a:prstGeom prst="roundRect">
            <a:avLst>
              <a:gd name="adj" fmla="val 5556"/>
            </a:avLst>
          </a:prstGeom>
          <a:solidFill>
            <a:srgbClr val="F5F1EB"/>
          </a:solidFill>
          <a:ln w="19050">
            <a:solidFill>
              <a:srgbClr val="5B8DB8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2194560" y="950976"/>
            <a:ext cx="1828800" cy="7571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2249424" y="1751990"/>
            <a:ext cx="17190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231136" y="1980590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Nginx :80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087368" y="1737360"/>
            <a:ext cx="512064" cy="9144"/>
          </a:xfrm>
          <a:prstGeom prst="line">
            <a:avLst/>
          </a:prstGeom>
          <a:noFill/>
          <a:ln w="19050">
            <a:solidFill>
              <a:srgbClr val="5B8DB8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4069080" y="1563624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5B8DB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069080" y="1563624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B8D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proxy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663440" y="896112"/>
            <a:ext cx="1828800" cy="1645920"/>
          </a:xfrm>
          <a:prstGeom prst="roundRect">
            <a:avLst>
              <a:gd name="adj" fmla="val 5556"/>
            </a:avLst>
          </a:prstGeom>
          <a:solidFill>
            <a:srgbClr val="F5F1EB"/>
          </a:solidFill>
          <a:ln w="19050">
            <a:solidFill>
              <a:srgbClr val="5A9B6E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663440" y="950976"/>
            <a:ext cx="1828800" cy="7571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4718304" y="1751990"/>
            <a:ext cx="17190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00016" y="1980590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FastAPI :8080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556248" y="1737360"/>
            <a:ext cx="512064" cy="9144"/>
          </a:xfrm>
          <a:prstGeom prst="line">
            <a:avLst/>
          </a:prstGeom>
          <a:noFill/>
          <a:ln w="19050">
            <a:solidFill>
              <a:srgbClr val="C4804A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6537960" y="1563624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C4804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37960" y="1563624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C48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7132320" y="896112"/>
            <a:ext cx="1645920" cy="1645920"/>
          </a:xfrm>
          <a:prstGeom prst="roundRect">
            <a:avLst>
              <a:gd name="adj" fmla="val 5556"/>
            </a:avLst>
          </a:prstGeom>
          <a:solidFill>
            <a:srgbClr val="F5F1EB"/>
          </a:solidFill>
          <a:ln w="19050">
            <a:solidFill>
              <a:srgbClr val="C4804A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7132320" y="950976"/>
            <a:ext cx="1645920" cy="7571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7187184" y="1751990"/>
            <a:ext cx="15361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168896" y="1980590"/>
            <a:ext cx="15727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 :5432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965960" y="2788920"/>
            <a:ext cx="6995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sharing a single machine: CPU / RAM / Disk / Network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0" y="3017520"/>
            <a:ext cx="4572000" cy="2011680"/>
          </a:xfrm>
          <a:prstGeom prst="rect">
            <a:avLst/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572000" y="3017520"/>
            <a:ext cx="4572000" cy="2011680"/>
          </a:xfrm>
          <a:prstGeom prst="rect">
            <a:avLst/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82880" y="31089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Advantages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4754880" y="31089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Limitations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164592" y="3465576"/>
            <a:ext cx="146304" cy="146304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84048" y="3419856"/>
            <a:ext cx="4069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Extremely simple deployment — one machine handles frontend, backend, and database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164592" y="3858768"/>
            <a:ext cx="146304" cy="146304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84048" y="3813048"/>
            <a:ext cx="4069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services colocated, making debugging and tuning easy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164592" y="4251960"/>
            <a:ext cx="146304" cy="146304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84048" y="4206240"/>
            <a:ext cx="4069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 for a one-person team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164592" y="4645152"/>
            <a:ext cx="146304" cy="146304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4048" y="4599432"/>
            <a:ext cx="4069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Upgrade machine specs when performance is insufficient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4736592" y="3465576"/>
            <a:ext cx="146304" cy="146304"/>
          </a:xfrm>
          <a:prstGeom prst="ellipse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956048" y="3419856"/>
            <a:ext cx="4069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Point of Failure (SPOF)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4736592" y="3858768"/>
            <a:ext cx="146304" cy="146304"/>
          </a:xfrm>
          <a:prstGeom prst="ellipse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56048" y="3813048"/>
            <a:ext cx="4069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component failure takes down the entire service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4736592" y="4251960"/>
            <a:ext cx="146304" cy="146304"/>
          </a:xfrm>
          <a:prstGeom prst="ellipse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56048" y="4206240"/>
            <a:ext cx="4069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component can be scaled independently to handle traffic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Journey of an HTTP Request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82880" y="50292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traceroute  https://api.example.com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82880" y="777240"/>
            <a:ext cx="1188720" cy="1234440"/>
          </a:xfrm>
          <a:prstGeom prst="roundRect">
            <a:avLst>
              <a:gd name="adj" fmla="val 7692"/>
            </a:avLst>
          </a:prstGeom>
          <a:solidFill>
            <a:srgbClr val="F5F1EB"/>
          </a:solidFill>
          <a:ln w="19050">
            <a:solidFill>
              <a:srgbClr val="908880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82880" y="832104"/>
            <a:ext cx="1188720" cy="567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37744" y="1419149"/>
            <a:ext cx="10789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908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19456" y="1647749"/>
            <a:ext cx="11155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Browser enters URL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920240" y="777240"/>
            <a:ext cx="1188720" cy="1234440"/>
          </a:xfrm>
          <a:prstGeom prst="roundRect">
            <a:avLst>
              <a:gd name="adj" fmla="val 7692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920240" y="832104"/>
            <a:ext cx="1188720" cy="567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975104" y="1419149"/>
            <a:ext cx="10789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956816" y="1647749"/>
            <a:ext cx="11155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Resolves IP address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657600" y="777240"/>
            <a:ext cx="1188720" cy="1234440"/>
          </a:xfrm>
          <a:prstGeom prst="roundRect">
            <a:avLst>
              <a:gd name="adj" fmla="val 7692"/>
            </a:avLst>
          </a:prstGeom>
          <a:solidFill>
            <a:srgbClr val="F5F1EB"/>
          </a:solidFill>
          <a:ln w="19050">
            <a:solidFill>
              <a:srgbClr val="5B8DB8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0" y="832104"/>
            <a:ext cx="1188720" cy="567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3712464" y="1419149"/>
            <a:ext cx="10789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5B8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694176" y="1647749"/>
            <a:ext cx="11155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Nginx :443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TLS + routing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394960" y="777240"/>
            <a:ext cx="1188720" cy="1234440"/>
          </a:xfrm>
          <a:prstGeom prst="roundRect">
            <a:avLst>
              <a:gd name="adj" fmla="val 7692"/>
            </a:avLst>
          </a:prstGeom>
          <a:solidFill>
            <a:srgbClr val="F5F1EB"/>
          </a:solidFill>
          <a:ln w="19050">
            <a:solidFill>
              <a:srgbClr val="5A9B6E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394960" y="832104"/>
            <a:ext cx="1188720" cy="567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449824" y="1419149"/>
            <a:ext cx="10789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5A9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31536" y="1647749"/>
            <a:ext cx="11155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FastAPI :8080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business logic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132320" y="777240"/>
            <a:ext cx="1188720" cy="1234440"/>
          </a:xfrm>
          <a:prstGeom prst="roundRect">
            <a:avLst>
              <a:gd name="adj" fmla="val 7692"/>
            </a:avLst>
          </a:prstGeom>
          <a:solidFill>
            <a:srgbClr val="F5F1EB"/>
          </a:solidFill>
          <a:ln w="19050">
            <a:solidFill>
              <a:srgbClr val="C4804A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132320" y="832104"/>
            <a:ext cx="1188720" cy="567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7187184" y="1419149"/>
            <a:ext cx="10789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48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168896" y="1647749"/>
            <a:ext cx="11155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 :5432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persistent store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1435608" y="1261872"/>
            <a:ext cx="420624" cy="9144"/>
          </a:xfrm>
          <a:prstGeom prst="line">
            <a:avLst/>
          </a:prstGeom>
          <a:noFill/>
          <a:ln w="19050">
            <a:solidFill>
              <a:srgbClr val="8B6AB5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>
            <a:off x="1371600" y="1088136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8B6A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71600" y="108813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8B6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DNS Query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172968" y="1261872"/>
            <a:ext cx="420624" cy="9144"/>
          </a:xfrm>
          <a:prstGeom prst="line">
            <a:avLst/>
          </a:prstGeom>
          <a:noFill/>
          <a:ln w="19050">
            <a:solidFill>
              <a:srgbClr val="5B8DB8"/>
            </a:solidFill>
            <a:prstDash val="solid"/>
            <a:tailEnd type="arrow"/>
          </a:ln>
        </p:spPr>
      </p:sp>
      <p:sp>
        <p:nvSpPr>
          <p:cNvPr id="31" name="Shape 29"/>
          <p:cNvSpPr/>
          <p:nvPr/>
        </p:nvSpPr>
        <p:spPr>
          <a:xfrm>
            <a:off x="3108960" y="1088136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5B8DB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108960" y="108813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B8D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TCP :443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4910328" y="1261872"/>
            <a:ext cx="420624" cy="9144"/>
          </a:xfrm>
          <a:prstGeom prst="line">
            <a:avLst/>
          </a:prstGeom>
          <a:noFill/>
          <a:ln w="19050">
            <a:solidFill>
              <a:srgbClr val="5A9B6E"/>
            </a:solidFill>
            <a:prstDash val="solid"/>
            <a:tailEnd type="arrow"/>
          </a:ln>
        </p:spPr>
      </p:sp>
      <p:sp>
        <p:nvSpPr>
          <p:cNvPr id="34" name="Shape 32"/>
          <p:cNvSpPr/>
          <p:nvPr/>
        </p:nvSpPr>
        <p:spPr>
          <a:xfrm>
            <a:off x="4846320" y="1088136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5A9B6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46320" y="108813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9B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proxy pass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6556248" y="1261872"/>
            <a:ext cx="512064" cy="9144"/>
          </a:xfrm>
          <a:prstGeom prst="line">
            <a:avLst/>
          </a:prstGeom>
          <a:noFill/>
          <a:ln w="19050">
            <a:solidFill>
              <a:srgbClr val="C4804A"/>
            </a:solidFill>
            <a:prstDash val="solid"/>
            <a:tailEnd type="arrow"/>
          </a:ln>
        </p:spPr>
      </p:sp>
      <p:sp>
        <p:nvSpPr>
          <p:cNvPr id="37" name="Shape 35"/>
          <p:cNvSpPr/>
          <p:nvPr/>
        </p:nvSpPr>
        <p:spPr>
          <a:xfrm>
            <a:off x="6537960" y="1088136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C480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37960" y="108813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C48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 Query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1371600" y="2331720"/>
            <a:ext cx="6126480" cy="9144"/>
          </a:xfrm>
          <a:prstGeom prst="line">
            <a:avLst/>
          </a:prstGeom>
          <a:noFill/>
          <a:ln w="19050">
            <a:solidFill>
              <a:srgbClr val="4A9968"/>
            </a:solidFill>
            <a:prstDash val="dash"/>
            <a:headEnd type="arrow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3520440" y="2103120"/>
            <a:ext cx="182880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4A996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520440" y="21031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A99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 200 OK (JSON)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82880" y="2606040"/>
            <a:ext cx="8778240" cy="658368"/>
          </a:xfrm>
          <a:prstGeom prst="roundRect">
            <a:avLst>
              <a:gd name="adj" fmla="val 8333"/>
            </a:avLst>
          </a:prstGeom>
          <a:solidFill>
            <a:srgbClr val="F5F1EB"/>
          </a:solidFill>
          <a:ln w="9525">
            <a:solidFill>
              <a:srgbClr val="D6CCB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0040" y="262432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latency_breakdown = {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320040" y="2834640"/>
            <a:ext cx="643738" cy="146304"/>
          </a:xfrm>
          <a:prstGeom prst="roundRect">
            <a:avLst>
              <a:gd name="adj" fmla="val 18750"/>
            </a:avLst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0040" y="2990088"/>
            <a:ext cx="68031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6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DNS ~5ms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1000354" y="2834640"/>
            <a:ext cx="983894" cy="146304"/>
          </a:xfrm>
          <a:prstGeom prst="roundRect">
            <a:avLst>
              <a:gd name="adj" fmla="val 18750"/>
            </a:avLst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00354" y="2990088"/>
            <a:ext cx="102047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5B8D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TCP ~20ms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2020824" y="2834640"/>
            <a:ext cx="1239012" cy="146304"/>
          </a:xfrm>
          <a:prstGeom prst="roundRect">
            <a:avLst>
              <a:gd name="adj" fmla="val 18750"/>
            </a:avLst>
          </a:prstGeom>
          <a:solidFill>
            <a:srgbClr val="5A9B6E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020824" y="2990088"/>
            <a:ext cx="12755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5A9B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Nginx ~40ms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3296412" y="2834640"/>
            <a:ext cx="2089404" cy="146304"/>
          </a:xfrm>
          <a:prstGeom prst="roundRect">
            <a:avLst>
              <a:gd name="adj" fmla="val 18750"/>
            </a:avLst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296412" y="2990088"/>
            <a:ext cx="21259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4A99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 ~80ms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5422392" y="2834640"/>
            <a:ext cx="3364992" cy="146304"/>
          </a:xfrm>
          <a:prstGeom prst="roundRect">
            <a:avLst>
              <a:gd name="adj" fmla="val 18750"/>
            </a:avLst>
          </a:prstGeom>
          <a:solidFill>
            <a:srgbClr val="C4804A"/>
          </a:solidFill>
          <a:ln w="12700">
            <a:solidFill>
              <a:srgbClr val="C4804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422392" y="2990088"/>
            <a:ext cx="34015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48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 + Network ~200ms+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274320" y="3401568"/>
            <a:ext cx="8595360" cy="475488"/>
          </a:xfrm>
          <a:prstGeom prst="roundRect">
            <a:avLst>
              <a:gd name="adj" fmla="val 11538"/>
            </a:avLst>
          </a:prstGeom>
          <a:solidFill>
            <a:srgbClr val="F5F1EB"/>
          </a:solidFill>
          <a:ln w="9525">
            <a:solidFill>
              <a:srgbClr val="D6CCB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" y="3419856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In a monolithic architecture, all layers share resources.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640080" y="3621024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One slow layer blocks the entire request chain — hotspots: N+1 queries, unindexed lookups, blocking I/O.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182880" y="3977640"/>
            <a:ext cx="2834640" cy="960120"/>
          </a:xfrm>
          <a:prstGeom prst="roundRect">
            <a:avLst>
              <a:gd name="adj" fmla="val 7619"/>
            </a:avLst>
          </a:prstGeom>
          <a:solidFill>
            <a:srgbClr val="F5F1EB"/>
          </a:solidFill>
          <a:ln w="9525">
            <a:solidFill>
              <a:srgbClr val="D6CCB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82880" y="3977640"/>
            <a:ext cx="2834640" cy="36576"/>
          </a:xfrm>
          <a:prstGeom prst="rect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92608" y="4069080"/>
            <a:ext cx="26151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 Resolution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292608" y="4325112"/>
            <a:ext cx="261518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~5ms avg; reduced by OS / browser caching.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 controls how long cached records live.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154680" y="3977640"/>
            <a:ext cx="2834640" cy="960120"/>
          </a:xfrm>
          <a:prstGeom prst="roundRect">
            <a:avLst>
              <a:gd name="adj" fmla="val 7619"/>
            </a:avLst>
          </a:prstGeom>
          <a:solidFill>
            <a:srgbClr val="F5F1EB"/>
          </a:solidFill>
          <a:ln w="9525">
            <a:solidFill>
              <a:srgbClr val="D6CCB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154680" y="3977640"/>
            <a:ext cx="2834640" cy="36576"/>
          </a:xfrm>
          <a:prstGeom prst="rect">
            <a:avLst/>
          </a:prstGeom>
          <a:solidFill>
            <a:srgbClr val="5A9B6E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264408" y="4069080"/>
            <a:ext cx="26151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A9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Processing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3264408" y="4325112"/>
            <a:ext cx="261518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 and external I/O are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throughput hotspots.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6126480" y="3977640"/>
            <a:ext cx="2834640" cy="960120"/>
          </a:xfrm>
          <a:prstGeom prst="roundRect">
            <a:avLst>
              <a:gd name="adj" fmla="val 7619"/>
            </a:avLst>
          </a:prstGeom>
          <a:solidFill>
            <a:srgbClr val="F5F1EB"/>
          </a:solidFill>
          <a:ln w="9525">
            <a:solidFill>
              <a:srgbClr val="D6CCB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126480" y="3977640"/>
            <a:ext cx="2834640" cy="36576"/>
          </a:xfrm>
          <a:prstGeom prst="rect">
            <a:avLst/>
          </a:prstGeom>
          <a:solidFill>
            <a:srgbClr val="C4804A"/>
          </a:solidFill>
          <a:ln w="12700">
            <a:solidFill>
              <a:srgbClr val="C4804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236208" y="4069080"/>
            <a:ext cx="26151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48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Query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6236208" y="4325112"/>
            <a:ext cx="261518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Indexes and query patterns set tail latency.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EXPLAIN ANALYZE to find slow queries.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C4804A"/>
          </a:solidFill>
          <a:ln w="12700">
            <a:solidFill>
              <a:srgbClr val="C480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Expansion: Separate Database Server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3/10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288036" cy="822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74320" y="56692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kern="0" spc="1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TWO-MACHINE DEPLOYMENT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37160" y="1371600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19050">
            <a:solidFill>
              <a:srgbClr val="908880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37160" y="1426464"/>
            <a:ext cx="731520" cy="3364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92024" y="1751990"/>
            <a:ext cx="6217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73736" y="1980590"/>
            <a:ext cx="6583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Browser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914400" y="1828800"/>
            <a:ext cx="502920" cy="9144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>
            <a:off x="891540" y="1655064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1540" y="1655064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A7F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1463040" y="777240"/>
            <a:ext cx="3200400" cy="2011680"/>
          </a:xfrm>
          <a:prstGeom prst="roundRect">
            <a:avLst>
              <a:gd name="adj" fmla="val 4545"/>
            </a:avLst>
          </a:prstGeom>
          <a:ln w="12700">
            <a:solidFill>
              <a:srgbClr val="5A9B6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1554480" y="6309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FFFDF8"/>
          </a:solidFill>
          <a:ln w="6350">
            <a:solidFill>
              <a:srgbClr val="5A9B6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572768" y="6309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9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app-server-01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1828800" y="1005840"/>
            <a:ext cx="2377440" cy="1554480"/>
          </a:xfrm>
          <a:prstGeom prst="roundRect">
            <a:avLst>
              <a:gd name="adj" fmla="val 5882"/>
            </a:avLst>
          </a:prstGeom>
          <a:solidFill>
            <a:srgbClr val="F5F1EB"/>
          </a:solidFill>
          <a:ln w="19050">
            <a:solidFill>
              <a:srgbClr val="5A9B6E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828800" y="1060704"/>
            <a:ext cx="2377440" cy="7150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883664" y="1814170"/>
            <a:ext cx="22677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Server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865376" y="2042770"/>
            <a:ext cx="23042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Frontend + Backend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Nginx + FastAPI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754880" y="1828800"/>
            <a:ext cx="822960" cy="9144"/>
          </a:xfrm>
          <a:prstGeom prst="line">
            <a:avLst/>
          </a:prstGeom>
          <a:noFill/>
          <a:ln w="19050">
            <a:solidFill>
              <a:srgbClr val="C4804A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4816602" y="1655064"/>
            <a:ext cx="699516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C480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16602" y="1655064"/>
            <a:ext cx="699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C48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 :5432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5669280" y="777240"/>
            <a:ext cx="3200400" cy="2011680"/>
          </a:xfrm>
          <a:prstGeom prst="roundRect">
            <a:avLst>
              <a:gd name="adj" fmla="val 4545"/>
            </a:avLst>
          </a:prstGeom>
          <a:ln w="12700">
            <a:solidFill>
              <a:srgbClr val="C4804A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5760720" y="6309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FFFDF8"/>
          </a:solidFill>
          <a:ln w="6350">
            <a:solidFill>
              <a:srgbClr val="C480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79008" y="6309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C48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db-server-01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6035040" y="1005840"/>
            <a:ext cx="2377440" cy="1554480"/>
          </a:xfrm>
          <a:prstGeom prst="roundRect">
            <a:avLst>
              <a:gd name="adj" fmla="val 5882"/>
            </a:avLst>
          </a:prstGeom>
          <a:solidFill>
            <a:srgbClr val="F5F1EB"/>
          </a:solidFill>
          <a:ln w="19050">
            <a:solidFill>
              <a:srgbClr val="C4804A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035040" y="1060704"/>
            <a:ext cx="2377440" cy="7150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6089904" y="1814170"/>
            <a:ext cx="22677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071616" y="2042770"/>
            <a:ext cx="23042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PostgreSQL :5432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Dedicated Machine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0" y="3246120"/>
            <a:ext cx="4572000" cy="1783080"/>
          </a:xfrm>
          <a:prstGeom prst="rect">
            <a:avLst/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0" y="3246120"/>
            <a:ext cx="4572000" cy="1783080"/>
          </a:xfrm>
          <a:prstGeom prst="rect">
            <a:avLst/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82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Advantages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754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Limitations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64592" y="3694176"/>
            <a:ext cx="146304" cy="146304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84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Data Backup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384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machine can be snapshotted independently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164592" y="4187952"/>
            <a:ext cx="146304" cy="146304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84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Server restarts without data loss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384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Separated responsibilities, reduced failure scope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736592" y="3694176"/>
            <a:ext cx="146304" cy="146304"/>
          </a:xfrm>
          <a:prstGeom prst="ellipse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956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Increased network latency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4956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Same-host IPC → cross-machine TCP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736592" y="4187952"/>
            <a:ext cx="146304" cy="146304"/>
          </a:xfrm>
          <a:prstGeom prst="ellipse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956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a Single Point of Failure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4956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Either App or DB going down causes service outage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Three-Tier Architecture: Frontend + Backend + Database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685800"/>
            <a:ext cx="1097280" cy="1280160"/>
          </a:xfrm>
          <a:prstGeom prst="roundRect">
            <a:avLst>
              <a:gd name="adj" fmla="val 8333"/>
            </a:avLst>
          </a:prstGeom>
          <a:solidFill>
            <a:srgbClr val="F5F1EB"/>
          </a:solidFill>
          <a:ln w="19050">
            <a:solidFill>
              <a:srgbClr val="908880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74320" y="740664"/>
            <a:ext cx="1097280" cy="5888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29184" y="1351483"/>
            <a:ext cx="9875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435608" y="1463040"/>
            <a:ext cx="420624" cy="9144"/>
          </a:xfrm>
          <a:prstGeom prst="line">
            <a:avLst/>
          </a:prstGeom>
          <a:noFill/>
          <a:ln w="19050">
            <a:solidFill>
              <a:srgbClr val="5B8DB8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>
            <a:off x="1371600" y="1289304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5B8DB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71600" y="1289304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B8D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HTTP/443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1920240" y="685800"/>
            <a:ext cx="1554480" cy="1554480"/>
          </a:xfrm>
          <a:prstGeom prst="roundRect">
            <a:avLst>
              <a:gd name="adj" fmla="val 5882"/>
            </a:avLst>
          </a:prstGeom>
          <a:solidFill>
            <a:srgbClr val="F5F1EB"/>
          </a:solidFill>
          <a:ln w="19050">
            <a:solidFill>
              <a:srgbClr val="5B8DB8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920240" y="740664"/>
            <a:ext cx="1554480" cy="7150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975104" y="1494130"/>
            <a:ext cx="14447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956816" y="1722730"/>
            <a:ext cx="14813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Nginx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server-01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538728" y="1508760"/>
            <a:ext cx="457200" cy="9144"/>
          </a:xfrm>
          <a:prstGeom prst="line">
            <a:avLst/>
          </a:prstGeom>
          <a:noFill/>
          <a:ln w="19050">
            <a:solidFill>
              <a:srgbClr val="5A9B6E"/>
            </a:solidFill>
            <a:prstDash val="solid"/>
            <a:tailEnd type="arrow"/>
          </a:ln>
        </p:spPr>
      </p:sp>
      <p:sp>
        <p:nvSpPr>
          <p:cNvPr id="20" name="Shape 18"/>
          <p:cNvSpPr/>
          <p:nvPr/>
        </p:nvSpPr>
        <p:spPr>
          <a:xfrm>
            <a:off x="3493008" y="1335024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5A9B6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93008" y="1335024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9B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Proxy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4069080" y="685800"/>
            <a:ext cx="1554480" cy="1554480"/>
          </a:xfrm>
          <a:prstGeom prst="roundRect">
            <a:avLst>
              <a:gd name="adj" fmla="val 5882"/>
            </a:avLst>
          </a:prstGeom>
          <a:solidFill>
            <a:srgbClr val="F5F1EB"/>
          </a:solidFill>
          <a:ln w="19050">
            <a:solidFill>
              <a:srgbClr val="5A9B6E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069080" y="740664"/>
            <a:ext cx="1554480" cy="7150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123944" y="1494130"/>
            <a:ext cx="14447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105656" y="1722730"/>
            <a:ext cx="14813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FastAPI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server-02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687568" y="1508760"/>
            <a:ext cx="457200" cy="9144"/>
          </a:xfrm>
          <a:prstGeom prst="line">
            <a:avLst/>
          </a:prstGeom>
          <a:noFill/>
          <a:ln w="19050">
            <a:solidFill>
              <a:srgbClr val="C4804A"/>
            </a:solidFill>
            <a:prstDash val="solid"/>
            <a:tailEnd type="arrow"/>
          </a:ln>
        </p:spPr>
      </p:sp>
      <p:sp>
        <p:nvSpPr>
          <p:cNvPr id="27" name="Shape 25"/>
          <p:cNvSpPr/>
          <p:nvPr/>
        </p:nvSpPr>
        <p:spPr>
          <a:xfrm>
            <a:off x="5641848" y="1335024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C480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41848" y="1335024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C48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6217920" y="685800"/>
            <a:ext cx="1554480" cy="1554480"/>
          </a:xfrm>
          <a:prstGeom prst="roundRect">
            <a:avLst>
              <a:gd name="adj" fmla="val 5882"/>
            </a:avLst>
          </a:prstGeom>
          <a:solidFill>
            <a:srgbClr val="F5F1EB"/>
          </a:solidFill>
          <a:ln w="19050">
            <a:solidFill>
              <a:srgbClr val="C4804A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217920" y="740664"/>
            <a:ext cx="1554480" cy="7150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6272784" y="1494130"/>
            <a:ext cx="14447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254496" y="1722730"/>
            <a:ext cx="14813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PostgreSQL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server-03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920240" y="2331720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Assets / Reverse Proxy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069080" y="2331720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 / API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217920" y="2331720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Persistence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0" y="3246120"/>
            <a:ext cx="4572000" cy="1783080"/>
          </a:xfrm>
          <a:prstGeom prst="rect">
            <a:avLst/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72000" y="3246120"/>
            <a:ext cx="4572000" cy="1783080"/>
          </a:xfrm>
          <a:prstGeom prst="rect">
            <a:avLst/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82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Advantages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754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Limitations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164592" y="3694176"/>
            <a:ext cx="146304" cy="146304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4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Separation of concerns, independent scaling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384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and backend can scale separately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164592" y="4187952"/>
            <a:ext cx="146304" cy="146304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84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tech stack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384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tier can use its most suitable technology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736592" y="3694176"/>
            <a:ext cx="146304" cy="146304"/>
          </a:xfrm>
          <a:prstGeom prst="ellipse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56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order issues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4956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→ Backend → Frontend; wrong order = failure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736592" y="4187952"/>
            <a:ext cx="146304" cy="146304"/>
          </a:xfrm>
          <a:prstGeom prst="ellipse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56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dependency hell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4956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Versions across three repos must match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Challenges of Three-Tier Architecture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114800" cy="2057400"/>
          </a:xfrm>
          <a:prstGeom prst="roundRect">
            <a:avLst>
              <a:gd name="adj" fmla="val 5333"/>
            </a:avLst>
          </a:prstGeom>
          <a:solidFill>
            <a:srgbClr val="F8ECEC"/>
          </a:solidFill>
          <a:ln w="15240">
            <a:solidFill>
              <a:srgbClr val="C4605B"/>
            </a:solidFill>
            <a:prstDash val="solid"/>
          </a:ln>
          <a:effectLst>
            <a:outerShdw blurRad="101600" dist="38100" dir="2700000" algn="bl" rotWithShape="0">
              <a:srgbClr val="000000">
                <a:alpha val="4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676656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💣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11480" y="1133856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Order Landmines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149961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Must start DB first, then Backend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18288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Then start Frontend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15798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Wrong order → entire service goes 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566928"/>
            <a:ext cx="4114800" cy="2057400"/>
          </a:xfrm>
          <a:prstGeom prst="roundRect">
            <a:avLst>
              <a:gd name="adj" fmla="val 5333"/>
            </a:avLst>
          </a:prstGeom>
          <a:solidFill>
            <a:srgbClr val="F8ECEC"/>
          </a:solidFill>
          <a:ln w="15240">
            <a:solidFill>
              <a:srgbClr val="C4605B"/>
            </a:solidFill>
            <a:prstDash val="solid"/>
          </a:ln>
          <a:effectLst>
            <a:outerShdw blurRad="101600" dist="38100" dir="27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0" y="676656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🔗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892040" y="1133856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Dependency Hell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2040" y="149961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Frontend v2.1 depends on Backend API v3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2040" y="18288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Backend v3 depends on DB Schema v5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92040" y="215798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Any version mismatch → everything breaks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74320" y="2761488"/>
            <a:ext cx="4114800" cy="2057400"/>
          </a:xfrm>
          <a:prstGeom prst="roundRect">
            <a:avLst>
              <a:gd name="adj" fmla="val 5333"/>
            </a:avLst>
          </a:prstGeom>
          <a:solidFill>
            <a:srgbClr val="F8ECEC"/>
          </a:solidFill>
          <a:ln w="15240">
            <a:solidFill>
              <a:srgbClr val="C4605B"/>
            </a:solidFill>
            <a:prstDash val="solid"/>
          </a:ln>
          <a:effectLst>
            <a:outerShdw blurRad="101600" dist="38100" dir="27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74320" y="2871216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😱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411480" y="3328416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Inconsistency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11480" y="369417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Dev: Mac OS + brew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11480" y="40233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Prod: Ubuntu 20.04 + apt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11480" y="435254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"It works on my machine!"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0" y="2761488"/>
            <a:ext cx="4114800" cy="2057400"/>
          </a:xfrm>
          <a:prstGeom prst="roundRect">
            <a:avLst>
              <a:gd name="adj" fmla="val 5333"/>
            </a:avLst>
          </a:prstGeom>
          <a:solidFill>
            <a:srgbClr val="F8ECEC"/>
          </a:solidFill>
          <a:ln w="15240">
            <a:solidFill>
              <a:srgbClr val="C4605B"/>
            </a:solidFill>
            <a:prstDash val="solid"/>
          </a:ln>
          <a:effectLst>
            <a:outerShdw blurRad="101600" dist="38100" dir="2700000" algn="bl" rotWithShape="0">
              <a:srgbClr val="000000">
                <a:alpha val="4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54880" y="2871216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⛔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4892040" y="3328416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 Prerequisites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892040" y="369417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Session stored locally → can't go multi-node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92040" y="40233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Local cache → data differs per machine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92040" y="435254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Local file writes → data on one machine only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Identify System Bottlenecks?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2743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0" dirty="0">
                <a:solidFill>
                  <a:srgbClr val="000000"/>
                </a:solidFill>
              </a:rPr>
              <a:t>🔍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274320" y="26060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Bottlenecks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566160" y="685800"/>
            <a:ext cx="5212080" cy="658368"/>
          </a:xfrm>
          <a:prstGeom prst="roundRect">
            <a:avLst>
              <a:gd name="adj" fmla="val 9722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66160" y="685800"/>
            <a:ext cx="73152" cy="658368"/>
          </a:xfrm>
          <a:prstGeom prst="rect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03320" y="777240"/>
            <a:ext cx="3840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🔥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160520" y="740664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Saturation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160520" y="996696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Symptoms: requests slowing down | Tools: top, htop, Prometheus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566160" y="1463040"/>
            <a:ext cx="5212080" cy="658368"/>
          </a:xfrm>
          <a:prstGeom prst="roundRect">
            <a:avLst>
              <a:gd name="adj" fmla="val 9722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66160" y="1463040"/>
            <a:ext cx="73152" cy="658368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03320" y="1554480"/>
            <a:ext cx="3840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💾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160520" y="1517904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Exhaustion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160520" y="1773936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Symptoms: OOM kills | Tools: free -m, memory_usage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566160" y="2240280"/>
            <a:ext cx="5212080" cy="658368"/>
          </a:xfrm>
          <a:prstGeom prst="roundRect">
            <a:avLst>
              <a:gd name="adj" fmla="val 9722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66160" y="2240280"/>
            <a:ext cx="73152" cy="658368"/>
          </a:xfrm>
          <a:prstGeom prst="rect">
            <a:avLst/>
          </a:prstGeom>
          <a:solidFill>
            <a:srgbClr val="C4804A"/>
          </a:solidFill>
          <a:ln w="12700">
            <a:solidFill>
              <a:srgbClr val="C480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703320" y="2331720"/>
            <a:ext cx="3840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💿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4160520" y="2295144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 I/O Bottleneck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160520" y="2551176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Symptoms: slow DB queries | Tools: iostat, pg_stat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66160" y="3017520"/>
            <a:ext cx="5212080" cy="658368"/>
          </a:xfrm>
          <a:prstGeom prst="roundRect">
            <a:avLst>
              <a:gd name="adj" fmla="val 9722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66160" y="3017520"/>
            <a:ext cx="73152" cy="658368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03320" y="3108960"/>
            <a:ext cx="3840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160520" y="3072384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Bandwidth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160520" y="3328416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Symptoms: slow large file transfers | Tools: iftop, netstat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566160" y="3794760"/>
            <a:ext cx="5212080" cy="658368"/>
          </a:xfrm>
          <a:prstGeom prst="roundRect">
            <a:avLst>
              <a:gd name="adj" fmla="val 9722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66160" y="3794760"/>
            <a:ext cx="73152" cy="658368"/>
          </a:xfrm>
          <a:prstGeom prst="rect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03320" y="3886200"/>
            <a:ext cx="3840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4160520" y="3849624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Queries (Most Common)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160520" y="4105656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Symptoms: high API P99 | Tools: EXPLAIN ANALYZE, slow_log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74320" y="44348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Measure before optimizing — acting without data is guessing. Profile first, optimize second.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Should You Start Thinking About Scaling?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365760" y="68580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5F1EB"/>
          </a:solidFill>
          <a:ln w="19050">
            <a:solidFill>
              <a:srgbClr val="C4605B"/>
            </a:solidFill>
            <a:prstDash val="solid"/>
          </a:ln>
          <a:effectLst>
            <a:outerShdw blurRad="101600" dist="381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795528"/>
            <a:ext cx="2468880" cy="7991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&gt; 70%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457200" y="165872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for 5+ minutes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914754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 occasional spike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00400" y="68580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5F1EB"/>
          </a:solidFill>
          <a:ln w="19050">
            <a:solidFill>
              <a:srgbClr val="B8892C"/>
            </a:solidFill>
            <a:prstDash val="solid"/>
          </a:ln>
          <a:effectLst>
            <a:outerShdw blurRad="101600" dist="381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91840" y="795528"/>
            <a:ext cx="2468880" cy="7991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&gt; 1s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3291840" y="165872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Tail Latency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91840" y="1914754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are noticing lag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035040" y="68580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5F1EB"/>
          </a:solidFill>
          <a:ln w="19050">
            <a:solidFill>
              <a:srgbClr val="C4605B"/>
            </a:solidFill>
            <a:prstDash val="solid"/>
          </a:ln>
          <a:effectLst>
            <a:outerShdw blurRad="101600" dist="381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126480" y="795528"/>
            <a:ext cx="2468880" cy="7991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&gt; 0.1%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6126480" y="165872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Rate Over Threshold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126480" y="1914754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5xx or timeouts increasing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2606040"/>
            <a:ext cx="8595360" cy="502920"/>
          </a:xfrm>
          <a:prstGeom prst="roundRect">
            <a:avLst>
              <a:gd name="adj" fmla="val 12727"/>
            </a:avLst>
          </a:prstGeom>
          <a:solidFill>
            <a:srgbClr val="F3EDE0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642616"/>
            <a:ext cx="822960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Common mistake: premature scaling — start with code optimization (indexes, caching, queries); don't add machines at the first sign of trouble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3246120"/>
            <a:ext cx="4114800" cy="1600200"/>
          </a:xfrm>
          <a:prstGeom prst="roundRect">
            <a:avLst>
              <a:gd name="adj" fmla="val 5714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3375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Do These First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367588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Add indexes (fastest, cheapest)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395020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Introduce Redis caching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422452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Optimize N+1 queries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449884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CDN for static assets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54880" y="3246120"/>
            <a:ext cx="4114800" cy="1600200"/>
          </a:xfrm>
          <a:prstGeom prst="roundRect">
            <a:avLst>
              <a:gd name="adj" fmla="val 5714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37760" y="33375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Then Consider Scale Out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37760" y="367588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Confirm the bottleneck is truly insufficient capacity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937760" y="395020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Application must be designed stateless first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937760" y="422452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Requires a Load Balancer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Up vs Scale Out: Two Scaling Strategies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0" y="502920"/>
            <a:ext cx="9144" cy="4434840"/>
          </a:xfrm>
          <a:prstGeom prst="line">
            <a:avLst/>
          </a:prstGeom>
          <a:noFill/>
          <a:ln w="9525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 Scale Up (Vertical Scaling)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05156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F5F1EB"/>
          </a:solidFill>
          <a:ln w="19050">
            <a:solidFill>
              <a:srgbClr val="8A8078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" y="1106424"/>
            <a:ext cx="82296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12064" y="1479499"/>
            <a:ext cx="7132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93776" y="1708099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vCPU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325880" y="13258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645920" y="960120"/>
            <a:ext cx="1005840" cy="1005840"/>
          </a:xfrm>
          <a:prstGeom prst="roundRect">
            <a:avLst>
              <a:gd name="adj" fmla="val 9091"/>
            </a:avLst>
          </a:prstGeom>
          <a:solidFill>
            <a:srgbClr val="F5F1EB"/>
          </a:solidFill>
          <a:ln w="19050">
            <a:solidFill>
              <a:srgbClr val="5A9B6E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645920" y="1014984"/>
            <a:ext cx="100584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700784" y="1483157"/>
            <a:ext cx="8961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682496" y="1711757"/>
            <a:ext cx="9326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vCPU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697480" y="13258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2834640" y="822960"/>
            <a:ext cx="1234440" cy="1234440"/>
          </a:xfrm>
          <a:prstGeom prst="roundRect">
            <a:avLst>
              <a:gd name="adj" fmla="val 7407"/>
            </a:avLst>
          </a:prstGeom>
          <a:solidFill>
            <a:srgbClr val="F5F1EB"/>
          </a:solidFill>
          <a:ln w="19050">
            <a:solidFill>
              <a:srgbClr val="C4605B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834640" y="877824"/>
            <a:ext cx="1234440" cy="567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889504" y="1464869"/>
            <a:ext cx="11247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871216" y="1693469"/>
            <a:ext cx="11612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64 vCPU 💸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114800" y="868680"/>
            <a:ext cx="320040" cy="1097280"/>
          </a:xfrm>
          <a:prstGeom prst="roundRect">
            <a:avLst>
              <a:gd name="adj" fmla="val 14286"/>
            </a:avLst>
          </a:prstGeom>
          <a:ln w="12700">
            <a:solidFill>
              <a:srgbClr val="C4605B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4096512" y="804672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274320" y="2267712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7472" y="233172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7472" y="232257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67512" y="2304288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Code Changes Required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67512" y="2496312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Simply upgrade machine specs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4320" y="2871216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7472" y="2935224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7472" y="2926080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67512" y="2907792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Exponential Cost Growth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67512" y="3099816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High-end machines are expensive and still a SPOF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74320" y="3493008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47472" y="355701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47472" y="354787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67512" y="3529584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Limits Exist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67512" y="3721608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downtime to upgrade; has a ceiling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  Scale Out (Horizontal Scaling)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937760" y="100584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F5F1EB"/>
          </a:solidFill>
          <a:ln w="15240">
            <a:solidFill>
              <a:srgbClr val="8B6A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37760" y="10058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6217920" y="822960"/>
            <a:ext cx="1005840" cy="41148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63640" y="822960"/>
            <a:ext cx="2377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510528" y="822960"/>
            <a:ext cx="6766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760720" y="1024128"/>
            <a:ext cx="457200" cy="9144"/>
          </a:xfrm>
          <a:prstGeom prst="line">
            <a:avLst/>
          </a:prstGeom>
          <a:noFill/>
          <a:ln w="12700">
            <a:solidFill>
              <a:srgbClr val="8B6AB5"/>
            </a:solidFill>
            <a:prstDash val="solid"/>
            <a:tailEnd type="arrow"/>
          </a:ln>
        </p:spPr>
      </p:sp>
      <p:sp>
        <p:nvSpPr>
          <p:cNvPr id="48" name="Shape 46"/>
          <p:cNvSpPr/>
          <p:nvPr/>
        </p:nvSpPr>
        <p:spPr>
          <a:xfrm>
            <a:off x="6217920" y="1371600"/>
            <a:ext cx="1005840" cy="41148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263640" y="1371600"/>
            <a:ext cx="2377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6510528" y="1371600"/>
            <a:ext cx="6766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760720" y="1572768"/>
            <a:ext cx="457200" cy="9144"/>
          </a:xfrm>
          <a:prstGeom prst="line">
            <a:avLst/>
          </a:prstGeom>
          <a:noFill/>
          <a:ln w="12700">
            <a:solidFill>
              <a:srgbClr val="8B6AB5"/>
            </a:solidFill>
            <a:prstDash val="solid"/>
            <a:tailEnd type="arrow"/>
          </a:ln>
        </p:spPr>
      </p:sp>
      <p:sp>
        <p:nvSpPr>
          <p:cNvPr id="52" name="Shape 50"/>
          <p:cNvSpPr/>
          <p:nvPr/>
        </p:nvSpPr>
        <p:spPr>
          <a:xfrm>
            <a:off x="6217920" y="1920240"/>
            <a:ext cx="1005840" cy="41148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263640" y="1920240"/>
            <a:ext cx="2377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6510528" y="1920240"/>
            <a:ext cx="6766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5760720" y="2121408"/>
            <a:ext cx="457200" cy="9144"/>
          </a:xfrm>
          <a:prstGeom prst="line">
            <a:avLst/>
          </a:prstGeom>
          <a:noFill/>
          <a:ln w="12700">
            <a:solidFill>
              <a:srgbClr val="8B6AB5"/>
            </a:solidFill>
            <a:prstDash val="solid"/>
            <a:tailEnd type="arrow"/>
          </a:ln>
        </p:spPr>
      </p:sp>
      <p:sp>
        <p:nvSpPr>
          <p:cNvPr id="56" name="Shape 54"/>
          <p:cNvSpPr/>
          <p:nvPr/>
        </p:nvSpPr>
        <p:spPr>
          <a:xfrm>
            <a:off x="4754880" y="2267712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28032" y="233172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828032" y="232257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148072" y="2304288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Cost Growth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5148072" y="2496312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fleet with small machines for high flexibility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4754880" y="2871216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828032" y="2935224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828032" y="2926080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5148072" y="2907792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Without Downtime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5148072" y="3099816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Dynamically add/remove nodes to handle traffic peaks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4754880" y="3493008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828032" y="355701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F3EDE0"/>
          </a:solidFill>
          <a:ln w="6350">
            <a:solidFill>
              <a:srgbClr val="B8892C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828032" y="354787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5148072" y="3529584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Prerequisite: App Must Be Stateless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5148072" y="3721608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Session, local cache, local file writes → all need redesign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Design: The Prerequisite for Scale Out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0" y="502920"/>
            <a:ext cx="9144" cy="4434840"/>
          </a:xfrm>
          <a:prstGeom prst="line">
            <a:avLst/>
          </a:prstGeom>
          <a:noFill/>
          <a:ln w="9525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Stateful — Cannot Scale Out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188720"/>
            <a:ext cx="914400" cy="777240"/>
          </a:xfrm>
          <a:prstGeom prst="roundRect">
            <a:avLst>
              <a:gd name="adj" fmla="val 11765"/>
            </a:avLst>
          </a:prstGeom>
          <a:solidFill>
            <a:srgbClr val="F5F1EB"/>
          </a:solidFill>
          <a:ln w="19050">
            <a:solidFill>
              <a:srgbClr val="908880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5760" y="1243584"/>
            <a:ext cx="914400" cy="357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20624" y="1592885"/>
            <a:ext cx="8046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344168" y="1673352"/>
            <a:ext cx="365760" cy="9144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>
            <a:off x="1764792" y="1188720"/>
            <a:ext cx="822960" cy="777240"/>
          </a:xfrm>
          <a:prstGeom prst="roundRect">
            <a:avLst>
              <a:gd name="adj" fmla="val 11765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764792" y="1243584"/>
            <a:ext cx="822960" cy="357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⚖️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819656" y="1592885"/>
            <a:ext cx="7132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834640" y="868680"/>
            <a:ext cx="1097280" cy="68580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9050">
            <a:solidFill>
              <a:srgbClr val="5A9B6E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834640" y="923544"/>
            <a:ext cx="109728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💾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889504" y="1225296"/>
            <a:ext cx="9875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834640" y="1691640"/>
            <a:ext cx="1097280" cy="68580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9050">
            <a:solidFill>
              <a:srgbClr val="5A9B6E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834640" y="1746504"/>
            <a:ext cx="109728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💾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889504" y="2048256"/>
            <a:ext cx="9875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B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587752" y="1161288"/>
            <a:ext cx="246888" cy="137160"/>
          </a:xfrm>
          <a:prstGeom prst="line">
            <a:avLst/>
          </a:prstGeom>
          <a:noFill/>
          <a:ln w="12700">
            <a:solidFill>
              <a:srgbClr val="8B6AB5"/>
            </a:solidFill>
            <a:prstDash val="solid"/>
            <a:tailEnd type="arrow"/>
          </a:ln>
        </p:spPr>
      </p:sp>
      <p:sp>
        <p:nvSpPr>
          <p:cNvPr id="23" name="Shape 21"/>
          <p:cNvSpPr/>
          <p:nvPr/>
        </p:nvSpPr>
        <p:spPr>
          <a:xfrm>
            <a:off x="2587752" y="1417320"/>
            <a:ext cx="246888" cy="502920"/>
          </a:xfrm>
          <a:prstGeom prst="line">
            <a:avLst/>
          </a:prstGeom>
          <a:noFill/>
          <a:ln w="12700">
            <a:solidFill>
              <a:srgbClr val="8B6AB5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274320" y="251460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#2 can't find Session → user gets logged out!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74320" y="2788920"/>
            <a:ext cx="4023360" cy="365760"/>
          </a:xfrm>
          <a:prstGeom prst="roundRect">
            <a:avLst>
              <a:gd name="adj" fmla="val 17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7472" y="285292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7472" y="284378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67512" y="2825496"/>
            <a:ext cx="3529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stored in local memory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274320" y="3310128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472" y="337413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" y="336499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67512" y="3346704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must use Sticky Session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67512" y="3538728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server down = all its users logged out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Stateless — Free to Scale Out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846320" y="1188720"/>
            <a:ext cx="914400" cy="777240"/>
          </a:xfrm>
          <a:prstGeom prst="roundRect">
            <a:avLst>
              <a:gd name="adj" fmla="val 11765"/>
            </a:avLst>
          </a:prstGeom>
          <a:solidFill>
            <a:srgbClr val="F5F1EB"/>
          </a:solidFill>
          <a:ln w="19050">
            <a:solidFill>
              <a:srgbClr val="908880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846320" y="1243584"/>
            <a:ext cx="914400" cy="357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4901184" y="1592885"/>
            <a:ext cx="8046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824728" y="1673352"/>
            <a:ext cx="365760" cy="9144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>
            <a:off x="6245352" y="1188720"/>
            <a:ext cx="822960" cy="777240"/>
          </a:xfrm>
          <a:prstGeom prst="roundRect">
            <a:avLst>
              <a:gd name="adj" fmla="val 11765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6245352" y="1243584"/>
            <a:ext cx="822960" cy="357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⚖️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6300216" y="1592885"/>
            <a:ext cx="7132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7178040" y="822960"/>
            <a:ext cx="1508760" cy="1600200"/>
          </a:xfrm>
          <a:prstGeom prst="roundRect">
            <a:avLst>
              <a:gd name="adj" fmla="val 6061"/>
            </a:avLst>
          </a:prstGeom>
          <a:ln w="12700">
            <a:solidFill>
              <a:srgbClr val="5A9B6E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7269480" y="960120"/>
            <a:ext cx="1325880" cy="41148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315200" y="960120"/>
            <a:ext cx="2377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7562088" y="960120"/>
            <a:ext cx="99669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7269480" y="1417320"/>
            <a:ext cx="1325880" cy="41148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315200" y="1417320"/>
            <a:ext cx="2377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7562088" y="1417320"/>
            <a:ext cx="99669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B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7068312" y="1207008"/>
            <a:ext cx="201168" cy="146304"/>
          </a:xfrm>
          <a:prstGeom prst="line">
            <a:avLst/>
          </a:prstGeom>
          <a:noFill/>
          <a:ln w="12700">
            <a:solidFill>
              <a:srgbClr val="8B6AB5"/>
            </a:solidFill>
            <a:prstDash val="solid"/>
            <a:tailEnd type="arrow"/>
          </a:ln>
        </p:spPr>
      </p:sp>
      <p:sp>
        <p:nvSpPr>
          <p:cNvPr id="51" name="Shape 49"/>
          <p:cNvSpPr/>
          <p:nvPr/>
        </p:nvSpPr>
        <p:spPr>
          <a:xfrm>
            <a:off x="7068312" y="1435608"/>
            <a:ext cx="201168" cy="201168"/>
          </a:xfrm>
          <a:prstGeom prst="line">
            <a:avLst/>
          </a:prstGeom>
          <a:noFill/>
          <a:ln w="12700">
            <a:solidFill>
              <a:srgbClr val="8B6AB5"/>
            </a:solidFill>
            <a:prstDash val="solid"/>
            <a:tailEnd type="arrow"/>
          </a:ln>
        </p:spPr>
      </p:sp>
      <p:sp>
        <p:nvSpPr>
          <p:cNvPr id="52" name="Shape 50"/>
          <p:cNvSpPr/>
          <p:nvPr/>
        </p:nvSpPr>
        <p:spPr>
          <a:xfrm>
            <a:off x="7589520" y="2560320"/>
            <a:ext cx="1280160" cy="822960"/>
          </a:xfrm>
          <a:prstGeom prst="roundRect">
            <a:avLst>
              <a:gd name="adj" fmla="val 11111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7589520" y="2615184"/>
            <a:ext cx="128016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54" name="Text 52"/>
          <p:cNvSpPr/>
          <p:nvPr/>
        </p:nvSpPr>
        <p:spPr>
          <a:xfrm>
            <a:off x="7644384" y="2988259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7626096" y="3216859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 Store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8229600" y="1371600"/>
            <a:ext cx="9144" cy="1188720"/>
          </a:xfrm>
          <a:prstGeom prst="line">
            <a:avLst/>
          </a:prstGeom>
          <a:noFill/>
          <a:ln w="12700">
            <a:solidFill>
              <a:srgbClr val="8B6AB5"/>
            </a:solidFill>
            <a:prstDash val="dash"/>
            <a:tailEnd type="arrow"/>
          </a:ln>
        </p:spPr>
      </p:sp>
      <p:sp>
        <p:nvSpPr>
          <p:cNvPr id="57" name="Shape 55"/>
          <p:cNvSpPr/>
          <p:nvPr/>
        </p:nvSpPr>
        <p:spPr>
          <a:xfrm>
            <a:off x="4754880" y="2788920"/>
            <a:ext cx="4023360" cy="365760"/>
          </a:xfrm>
          <a:prstGeom prst="roundRect">
            <a:avLst>
              <a:gd name="adj" fmla="val 17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828032" y="285292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828032" y="284378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148072" y="2825496"/>
            <a:ext cx="3529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centralized in Redis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4754880" y="3310128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828032" y="337413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828032" y="336499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5148072" y="3346704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server can handle any request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5148072" y="3538728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distributes freely; servers can be added or removed anytime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4754880" y="3858768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828032" y="392277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F3EDE0"/>
          </a:solidFill>
          <a:ln w="6350">
            <a:solidFill>
              <a:srgbClr val="B8892C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828032" y="391363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5148072" y="3895344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watch out: local cache, local file writes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5148072" y="4087368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state must be externalized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A9B6E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Summary: Architecture Evolution Roadmap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F5F1EB"/>
          </a:solidFill>
          <a:ln w="15240">
            <a:solidFill>
              <a:srgbClr val="5A9B6E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667512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🖥️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47472" y="1069848"/>
            <a:ext cx="3968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A9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Single-Server Deployment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389888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Simple setup, fast to start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164592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SPOF — Single Point of Failure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5760" y="1901952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Cannot scale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54880" y="59436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F5F1EB"/>
          </a:solidFill>
          <a:ln w="15240">
            <a:solidFill>
              <a:srgbClr val="C4804A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0" y="667512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828032" y="1069848"/>
            <a:ext cx="3968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48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Separation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46320" y="1389888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Data separated from application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46320" y="164592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Independent backup and optimization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846320" y="1901952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Still 2 SPOFs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283464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F5F1EB"/>
          </a:solidFill>
          <a:ln w="15240">
            <a:solidFill>
              <a:srgbClr val="5B8DB8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74320" y="2907792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47472" y="3310128"/>
            <a:ext cx="3968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8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Three-Tier Architecture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5760" y="3630168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Clear separation of concerns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65760" y="388620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Flexible tech stack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5760" y="4142232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Version dependencies grow complex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754880" y="283464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F5F1EB"/>
          </a:solidFill>
          <a:ln w="15240">
            <a:solidFill>
              <a:srgbClr val="8B6AB5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54880" y="2907792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⚖️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828032" y="3310128"/>
            <a:ext cx="3968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 Readiness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46320" y="3630168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Requires Load Balancer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846320" y="388620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App must be stateless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846320" y="4142232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Ready? → Part 2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0" y="4828032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Part 2: The Challenges of Scale Out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Balancer: Core Traffic Distribution Component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82880" y="777240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9088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8600" y="77724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👤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5488" y="777240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82880" y="1280160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9088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8600" y="128016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👤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5488" y="1280160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82880" y="1783080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9088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600" y="17830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👤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" y="1783080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280160" y="950976"/>
            <a:ext cx="201168" cy="9144"/>
          </a:xfrm>
          <a:prstGeom prst="line">
            <a:avLst/>
          </a:prstGeom>
          <a:noFill/>
          <a:ln w="19050">
            <a:solidFill>
              <a:srgbClr val="908880"/>
            </a:solidFill>
            <a:prstDash val="solid"/>
            <a:tailEnd type="arrow"/>
          </a:ln>
        </p:spPr>
      </p:sp>
      <p:sp>
        <p:nvSpPr>
          <p:cNvPr id="19" name="Shape 17"/>
          <p:cNvSpPr/>
          <p:nvPr/>
        </p:nvSpPr>
        <p:spPr>
          <a:xfrm>
            <a:off x="1280160" y="1453896"/>
            <a:ext cx="201168" cy="9144"/>
          </a:xfrm>
          <a:prstGeom prst="line">
            <a:avLst/>
          </a:prstGeom>
          <a:noFill/>
          <a:ln w="19050">
            <a:solidFill>
              <a:srgbClr val="908880"/>
            </a:solidFill>
            <a:prstDash val="solid"/>
            <a:tailEnd type="arrow"/>
          </a:ln>
        </p:spPr>
      </p:sp>
      <p:sp>
        <p:nvSpPr>
          <p:cNvPr id="20" name="Shape 18"/>
          <p:cNvSpPr/>
          <p:nvPr/>
        </p:nvSpPr>
        <p:spPr>
          <a:xfrm>
            <a:off x="1280160" y="1956816"/>
            <a:ext cx="201168" cy="9144"/>
          </a:xfrm>
          <a:prstGeom prst="line">
            <a:avLst/>
          </a:prstGeom>
          <a:noFill/>
          <a:ln w="19050">
            <a:solidFill>
              <a:srgbClr val="908880"/>
            </a:solidFill>
            <a:prstDash val="solid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1554480" y="1005840"/>
            <a:ext cx="1371600" cy="1371600"/>
          </a:xfrm>
          <a:prstGeom prst="roundRect">
            <a:avLst>
              <a:gd name="adj" fmla="val 6667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554480" y="1060704"/>
            <a:ext cx="137160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⚖️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609344" y="1719072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Balancer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591056" y="1947672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Round Robin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Least Conn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137160" y="2487168"/>
            <a:ext cx="914400" cy="201168"/>
          </a:xfrm>
          <a:prstGeom prst="roundRect">
            <a:avLst>
              <a:gd name="adj" fmla="val 22727"/>
            </a:avLst>
          </a:prstGeom>
          <a:solidFill>
            <a:srgbClr val="ECE6DD"/>
          </a:solidFill>
          <a:ln w="9525">
            <a:solidFill>
              <a:srgbClr val="8B6A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7160" y="248716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Robin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1124712" y="2487168"/>
            <a:ext cx="914400" cy="201168"/>
          </a:xfrm>
          <a:prstGeom prst="roundRect">
            <a:avLst>
              <a:gd name="adj" fmla="val 22727"/>
            </a:avLst>
          </a:prstGeom>
          <a:solidFill>
            <a:srgbClr val="ECE6DD"/>
          </a:solidFill>
          <a:ln w="9525">
            <a:solidFill>
              <a:srgbClr val="8B6A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24712" y="248716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Conn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2112264" y="2487168"/>
            <a:ext cx="914400" cy="201168"/>
          </a:xfrm>
          <a:prstGeom prst="roundRect">
            <a:avLst>
              <a:gd name="adj" fmla="val 22727"/>
            </a:avLst>
          </a:prstGeom>
          <a:solidFill>
            <a:srgbClr val="ECE6DD"/>
          </a:solidFill>
          <a:ln w="9525">
            <a:solidFill>
              <a:srgbClr val="8B6A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112264" y="248716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Hash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3099816" y="2487168"/>
            <a:ext cx="914400" cy="201168"/>
          </a:xfrm>
          <a:prstGeom prst="roundRect">
            <a:avLst>
              <a:gd name="adj" fmla="val 22727"/>
            </a:avLst>
          </a:prstGeom>
          <a:solidFill>
            <a:srgbClr val="ECE6DD"/>
          </a:solidFill>
          <a:ln w="9525">
            <a:solidFill>
              <a:srgbClr val="8B6A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99816" y="248716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3200400" y="548640"/>
            <a:ext cx="1828800" cy="2578608"/>
          </a:xfrm>
          <a:prstGeom prst="roundRect">
            <a:avLst>
              <a:gd name="adj" fmla="val 5000"/>
            </a:avLst>
          </a:prstGeom>
          <a:ln w="12700">
            <a:solidFill>
              <a:srgbClr val="5A9B6E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3291840" y="4023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FFFDF8"/>
          </a:solidFill>
          <a:ln w="6350">
            <a:solidFill>
              <a:srgbClr val="5A9B6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10128" y="4023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9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GROUP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337560" y="658368"/>
            <a:ext cx="1463040" cy="658368"/>
          </a:xfrm>
          <a:prstGeom prst="roundRect">
            <a:avLst>
              <a:gd name="adj" fmla="val 13889"/>
            </a:avLst>
          </a:prstGeom>
          <a:solidFill>
            <a:srgbClr val="F5F1EB"/>
          </a:solidFill>
          <a:ln w="19050">
            <a:solidFill>
              <a:srgbClr val="5A9B6E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3337560" y="713232"/>
            <a:ext cx="1463040" cy="3028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3392424" y="1000719"/>
            <a:ext cx="13533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api-01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3374136" y="1229319"/>
            <a:ext cx="13898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37560" y="1371600"/>
            <a:ext cx="1463040" cy="658368"/>
          </a:xfrm>
          <a:prstGeom prst="roundRect">
            <a:avLst>
              <a:gd name="adj" fmla="val 13889"/>
            </a:avLst>
          </a:prstGeom>
          <a:solidFill>
            <a:srgbClr val="F5F1EB"/>
          </a:solidFill>
          <a:ln w="19050">
            <a:solidFill>
              <a:srgbClr val="5A9B6E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3337560" y="1426464"/>
            <a:ext cx="1463040" cy="3028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3392424" y="1713951"/>
            <a:ext cx="13533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api-02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3374136" y="1942551"/>
            <a:ext cx="13898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3337560" y="2084832"/>
            <a:ext cx="1463040" cy="658368"/>
          </a:xfrm>
          <a:prstGeom prst="roundRect">
            <a:avLst>
              <a:gd name="adj" fmla="val 13889"/>
            </a:avLst>
          </a:prstGeom>
          <a:solidFill>
            <a:srgbClr val="F5F1EB"/>
          </a:solidFill>
          <a:ln w="19050">
            <a:solidFill>
              <a:srgbClr val="5A9B6E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3337560" y="2139696"/>
            <a:ext cx="1463040" cy="3028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3392424" y="2427183"/>
            <a:ext cx="13533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api-03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3374136" y="2655783"/>
            <a:ext cx="13898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2971800" y="950976"/>
            <a:ext cx="320040" cy="9144"/>
          </a:xfrm>
          <a:prstGeom prst="line">
            <a:avLst/>
          </a:prstGeom>
          <a:noFill/>
          <a:ln w="19050">
            <a:solidFill>
              <a:srgbClr val="8B6AB5"/>
            </a:solidFill>
            <a:prstDash val="solid"/>
            <a:tailEnd type="arrow"/>
          </a:ln>
        </p:spPr>
      </p:sp>
      <p:sp>
        <p:nvSpPr>
          <p:cNvPr id="49" name="Shape 47"/>
          <p:cNvSpPr/>
          <p:nvPr/>
        </p:nvSpPr>
        <p:spPr>
          <a:xfrm>
            <a:off x="2971800" y="1664208"/>
            <a:ext cx="320040" cy="9144"/>
          </a:xfrm>
          <a:prstGeom prst="line">
            <a:avLst/>
          </a:prstGeom>
          <a:noFill/>
          <a:ln w="19050">
            <a:solidFill>
              <a:srgbClr val="8B6AB5"/>
            </a:solidFill>
            <a:prstDash val="solid"/>
            <a:tailEnd type="arrow"/>
          </a:ln>
        </p:spPr>
      </p:sp>
      <p:sp>
        <p:nvSpPr>
          <p:cNvPr id="50" name="Shape 48"/>
          <p:cNvSpPr/>
          <p:nvPr/>
        </p:nvSpPr>
        <p:spPr>
          <a:xfrm>
            <a:off x="2971800" y="2377440"/>
            <a:ext cx="320040" cy="9144"/>
          </a:xfrm>
          <a:prstGeom prst="line">
            <a:avLst/>
          </a:prstGeom>
          <a:noFill/>
          <a:ln w="19050">
            <a:solidFill>
              <a:srgbClr val="8B6AB5"/>
            </a:solidFill>
            <a:prstDash val="solid"/>
            <a:tailEnd type="arrow"/>
          </a:ln>
        </p:spPr>
      </p:sp>
      <p:sp>
        <p:nvSpPr>
          <p:cNvPr id="51" name="Shape 49"/>
          <p:cNvSpPr/>
          <p:nvPr/>
        </p:nvSpPr>
        <p:spPr>
          <a:xfrm>
            <a:off x="5577840" y="1188720"/>
            <a:ext cx="1554480" cy="1005840"/>
          </a:xfrm>
          <a:prstGeom prst="roundRect">
            <a:avLst>
              <a:gd name="adj" fmla="val 9091"/>
            </a:avLst>
          </a:prstGeom>
          <a:solidFill>
            <a:srgbClr val="F5F1EB"/>
          </a:solidFill>
          <a:ln w="19050">
            <a:solidFill>
              <a:srgbClr val="C4804A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5577840" y="1243584"/>
            <a:ext cx="155448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5632704" y="1711757"/>
            <a:ext cx="14447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5614416" y="1940357"/>
            <a:ext cx="14813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 Primary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4846320" y="950976"/>
            <a:ext cx="685800" cy="9144"/>
          </a:xfrm>
          <a:prstGeom prst="line">
            <a:avLst/>
          </a:prstGeom>
          <a:noFill/>
          <a:ln w="19050">
            <a:solidFill>
              <a:srgbClr val="C4804A"/>
            </a:solidFill>
            <a:prstDash val="solid"/>
            <a:tailEnd type="arrow"/>
          </a:ln>
        </p:spPr>
      </p:sp>
      <p:sp>
        <p:nvSpPr>
          <p:cNvPr id="56" name="Shape 54"/>
          <p:cNvSpPr/>
          <p:nvPr/>
        </p:nvSpPr>
        <p:spPr>
          <a:xfrm>
            <a:off x="4846320" y="1664208"/>
            <a:ext cx="685800" cy="9144"/>
          </a:xfrm>
          <a:prstGeom prst="line">
            <a:avLst/>
          </a:prstGeom>
          <a:noFill/>
          <a:ln w="19050">
            <a:solidFill>
              <a:srgbClr val="C4804A"/>
            </a:solidFill>
            <a:prstDash val="solid"/>
            <a:tailEnd type="arrow"/>
          </a:ln>
        </p:spPr>
      </p:sp>
      <p:sp>
        <p:nvSpPr>
          <p:cNvPr id="57" name="Shape 55"/>
          <p:cNvSpPr/>
          <p:nvPr/>
        </p:nvSpPr>
        <p:spPr>
          <a:xfrm>
            <a:off x="4846320" y="2377440"/>
            <a:ext cx="685800" cy="9144"/>
          </a:xfrm>
          <a:prstGeom prst="line">
            <a:avLst/>
          </a:prstGeom>
          <a:noFill/>
          <a:ln w="19050">
            <a:solidFill>
              <a:srgbClr val="C4804A"/>
            </a:solidFill>
            <a:prstDash val="solid"/>
            <a:tailEnd type="arrow"/>
          </a:ln>
        </p:spPr>
      </p:sp>
      <p:sp>
        <p:nvSpPr>
          <p:cNvPr id="58" name="Shape 56"/>
          <p:cNvSpPr/>
          <p:nvPr/>
        </p:nvSpPr>
        <p:spPr>
          <a:xfrm>
            <a:off x="0" y="3246120"/>
            <a:ext cx="4572000" cy="1783080"/>
          </a:xfrm>
          <a:prstGeom prst="rect">
            <a:avLst/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572000" y="3246120"/>
            <a:ext cx="4572000" cy="1783080"/>
          </a:xfrm>
          <a:prstGeom prst="rect">
            <a:avLst/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82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Advantages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4754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Limitations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164592" y="3694176"/>
            <a:ext cx="146304" cy="146304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84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Traffic Distribution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384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single-node overload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164592" y="4187952"/>
            <a:ext cx="146304" cy="146304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84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Availability (HA)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384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one server fails, LB auto-excludes it — no service interruption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4736592" y="3694176"/>
            <a:ext cx="146304" cy="146304"/>
          </a:xfrm>
          <a:prstGeom prst="ellipse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956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Stickiness Issue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4956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user may be routed to different servers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4736592" y="4187952"/>
            <a:ext cx="146304" cy="146304"/>
          </a:xfrm>
          <a:prstGeom prst="ellipse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956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Itself Needs HA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4956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failure → entire service goes down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 Pitfalls: Session State Issues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Session Stickiness Problem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105156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9088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05156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👤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12648" y="1051560"/>
            <a:ext cx="6766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463040" y="1051560"/>
            <a:ext cx="91440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08760" y="105156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⚖️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755648" y="1051560"/>
            <a:ext cx="5852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371600" y="1325880"/>
            <a:ext cx="45720" cy="9144"/>
          </a:xfrm>
          <a:prstGeom prst="line">
            <a:avLst/>
          </a:prstGeom>
          <a:noFill/>
          <a:ln w="19050">
            <a:solidFill>
              <a:srgbClr val="8A8078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>
            <a:off x="2514600" y="960120"/>
            <a:ext cx="1371600" cy="475488"/>
          </a:xfrm>
          <a:prstGeom prst="roundRect">
            <a:avLst>
              <a:gd name="adj" fmla="val 13462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14600" y="960120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Server A  💾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423160" y="1252728"/>
            <a:ext cx="45720" cy="9144"/>
          </a:xfrm>
          <a:prstGeom prst="line">
            <a:avLst/>
          </a:prstGeom>
          <a:noFill/>
          <a:ln w="19050">
            <a:solidFill>
              <a:srgbClr val="8A8078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2514600" y="1737360"/>
            <a:ext cx="1371600" cy="475488"/>
          </a:xfrm>
          <a:prstGeom prst="roundRect">
            <a:avLst>
              <a:gd name="adj" fmla="val 13462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1737360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Server B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423160" y="2029968"/>
            <a:ext cx="45720" cy="9144"/>
          </a:xfrm>
          <a:prstGeom prst="line">
            <a:avLst/>
          </a:prstGeom>
          <a:noFill/>
          <a:ln w="19050">
            <a:solidFill>
              <a:srgbClr val="8A8078"/>
            </a:solidFill>
            <a:prstDash val="solid"/>
            <a:tailEnd type="arrow"/>
          </a:ln>
        </p:spPr>
      </p:sp>
      <p:sp>
        <p:nvSpPr>
          <p:cNvPr id="21" name="Text 19"/>
          <p:cNvSpPr/>
          <p:nvPr/>
        </p:nvSpPr>
        <p:spPr>
          <a:xfrm>
            <a:off x="320040" y="251460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#2 → Server B → Session not found → Logged out!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0" y="502920"/>
            <a:ext cx="9144" cy="4480560"/>
          </a:xfrm>
          <a:prstGeom prst="line">
            <a:avLst/>
          </a:prstGeom>
          <a:noFill/>
          <a:ln w="6350">
            <a:solidFill>
              <a:srgbClr val="D6CCB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Three Solutions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54880" y="1005840"/>
            <a:ext cx="4023360" cy="868680"/>
          </a:xfrm>
          <a:prstGeom prst="roundRect">
            <a:avLst>
              <a:gd name="adj" fmla="val 10526"/>
            </a:avLst>
          </a:prstGeom>
          <a:solidFill>
            <a:srgbClr val="F5F1EB"/>
          </a:solidFill>
          <a:ln w="15240">
            <a:solidFill>
              <a:srgbClr val="4A996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92040" y="10972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JWT Token (Stateless)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892040" y="1408176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stored on client, server is stateless | Recommended for REST API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754880" y="1965960"/>
            <a:ext cx="4023360" cy="868680"/>
          </a:xfrm>
          <a:prstGeom prst="roundRect">
            <a:avLst>
              <a:gd name="adj" fmla="val 10526"/>
            </a:avLst>
          </a:prstGeom>
          <a:solidFill>
            <a:srgbClr val="F5F1EB"/>
          </a:solidFill>
          <a:ln w="15240">
            <a:solidFill>
              <a:srgbClr val="8B6A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92040" y="20574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Redis Centralized Session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892040" y="2368296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stored centrally in Redis, shared by all servers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754880" y="2926080"/>
            <a:ext cx="4023360" cy="868680"/>
          </a:xfrm>
          <a:prstGeom prst="roundRect">
            <a:avLst>
              <a:gd name="adj" fmla="val 10526"/>
            </a:avLst>
          </a:prstGeom>
          <a:solidFill>
            <a:srgbClr val="F5F1EB"/>
          </a:solidFill>
          <a:ln w="15240">
            <a:solidFill>
              <a:srgbClr val="B8892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92040" y="301752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Sticky Session (Not Recommended ⚠️)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892040" y="3328416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binds to fixed IP | Loses scale out flexibility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74320" y="44348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Modern architectures prefer the JWT + Redis combo — making servers truly stateless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C4804A"/>
          </a:solidFill>
          <a:ln w="12700">
            <a:solidFill>
              <a:srgbClr val="C480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Scaling: Read Replica Architecture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7/10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672084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685800"/>
            <a:ext cx="2011680" cy="2286000"/>
          </a:xfrm>
          <a:prstGeom prst="roundRect">
            <a:avLst>
              <a:gd name="adj" fmla="val 4545"/>
            </a:avLst>
          </a:prstGeom>
          <a:ln w="12700">
            <a:solidFill>
              <a:srgbClr val="5A9B6E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365760" y="53949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FFFDF8"/>
          </a:solidFill>
          <a:ln w="6350">
            <a:solidFill>
              <a:srgbClr val="5A9B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53949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9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SERVERS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11480" y="914400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04088" y="914400"/>
            <a:ext cx="1225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api-01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11480" y="1417320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14173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04088" y="1417320"/>
            <a:ext cx="1225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api-02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11480" y="1920240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192024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04088" y="1920240"/>
            <a:ext cx="1225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api-03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331720" y="1225296"/>
            <a:ext cx="713232" cy="9144"/>
          </a:xfrm>
          <a:prstGeom prst="line">
            <a:avLst/>
          </a:prstGeom>
          <a:noFill/>
          <a:ln w="19050">
            <a:solidFill>
              <a:srgbClr val="C4605B"/>
            </a:solidFill>
            <a:prstDash val="solid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2385212" y="1051560"/>
            <a:ext cx="606247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C4605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385212" y="1051560"/>
            <a:ext cx="60624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C460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2331720" y="1956816"/>
            <a:ext cx="713232" cy="9144"/>
          </a:xfrm>
          <a:prstGeom prst="line">
            <a:avLst/>
          </a:prstGeom>
          <a:noFill/>
          <a:ln w="19050">
            <a:solidFill>
              <a:srgbClr val="4A9968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2385212" y="1783080"/>
            <a:ext cx="606247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4A996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85212" y="1783080"/>
            <a:ext cx="60624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A99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3108960" y="731520"/>
            <a:ext cx="1645920" cy="1371600"/>
          </a:xfrm>
          <a:prstGeom prst="roundRect">
            <a:avLst>
              <a:gd name="adj" fmla="val 6667"/>
            </a:avLst>
          </a:prstGeom>
          <a:solidFill>
            <a:srgbClr val="F5F1EB"/>
          </a:solidFill>
          <a:ln w="19050">
            <a:solidFill>
              <a:srgbClr val="C4605B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108960" y="786384"/>
            <a:ext cx="164592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3163824" y="1444752"/>
            <a:ext cx="15361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3145536" y="1673352"/>
            <a:ext cx="15727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 Only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800600" y="132588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→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800600" y="1554480"/>
            <a:ext cx="228600" cy="9144"/>
          </a:xfrm>
          <a:prstGeom prst="line">
            <a:avLst/>
          </a:prstGeom>
          <a:noFill/>
          <a:ln w="19050">
            <a:solidFill>
              <a:srgbClr val="8A8078"/>
            </a:solidFill>
            <a:prstDash val="solid"/>
            <a:tailEnd type="arrow"/>
          </a:ln>
        </p:spPr>
      </p:sp>
      <p:sp>
        <p:nvSpPr>
          <p:cNvPr id="33" name="Shape 31"/>
          <p:cNvSpPr/>
          <p:nvPr/>
        </p:nvSpPr>
        <p:spPr>
          <a:xfrm>
            <a:off x="5074920" y="594360"/>
            <a:ext cx="1920240" cy="2423160"/>
          </a:xfrm>
          <a:prstGeom prst="roundRect">
            <a:avLst>
              <a:gd name="adj" fmla="val 4762"/>
            </a:avLst>
          </a:prstGeom>
          <a:ln w="12700">
            <a:solidFill>
              <a:srgbClr val="4A9968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516636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FFFDF8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18464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REPLICAS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5212080" y="868680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C4804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257800" y="8686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504688" y="868680"/>
            <a:ext cx="1225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1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212080" y="1417320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C4804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57800" y="14173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504688" y="1417320"/>
            <a:ext cx="1225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2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212080" y="1965960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C4804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257800" y="196596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5504688" y="1965960"/>
            <a:ext cx="1225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3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800600" y="1097280"/>
            <a:ext cx="365760" cy="9144"/>
          </a:xfrm>
          <a:prstGeom prst="line">
            <a:avLst/>
          </a:prstGeom>
          <a:noFill/>
          <a:ln w="19050">
            <a:solidFill>
              <a:srgbClr val="4A9968"/>
            </a:solidFill>
            <a:prstDash val="solid"/>
            <a:tailEnd type="arrow"/>
          </a:ln>
        </p:spPr>
      </p:sp>
      <p:sp>
        <p:nvSpPr>
          <p:cNvPr id="46" name="Shape 44"/>
          <p:cNvSpPr/>
          <p:nvPr/>
        </p:nvSpPr>
        <p:spPr>
          <a:xfrm>
            <a:off x="4800600" y="1645920"/>
            <a:ext cx="365760" cy="9144"/>
          </a:xfrm>
          <a:prstGeom prst="line">
            <a:avLst/>
          </a:prstGeom>
          <a:noFill/>
          <a:ln w="19050">
            <a:solidFill>
              <a:srgbClr val="4A9968"/>
            </a:solidFill>
            <a:prstDash val="solid"/>
            <a:tailEnd type="arrow"/>
          </a:ln>
        </p:spPr>
      </p:sp>
      <p:sp>
        <p:nvSpPr>
          <p:cNvPr id="47" name="Shape 45"/>
          <p:cNvSpPr/>
          <p:nvPr/>
        </p:nvSpPr>
        <p:spPr>
          <a:xfrm>
            <a:off x="4800600" y="2194560"/>
            <a:ext cx="365760" cy="9144"/>
          </a:xfrm>
          <a:prstGeom prst="line">
            <a:avLst/>
          </a:prstGeom>
          <a:noFill/>
          <a:ln w="19050">
            <a:solidFill>
              <a:srgbClr val="4A9968"/>
            </a:solidFill>
            <a:prstDash val="solid"/>
            <a:tailEnd type="arrow"/>
          </a:ln>
        </p:spPr>
      </p:sp>
      <p:sp>
        <p:nvSpPr>
          <p:cNvPr id="48" name="Text 46"/>
          <p:cNvSpPr/>
          <p:nvPr/>
        </p:nvSpPr>
        <p:spPr>
          <a:xfrm>
            <a:off x="274320" y="2926080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replication — may have slight delay (Replication Lag)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0" y="3246120"/>
            <a:ext cx="4572000" cy="1783080"/>
          </a:xfrm>
          <a:prstGeom prst="rect">
            <a:avLst/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572000" y="3246120"/>
            <a:ext cx="4572000" cy="1783080"/>
          </a:xfrm>
          <a:prstGeom prst="rect">
            <a:avLst/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82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Advantages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4754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Limitations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164592" y="3694176"/>
            <a:ext cx="146304" cy="146304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4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Performance Boost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384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of operations are reads — offloaded to replicas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164592" y="4187952"/>
            <a:ext cx="146304" cy="146304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84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Focuses on Writes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384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performance unaffected by reads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736592" y="3694176"/>
            <a:ext cx="146304" cy="146304"/>
          </a:xfrm>
          <a:prstGeom prst="ellipse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956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Replication Lag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4956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data may lag behind primary by milliseconds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4736592" y="4187952"/>
            <a:ext cx="146304" cy="146304"/>
          </a:xfrm>
          <a:prstGeom prst="ellipse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956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Solve Write Bottleneck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4956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High-frequency writes remain a primary-only problem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Three-Tier Caching Strategy: Outside to Inside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48640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F5F1EB"/>
          </a:solidFill>
          <a:ln w="15240">
            <a:solidFill>
              <a:srgbClr val="4A91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48640"/>
            <a:ext cx="2865120" cy="475488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5669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☁️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48640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91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CDN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61288"/>
            <a:ext cx="109728" cy="109728"/>
          </a:xfrm>
          <a:prstGeom prst="ellipse">
            <a:avLst/>
          </a:prstGeom>
          <a:solidFill>
            <a:srgbClr val="4A917E"/>
          </a:solidFill>
          <a:ln w="12700">
            <a:solidFill>
              <a:srgbClr val="4A917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09728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assets (JS/CSS/images)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75488" y="129844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TTL: days/weeks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10896" y="1563624"/>
            <a:ext cx="109728" cy="109728"/>
          </a:xfrm>
          <a:prstGeom prst="ellipse">
            <a:avLst/>
          </a:prstGeom>
          <a:solidFill>
            <a:srgbClr val="4A917E"/>
          </a:solidFill>
          <a:ln w="12700">
            <a:solidFill>
              <a:srgbClr val="4A917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" y="149961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Cloudflare, CloudFront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10896" y="1965960"/>
            <a:ext cx="109728" cy="109728"/>
          </a:xfrm>
          <a:prstGeom prst="ellipse">
            <a:avLst/>
          </a:prstGeom>
          <a:solidFill>
            <a:srgbClr val="4A917E"/>
          </a:solidFill>
          <a:ln w="12700">
            <a:solidFill>
              <a:srgbClr val="4A917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190195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Hit → no backend contact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0896" y="2368296"/>
            <a:ext cx="109728" cy="109728"/>
          </a:xfrm>
          <a:prstGeom prst="ellipse">
            <a:avLst/>
          </a:prstGeom>
          <a:solidFill>
            <a:srgbClr val="4A917E"/>
          </a:solidFill>
          <a:ln w="12700">
            <a:solidFill>
              <a:srgbClr val="4A917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230428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Rate: ~60-80%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139440" y="548640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F5F1EB"/>
          </a:solidFill>
          <a:ln w="15240">
            <a:solidFill>
              <a:srgbClr val="8B6A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39440" y="548640"/>
            <a:ext cx="2865120" cy="475488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39440" y="5669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3560064" y="548640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Redis Cache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267456" y="1161288"/>
            <a:ext cx="109728" cy="109728"/>
          </a:xfrm>
          <a:prstGeom prst="ellipse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32048" y="109728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response caching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432048" y="129844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TTL: seconds/minutes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267456" y="1563624"/>
            <a:ext cx="109728" cy="109728"/>
          </a:xfrm>
          <a:prstGeom prst="ellipse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32048" y="149961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storage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67456" y="1965960"/>
            <a:ext cx="109728" cy="109728"/>
          </a:xfrm>
          <a:prstGeom prst="ellipse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32048" y="190195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Redis, Memcached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267456" y="2368296"/>
            <a:ext cx="109728" cy="109728"/>
          </a:xfrm>
          <a:prstGeom prst="ellipse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32048" y="230428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Rate: ~30-50%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096000" y="548640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F5F1EB"/>
          </a:solidFill>
          <a:ln w="15240">
            <a:solidFill>
              <a:srgbClr val="B8892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96000" y="548640"/>
            <a:ext cx="2865120" cy="475488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096000" y="5669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🧠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6516624" y="548640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In-Process Cache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224016" y="1161288"/>
            <a:ext cx="109728" cy="109728"/>
          </a:xfrm>
          <a:prstGeom prst="ellipse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88608" y="109728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data (config/constants)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388608" y="129844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TTL: seconds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224016" y="1563624"/>
            <a:ext cx="109728" cy="109728"/>
          </a:xfrm>
          <a:prstGeom prst="ellipse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88608" y="149961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be shared across servers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224016" y="1965960"/>
            <a:ext cx="109728" cy="109728"/>
          </a:xfrm>
          <a:prstGeom prst="ellipse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88608" y="190195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special handling for scale out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224016" y="2368296"/>
            <a:ext cx="109728" cy="109728"/>
          </a:xfrm>
          <a:prstGeom prst="ellipse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88608" y="230428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Rate: ~10-20%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274320" y="45720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7200" y="46177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Cache invalidation is one of the hardest problems in distributed systems — design your TTL strategy carefully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Queues: Async Decoupling Tool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Synchronous Call Chain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188720"/>
            <a:ext cx="86868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1887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📦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188720"/>
            <a:ext cx="539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691640" y="1188720"/>
            <a:ext cx="86868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37360" y="11887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📧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984248" y="1188720"/>
            <a:ext cx="539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017520" y="1188720"/>
            <a:ext cx="86868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63240" y="11887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📦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10128" y="1188720"/>
            <a:ext cx="539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280160" y="1444752"/>
            <a:ext cx="365760" cy="9144"/>
          </a:xfrm>
          <a:prstGeom prst="line">
            <a:avLst/>
          </a:prstGeom>
          <a:noFill/>
          <a:ln w="19050">
            <a:solidFill>
              <a:srgbClr val="8A8078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1188720" y="1271016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8A807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0" y="127101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sync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2606040" y="1444752"/>
            <a:ext cx="365760" cy="9144"/>
          </a:xfrm>
          <a:prstGeom prst="line">
            <a:avLst/>
          </a:prstGeom>
          <a:noFill/>
          <a:ln w="19050">
            <a:solidFill>
              <a:srgbClr val="8A8078"/>
            </a:solidFill>
            <a:prstDash val="solid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2514600" y="1271016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8A807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14600" y="127101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sync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274320" y="1920240"/>
            <a:ext cx="4023360" cy="475488"/>
          </a:xfrm>
          <a:prstGeom prst="roundRect">
            <a:avLst>
              <a:gd name="adj" fmla="val 13462"/>
            </a:avLst>
          </a:prstGeom>
          <a:solidFill>
            <a:srgbClr val="F8ECEC"/>
          </a:solidFill>
          <a:ln w="9525">
            <a:solidFill>
              <a:srgbClr val="C4605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1920240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slow step → everything waits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failed step → entire request fails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20040" y="2487168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Total latency = sum of all steps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0040" y="2743200"/>
            <a:ext cx="914400" cy="201168"/>
          </a:xfrm>
          <a:prstGeom prst="rect">
            <a:avLst/>
          </a:prstGeom>
          <a:solidFill>
            <a:srgbClr val="5A9B6E"/>
          </a:solidFill>
          <a:ln w="6350">
            <a:solidFill>
              <a:srgbClr val="FFFDF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34440" y="2743200"/>
            <a:ext cx="1097280" cy="201168"/>
          </a:xfrm>
          <a:prstGeom prst="rect">
            <a:avLst/>
          </a:prstGeom>
          <a:solidFill>
            <a:srgbClr val="B8892C"/>
          </a:solidFill>
          <a:ln w="6350">
            <a:solidFill>
              <a:srgbClr val="FFFDF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31720" y="2743200"/>
            <a:ext cx="1280160" cy="201168"/>
          </a:xfrm>
          <a:prstGeom prst="rect">
            <a:avLst/>
          </a:prstGeom>
          <a:solidFill>
            <a:srgbClr val="C4605B"/>
          </a:solidFill>
          <a:ln w="6350">
            <a:solidFill>
              <a:srgbClr val="FFFDF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Message Queue (Async)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846320" y="914400"/>
            <a:ext cx="1280160" cy="822960"/>
          </a:xfrm>
          <a:prstGeom prst="roundRect">
            <a:avLst>
              <a:gd name="adj" fmla="val 11111"/>
            </a:avLst>
          </a:prstGeom>
          <a:solidFill>
            <a:srgbClr val="F5F1EB"/>
          </a:solidFill>
          <a:ln w="19050">
            <a:solidFill>
              <a:srgbClr val="5A9B6E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846320" y="969264"/>
            <a:ext cx="128016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📤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4901184" y="1342339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Producer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882896" y="1570939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Service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172200" y="1325880"/>
            <a:ext cx="548640" cy="9144"/>
          </a:xfrm>
          <a:prstGeom prst="line">
            <a:avLst/>
          </a:prstGeom>
          <a:noFill/>
          <a:ln w="19050">
            <a:solidFill>
              <a:srgbClr val="8B6AB5"/>
            </a:solidFill>
            <a:prstDash val="solid"/>
            <a:tailEnd type="arrow"/>
          </a:ln>
        </p:spPr>
      </p:sp>
      <p:sp>
        <p:nvSpPr>
          <p:cNvPr id="36" name="Shape 34"/>
          <p:cNvSpPr/>
          <p:nvPr/>
        </p:nvSpPr>
        <p:spPr>
          <a:xfrm>
            <a:off x="6172200" y="1152144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8B6A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72200" y="1152144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8B6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publish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6766560" y="914400"/>
            <a:ext cx="1188720" cy="822960"/>
          </a:xfrm>
          <a:prstGeom prst="roundRect">
            <a:avLst>
              <a:gd name="adj" fmla="val 11111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766560" y="969264"/>
            <a:ext cx="118872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6821424" y="1342339"/>
            <a:ext cx="10789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803136" y="1570939"/>
            <a:ext cx="11155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RabbitMQ/Kafka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8001000" y="1115568"/>
            <a:ext cx="182880" cy="9144"/>
          </a:xfrm>
          <a:prstGeom prst="line">
            <a:avLst/>
          </a:prstGeom>
          <a:noFill/>
          <a:ln w="19050">
            <a:solidFill>
              <a:srgbClr val="8B6AB5"/>
            </a:solidFill>
            <a:prstDash val="solid"/>
            <a:tailEnd type="arrow"/>
          </a:ln>
        </p:spPr>
      </p:sp>
      <p:sp>
        <p:nvSpPr>
          <p:cNvPr id="43" name="Shape 41"/>
          <p:cNvSpPr/>
          <p:nvPr/>
        </p:nvSpPr>
        <p:spPr>
          <a:xfrm>
            <a:off x="8229600" y="868680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75320" y="8686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📧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8522208" y="868680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8001000" y="1572768"/>
            <a:ext cx="182880" cy="9144"/>
          </a:xfrm>
          <a:prstGeom prst="line">
            <a:avLst/>
          </a:prstGeom>
          <a:noFill/>
          <a:ln w="19050">
            <a:solidFill>
              <a:srgbClr val="8B6AB5"/>
            </a:solidFill>
            <a:prstDash val="solid"/>
            <a:tailEnd type="arrow"/>
          </a:ln>
        </p:spPr>
      </p:sp>
      <p:sp>
        <p:nvSpPr>
          <p:cNvPr id="47" name="Shape 45"/>
          <p:cNvSpPr/>
          <p:nvPr/>
        </p:nvSpPr>
        <p:spPr>
          <a:xfrm>
            <a:off x="8229600" y="1325880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275320" y="13258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📦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8522208" y="1325880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8001000" y="2029968"/>
            <a:ext cx="182880" cy="9144"/>
          </a:xfrm>
          <a:prstGeom prst="line">
            <a:avLst/>
          </a:prstGeom>
          <a:noFill/>
          <a:ln w="19050">
            <a:solidFill>
              <a:srgbClr val="8B6AB5"/>
            </a:solidFill>
            <a:prstDash val="solid"/>
            <a:tailEnd type="arrow"/>
          </a:ln>
        </p:spPr>
      </p:sp>
      <p:sp>
        <p:nvSpPr>
          <p:cNvPr id="51" name="Shape 49"/>
          <p:cNvSpPr/>
          <p:nvPr/>
        </p:nvSpPr>
        <p:spPr>
          <a:xfrm>
            <a:off x="8229600" y="1783080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275320" y="17830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📊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8522208" y="1783080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274320" y="260604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5760" y="2633472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📬 Order→Notify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365760" y="28986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email sending  ·  Users don't wait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3246120" y="260604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37560" y="2633472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🏔️ Peak Shaving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3337560" y="28986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 traffic spikes  ·  Queue absorbs the load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217920" y="260604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309360" y="2633472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🔓 Service Decoupling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6309360" y="28986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scale independently  ·  No mutual impact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Distributed Architecture: What You Now Need to Operate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9/10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864108" cy="82296"/>
          </a:xfrm>
          <a:prstGeom prst="rect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5720" y="713232"/>
            <a:ext cx="777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68680" y="621792"/>
            <a:ext cx="137160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9088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62179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👥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621792"/>
            <a:ext cx="10424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(1000+)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377440" y="621792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4A917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23160" y="62179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☁️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670048" y="621792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CDN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520440" y="621792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66160" y="62179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🛡️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813048" y="621792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554480" y="987552"/>
            <a:ext cx="9144" cy="14630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20" name="Text 18"/>
          <p:cNvSpPr/>
          <p:nvPr/>
        </p:nvSpPr>
        <p:spPr>
          <a:xfrm>
            <a:off x="45720" y="1225296"/>
            <a:ext cx="777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BALANCER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868680" y="1133856"/>
            <a:ext cx="182880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113385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⚖️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61288" y="1133856"/>
            <a:ext cx="14996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(HA Pair)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554480" y="1490472"/>
            <a:ext cx="9144" cy="14630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822960" y="1545336"/>
            <a:ext cx="2103120" cy="530352"/>
          </a:xfrm>
          <a:prstGeom prst="roundRect">
            <a:avLst>
              <a:gd name="adj" fmla="val 17241"/>
            </a:avLst>
          </a:prstGeom>
          <a:ln w="12700">
            <a:solidFill>
              <a:srgbClr val="5B8DB8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914400" y="1399032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FFFDF8"/>
          </a:solidFill>
          <a:ln w="6350">
            <a:solidFill>
              <a:srgbClr val="5B8DB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32688" y="1399032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B8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×3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914400" y="163677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60120" y="163677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207008" y="163677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nginx-01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1965960" y="163677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11680" y="163677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🌐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258568" y="163677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nginx-02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1554480" y="2084832"/>
            <a:ext cx="9144" cy="14630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822960" y="2139696"/>
            <a:ext cx="2103120" cy="530352"/>
          </a:xfrm>
          <a:prstGeom prst="roundRect">
            <a:avLst>
              <a:gd name="adj" fmla="val 17241"/>
            </a:avLst>
          </a:prstGeom>
          <a:ln w="12700">
            <a:solidFill>
              <a:srgbClr val="5A9B6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914400" y="1993392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FFFDF8"/>
          </a:solidFill>
          <a:ln w="6350">
            <a:solidFill>
              <a:srgbClr val="5A9B6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32688" y="1993392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9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×3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914400" y="223113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0120" y="223113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207008" y="223113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api-01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1965960" y="223113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011680" y="223113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2258568" y="223113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api-02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3108960" y="223113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154680" y="223113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⚡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3401568" y="223113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297680" y="223113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343400" y="223113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📋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590288" y="223113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RabbitMQ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1554480" y="2679192"/>
            <a:ext cx="9144" cy="14630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51" name="Shape 49"/>
          <p:cNvSpPr/>
          <p:nvPr/>
        </p:nvSpPr>
        <p:spPr>
          <a:xfrm>
            <a:off x="868680" y="2825496"/>
            <a:ext cx="12801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14400" y="282549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1161288" y="2825496"/>
            <a:ext cx="9509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(W)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2240280" y="294436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replication →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3063240" y="282549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C4804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108960" y="282549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3355848" y="282549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1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251960" y="282549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C4804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297680" y="282549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4544568" y="282549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2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5440680" y="282549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C4804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486400" y="282549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5733288" y="282549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3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6126480" y="640080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Machines You Operate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6217920" y="1005840"/>
            <a:ext cx="2560320" cy="411480"/>
          </a:xfrm>
          <a:prstGeom prst="roundRect">
            <a:avLst>
              <a:gd name="adj" fmla="val 15556"/>
            </a:avLst>
          </a:prstGeom>
          <a:solidFill>
            <a:srgbClr val="F5F1EB"/>
          </a:solidFill>
          <a:ln w="9525">
            <a:solidFill>
              <a:srgbClr val="B8892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355080" y="100584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CDN/WAF/LB ×3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8321040" y="1005840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68" name="Shape 66"/>
          <p:cNvSpPr/>
          <p:nvPr/>
        </p:nvSpPr>
        <p:spPr>
          <a:xfrm>
            <a:off x="6217920" y="1481328"/>
            <a:ext cx="2560320" cy="411480"/>
          </a:xfrm>
          <a:prstGeom prst="roundRect">
            <a:avLst>
              <a:gd name="adj" fmla="val 15556"/>
            </a:avLst>
          </a:prstGeom>
          <a:solidFill>
            <a:srgbClr val="F5F1EB"/>
          </a:solidFill>
          <a:ln w="9525">
            <a:solidFill>
              <a:srgbClr val="5B8DB8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355080" y="1481328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Frontend+Backend ×6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8321040" y="1481328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B8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71" name="Shape 69"/>
          <p:cNvSpPr/>
          <p:nvPr/>
        </p:nvSpPr>
        <p:spPr>
          <a:xfrm>
            <a:off x="6217920" y="1956816"/>
            <a:ext cx="2560320" cy="411480"/>
          </a:xfrm>
          <a:prstGeom prst="roundRect">
            <a:avLst>
              <a:gd name="adj" fmla="val 15556"/>
            </a:avLst>
          </a:prstGeom>
          <a:solidFill>
            <a:srgbClr val="F5F1EB"/>
          </a:solidFill>
          <a:ln w="9525">
            <a:solidFill>
              <a:srgbClr val="C4804A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355080" y="1956816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Primary+Replicas ×4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8321040" y="1956816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48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74" name="Shape 72"/>
          <p:cNvSpPr/>
          <p:nvPr/>
        </p:nvSpPr>
        <p:spPr>
          <a:xfrm>
            <a:off x="6217920" y="2432304"/>
            <a:ext cx="2560320" cy="411480"/>
          </a:xfrm>
          <a:prstGeom prst="roundRect">
            <a:avLst>
              <a:gd name="adj" fmla="val 15556"/>
            </a:avLst>
          </a:prstGeom>
          <a:solidFill>
            <a:srgbClr val="F5F1EB"/>
          </a:solidFill>
          <a:ln w="9525">
            <a:solidFill>
              <a:srgbClr val="8B6A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355080" y="2432304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Redis+RabbitMQ ×2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8321040" y="2432304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77" name="Shape 75"/>
          <p:cNvSpPr/>
          <p:nvPr/>
        </p:nvSpPr>
        <p:spPr>
          <a:xfrm>
            <a:off x="6126480" y="2944368"/>
            <a:ext cx="2560320" cy="640080"/>
          </a:xfrm>
          <a:prstGeom prst="roundRect">
            <a:avLst>
              <a:gd name="adj" fmla="val 14286"/>
            </a:avLst>
          </a:prstGeom>
          <a:solidFill>
            <a:srgbClr val="F8ECEC"/>
          </a:solidFill>
          <a:ln w="19050">
            <a:solidFill>
              <a:srgbClr val="C4605B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26480" y="2944368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 Machines</a:t>
            </a:r>
            <a:endParaRPr lang="en-US" sz="2000" dirty="0"/>
          </a:p>
        </p:txBody>
      </p:sp>
      <p:sp>
        <p:nvSpPr>
          <p:cNvPr id="79" name="Shape 77"/>
          <p:cNvSpPr/>
          <p:nvPr/>
        </p:nvSpPr>
        <p:spPr>
          <a:xfrm>
            <a:off x="274320" y="3401568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57200" y="3447288"/>
            <a:ext cx="6675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 Each machine configured differently, environments drift — deployment via manual SSH, every release is a gamble</a:t>
            </a:r>
            <a:endParaRPr lang="en-US" sz="1050" dirty="0"/>
          </a:p>
        </p:txBody>
      </p:sp>
      <p:sp>
        <p:nvSpPr>
          <p:cNvPr id="81" name="Shape 79"/>
          <p:cNvSpPr/>
          <p:nvPr/>
        </p:nvSpPr>
        <p:spPr>
          <a:xfrm>
            <a:off x="7132320" y="3474720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132320" y="3502152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 Inconsistency</a:t>
            </a:r>
            <a:endParaRPr lang="en-US" sz="750" dirty="0"/>
          </a:p>
        </p:txBody>
      </p:sp>
      <p:sp>
        <p:nvSpPr>
          <p:cNvPr id="83" name="Shape 81"/>
          <p:cNvSpPr/>
          <p:nvPr/>
        </p:nvSpPr>
        <p:spPr>
          <a:xfrm>
            <a:off x="7626096" y="3474720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626096" y="3502152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Drift</a:t>
            </a:r>
            <a:endParaRPr lang="en-US" sz="750" dirty="0"/>
          </a:p>
        </p:txBody>
      </p:sp>
      <p:sp>
        <p:nvSpPr>
          <p:cNvPr id="85" name="Shape 83"/>
          <p:cNvSpPr/>
          <p:nvPr/>
        </p:nvSpPr>
        <p:spPr>
          <a:xfrm>
            <a:off x="8119872" y="3474720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119872" y="3502152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Painful Updates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Nightmare: Operations Complexity Explosion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F8ECEC"/>
          </a:solidFill>
          <a:ln w="15240">
            <a:solidFill>
              <a:srgbClr val="C4605B"/>
            </a:solidFill>
            <a:prstDash val="solid"/>
          </a:ln>
          <a:effectLst>
            <a:outerShdw blurRad="101600" dist="38100" dir="2700000" algn="bl" rotWithShape="0">
              <a:srgbClr val="000000">
                <a:alpha val="4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11480" y="7040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😱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704088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Inconsistency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1887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Dev: Mac + Python 3.9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153619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Staging: Ubuntu + Python 3.8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" y="188366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Prod: CentOS + Python 3.6 (!!)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7200" y="223113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"It works on my machine!"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54880" y="59436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F8ECEC"/>
          </a:solidFill>
          <a:ln w="15240">
            <a:solidFill>
              <a:srgbClr val="C4605B"/>
            </a:solidFill>
            <a:prstDash val="solid"/>
          </a:ln>
          <a:effectLst>
            <a:outerShdw blurRad="101600" dist="38100" dir="27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92040" y="7040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🔄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394960" y="704088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 Updates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37760" y="11887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SSH into 15 machines one by one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937760" y="153619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Mid-update failure → version mismatch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937760" y="188366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Requires maintenance downtime window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937760" y="223113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Every deployment is nerve-wracking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74320" y="278892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F8ECEC"/>
          </a:solidFill>
          <a:ln w="15240">
            <a:solidFill>
              <a:srgbClr val="C4605B"/>
            </a:solidFill>
            <a:prstDash val="solid"/>
          </a:ln>
          <a:effectLst>
            <a:outerShdw blurRad="101600" dist="38100" dir="2700000" algn="bl" rotWithShape="0">
              <a:srgbClr val="000000">
                <a:alpha val="4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11480" y="28986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14400" y="2898648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Management Chaos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33832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DB passwords hardcoded in source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" y="373075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Each machine's config subtly differs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57200" y="407822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version control for configs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57200" y="442569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New hires need a week to understand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54880" y="278892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F8ECEC"/>
          </a:solidFill>
          <a:ln w="15240">
            <a:solidFill>
              <a:srgbClr val="C4605B"/>
            </a:solidFill>
            <a:prstDash val="solid"/>
          </a:ln>
          <a:effectLst>
            <a:outerShdw blurRad="101600" dist="38100" dir="2700000" algn="bl" rotWithShape="0">
              <a:srgbClr val="000000">
                <a:alpha val="4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892040" y="28986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🤯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5394960" y="2898648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Dev/Prod Gap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937760" y="33832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Local dev vs 15 prod machines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937760" y="373075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Passes locally → blows up in prod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937760" y="407822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"It works on my machine"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937760" y="442569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Debugging difficulty ×10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Summary: Problems Accumulate, Need New Thinking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8595360" cy="347472"/>
          </a:xfrm>
          <a:prstGeom prst="roundRect">
            <a:avLst>
              <a:gd name="adj" fmla="val 13158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59436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834640" y="5943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Solved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760720" y="594360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Incurred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" y="960120"/>
            <a:ext cx="8595360" cy="329184"/>
          </a:xfrm>
          <a:prstGeom prst="roundRect">
            <a:avLst>
              <a:gd name="adj" fmla="val 11111"/>
            </a:avLst>
          </a:prstGeom>
          <a:solidFill>
            <a:srgbClr val="F5F1EB"/>
          </a:solidFill>
          <a:ln w="3810">
            <a:solidFill>
              <a:srgbClr val="D6CC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960120"/>
            <a:ext cx="2286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 Load Balancer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834640" y="960120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distribution, HA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760720" y="960120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stickiness issue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74320" y="1307592"/>
            <a:ext cx="8595360" cy="329184"/>
          </a:xfrm>
          <a:prstGeom prst="roundRect">
            <a:avLst>
              <a:gd name="adj" fmla="val 11111"/>
            </a:avLst>
          </a:prstGeom>
          <a:solidFill>
            <a:srgbClr val="FFFDF8"/>
          </a:solidFill>
          <a:ln w="3810">
            <a:solidFill>
              <a:srgbClr val="D6CCB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1307592"/>
            <a:ext cx="2286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💾 Redis Session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834640" y="1307592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achieved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760720" y="1307592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itself needs HA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1655064"/>
            <a:ext cx="8595360" cy="329184"/>
          </a:xfrm>
          <a:prstGeom prst="roundRect">
            <a:avLst>
              <a:gd name="adj" fmla="val 11111"/>
            </a:avLst>
          </a:prstGeom>
          <a:solidFill>
            <a:srgbClr val="F5F1EB"/>
          </a:solidFill>
          <a:ln w="3810">
            <a:solidFill>
              <a:srgbClr val="D6CCB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1655064"/>
            <a:ext cx="2286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🗄️ Read Replica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834640" y="1655064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performance boost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60720" y="1655064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Replication Lag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74320" y="2002536"/>
            <a:ext cx="8595360" cy="329184"/>
          </a:xfrm>
          <a:prstGeom prst="roundRect">
            <a:avLst>
              <a:gd name="adj" fmla="val 11111"/>
            </a:avLst>
          </a:prstGeom>
          <a:solidFill>
            <a:srgbClr val="FFFDF8"/>
          </a:solidFill>
          <a:ln w="3810">
            <a:solidFill>
              <a:srgbClr val="D6CCB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2002536"/>
            <a:ext cx="2286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Cache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834640" y="2002536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perf improvement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760720" y="2002536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invalidation complexity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74320" y="2350008"/>
            <a:ext cx="8595360" cy="329184"/>
          </a:xfrm>
          <a:prstGeom prst="roundRect">
            <a:avLst>
              <a:gd name="adj" fmla="val 11111"/>
            </a:avLst>
          </a:prstGeom>
          <a:solidFill>
            <a:srgbClr val="F5F1EB"/>
          </a:solidFill>
          <a:ln w="3810">
            <a:solidFill>
              <a:srgbClr val="D6CCB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2350008"/>
            <a:ext cx="2286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Message Queue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834640" y="235000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decoupling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760720" y="2350008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Eventual consistency issues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74320" y="2697480"/>
            <a:ext cx="8595360" cy="329184"/>
          </a:xfrm>
          <a:prstGeom prst="roundRect">
            <a:avLst>
              <a:gd name="adj" fmla="val 11111"/>
            </a:avLst>
          </a:prstGeom>
          <a:solidFill>
            <a:srgbClr val="FFFDF8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2697480"/>
            <a:ext cx="2286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🏗️ Distributed Arch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834640" y="2697480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HA, scalable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760720" y="2697480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15+ machines!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58000" y="621792"/>
            <a:ext cx="1920240" cy="274320"/>
          </a:xfrm>
          <a:prstGeom prst="roundRect">
            <a:avLst>
              <a:gd name="adj" fmla="val 20000"/>
            </a:avLst>
          </a:prstGeom>
          <a:solidFill>
            <a:srgbClr val="F8ECEC"/>
          </a:solidFill>
          <a:ln w="9525">
            <a:solidFill>
              <a:srgbClr val="C4605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62179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10/10 🔴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74320" y="3200400"/>
            <a:ext cx="8595360" cy="731520"/>
          </a:xfrm>
          <a:prstGeom prst="roundRect">
            <a:avLst>
              <a:gd name="adj" fmla="val 10000"/>
            </a:avLst>
          </a:prstGeom>
          <a:solidFill>
            <a:srgbClr val="F8ECEC"/>
          </a:solidFill>
          <a:ln w="15240">
            <a:solidFill>
              <a:srgbClr val="C4605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3200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 This can't go on! 15 machines each configured independently — deployment via manual SSH, version drift is the norm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74320" y="4041648"/>
            <a:ext cx="8595360" cy="749808"/>
          </a:xfrm>
          <a:prstGeom prst="roundRect">
            <a:avLst>
              <a:gd name="adj" fmla="val 9756"/>
            </a:avLst>
          </a:prstGeom>
          <a:solidFill>
            <a:srgbClr val="E5F0E9"/>
          </a:solidFill>
          <a:ln w="15240">
            <a:solidFill>
              <a:srgbClr val="4A99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4041648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Part 3 Preview: How container technology simplifies all of this — unified packaging, consistent environments, instant deployment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B8E"/>
          </a:solidFill>
          <a:ln w="12700">
            <a:solidFill>
              <a:srgbClr val="4A9B8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Container? What Problems Does It Solve?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0" y="502920"/>
            <a:ext cx="9144" cy="4434840"/>
          </a:xfrm>
          <a:prstGeom prst="line">
            <a:avLst/>
          </a:prstGeom>
          <a:noFill/>
          <a:ln w="9525">
            <a:solidFill>
              <a:srgbClr val="D6CCB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Before Containers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1005840"/>
            <a:ext cx="3749040" cy="713232"/>
          </a:xfrm>
          <a:prstGeom prst="roundRect">
            <a:avLst>
              <a:gd name="adj" fmla="val 10256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1042416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Dev (Mac)  —  Python 3.9 + brew Postgres 14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" y="1298448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Manually brew install all dependencies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1810512"/>
            <a:ext cx="3749040" cy="713232"/>
          </a:xfrm>
          <a:prstGeom prst="roundRect">
            <a:avLst>
              <a:gd name="adj" fmla="val 10256"/>
            </a:avLst>
          </a:prstGeom>
          <a:solidFill>
            <a:srgbClr val="F3EDE0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1847088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Staging (Ubuntu 20.04)  —  Python 3.8 + apt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2103120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versions differ from Dev, random mysterious errors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65760" y="2615184"/>
            <a:ext cx="3749040" cy="713232"/>
          </a:xfrm>
          <a:prstGeom prst="roundRect">
            <a:avLst>
              <a:gd name="adj" fmla="val 10256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651760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Prod (CentOS 7)  —  Python 3.6 (!!) + yum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2907792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System-bundled Python, nearly impossible to upgrade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5760" y="3429000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45643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"It works on my machine!" — Version Hell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With Containers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846320" y="960120"/>
            <a:ext cx="1828800" cy="1645920"/>
          </a:xfrm>
          <a:prstGeom prst="roundRect">
            <a:avLst>
              <a:gd name="adj" fmla="val 5556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blurRad="127000" dist="508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937760" y="81381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56048" y="81381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Dockerfile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974336" y="1069848"/>
            <a:ext cx="157276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python:3.11-slim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. /app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pip install -r requirements.txt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 ["uvicorn", "main:app"]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766560" y="1627632"/>
            <a:ext cx="457200" cy="9144"/>
          </a:xfrm>
          <a:prstGeom prst="line">
            <a:avLst/>
          </a:prstGeom>
          <a:noFill/>
          <a:ln w="19050">
            <a:solidFill>
              <a:srgbClr val="4A9B8E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>
            <a:off x="6720840" y="1453896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4A9B8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20840" y="145389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A9B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7315200" y="960120"/>
            <a:ext cx="1417320" cy="1645920"/>
          </a:xfrm>
          <a:prstGeom prst="roundRect">
            <a:avLst>
              <a:gd name="adj" fmla="val 6452"/>
            </a:avLst>
          </a:prstGeom>
          <a:solidFill>
            <a:srgbClr val="F5F1EB"/>
          </a:solidFill>
          <a:ln w="19050">
            <a:solidFill>
              <a:srgbClr val="4A9B8E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7315200" y="1014984"/>
            <a:ext cx="1417320" cy="7571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7370064" y="1815998"/>
            <a:ext cx="13075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351776" y="2044598"/>
            <a:ext cx="1344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myapp:v1.2.3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(Immutable Snapshot)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4846320" y="269748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run → Runs identically on any host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846320" y="2926080"/>
            <a:ext cx="1234440" cy="256032"/>
          </a:xfrm>
          <a:prstGeom prst="roundRect">
            <a:avLst>
              <a:gd name="adj" fmla="val 21429"/>
            </a:avLst>
          </a:prstGeom>
          <a:solidFill>
            <a:srgbClr val="F5F1EB"/>
          </a:solidFill>
          <a:ln w="12700">
            <a:solidFill>
              <a:srgbClr val="4A9B8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46320" y="292608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9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Server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172200" y="2926080"/>
            <a:ext cx="1234440" cy="256032"/>
          </a:xfrm>
          <a:prstGeom prst="roundRect">
            <a:avLst>
              <a:gd name="adj" fmla="val 21429"/>
            </a:avLst>
          </a:prstGeom>
          <a:solidFill>
            <a:srgbClr val="F5F1EB"/>
          </a:solidFill>
          <a:ln w="12700">
            <a:solidFill>
              <a:srgbClr val="4A9B8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172200" y="292608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9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CentOS Server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498080" y="2926080"/>
            <a:ext cx="1234440" cy="256032"/>
          </a:xfrm>
          <a:prstGeom prst="roundRect">
            <a:avLst>
              <a:gd name="adj" fmla="val 21429"/>
            </a:avLst>
          </a:prstGeom>
          <a:solidFill>
            <a:srgbClr val="F5F1EB"/>
          </a:solidFill>
          <a:ln w="12700">
            <a:solidFill>
              <a:srgbClr val="4A9B8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498080" y="292608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9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VM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00600" y="3401568"/>
            <a:ext cx="1234440" cy="685800"/>
          </a:xfrm>
          <a:prstGeom prst="roundRect">
            <a:avLst>
              <a:gd name="adj" fmla="val 10667"/>
            </a:avLst>
          </a:prstGeom>
          <a:solidFill>
            <a:srgbClr val="F5F1EB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5464" y="3438144"/>
            <a:ext cx="11155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Consistent Env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855464" y="3730752"/>
            <a:ext cx="11155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Dev=Staging=Prod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6172200" y="3401568"/>
            <a:ext cx="1234440" cy="685800"/>
          </a:xfrm>
          <a:prstGeom prst="roundRect">
            <a:avLst>
              <a:gd name="adj" fmla="val 10667"/>
            </a:avLst>
          </a:prstGeom>
          <a:solidFill>
            <a:srgbClr val="F5F1EB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27064" y="3438144"/>
            <a:ext cx="11155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Instant Startup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227064" y="3730752"/>
            <a:ext cx="11155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Seconds vs VM Minutes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7543800" y="3401568"/>
            <a:ext cx="1234440" cy="685800"/>
          </a:xfrm>
          <a:prstGeom prst="roundRect">
            <a:avLst>
              <a:gd name="adj" fmla="val 10667"/>
            </a:avLst>
          </a:prstGeom>
          <a:solidFill>
            <a:srgbClr val="F5F1EB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98664" y="3438144"/>
            <a:ext cx="11155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📜 Version Control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7598664" y="3730752"/>
            <a:ext cx="11155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= Rollback-Ready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274320" y="43434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57200" y="43891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A Container packages your app + all dependencies into an immutable Image — runs the same everywhere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vs Container: Architecture Deep Comparison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47472"/>
          </a:xfrm>
          <a:prstGeom prst="roundRect">
            <a:avLst>
              <a:gd name="adj" fmla="val 15789"/>
            </a:avLst>
          </a:prstGeom>
          <a:solidFill>
            <a:srgbClr val="ECE6DD"/>
          </a:solidFill>
          <a:ln w="9525">
            <a:solidFill>
              <a:srgbClr val="D6CC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56692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 Virtual Machine (VM)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1005840"/>
            <a:ext cx="1874520" cy="960120"/>
          </a:xfrm>
          <a:prstGeom prst="roundRect">
            <a:avLst>
              <a:gd name="adj" fmla="val 5714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1042416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⚙️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20040" y="1371600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20040" y="1627632"/>
            <a:ext cx="1874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Libs / Runtime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267712" y="1005840"/>
            <a:ext cx="1874520" cy="960120"/>
          </a:xfrm>
          <a:prstGeom prst="roundRect">
            <a:avLst>
              <a:gd name="adj" fmla="val 5714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67712" y="1042416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⚙️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267712" y="1371600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B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267712" y="1627632"/>
            <a:ext cx="1874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Libs / Runtime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20040" y="1993392"/>
            <a:ext cx="1874520" cy="658368"/>
          </a:xfrm>
          <a:prstGeom prst="roundRect">
            <a:avLst>
              <a:gd name="adj" fmla="val 8333"/>
            </a:avLst>
          </a:prstGeom>
          <a:solidFill>
            <a:srgbClr val="F5F1EB"/>
          </a:solidFill>
          <a:ln w="12700">
            <a:solidFill>
              <a:srgbClr val="8A807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" y="1993392"/>
            <a:ext cx="1874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🐧 Guest OS A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267712" y="1993392"/>
            <a:ext cx="1874520" cy="658368"/>
          </a:xfrm>
          <a:prstGeom prst="roundRect">
            <a:avLst>
              <a:gd name="adj" fmla="val 8333"/>
            </a:avLst>
          </a:prstGeom>
          <a:solidFill>
            <a:srgbClr val="F5F1EB"/>
          </a:solidFill>
          <a:ln w="12700">
            <a:solidFill>
              <a:srgbClr val="8A807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67712" y="1993392"/>
            <a:ext cx="1874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🐧 Guest OS B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0040" y="2670048"/>
            <a:ext cx="3931920" cy="347472"/>
          </a:xfrm>
          <a:prstGeom prst="roundRect">
            <a:avLst>
              <a:gd name="adj" fmla="val 15789"/>
            </a:avLst>
          </a:prstGeom>
          <a:solidFill>
            <a:srgbClr val="F3EDE0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267004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🔲 Hypervisor (VMware/KVM)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0040" y="3035808"/>
            <a:ext cx="393192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9088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1480" y="303580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08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🐧 Host OS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" y="3401568"/>
            <a:ext cx="3931920" cy="347472"/>
          </a:xfrm>
          <a:prstGeom prst="roundRect">
            <a:avLst>
              <a:gd name="adj" fmla="val 15789"/>
            </a:avLst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1480" y="340156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Hardware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0040" y="3794760"/>
            <a:ext cx="1234440" cy="274320"/>
          </a:xfrm>
          <a:prstGeom prst="roundRect">
            <a:avLst>
              <a:gd name="adj" fmla="val 20000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0040" y="37947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Boot: Minutes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645920" y="3794760"/>
            <a:ext cx="1234440" cy="274320"/>
          </a:xfrm>
          <a:prstGeom prst="roundRect">
            <a:avLst>
              <a:gd name="adj" fmla="val 20000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645920" y="37947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Size: GB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971800" y="3794760"/>
            <a:ext cx="1234440" cy="274320"/>
          </a:xfrm>
          <a:prstGeom prst="roundRect">
            <a:avLst>
              <a:gd name="adj" fmla="val 20000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37947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Isolation: Strong (OS)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754880" y="566928"/>
            <a:ext cx="4023360" cy="347472"/>
          </a:xfrm>
          <a:prstGeom prst="roundRect">
            <a:avLst>
              <a:gd name="adj" fmla="val 15789"/>
            </a:avLst>
          </a:prstGeom>
          <a:solidFill>
            <a:srgbClr val="ECE6DD"/>
          </a:solidFill>
          <a:ln w="9525">
            <a:solidFill>
              <a:srgbClr val="4A9B8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92040" y="56692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9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🐳  Container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800600" y="1005840"/>
            <a:ext cx="1874520" cy="1627632"/>
          </a:xfrm>
          <a:prstGeom prst="roundRect">
            <a:avLst>
              <a:gd name="adj" fmla="val 3371"/>
            </a:avLst>
          </a:prstGeom>
          <a:solidFill>
            <a:srgbClr val="F5F1EB"/>
          </a:solidFill>
          <a:ln w="12700">
            <a:solidFill>
              <a:srgbClr val="4A9B8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00600" y="1042416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🐳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4800600" y="1426464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800600" y="1682496"/>
            <a:ext cx="1874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 bundled in Image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748272" y="1005840"/>
            <a:ext cx="1874520" cy="1627632"/>
          </a:xfrm>
          <a:prstGeom prst="roundRect">
            <a:avLst>
              <a:gd name="adj" fmla="val 3371"/>
            </a:avLst>
          </a:prstGeom>
          <a:solidFill>
            <a:srgbClr val="F5F1EB"/>
          </a:solidFill>
          <a:ln w="12700">
            <a:solidFill>
              <a:srgbClr val="4A9B8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48272" y="1042416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🐳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6748272" y="1426464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B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748272" y="1682496"/>
            <a:ext cx="1874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 bundled in Image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4800600" y="2670048"/>
            <a:ext cx="3931920" cy="347472"/>
          </a:xfrm>
          <a:prstGeom prst="roundRect">
            <a:avLst>
              <a:gd name="adj" fmla="val 15789"/>
            </a:avLst>
          </a:prstGeom>
          <a:solidFill>
            <a:srgbClr val="061E18"/>
          </a:solidFill>
          <a:ln w="12700">
            <a:solidFill>
              <a:srgbClr val="4A9B8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92040" y="267004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9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🐳 Container Runtime (Docker)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800600" y="3035808"/>
            <a:ext cx="393192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90888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92040" y="303580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08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🐧 Host OS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800600" y="3401568"/>
            <a:ext cx="3931920" cy="347472"/>
          </a:xfrm>
          <a:prstGeom prst="roundRect">
            <a:avLst>
              <a:gd name="adj" fmla="val 15789"/>
            </a:avLst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92040" y="340156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Hardware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800600" y="3794760"/>
            <a:ext cx="1234440" cy="274320"/>
          </a:xfrm>
          <a:prstGeom prst="roundRect">
            <a:avLst>
              <a:gd name="adj" fmla="val 20000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00600" y="37947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Boot: Seconds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6126480" y="3794760"/>
            <a:ext cx="1234440" cy="274320"/>
          </a:xfrm>
          <a:prstGeom prst="roundRect">
            <a:avLst>
              <a:gd name="adj" fmla="val 20000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26480" y="37947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Size: MB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7452360" y="3794760"/>
            <a:ext cx="1234440" cy="274320"/>
          </a:xfrm>
          <a:prstGeom prst="roundRect">
            <a:avLst>
              <a:gd name="adj" fmla="val 20000"/>
            </a:avLst>
          </a:prstGeom>
          <a:solidFill>
            <a:srgbClr val="0A1929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452360" y="37947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Isolation: Light (Process)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274320" y="4224528"/>
            <a:ext cx="2743200" cy="621792"/>
          </a:xfrm>
          <a:prstGeom prst="roundRect">
            <a:avLst>
              <a:gd name="adj" fmla="val 11765"/>
            </a:avLst>
          </a:prstGeom>
          <a:solidFill>
            <a:srgbClr val="F5F1EB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47472" y="4242816"/>
            <a:ext cx="25968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→ Sec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347472" y="4608576"/>
            <a:ext cx="2596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 Time: VM → Container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3291840" y="4224528"/>
            <a:ext cx="2743200" cy="621792"/>
          </a:xfrm>
          <a:prstGeom prst="roundRect">
            <a:avLst>
              <a:gd name="adj" fmla="val 11765"/>
            </a:avLst>
          </a:prstGeom>
          <a:solidFill>
            <a:srgbClr val="F5F1EB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64992" y="4242816"/>
            <a:ext cx="25968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 → MB</a:t>
            </a:r>
            <a:endParaRPr lang="en-US" sz="1600" dirty="0"/>
          </a:p>
        </p:txBody>
      </p:sp>
      <p:sp>
        <p:nvSpPr>
          <p:cNvPr id="59" name="Text 57"/>
          <p:cNvSpPr/>
          <p:nvPr/>
        </p:nvSpPr>
        <p:spPr>
          <a:xfrm>
            <a:off x="3364992" y="4608576"/>
            <a:ext cx="2596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Size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309360" y="4224528"/>
            <a:ext cx="2560320" cy="621792"/>
          </a:xfrm>
          <a:prstGeom prst="roundRect">
            <a:avLst>
              <a:gd name="adj" fmla="val 11765"/>
            </a:avLst>
          </a:prstGeom>
          <a:solidFill>
            <a:srgbClr val="F5F1EB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382512" y="4242816"/>
            <a:ext cx="24140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→ Light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6382512" y="4608576"/>
            <a:ext cx="24140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Level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B8E"/>
          </a:solidFill>
          <a:ln w="12700">
            <a:solidFill>
              <a:srgbClr val="4A9B8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Core Concepts: Image → Container → Registry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640080"/>
            <a:ext cx="2331720" cy="1737360"/>
          </a:xfrm>
          <a:prstGeom prst="roundRect">
            <a:avLst>
              <a:gd name="adj" fmla="val 5263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blurRad="127000" dist="508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49377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9377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Dockerfile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02336" y="749808"/>
            <a:ext cx="2075688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python:3.11-slim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WORKDIR /app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requirements.txt .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pip install -r requirements.txt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. .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EXPOSE 8080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 ["uvicorn", "main:app"]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697480" y="1399032"/>
            <a:ext cx="822960" cy="9144"/>
          </a:xfrm>
          <a:prstGeom prst="line">
            <a:avLst/>
          </a:prstGeom>
          <a:noFill/>
          <a:ln w="19050">
            <a:solidFill>
              <a:srgbClr val="4A9B8E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2759202" y="1225296"/>
            <a:ext cx="699516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4A9B8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59202" y="1225296"/>
            <a:ext cx="699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A9B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build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3611880" y="713232"/>
            <a:ext cx="1417320" cy="1600200"/>
          </a:xfrm>
          <a:prstGeom prst="roundRect">
            <a:avLst>
              <a:gd name="adj" fmla="val 6452"/>
            </a:avLst>
          </a:prstGeom>
          <a:solidFill>
            <a:srgbClr val="F5F1EB"/>
          </a:solidFill>
          <a:ln w="19050">
            <a:solidFill>
              <a:srgbClr val="4A9B8E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611880" y="768096"/>
            <a:ext cx="1417320" cy="7360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666744" y="1545336"/>
            <a:ext cx="13075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648456" y="1773936"/>
            <a:ext cx="1344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Immutable Snapshot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myapp:v1.2.3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120640" y="1399032"/>
            <a:ext cx="777240" cy="9144"/>
          </a:xfrm>
          <a:prstGeom prst="line">
            <a:avLst/>
          </a:prstGeom>
          <a:noFill/>
          <a:ln w="19050">
            <a:solidFill>
              <a:srgbClr val="4A9968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5178933" y="1225296"/>
            <a:ext cx="660654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4A996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78933" y="1225296"/>
            <a:ext cx="66065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A99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run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5989320" y="713232"/>
            <a:ext cx="1417320" cy="1600200"/>
          </a:xfrm>
          <a:prstGeom prst="roundRect">
            <a:avLst>
              <a:gd name="adj" fmla="val 6452"/>
            </a:avLst>
          </a:prstGeom>
          <a:solidFill>
            <a:srgbClr val="F5F1EB"/>
          </a:solidFill>
          <a:ln w="19050">
            <a:solidFill>
              <a:srgbClr val="4A9968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989320" y="768096"/>
            <a:ext cx="1417320" cy="7360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044184" y="1545336"/>
            <a:ext cx="13075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025896" y="1773936"/>
            <a:ext cx="1344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Running Instance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(Multiple OK)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7498080" y="1399032"/>
            <a:ext cx="594360" cy="9144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7520940" y="1225296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520940" y="122529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A7F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push/pull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8183880" y="713232"/>
            <a:ext cx="822960" cy="1600200"/>
          </a:xfrm>
          <a:prstGeom prst="roundRect">
            <a:avLst>
              <a:gd name="adj" fmla="val 11111"/>
            </a:avLst>
          </a:prstGeom>
          <a:solidFill>
            <a:srgbClr val="F5F1EB"/>
          </a:solidFill>
          <a:ln w="19050">
            <a:solidFill>
              <a:srgbClr val="4A7FB5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183880" y="768096"/>
            <a:ext cx="822960" cy="7360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🏭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8238744" y="1545336"/>
            <a:ext cx="7132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220456" y="1773936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Hub/ECR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274320" y="2578608"/>
            <a:ext cx="8595360" cy="320040"/>
          </a:xfrm>
          <a:prstGeom prst="roundRect">
            <a:avLst>
              <a:gd name="adj" fmla="val 17143"/>
            </a:avLst>
          </a:prstGeom>
          <a:solidFill>
            <a:srgbClr val="ECE6DD"/>
          </a:solidFill>
          <a:ln w="9525">
            <a:solidFill>
              <a:srgbClr val="D6CCB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25786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Docker Commands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74320" y="2944368"/>
            <a:ext cx="8595360" cy="320040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8912" y="2962656"/>
            <a:ext cx="54864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7F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build -t myapp:v1.2.3 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943600" y="2962656"/>
            <a:ext cx="2743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Image from Dockerfile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74320" y="3310128"/>
            <a:ext cx="8595360" cy="320040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8912" y="3328416"/>
            <a:ext cx="54864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7F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run -p 8080:8080 myapp:v1.2.3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943600" y="3328416"/>
            <a:ext cx="2743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 Container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74320" y="3675888"/>
            <a:ext cx="8595360" cy="320040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8912" y="3694176"/>
            <a:ext cx="54864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7F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ps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943600" y="3694176"/>
            <a:ext cx="2743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running Containers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74320" y="4041648"/>
            <a:ext cx="8595360" cy="320040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38912" y="4059936"/>
            <a:ext cx="54864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7F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logs &lt;container-id&gt;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943600" y="4059936"/>
            <a:ext cx="2743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Container logs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74320" y="4407408"/>
            <a:ext cx="8595360" cy="320040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38912" y="4425696"/>
            <a:ext cx="54864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7F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exec -it &lt;container-id&gt; bash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943600" y="4425696"/>
            <a:ext cx="2743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 into Container for debugging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B8E"/>
          </a:solidFill>
          <a:ln w="12700">
            <a:solidFill>
              <a:srgbClr val="4A9B8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Compose: Multi-Container Apps in One Command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023360" cy="4251960"/>
          </a:xfrm>
          <a:prstGeom prst="roundRect">
            <a:avLst>
              <a:gd name="adj" fmla="val 2273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blurRad="127000" dist="508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docker-compose.yml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02336" y="704088"/>
            <a:ext cx="376732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services: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nginx: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image: nginx:alpine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ports: ["80:80"]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depends_on: [backend]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backend: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build: ./backend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environment: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DB_URL: postgresql://db/app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depends_on: [db, redis]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db: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image: postgres:16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volumes: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pgdata:/var/lib/postgresql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redis: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image: redis:7-alpine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volumes: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pgdata: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407408" y="2487168"/>
            <a:ext cx="329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A9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4754880" y="658368"/>
            <a:ext cx="4114800" cy="4114800"/>
          </a:xfrm>
          <a:prstGeom prst="roundRect">
            <a:avLst>
              <a:gd name="adj" fmla="val 2222"/>
            </a:avLst>
          </a:prstGeom>
          <a:ln w="12700">
            <a:solidFill>
              <a:srgbClr val="4A9B8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846320" y="51206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FFFDF8"/>
          </a:solidFill>
          <a:ln w="6350">
            <a:solidFill>
              <a:srgbClr val="4A9B8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64608" y="51206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A9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network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4983480" y="914400"/>
            <a:ext cx="1508760" cy="960120"/>
          </a:xfrm>
          <a:prstGeom prst="roundRect">
            <a:avLst>
              <a:gd name="adj" fmla="val 9524"/>
            </a:avLst>
          </a:prstGeom>
          <a:solidFill>
            <a:srgbClr val="F5F1EB"/>
          </a:solidFill>
          <a:ln w="19050">
            <a:solidFill>
              <a:srgbClr val="5B8DB8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983480" y="969264"/>
            <a:ext cx="150876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038344" y="1413662"/>
            <a:ext cx="13990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020056" y="1642262"/>
            <a:ext cx="1435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040880" y="914400"/>
            <a:ext cx="1508760" cy="960120"/>
          </a:xfrm>
          <a:prstGeom prst="roundRect">
            <a:avLst>
              <a:gd name="adj" fmla="val 9524"/>
            </a:avLst>
          </a:prstGeom>
          <a:solidFill>
            <a:srgbClr val="F5F1EB"/>
          </a:solidFill>
          <a:ln w="19050">
            <a:solidFill>
              <a:srgbClr val="5A9B6E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040880" y="969264"/>
            <a:ext cx="150876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095744" y="1413662"/>
            <a:ext cx="13990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077456" y="1642262"/>
            <a:ext cx="1435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983480" y="2331720"/>
            <a:ext cx="1508760" cy="960120"/>
          </a:xfrm>
          <a:prstGeom prst="roundRect">
            <a:avLst>
              <a:gd name="adj" fmla="val 9524"/>
            </a:avLst>
          </a:prstGeom>
          <a:solidFill>
            <a:srgbClr val="F5F1EB"/>
          </a:solidFill>
          <a:ln w="19050">
            <a:solidFill>
              <a:srgbClr val="C4804A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983480" y="2386584"/>
            <a:ext cx="150876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038344" y="2830982"/>
            <a:ext cx="13990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020056" y="3059582"/>
            <a:ext cx="1435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:5432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7040880" y="2331720"/>
            <a:ext cx="1508760" cy="960120"/>
          </a:xfrm>
          <a:prstGeom prst="roundRect">
            <a:avLst>
              <a:gd name="adj" fmla="val 9524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040880" y="2386584"/>
            <a:ext cx="150876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7095744" y="2830982"/>
            <a:ext cx="13990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077456" y="3059582"/>
            <a:ext cx="1435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:6379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537960" y="1325880"/>
            <a:ext cx="457200" cy="9144"/>
          </a:xfrm>
          <a:prstGeom prst="line">
            <a:avLst/>
          </a:prstGeom>
          <a:noFill/>
          <a:ln w="19050">
            <a:solidFill>
              <a:srgbClr val="5B8DB8"/>
            </a:solidFill>
            <a:prstDash val="solid"/>
            <a:tailEnd type="arrow"/>
          </a:ln>
        </p:spPr>
      </p:sp>
      <p:sp>
        <p:nvSpPr>
          <p:cNvPr id="31" name="Shape 29"/>
          <p:cNvSpPr/>
          <p:nvPr/>
        </p:nvSpPr>
        <p:spPr>
          <a:xfrm>
            <a:off x="6492240" y="1152144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5B8DB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92240" y="1152144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B8D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proxy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5733288" y="1901952"/>
            <a:ext cx="9144" cy="402336"/>
          </a:xfrm>
          <a:prstGeom prst="line">
            <a:avLst/>
          </a:prstGeom>
          <a:noFill/>
          <a:ln w="19050">
            <a:solidFill>
              <a:srgbClr val="5A9B6E"/>
            </a:solidFill>
            <a:prstDash val="solid"/>
            <a:tailEnd type="arrow"/>
          </a:ln>
        </p:spPr>
      </p:sp>
      <p:sp>
        <p:nvSpPr>
          <p:cNvPr id="34" name="Shape 32"/>
          <p:cNvSpPr/>
          <p:nvPr/>
        </p:nvSpPr>
        <p:spPr>
          <a:xfrm>
            <a:off x="6903720" y="2880360"/>
            <a:ext cx="109728" cy="9144"/>
          </a:xfrm>
          <a:prstGeom prst="line">
            <a:avLst/>
          </a:prstGeom>
          <a:noFill/>
          <a:ln w="19050">
            <a:solidFill>
              <a:srgbClr val="8B6AB5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6684264" y="2706624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8B6A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84264" y="2706624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8B6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cache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274320" y="461772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46634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One command does it all: docker compose up -d — No more manually starting multiple services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Registry: Image Repository &amp; Version Management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658368"/>
            <a:ext cx="1234440" cy="1234440"/>
          </a:xfrm>
          <a:prstGeom prst="roundRect">
            <a:avLst>
              <a:gd name="adj" fmla="val 7407"/>
            </a:avLst>
          </a:prstGeom>
          <a:solidFill>
            <a:srgbClr val="F5F1EB"/>
          </a:solidFill>
          <a:ln w="19050">
            <a:solidFill>
              <a:srgbClr val="908880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2880" y="713232"/>
            <a:ext cx="1234440" cy="567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💻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37744" y="1300277"/>
            <a:ext cx="11247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19456" y="1528877"/>
            <a:ext cx="11612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 Changes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508760" y="1188720"/>
            <a:ext cx="731520" cy="9144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1563624" y="1014984"/>
            <a:ext cx="621792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63624" y="1014984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A7F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4A7F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build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331720" y="658368"/>
            <a:ext cx="1234440" cy="1234440"/>
          </a:xfrm>
          <a:prstGeom prst="roundRect">
            <a:avLst>
              <a:gd name="adj" fmla="val 7407"/>
            </a:avLst>
          </a:prstGeom>
          <a:solidFill>
            <a:srgbClr val="F5F1EB"/>
          </a:solidFill>
          <a:ln w="19050">
            <a:solidFill>
              <a:srgbClr val="4A9B8E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331720" y="713232"/>
            <a:ext cx="1234440" cy="567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386584" y="1300277"/>
            <a:ext cx="11247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368296" y="1528877"/>
            <a:ext cx="11612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myapp:v1.2.4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657600" y="1188720"/>
            <a:ext cx="731520" cy="9144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3712464" y="1014984"/>
            <a:ext cx="621792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12464" y="1014984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A7F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push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480560" y="658368"/>
            <a:ext cx="1371600" cy="1234440"/>
          </a:xfrm>
          <a:prstGeom prst="roundRect">
            <a:avLst>
              <a:gd name="adj" fmla="val 7407"/>
            </a:avLst>
          </a:prstGeom>
          <a:solidFill>
            <a:srgbClr val="F5F1EB"/>
          </a:solidFill>
          <a:ln w="19050">
            <a:solidFill>
              <a:srgbClr val="4A7FB5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480560" y="713232"/>
            <a:ext cx="1371600" cy="567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🏭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535424" y="1300277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517136" y="1528877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Hub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ECR / GCR / Harbor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943600" y="1188720"/>
            <a:ext cx="731520" cy="9144"/>
          </a:xfrm>
          <a:prstGeom prst="line">
            <a:avLst/>
          </a:prstGeom>
          <a:noFill/>
          <a:ln w="19050">
            <a:solidFill>
              <a:srgbClr val="4A9968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5998464" y="1014984"/>
            <a:ext cx="621792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4A996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98464" y="1014984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A99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pull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6766560" y="658368"/>
            <a:ext cx="2103120" cy="1234440"/>
          </a:xfrm>
          <a:prstGeom prst="roundRect">
            <a:avLst>
              <a:gd name="adj" fmla="val 7407"/>
            </a:avLst>
          </a:prstGeom>
          <a:solidFill>
            <a:srgbClr val="F5F1EB"/>
          </a:solidFill>
          <a:ln w="19050">
            <a:solidFill>
              <a:srgbClr val="4A9968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766560" y="713232"/>
            <a:ext cx="2103120" cy="567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821424" y="1300277"/>
            <a:ext cx="19933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803136" y="1528877"/>
            <a:ext cx="20299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app-server-01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app-server-02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app-server-03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74320" y="233172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Tag Strategy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74320" y="2606040"/>
            <a:ext cx="4023360" cy="841248"/>
          </a:xfrm>
          <a:prstGeom prst="roundRect">
            <a:avLst>
              <a:gd name="adj" fmla="val 8696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1480" y="2642616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:latest — Avoid in Production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11480" y="291693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trace back; unknown which version is running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754880" y="2606040"/>
            <a:ext cx="4023360" cy="841248"/>
          </a:xfrm>
          <a:prstGeom prst="roundRect">
            <a:avLst>
              <a:gd name="adj" fmla="val 8696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2642616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:v1.2.3 (Semantic Version) — Recommended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892040" y="291693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version, rollback anytime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274320" y="3547872"/>
            <a:ext cx="4023360" cy="841248"/>
          </a:xfrm>
          <a:prstGeom prst="roundRect">
            <a:avLst>
              <a:gd name="adj" fmla="val 8696"/>
            </a:avLst>
          </a:prstGeom>
          <a:solidFill>
            <a:srgbClr val="F5F1EB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11480" y="358444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:git-abc1234 (Commit Hash)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11480" y="385876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commit maps to an immutable Image, common in CI/CD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754880" y="3547872"/>
            <a:ext cx="4023360" cy="841248"/>
          </a:xfrm>
          <a:prstGeom prst="roundRect">
            <a:avLst>
              <a:gd name="adj" fmla="val 8696"/>
            </a:avLst>
          </a:prstGeom>
          <a:solidFill>
            <a:srgbClr val="F5F1EB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92040" y="358444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:20240315-abc1234 (Date+Hash)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892040" y="385876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 + Hash for readability and uniqueness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274320" y="4498848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7200" y="454456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Never use :latest in Prod — you can never be sure which version 'latest' actually is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B8E"/>
          </a:solidFill>
          <a:ln w="12700">
            <a:solidFill>
              <a:srgbClr val="4A9B8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Containerization: From Operations Nightmare to Consistent Deployment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0" y="502920"/>
            <a:ext cx="9144" cy="2852928"/>
          </a:xfrm>
          <a:prstGeom prst="line">
            <a:avLst/>
          </a:prstGeom>
          <a:noFill/>
          <a:ln w="9525">
            <a:solidFill>
              <a:srgbClr val="D6CCB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Before Containerization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960120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F8ECEC"/>
          </a:solidFill>
          <a:ln w="9525">
            <a:solidFill>
              <a:srgbClr val="C460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960120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18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069848" y="960120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F8ECEC"/>
          </a:solidFill>
          <a:ln w="9525">
            <a:solidFill>
              <a:srgbClr val="C4605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69848" y="960120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20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865376" y="960120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F8ECEC"/>
          </a:solidFill>
          <a:ln w="9525">
            <a:solidFill>
              <a:srgbClr val="C4605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65376" y="960120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CentOS 7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2660904" y="960120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F8ECEC"/>
          </a:solidFill>
          <a:ln w="9525">
            <a:solidFill>
              <a:srgbClr val="C460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60904" y="960120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Debian 10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456432" y="960120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F8ECEC"/>
          </a:solidFill>
          <a:ln w="9525">
            <a:solidFill>
              <a:srgbClr val="C4605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56432" y="960120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RHEL 8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274320" y="1298448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F3EDE0"/>
          </a:solidFill>
          <a:ln w="9525">
            <a:solidFill>
              <a:srgbClr val="B8892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" y="1298448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3.6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1069848" y="1298448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F3EDE0"/>
          </a:solidFill>
          <a:ln w="9525">
            <a:solidFill>
              <a:srgbClr val="B8892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69848" y="1298448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3.7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865376" y="1298448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F3EDE0"/>
          </a:solidFill>
          <a:ln w="9525">
            <a:solidFill>
              <a:srgbClr val="B8892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65376" y="1298448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3.8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2660904" y="1298448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F3EDE0"/>
          </a:solidFill>
          <a:ln w="9525">
            <a:solidFill>
              <a:srgbClr val="B8892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660904" y="1298448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3.9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456432" y="1298448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F3EDE0"/>
          </a:solidFill>
          <a:ln w="9525">
            <a:solidFill>
              <a:srgbClr val="B8892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56432" y="1298448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14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74320" y="1636776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F8ECEC"/>
          </a:solidFill>
          <a:ln w="9525">
            <a:solidFill>
              <a:srgbClr val="C4605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1636776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1.14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1069848" y="1636776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F8ECEC"/>
          </a:solidFill>
          <a:ln w="9525">
            <a:solidFill>
              <a:srgbClr val="C4605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69848" y="1636776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1.16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1865376" y="1636776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F8ECEC"/>
          </a:solidFill>
          <a:ln w="9525">
            <a:solidFill>
              <a:srgbClr val="C4605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865376" y="1636776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1.18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2660904" y="1636776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F8ECEC"/>
          </a:solidFill>
          <a:ln w="9525">
            <a:solidFill>
              <a:srgbClr val="C4605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60904" y="1636776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1.20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3456432" y="1636776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F8ECEC"/>
          </a:solidFill>
          <a:ln w="9525">
            <a:solidFill>
              <a:srgbClr val="C4605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56432" y="1636776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2.4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274320" y="1965960"/>
            <a:ext cx="4023360" cy="237744"/>
          </a:xfrm>
          <a:prstGeom prst="roundRect">
            <a:avLst>
              <a:gd name="adj" fmla="val 19231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1480" y="1965960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Manual SSH deploy scripts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74320" y="2240280"/>
            <a:ext cx="4023360" cy="237744"/>
          </a:xfrm>
          <a:prstGeom prst="roundRect">
            <a:avLst>
              <a:gd name="adj" fmla="val 19231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11480" y="2240280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Every host configured differently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274320" y="2514600"/>
            <a:ext cx="4023360" cy="237744"/>
          </a:xfrm>
          <a:prstGeom prst="roundRect">
            <a:avLst>
              <a:gd name="adj" fmla="val 19231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11480" y="2514600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"Only I know how to restart it"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74320" y="2971800"/>
            <a:ext cx="4023360" cy="365760"/>
          </a:xfrm>
          <a:prstGeom prst="roundRect">
            <a:avLst>
              <a:gd name="adj" fmla="val 15000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1480" y="29718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😱 15+ hosts × N different configs = Operations Hell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After Containerization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4800600" y="868680"/>
            <a:ext cx="3977640" cy="2194560"/>
          </a:xfrm>
          <a:prstGeom prst="roundRect">
            <a:avLst>
              <a:gd name="adj" fmla="val 4167"/>
            </a:avLst>
          </a:prstGeom>
          <a:ln w="12700">
            <a:solidFill>
              <a:srgbClr val="4A9B8E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>
            <a:off x="4892040" y="72237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FFFDF8"/>
          </a:solidFill>
          <a:ln w="6350">
            <a:solidFill>
              <a:srgbClr val="4A9B8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10328" y="72237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A9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ON ALL HOSTS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983480" y="1024128"/>
            <a:ext cx="1737360" cy="841248"/>
          </a:xfrm>
          <a:prstGeom prst="roundRect">
            <a:avLst>
              <a:gd name="adj" fmla="val 10870"/>
            </a:avLst>
          </a:prstGeom>
          <a:solidFill>
            <a:srgbClr val="F5F1EB"/>
          </a:solidFill>
          <a:ln w="19050">
            <a:solidFill>
              <a:srgbClr val="5B8DB8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4983480" y="1078992"/>
            <a:ext cx="1737360" cy="386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57" name="Text 55"/>
          <p:cNvSpPr/>
          <p:nvPr/>
        </p:nvSpPr>
        <p:spPr>
          <a:xfrm>
            <a:off x="5038344" y="1461577"/>
            <a:ext cx="16276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nginx:1.25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5020056" y="1690177"/>
            <a:ext cx="1664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Frontend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6858000" y="1024128"/>
            <a:ext cx="1737360" cy="841248"/>
          </a:xfrm>
          <a:prstGeom prst="roundRect">
            <a:avLst>
              <a:gd name="adj" fmla="val 10870"/>
            </a:avLst>
          </a:prstGeom>
          <a:solidFill>
            <a:srgbClr val="F5F1EB"/>
          </a:solidFill>
          <a:ln w="19050">
            <a:solidFill>
              <a:srgbClr val="5A9B6E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6858000" y="1078992"/>
            <a:ext cx="1737360" cy="386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61" name="Text 59"/>
          <p:cNvSpPr/>
          <p:nvPr/>
        </p:nvSpPr>
        <p:spPr>
          <a:xfrm>
            <a:off x="6912864" y="1461577"/>
            <a:ext cx="16276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backend:v2.1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6894576" y="1690177"/>
            <a:ext cx="1664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Backend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4983480" y="1993392"/>
            <a:ext cx="1737360" cy="841248"/>
          </a:xfrm>
          <a:prstGeom prst="roundRect">
            <a:avLst>
              <a:gd name="adj" fmla="val 10870"/>
            </a:avLst>
          </a:prstGeom>
          <a:solidFill>
            <a:srgbClr val="F5F1EB"/>
          </a:solidFill>
          <a:ln w="19050">
            <a:solidFill>
              <a:srgbClr val="C4804A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64" name="Text 62"/>
          <p:cNvSpPr/>
          <p:nvPr/>
        </p:nvSpPr>
        <p:spPr>
          <a:xfrm>
            <a:off x="4983480" y="2048256"/>
            <a:ext cx="1737360" cy="386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65" name="Text 63"/>
          <p:cNvSpPr/>
          <p:nvPr/>
        </p:nvSpPr>
        <p:spPr>
          <a:xfrm>
            <a:off x="5038344" y="2430841"/>
            <a:ext cx="16276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postgres:16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5020056" y="2659441"/>
            <a:ext cx="1664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6858000" y="1993392"/>
            <a:ext cx="1737360" cy="841248"/>
          </a:xfrm>
          <a:prstGeom prst="roundRect">
            <a:avLst>
              <a:gd name="adj" fmla="val 10870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68" name="Text 66"/>
          <p:cNvSpPr/>
          <p:nvPr/>
        </p:nvSpPr>
        <p:spPr>
          <a:xfrm>
            <a:off x="6858000" y="2048256"/>
            <a:ext cx="1737360" cy="386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69" name="Text 67"/>
          <p:cNvSpPr/>
          <p:nvPr/>
        </p:nvSpPr>
        <p:spPr>
          <a:xfrm>
            <a:off x="6912864" y="2430841"/>
            <a:ext cx="16276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redis:7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6894576" y="2659441"/>
            <a:ext cx="1664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Cache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4754880" y="2971800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4 Container Images, identical across all environments — Dev = Staging = Prod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274320" y="3401568"/>
            <a:ext cx="8595360" cy="566928"/>
          </a:xfrm>
          <a:prstGeom prst="roundRect">
            <a:avLst>
              <a:gd name="adj" fmla="val 12903"/>
            </a:avLst>
          </a:prstGeom>
          <a:solidFill>
            <a:srgbClr val="F5F1EB"/>
          </a:solidFill>
          <a:ln w="19050">
            <a:solidFill>
              <a:srgbClr val="4A9B8E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74320" y="3401568"/>
            <a:ext cx="8595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A9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9/10  →  5/10  ↓  Operations Nightmare  →  Standardized Deployment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274320" y="4114800"/>
            <a:ext cx="2697480" cy="685800"/>
          </a:xfrm>
          <a:prstGeom prst="roundRect">
            <a:avLst>
              <a:gd name="adj" fmla="val 10667"/>
            </a:avLst>
          </a:prstGeom>
          <a:solidFill>
            <a:srgbClr val="F5F1EB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65760" y="415137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Consistent Env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365760" y="443484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= Staging = Prod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3246120" y="4114800"/>
            <a:ext cx="2697480" cy="685800"/>
          </a:xfrm>
          <a:prstGeom prst="roundRect">
            <a:avLst>
              <a:gd name="adj" fmla="val 10667"/>
            </a:avLst>
          </a:prstGeom>
          <a:solidFill>
            <a:srgbClr val="F5F1EB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3337560" y="415137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📜 Version Locked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3337560" y="443484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tag = instant rollback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6217920" y="4114800"/>
            <a:ext cx="2697480" cy="685800"/>
          </a:xfrm>
          <a:prstGeom prst="roundRect">
            <a:avLst>
              <a:gd name="adj" fmla="val 10667"/>
            </a:avLst>
          </a:prstGeom>
          <a:solidFill>
            <a:srgbClr val="F5F1EB"/>
          </a:solidFill>
          <a:ln w="12700">
            <a:solidFill>
              <a:srgbClr val="4A9B8E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309360" y="415137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Rapid Deployment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6309360" y="443484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pull + run in seconds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 App: Modern Application Design Principles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74320" y="566928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12-Factor App?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74320" y="868680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principles distilled by Heroku engineers to help applications thrive in Cloud Native environments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" y="1188720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F5F1EB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1234440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Codebase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84048" y="14813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codebase → many deploys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108960" y="1188720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F5F1EB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18688" y="1234440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Dependencies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218688" y="14813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dep declaration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943600" y="1188720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F5F1EB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53328" y="1234440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Config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053328" y="14813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in environment vars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74320" y="1993392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F5F1EB"/>
          </a:solidFill>
          <a:ln w="15240">
            <a:solidFill>
              <a:srgbClr val="8B6A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2039112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Backing Services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84048" y="228600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DB/MQ/Cache as attached resources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108960" y="1993392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F5F1EB"/>
          </a:solidFill>
          <a:ln w="15240">
            <a:solidFill>
              <a:srgbClr val="8B6A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18688" y="2039112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Build/Release/Run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218688" y="228600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build → release → run stages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943600" y="1993392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F5F1EB"/>
          </a:solidFill>
          <a:ln w="15240">
            <a:solidFill>
              <a:srgbClr val="8B6A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53328" y="2039112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Processes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053328" y="228600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processes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74320" y="2798064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F5F1EB"/>
          </a:solidFill>
          <a:ln w="15240">
            <a:solidFill>
              <a:srgbClr val="4A99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84048" y="2843784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Port Binding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84048" y="309067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Self-contained: export via port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108960" y="2798064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F5F1EB"/>
          </a:solidFill>
          <a:ln w="15240">
            <a:solidFill>
              <a:srgbClr val="4A996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18688" y="2843784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⑧ Concurrency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218688" y="309067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via process model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943600" y="2798064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F5F1EB"/>
          </a:solidFill>
          <a:ln w="15240">
            <a:solidFill>
              <a:srgbClr val="4A996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53328" y="2843784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⑨ Disposability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053328" y="309067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startup, graceful shutdown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74320" y="3602736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F5F1EB"/>
          </a:solidFill>
          <a:ln w="15240">
            <a:solidFill>
              <a:srgbClr val="B8892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84048" y="3648456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⑩ Dev/Prod Parity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84048" y="389534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environment mirrors production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3108960" y="3602736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F5F1EB"/>
          </a:solidFill>
          <a:ln w="15240">
            <a:solidFill>
              <a:srgbClr val="B8892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18688" y="3648456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⑪ Logs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218688" y="389534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as event streams (stdout)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5943600" y="3602736"/>
            <a:ext cx="2651760" cy="713232"/>
          </a:xfrm>
          <a:prstGeom prst="roundRect">
            <a:avLst>
              <a:gd name="adj" fmla="val 10256"/>
            </a:avLst>
          </a:prstGeom>
          <a:solidFill>
            <a:srgbClr val="F5F1EB"/>
          </a:solidFill>
          <a:ln w="15240">
            <a:solidFill>
              <a:srgbClr val="B8892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053328" y="3648456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⑫ Admin Processes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053328" y="389534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as one-off processes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These 12 principles are guidelines, not rules — but following them lets your app run naturally in Container/Cloud environments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1-3: Codebase, Dependencies, Config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F5F1EB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66928"/>
            <a:ext cx="2865120" cy="475488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📁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Codebase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79576"/>
            <a:ext cx="109728" cy="109728"/>
          </a:xfrm>
          <a:prstGeom prst="ellipse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repo = One application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7548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mix multiple apps in a single repo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10896" y="1581912"/>
            <a:ext cx="109728" cy="109728"/>
          </a:xfrm>
          <a:prstGeom prst="ellipse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environments = Same codebase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10896" y="1984248"/>
            <a:ext cx="109728" cy="109728"/>
          </a:xfrm>
          <a:prstGeom prst="ellipse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192024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strategy: main/dev/feature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75488" y="212140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always maps to Prod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10896" y="2386584"/>
            <a:ext cx="109728" cy="109728"/>
          </a:xfrm>
          <a:prstGeom prst="ellipse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Different branch per environment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13944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F5F1EB"/>
          </a:solidFill>
          <a:ln w="15240">
            <a:solidFill>
              <a:srgbClr val="8B6A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139440" y="566928"/>
            <a:ext cx="2865120" cy="475488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3944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356006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Dependencies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67456" y="1179576"/>
            <a:ext cx="109728" cy="109728"/>
          </a:xfrm>
          <a:prstGeom prst="ellipse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3204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Explicitly declare all dependencies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43204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requirements.txt / package.json / go.mod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267456" y="1581912"/>
            <a:ext cx="109728" cy="109728"/>
          </a:xfrm>
          <a:prstGeom prst="ellipse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32048" y="151790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system-level package assumptions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432048" y="171907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assume host has curl or zip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267456" y="1984248"/>
            <a:ext cx="109728" cy="109728"/>
          </a:xfrm>
          <a:prstGeom prst="ellipse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32048" y="192024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Containers perfectly satisfy this factor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3432048" y="212140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Dockerfile is your dependency manifest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267456" y="2386584"/>
            <a:ext cx="109728" cy="109728"/>
          </a:xfrm>
          <a:prstGeom prst="ellipse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3204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pip install without version pinning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09600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F5F1EB"/>
          </a:solidFill>
          <a:ln w="15240">
            <a:solidFill>
              <a:srgbClr val="B8892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96000" y="566928"/>
            <a:ext cx="2865120" cy="475488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9600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651662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Config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224016" y="1179576"/>
            <a:ext cx="109728" cy="109728"/>
          </a:xfrm>
          <a:prstGeom prst="ellipse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8860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config in environment variables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38860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DB_URL, API_KEY, PORT...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224016" y="1581912"/>
            <a:ext cx="109728" cy="109728"/>
          </a:xfrm>
          <a:prstGeom prst="ellipse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8608" y="151790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os.getenv('DB_URL')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388608" y="171907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Kubernetes ConfigMap/Secret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224016" y="1984248"/>
            <a:ext cx="109728" cy="109728"/>
          </a:xfrm>
          <a:prstGeom prst="ellipse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88608" y="192024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Hardcoded config in source code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6388608" y="212140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config.dev.py / config.prod.py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224016" y="2386584"/>
            <a:ext cx="109728" cy="109728"/>
          </a:xfrm>
          <a:prstGeom prst="ellipse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8860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must not be committed to version control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Storing config in env vars is the most impactful 12-Factor rule — the same image runs across dev/staging/prod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4-6: Backing Services, Build/Release/Run, Processes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F5F1EB"/>
          </a:solidFill>
          <a:ln w="15240">
            <a:solidFill>
              <a:srgbClr val="C480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66928"/>
            <a:ext cx="2865120" cy="475488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🔌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48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Backing Services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79576"/>
            <a:ext cx="109728" cy="109728"/>
          </a:xfrm>
          <a:prstGeom prst="ellipse">
            <a:avLst/>
          </a:prstGeom>
          <a:solidFill>
            <a:srgbClr val="C4804A"/>
          </a:solidFill>
          <a:ln w="12700">
            <a:solidFill>
              <a:srgbClr val="C480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DB/MQ/Cache = Attached resources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10896" y="1581912"/>
            <a:ext cx="109728" cy="109728"/>
          </a:xfrm>
          <a:prstGeom prst="ellipse">
            <a:avLst/>
          </a:prstGeom>
          <a:solidFill>
            <a:srgbClr val="C4804A"/>
          </a:solidFill>
          <a:ln w="12700">
            <a:solidFill>
              <a:srgbClr val="C48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151790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and third-party services treated equally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75488" y="171907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Switching DB only requires changing the URL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10896" y="1984248"/>
            <a:ext cx="109728" cy="109728"/>
          </a:xfrm>
          <a:prstGeom prst="ellipse">
            <a:avLst/>
          </a:prstGeom>
          <a:solidFill>
            <a:srgbClr val="C4804A"/>
          </a:solidFill>
          <a:ln w="12700">
            <a:solidFill>
              <a:srgbClr val="C48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via URL/credential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0896" y="2386584"/>
            <a:ext cx="109728" cy="109728"/>
          </a:xfrm>
          <a:prstGeom prst="ellipse">
            <a:avLst/>
          </a:prstGeom>
          <a:solidFill>
            <a:srgbClr val="C4804A"/>
          </a:solidFill>
          <a:ln w="12700">
            <a:solidFill>
              <a:srgbClr val="C480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Hardcoded localhost:5432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10896" y="2788920"/>
            <a:ext cx="109728" cy="109728"/>
          </a:xfrm>
          <a:prstGeom prst="ellipse">
            <a:avLst/>
          </a:prstGeom>
          <a:solidFill>
            <a:srgbClr val="C4804A"/>
          </a:solidFill>
          <a:ln w="12700">
            <a:solidFill>
              <a:srgbClr val="C480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DB_URL env var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13944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F5F1EB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39440" y="566928"/>
            <a:ext cx="2865120" cy="475488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3944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🏗️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356006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Build/Release/Run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267456" y="1179576"/>
            <a:ext cx="109728" cy="109728"/>
          </a:xfrm>
          <a:prstGeom prst="ellipse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3204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Build: Source code → Executable artifact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267456" y="1581912"/>
            <a:ext cx="109728" cy="109728"/>
          </a:xfrm>
          <a:prstGeom prst="ellipse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32048" y="151790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Release: Build + Config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432048" y="171907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Tagged with version, immutable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267456" y="1984248"/>
            <a:ext cx="109728" cy="109728"/>
          </a:xfrm>
          <a:prstGeom prst="ellipse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3204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Run: Execute a specific Release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267456" y="2386584"/>
            <a:ext cx="109728" cy="109728"/>
          </a:xfrm>
          <a:prstGeom prst="ellipse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43204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stages strictly separated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267456" y="2788920"/>
            <a:ext cx="109728" cy="109728"/>
          </a:xfrm>
          <a:prstGeom prst="ellipse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3204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Releases are immutable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09600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F5F1EB"/>
          </a:solidFill>
          <a:ln w="15240">
            <a:solidFill>
              <a:srgbClr val="4A996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96000" y="566928"/>
            <a:ext cx="2865120" cy="475488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9600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651662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Processes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224016" y="1179576"/>
            <a:ext cx="109728" cy="109728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8860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Processes must be stateless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224016" y="1581912"/>
            <a:ext cx="109728" cy="109728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8608" y="151790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= Can scale freely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388608" y="171907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prerequisite for Scale Out!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224016" y="1984248"/>
            <a:ext cx="109728" cy="109728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88608" y="192024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Session/State → External storage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6388608" y="212140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/ DB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224016" y="2386584"/>
            <a:ext cx="109728" cy="109728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8860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Storing sessions on local filesystem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224016" y="2788920"/>
            <a:ext cx="109728" cy="109728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8860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JWT + Redis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Stateless Process (Factor 6) is the cornerstone of Scale Out — without it, horizontal scaling is impossible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7-9: Port Binding, Concurrency, Disposability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F5F1EB"/>
          </a:solidFill>
          <a:ln w="1524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66928"/>
            <a:ext cx="2865120" cy="475488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🔌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B8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Port Binding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79576"/>
            <a:ext cx="109728" cy="109728"/>
          </a:xfrm>
          <a:prstGeom prst="ellipse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includes its own HTTP server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10896" y="1581912"/>
            <a:ext cx="109728" cy="109728"/>
          </a:xfrm>
          <a:prstGeom prst="ellipse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151790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Exports services via port binding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75488" y="171907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external Apache/Nginx required to run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10896" y="1984248"/>
            <a:ext cx="109728" cy="109728"/>
          </a:xfrm>
          <a:prstGeom prst="ellipse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Flask/FastAPI/Express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0896" y="2386584"/>
            <a:ext cx="109728" cy="109728"/>
          </a:xfrm>
          <a:prstGeom prst="ellipse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Containerization naturally satisfies this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10896" y="2788920"/>
            <a:ext cx="109728" cy="109728"/>
          </a:xfrm>
          <a:prstGeom prst="ellipse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PORT=8080 controlled via env var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13944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F5F1EB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39440" y="566928"/>
            <a:ext cx="2865120" cy="475488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3944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356006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⑧ Concurrency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267456" y="1179576"/>
            <a:ext cx="109728" cy="109728"/>
          </a:xfrm>
          <a:prstGeom prst="ellipse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3204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via process types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267456" y="1581912"/>
            <a:ext cx="109728" cy="109728"/>
          </a:xfrm>
          <a:prstGeom prst="ellipse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3204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Process × N = Scale Out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267456" y="1984248"/>
            <a:ext cx="109728" cy="109728"/>
          </a:xfrm>
          <a:prstGeom prst="ellipse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3204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Process = Async tasks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67456" y="2386584"/>
            <a:ext cx="109728" cy="109728"/>
          </a:xfrm>
          <a:prstGeom prst="ellipse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32048" y="2322576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type scales independently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432048" y="2523744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× 5, Worker × 2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3267456" y="2788920"/>
            <a:ext cx="109728" cy="109728"/>
          </a:xfrm>
          <a:prstGeom prst="ellipse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3204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Deployment supports this perfectly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09600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F5F1EB"/>
          </a:solidFill>
          <a:ln w="15240">
            <a:solidFill>
              <a:srgbClr val="4A996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96000" y="566928"/>
            <a:ext cx="2865120" cy="475488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9600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651662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⑨ Disposability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224016" y="1179576"/>
            <a:ext cx="109728" cy="109728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8860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Processes must start quickly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38860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&lt; 10 seconds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6224016" y="1581912"/>
            <a:ext cx="109728" cy="109728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8860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Graceful Shutdown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224016" y="1984248"/>
            <a:ext cx="109728" cy="109728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8860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SIGTERM → Finish current requests, then exit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224016" y="2386584"/>
            <a:ext cx="109728" cy="109728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8860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Crashes are fine — fast restart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224016" y="2788920"/>
            <a:ext cx="109728" cy="109728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8860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+ K8s are a perfect match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Disposability lets Kubernetes kill/restart your containers at any time — design it right, and there's nothing to worry about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10-12: Dev/Prod Parity, Logs, Admin Processes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F5F1EB"/>
          </a:solidFill>
          <a:ln w="15240">
            <a:solidFill>
              <a:srgbClr val="B8892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66928"/>
            <a:ext cx="2865120" cy="475488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⑩ Dev/Prod Parity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79576"/>
            <a:ext cx="109728" cy="109728"/>
          </a:xfrm>
          <a:prstGeom prst="ellipse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environment should closely mirror Prod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10896" y="1581912"/>
            <a:ext cx="109728" cy="109728"/>
          </a:xfrm>
          <a:prstGeom prst="ellipse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Dev uses SQLite, Prod uses Postgres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10896" y="1984248"/>
            <a:ext cx="109728" cy="109728"/>
          </a:xfrm>
          <a:prstGeom prst="ellipse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Docker Compose to replicate all services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10896" y="2386584"/>
            <a:ext cx="109728" cy="109728"/>
          </a:xfrm>
          <a:prstGeom prst="ellipse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Shorten the Dev → Deploy cycle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10896" y="2788920"/>
            <a:ext cx="109728" cy="109728"/>
          </a:xfrm>
          <a:prstGeom prst="ellipse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Containers make parity easy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13944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F5F1EB"/>
          </a:solidFill>
          <a:ln w="15240">
            <a:solidFill>
              <a:srgbClr val="8B6A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139440" y="566928"/>
            <a:ext cx="2865120" cy="475488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3944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356006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⑪ Logs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67456" y="1179576"/>
            <a:ext cx="109728" cy="109728"/>
          </a:xfrm>
          <a:prstGeom prst="ellipse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3204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logs to stdout/stderr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267456" y="1581912"/>
            <a:ext cx="109728" cy="109728"/>
          </a:xfrm>
          <a:prstGeom prst="ellipse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3204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manage log files yourself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67456" y="1984248"/>
            <a:ext cx="109728" cy="109728"/>
          </a:xfrm>
          <a:prstGeom prst="ellipse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3204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the platform collect them (FluentD, CloudWatch)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267456" y="2386584"/>
            <a:ext cx="109728" cy="109728"/>
          </a:xfrm>
          <a:prstGeom prst="ellipse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32048" y="2322576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logs (JSON)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3432048" y="2523744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to search and analyze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267456" y="2788920"/>
            <a:ext cx="109728" cy="109728"/>
          </a:xfrm>
          <a:prstGeom prst="ellipse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3204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logs / docker logs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09600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F5F1EB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96000" y="566928"/>
            <a:ext cx="2865120" cy="475488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9600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🛠️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651662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⑫ Admin Processes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224016" y="1179576"/>
            <a:ext cx="109728" cy="109728"/>
          </a:xfrm>
          <a:prstGeom prst="ellipse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8860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One-off admin tasks = Separate process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224016" y="1581912"/>
            <a:ext cx="109728" cy="109728"/>
          </a:xfrm>
          <a:prstGeom prst="ellipse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8860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Migration: kubectl exec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224016" y="1984248"/>
            <a:ext cx="109728" cy="109728"/>
          </a:xfrm>
          <a:prstGeom prst="ellipse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8860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Cleanup: Dedicated Job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224016" y="2386584"/>
            <a:ext cx="109728" cy="109728"/>
          </a:xfrm>
          <a:prstGeom prst="ellipse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8860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admin scripts into the same Image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224016" y="2788920"/>
            <a:ext cx="109728" cy="109728"/>
          </a:xfrm>
          <a:prstGeom prst="ellipse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8860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SSH into production machines directly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Logs as streams (Factor 11) enables ELK Stack / CloudWatch to centrally manage all container logs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B8E"/>
          </a:solidFill>
          <a:ln w="12700">
            <a:solidFill>
              <a:srgbClr val="4A9B8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Containers Naturally Align with 12-Factor App Principles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8595360" cy="347472"/>
          </a:xfrm>
          <a:prstGeom prst="roundRect">
            <a:avLst>
              <a:gd name="adj" fmla="val 15789"/>
            </a:avLst>
          </a:prstGeom>
          <a:solidFill>
            <a:srgbClr val="ECE6DD"/>
          </a:solidFill>
          <a:ln w="10160">
            <a:solidFill>
              <a:srgbClr val="D6CC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56692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291840" y="566928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/ Docker Support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543800" y="566928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93268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F5F1EB"/>
          </a:solidFill>
          <a:ln w="5080">
            <a:solidFill>
              <a:srgbClr val="D6CC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93268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Codebase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291840" y="93268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Dockerfile in repo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543800" y="93268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4320" y="125272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FFFDF8"/>
          </a:solidFill>
          <a:ln w="5080">
            <a:solidFill>
              <a:srgbClr val="D6CCB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125272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Dependencies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291840" y="125272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Dockerfile + requirements.txt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543800" y="125272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157276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F5F1EB"/>
          </a:solidFill>
          <a:ln w="5080">
            <a:solidFill>
              <a:srgbClr val="D6CCB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157276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Config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291840" y="157276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 in docker-compose / K8s Secret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543800" y="157276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4320" y="189280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FFFDF8"/>
          </a:solidFill>
          <a:ln w="5080">
            <a:solidFill>
              <a:srgbClr val="D6CCB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189280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48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Backing Services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291840" y="189280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 services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543800" y="189280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74320" y="221284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F5F1EB"/>
          </a:solidFill>
          <a:ln w="5080">
            <a:solidFill>
              <a:srgbClr val="D6CCB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221284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Build/Release/Run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291840" y="221284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build → tag → run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543800" y="221284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74320" y="253288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FFFDF8"/>
          </a:solidFill>
          <a:ln w="5080">
            <a:solidFill>
              <a:srgbClr val="D6CCB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253288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Processes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3291840" y="253288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Container = Scale Out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543800" y="253288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74320" y="285292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F5F1EB"/>
          </a:solidFill>
          <a:ln w="5080">
            <a:solidFill>
              <a:srgbClr val="D6CCB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285292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B8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Port Binding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291840" y="285292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 + -p flag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543800" y="285292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74320" y="317296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FFFDF8"/>
          </a:solidFill>
          <a:ln w="5080">
            <a:solidFill>
              <a:srgbClr val="D6CCB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317296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⑧ Concurrency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3291840" y="317296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run ×N / K8s replicas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543800" y="317296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74320" y="349300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F5F1EB"/>
          </a:solidFill>
          <a:ln w="5080">
            <a:solidFill>
              <a:srgbClr val="D6CCB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349300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⑨ Disposability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3291840" y="349300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Containers start/stop quickly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543800" y="349300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74320" y="381304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FFFDF8"/>
          </a:solidFill>
          <a:ln w="5080">
            <a:solidFill>
              <a:srgbClr val="D6CCB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7200" y="381304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⑩ Dev/Prod Parity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3291840" y="381304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image, consistent environments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543800" y="381304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74320" y="413308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F5F1EB"/>
          </a:solidFill>
          <a:ln w="5080">
            <a:solidFill>
              <a:srgbClr val="D6CCB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" y="413308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⑪ Logs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3291840" y="413308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logs / stdout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543800" y="413308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74320" y="4453128"/>
            <a:ext cx="8595360" cy="301752"/>
          </a:xfrm>
          <a:prstGeom prst="roundRect">
            <a:avLst>
              <a:gd name="adj" fmla="val 15152"/>
            </a:avLst>
          </a:prstGeom>
          <a:solidFill>
            <a:srgbClr val="FFFDF8"/>
          </a:solidFill>
          <a:ln w="5080">
            <a:solidFill>
              <a:srgbClr val="D6CCB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" y="4453128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⑫ Admin Processes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3291840" y="4453128"/>
            <a:ext cx="41148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exec / K8s Job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543800" y="4453128"/>
            <a:ext cx="11887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Containers don't just solve environment consistency — they nearly perfectly support all 12-Factor App principles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B8E"/>
          </a:solidFill>
          <a:ln w="12700">
            <a:solidFill>
              <a:srgbClr val="4A9B8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 in Practice: A Compliant FastAPI Service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206240" cy="1280160"/>
          </a:xfrm>
          <a:prstGeom prst="roundRect">
            <a:avLst>
              <a:gd name="adj" fmla="val 7143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blurRad="127000" dist="508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main.py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02336" y="704088"/>
            <a:ext cx="395020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os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fastapi import FastAPI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 = FastAPI()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DB_URL = os.getenv('DATABASE_URL')  # Factor 3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@app.get('/health')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health():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{'status': 'ok'}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1920240"/>
            <a:ext cx="4206240" cy="1097280"/>
          </a:xfrm>
          <a:prstGeom prst="roundRect">
            <a:avLst>
              <a:gd name="adj" fmla="val 8333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blurRad="127000" dist="508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17739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17739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Dockerfile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02336" y="2029968"/>
            <a:ext cx="395020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python:3.11-slim    # Factor 2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WORKDIR /app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requirements.txt .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pip install -r requirements.txt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. .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EXPOSE 8080               # Factor 7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 ["uvicorn", "main:app", "--port", "8080"]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3063240"/>
            <a:ext cx="4206240" cy="1417320"/>
          </a:xfrm>
          <a:prstGeom prst="roundRect">
            <a:avLst>
              <a:gd name="adj" fmla="val 6452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blurRad="127000" dist="508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29169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048" y="29169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docker-compose.yml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02336" y="3172968"/>
            <a:ext cx="3950208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services: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api: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build: .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environment: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DATABASE_URL: postgresql://db/app  # Factor 3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ports: ['8080:8080']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depends_on: [db]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db: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image: postgres:16       # Factor 4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754880" y="59436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Factors are covered?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800600" y="100584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73752" y="100584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2 — Dep Declaration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800600" y="160020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73752" y="160020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3 — Config via Env Vars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800600" y="219456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73752" y="219456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6 — Stateless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800600" y="278892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73752" y="278892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9 — Fast Startup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858000" y="100584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31152" y="100584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4 — Backing Svc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858000" y="160020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931152" y="160020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7 — Port Binding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858000" y="219456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931152" y="219456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10 — Dev/Prod Parity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858000" y="278892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31152" y="2788920"/>
            <a:ext cx="1810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Factor 11 — Stdout Log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A 12-Factor compliant app is inherently container-ready — this is the standard for modern Cloud Native applications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Summary: Well-Designed Cloud Native Applications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8595360" cy="1207008"/>
          </a:xfrm>
          <a:prstGeom prst="roundRect">
            <a:avLst>
              <a:gd name="adj" fmla="val 7576"/>
            </a:avLst>
          </a:prstGeom>
          <a:solidFill>
            <a:srgbClr val="F5F1EB"/>
          </a:solidFill>
          <a:ln w="15240">
            <a:solidFill>
              <a:srgbClr val="4A7FB5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667512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📐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47472" y="1069848"/>
            <a:ext cx="8449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 App: Not Rules, but Distilled Wisdom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389888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Best practices distilled from hundreds of apps by Heroku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164592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Each factor addresses a real-world engineering pain point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577072" y="6675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1874520"/>
            <a:ext cx="8595360" cy="1207008"/>
          </a:xfrm>
          <a:prstGeom prst="roundRect">
            <a:avLst>
              <a:gd name="adj" fmla="val 7576"/>
            </a:avLst>
          </a:prstGeom>
          <a:solidFill>
            <a:srgbClr val="F5F1EB"/>
          </a:solidFill>
          <a:ln w="15240">
            <a:solidFill>
              <a:srgbClr val="4A9B8E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" y="1947672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🐳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47472" y="2350008"/>
            <a:ext cx="8449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A9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Containers Naturally Align with 12-Factor — They Reinforce Each Other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670048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Manage dependencies with Dockerfile (Factor 2)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65760" y="292608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Configure via environment variables (Factor 3)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65760" y="3182112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Stateless Process = Scale Out (Factor 6)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577072" y="194767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Insight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74320" y="3154680"/>
            <a:ext cx="8595360" cy="1207008"/>
          </a:xfrm>
          <a:prstGeom prst="roundRect">
            <a:avLst>
              <a:gd name="adj" fmla="val 7576"/>
            </a:avLst>
          </a:prstGeom>
          <a:solidFill>
            <a:srgbClr val="F5F1EB"/>
          </a:solidFill>
          <a:ln w="15240">
            <a:solidFill>
              <a:srgbClr val="4A9968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74320" y="3227832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47472" y="3630168"/>
            <a:ext cx="8449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Step: Automate Everything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65760" y="3950208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Manual docker build/push is just the beginning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5760" y="42062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CI/CD Pipelines automate deployment on every commit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4462272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→ Part 5: DevOps and CI/CD Pipelines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77072" y="322783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Preview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DevOps: Breaking Down the Wall Between Dev and Ops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3840480" cy="365760"/>
          </a:xfrm>
          <a:prstGeom prst="roundRect">
            <a:avLst>
              <a:gd name="adj" fmla="val 20000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👨‍💻 Dev Team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005840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F5F1EB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698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Rapidly develop new features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481328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F5F1EB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545336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🔀 Frequently merge code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1956816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F5F1EB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020824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Push code at 5 PM Friday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432304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F5F1EB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49631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🙏 "Ship it now!"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2999232"/>
            <a:ext cx="1737360" cy="621792"/>
          </a:xfrm>
          <a:prstGeom prst="roundRect">
            <a:avLst>
              <a:gd name="adj" fmla="val 14706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999232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65760" y="3364992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feature/week  ·  Dev Velocity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4572000" y="502920"/>
            <a:ext cx="9144" cy="4224528"/>
          </a:xfrm>
          <a:prstGeom prst="line">
            <a:avLst/>
          </a:prstGeom>
          <a:noFill/>
          <a:ln w="38100">
            <a:solidFill>
              <a:srgbClr val="C4605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 rot="16200000">
            <a:off x="4224528" y="2103120"/>
            <a:ext cx="685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🧱  THE WALL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114800" y="1188720"/>
            <a:ext cx="438912" cy="9144"/>
          </a:xfrm>
          <a:prstGeom prst="line">
            <a:avLst/>
          </a:prstGeom>
          <a:noFill/>
          <a:ln w="19050">
            <a:solidFill>
              <a:srgbClr val="C4605B"/>
            </a:solidFill>
            <a:prstDash val="solid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4590288" y="1188720"/>
            <a:ext cx="438912" cy="9144"/>
          </a:xfrm>
          <a:prstGeom prst="line">
            <a:avLst/>
          </a:prstGeom>
          <a:noFill/>
          <a:ln w="19050">
            <a:solidFill>
              <a:srgbClr val="C4605B"/>
            </a:solidFill>
            <a:prstDash val="solid"/>
            <a:headEnd type="arrow"/>
          </a:ln>
        </p:spPr>
      </p:sp>
      <p:sp>
        <p:nvSpPr>
          <p:cNvPr id="23" name="Shape 21"/>
          <p:cNvSpPr/>
          <p:nvPr/>
        </p:nvSpPr>
        <p:spPr>
          <a:xfrm>
            <a:off x="4114800" y="1920240"/>
            <a:ext cx="438912" cy="9144"/>
          </a:xfrm>
          <a:prstGeom prst="line">
            <a:avLst/>
          </a:prstGeom>
          <a:noFill/>
          <a:ln w="19050">
            <a:solidFill>
              <a:srgbClr val="C4605B"/>
            </a:solidFill>
            <a:prstDash val="solid"/>
            <a:tailEnd type="arrow"/>
          </a:ln>
        </p:spPr>
      </p:sp>
      <p:sp>
        <p:nvSpPr>
          <p:cNvPr id="24" name="Shape 22"/>
          <p:cNvSpPr/>
          <p:nvPr/>
        </p:nvSpPr>
        <p:spPr>
          <a:xfrm>
            <a:off x="4590288" y="1920240"/>
            <a:ext cx="438912" cy="9144"/>
          </a:xfrm>
          <a:prstGeom prst="line">
            <a:avLst/>
          </a:prstGeom>
          <a:noFill/>
          <a:ln w="19050">
            <a:solidFill>
              <a:srgbClr val="C4605B"/>
            </a:solidFill>
            <a:prstDash val="solid"/>
            <a:headEnd type="arrow"/>
          </a:ln>
        </p:spPr>
      </p:sp>
      <p:sp>
        <p:nvSpPr>
          <p:cNvPr id="25" name="Shape 23"/>
          <p:cNvSpPr/>
          <p:nvPr/>
        </p:nvSpPr>
        <p:spPr>
          <a:xfrm>
            <a:off x="4114800" y="2651760"/>
            <a:ext cx="438912" cy="9144"/>
          </a:xfrm>
          <a:prstGeom prst="line">
            <a:avLst/>
          </a:prstGeom>
          <a:noFill/>
          <a:ln w="19050">
            <a:solidFill>
              <a:srgbClr val="C4605B"/>
            </a:solidFill>
            <a:prstDash val="solid"/>
            <a:tailEnd type="arrow"/>
          </a:ln>
        </p:spPr>
      </p:sp>
      <p:sp>
        <p:nvSpPr>
          <p:cNvPr id="26" name="Shape 24"/>
          <p:cNvSpPr/>
          <p:nvPr/>
        </p:nvSpPr>
        <p:spPr>
          <a:xfrm>
            <a:off x="4590288" y="2651760"/>
            <a:ext cx="438912" cy="9144"/>
          </a:xfrm>
          <a:prstGeom prst="line">
            <a:avLst/>
          </a:prstGeom>
          <a:noFill/>
          <a:ln w="19050">
            <a:solidFill>
              <a:srgbClr val="C4605B"/>
            </a:solidFill>
            <a:prstDash val="solid"/>
            <a:headEnd type="arrow"/>
          </a:ln>
        </p:spPr>
      </p:sp>
      <p:sp>
        <p:nvSpPr>
          <p:cNvPr id="27" name="Shape 25"/>
          <p:cNvSpPr/>
          <p:nvPr/>
        </p:nvSpPr>
        <p:spPr>
          <a:xfrm>
            <a:off x="4846320" y="566928"/>
            <a:ext cx="3840480" cy="365760"/>
          </a:xfrm>
          <a:prstGeom prst="roundRect">
            <a:avLst>
              <a:gd name="adj" fmla="val 20000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56048" y="5669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Ops Team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937760" y="1005840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F5F1E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74920" y="10698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 Stability first, don't touch it!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937760" y="1481328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F5F1E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74920" y="1545336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😰 No deploys on Friday at 5 PM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937760" y="1956816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F5F1E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74920" y="2020824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Change management requires approval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937760" y="2432304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F5F1E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74920" y="249631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😤 "You broke Prod!"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937760" y="2999232"/>
            <a:ext cx="1737360" cy="621792"/>
          </a:xfrm>
          <a:prstGeom prst="roundRect">
            <a:avLst>
              <a:gd name="adj" fmla="val 14706"/>
            </a:avLst>
          </a:prstGeom>
          <a:solidFill>
            <a:srgbClr val="F3EDE0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37760" y="2999232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×3h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4937760" y="3364992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MTTR  ·  Mean Time To Restore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274320" y="3886200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F5F1EB"/>
          </a:solidFill>
          <a:ln w="15240">
            <a:solidFill>
              <a:srgbClr val="4A996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3913632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The core goal of DevOps: tear down this wall — unify dev, test, deploy, and ops into one continuous flow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DevOps is not a job title — it's a culture and practice. Dev understands Ops, Ops understands Dev, automate everything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Pipeline: Fully Automated from Commit to Production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658368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F5F1EB"/>
          </a:solidFill>
          <a:ln w="19050">
            <a:solidFill>
              <a:srgbClr val="908880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2880" y="713232"/>
            <a:ext cx="1280160" cy="609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💻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37744" y="1347826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19456" y="1576426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783080" y="658368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F5F1EB"/>
          </a:solidFill>
          <a:ln w="19050">
            <a:solidFill>
              <a:srgbClr val="4A7FB5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783080" y="713232"/>
            <a:ext cx="1280160" cy="609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🔨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837944" y="1347826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819656" y="1576426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compile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build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383280" y="658368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F5F1EB"/>
          </a:solidFill>
          <a:ln w="19050">
            <a:solidFill>
              <a:srgbClr val="B8892C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383280" y="713232"/>
            <a:ext cx="1280160" cy="609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🧪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438144" y="1347826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19856" y="1576426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unit test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integration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983480" y="658368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F5F1EB"/>
          </a:solidFill>
          <a:ln w="19050">
            <a:solidFill>
              <a:srgbClr val="4A9B8E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983480" y="713232"/>
            <a:ext cx="1280160" cy="609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038344" y="1347826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020056" y="1576426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push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Registry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583680" y="658368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83680" y="713232"/>
            <a:ext cx="1280160" cy="609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638544" y="1347826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620256" y="1576426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Staging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K8s apply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8183880" y="658368"/>
            <a:ext cx="868680" cy="1325880"/>
          </a:xfrm>
          <a:prstGeom prst="roundRect">
            <a:avLst>
              <a:gd name="adj" fmla="val 10526"/>
            </a:avLst>
          </a:prstGeom>
          <a:solidFill>
            <a:srgbClr val="F5F1EB"/>
          </a:solidFill>
          <a:ln w="19050">
            <a:solidFill>
              <a:srgbClr val="4A9968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183880" y="713232"/>
            <a:ext cx="868680" cy="609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8238744" y="1347826"/>
            <a:ext cx="7589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220456" y="1576426"/>
            <a:ext cx="7955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Production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1481328" y="1463040"/>
            <a:ext cx="274320" cy="9144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  <a:tailEnd type="arrow"/>
          </a:ln>
        </p:spPr>
      </p:sp>
      <p:sp>
        <p:nvSpPr>
          <p:cNvPr id="31" name="Text 29"/>
          <p:cNvSpPr/>
          <p:nvPr/>
        </p:nvSpPr>
        <p:spPr>
          <a:xfrm>
            <a:off x="1435608" y="1261872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4A7F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3081528" y="1463040"/>
            <a:ext cx="274320" cy="9144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  <a:tailEnd type="arrow"/>
          </a:ln>
        </p:spPr>
      </p:sp>
      <p:sp>
        <p:nvSpPr>
          <p:cNvPr id="33" name="Text 31"/>
          <p:cNvSpPr/>
          <p:nvPr/>
        </p:nvSpPr>
        <p:spPr>
          <a:xfrm>
            <a:off x="3035808" y="1261872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4A7F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681728" y="1463040"/>
            <a:ext cx="274320" cy="9144"/>
          </a:xfrm>
          <a:prstGeom prst="line">
            <a:avLst/>
          </a:prstGeom>
          <a:noFill/>
          <a:ln w="19050">
            <a:solidFill>
              <a:srgbClr val="B8892C"/>
            </a:solidFill>
            <a:prstDash val="solid"/>
            <a:tailEnd type="arrow"/>
          </a:ln>
        </p:spPr>
      </p:sp>
      <p:sp>
        <p:nvSpPr>
          <p:cNvPr id="35" name="Text 33"/>
          <p:cNvSpPr/>
          <p:nvPr/>
        </p:nvSpPr>
        <p:spPr>
          <a:xfrm>
            <a:off x="4636008" y="1261872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B889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6281928" y="1463040"/>
            <a:ext cx="274320" cy="9144"/>
          </a:xfrm>
          <a:prstGeom prst="line">
            <a:avLst/>
          </a:prstGeom>
          <a:noFill/>
          <a:ln w="19050">
            <a:solidFill>
              <a:srgbClr val="4A9B8E"/>
            </a:solidFill>
            <a:prstDash val="solid"/>
            <a:tailEnd type="arrow"/>
          </a:ln>
        </p:spPr>
      </p:sp>
      <p:sp>
        <p:nvSpPr>
          <p:cNvPr id="37" name="Text 35"/>
          <p:cNvSpPr/>
          <p:nvPr/>
        </p:nvSpPr>
        <p:spPr>
          <a:xfrm>
            <a:off x="6236208" y="1261872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4A9B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7882128" y="1463040"/>
            <a:ext cx="274320" cy="9144"/>
          </a:xfrm>
          <a:prstGeom prst="line">
            <a:avLst/>
          </a:prstGeom>
          <a:noFill/>
          <a:ln w="19050">
            <a:solidFill>
              <a:srgbClr val="4A9968"/>
            </a:solidFill>
            <a:prstDash val="solid"/>
            <a:tailEnd type="arrow"/>
          </a:ln>
        </p:spPr>
      </p:sp>
      <p:sp>
        <p:nvSpPr>
          <p:cNvPr id="39" name="Text 37"/>
          <p:cNvSpPr/>
          <p:nvPr/>
        </p:nvSpPr>
        <p:spPr>
          <a:xfrm>
            <a:off x="7836408" y="1261872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4A99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approve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137160" y="566928"/>
            <a:ext cx="5120640" cy="1508760"/>
          </a:xfrm>
          <a:prstGeom prst="roundRect">
            <a:avLst>
              <a:gd name="adj" fmla="val 6061"/>
            </a:avLst>
          </a:prstGeom>
          <a:ln w="12700">
            <a:solidFill>
              <a:srgbClr val="4A7FB5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228600" y="42062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FFFDF8"/>
          </a:solidFill>
          <a:ln w="6350">
            <a:solidFill>
              <a:srgbClr val="4A7F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46888" y="42062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— Continuous Integration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892040" y="566928"/>
            <a:ext cx="4114800" cy="1508760"/>
          </a:xfrm>
          <a:prstGeom prst="roundRect">
            <a:avLst>
              <a:gd name="adj" fmla="val 6061"/>
            </a:avLst>
          </a:prstGeom>
          <a:ln w="12700">
            <a:solidFill>
              <a:srgbClr val="4A9968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983480" y="42062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FFFDF8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001768" y="42062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— Continuous Delivery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274320" y="2468880"/>
            <a:ext cx="4389120" cy="2331720"/>
          </a:xfrm>
          <a:prstGeom prst="roundRect">
            <a:avLst>
              <a:gd name="adj" fmla="val 3922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blurRad="127000" dist="508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365760" y="232257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84048" y="232257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.github/workflows/ci.yml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402336" y="2578608"/>
            <a:ext cx="4133088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CI/CD Pipeline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on: [push]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jobs: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test: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runs-on: ubuntu-latest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steps: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actions/checkout@v4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pip install -r requirements.txt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pytest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deploy: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needs: test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steps: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docker build -t myapp:$GITHUB_SHA .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docker push registry/myapp:$GITHUB_SHA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kubectl set image deploy/api api=myapp:$GITHUB_SHA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4937760" y="2514600"/>
            <a:ext cx="1783080" cy="960120"/>
          </a:xfrm>
          <a:prstGeom prst="roundRect">
            <a:avLst>
              <a:gd name="adj" fmla="val 11429"/>
            </a:avLst>
          </a:prstGeom>
          <a:solidFill>
            <a:srgbClr val="F5F1EB"/>
          </a:solidFill>
          <a:ln w="19050">
            <a:solidFill>
              <a:srgbClr val="4A9968"/>
            </a:solidFill>
            <a:prstDash val="solid"/>
          </a:ln>
          <a:effectLst>
            <a:outerShdw blurRad="101600" dist="381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5029200" y="2624328"/>
            <a:ext cx="160020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10min</a:t>
            </a:r>
            <a:endParaRPr lang="en-US" sz="3400" dirty="0"/>
          </a:p>
        </p:txBody>
      </p:sp>
      <p:sp>
        <p:nvSpPr>
          <p:cNvPr id="52" name="Text 50"/>
          <p:cNvSpPr/>
          <p:nvPr/>
        </p:nvSpPr>
        <p:spPr>
          <a:xfrm>
            <a:off x="5029200" y="3052267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Time Target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903720" y="2514600"/>
            <a:ext cx="1783080" cy="960120"/>
          </a:xfrm>
          <a:prstGeom prst="roundRect">
            <a:avLst>
              <a:gd name="adj" fmla="val 11429"/>
            </a:avLst>
          </a:prstGeom>
          <a:solidFill>
            <a:srgbClr val="F5F1EB"/>
          </a:solidFill>
          <a:ln w="19050">
            <a:solidFill>
              <a:srgbClr val="4A7FB5"/>
            </a:solidFill>
            <a:prstDash val="solid"/>
          </a:ln>
          <a:effectLst>
            <a:outerShdw blurRad="101600" dist="381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6995160" y="2624328"/>
            <a:ext cx="160020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400" dirty="0"/>
          </a:p>
        </p:txBody>
      </p:sp>
      <p:sp>
        <p:nvSpPr>
          <p:cNvPr id="55" name="Text 53"/>
          <p:cNvSpPr/>
          <p:nvPr/>
        </p:nvSpPr>
        <p:spPr>
          <a:xfrm>
            <a:off x="6995160" y="3052267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 Coverage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937760" y="3611880"/>
            <a:ext cx="1783080" cy="960120"/>
          </a:xfrm>
          <a:prstGeom prst="roundRect">
            <a:avLst>
              <a:gd name="adj" fmla="val 11429"/>
            </a:avLst>
          </a:prstGeom>
          <a:solidFill>
            <a:srgbClr val="F5F1EB"/>
          </a:solidFill>
          <a:ln w="19050">
            <a:solidFill>
              <a:srgbClr val="B8892C"/>
            </a:solidFill>
            <a:prstDash val="solid"/>
          </a:ln>
          <a:effectLst>
            <a:outerShdw blurRad="101600" dist="381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5029200" y="3721608"/>
            <a:ext cx="160020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50+</a:t>
            </a:r>
            <a:endParaRPr lang="en-US" sz="3400" dirty="0"/>
          </a:p>
        </p:txBody>
      </p:sp>
      <p:sp>
        <p:nvSpPr>
          <p:cNvPr id="58" name="Text 56"/>
          <p:cNvSpPr/>
          <p:nvPr/>
        </p:nvSpPr>
        <p:spPr>
          <a:xfrm>
            <a:off x="5029200" y="4149547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Deploys/Day (Netflix)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6903720" y="3611880"/>
            <a:ext cx="1783080" cy="960120"/>
          </a:xfrm>
          <a:prstGeom prst="roundRect">
            <a:avLst>
              <a:gd name="adj" fmla="val 11429"/>
            </a:avLst>
          </a:prstGeom>
          <a:solidFill>
            <a:srgbClr val="F5F1EB"/>
          </a:solidFill>
          <a:ln w="19050">
            <a:solidFill>
              <a:srgbClr val="4A9968"/>
            </a:solidFill>
            <a:prstDash val="solid"/>
          </a:ln>
          <a:effectLst>
            <a:outerShdw blurRad="101600" dist="381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6995160" y="3721608"/>
            <a:ext cx="160020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1hr</a:t>
            </a:r>
            <a:endParaRPr lang="en-US" sz="3400" dirty="0"/>
          </a:p>
        </p:txBody>
      </p:sp>
      <p:sp>
        <p:nvSpPr>
          <p:cNvPr id="61" name="Text 59"/>
          <p:cNvSpPr/>
          <p:nvPr/>
        </p:nvSpPr>
        <p:spPr>
          <a:xfrm>
            <a:off x="6995160" y="4149547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Commit→Prod Time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GitOps: Git as the Single Source of Truth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 Core Principles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005840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F5F1EB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6984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Git is the Single Source of Truth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481328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F5F1EB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545336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All changes go through Pull Requests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1956816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F5F1EB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020824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Auto-sync — Git state = Cluster state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432304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F5F1EB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49631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Auditable &amp; rollbackable — git revert = rollback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2926080"/>
            <a:ext cx="1005840" cy="347472"/>
          </a:xfrm>
          <a:prstGeom prst="roundRect">
            <a:avLst>
              <a:gd name="adj" fmla="val 18421"/>
            </a:avLst>
          </a:prstGeom>
          <a:solidFill>
            <a:srgbClr val="F5F1EB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92608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508760" y="2926080"/>
            <a:ext cx="1005840" cy="347472"/>
          </a:xfrm>
          <a:prstGeom prst="roundRect">
            <a:avLst>
              <a:gd name="adj" fmla="val 18421"/>
            </a:avLst>
          </a:prstGeom>
          <a:solidFill>
            <a:srgbClr val="F5F1EB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508760" y="292608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651760" y="2926080"/>
            <a:ext cx="1005840" cy="347472"/>
          </a:xfrm>
          <a:prstGeom prst="roundRect">
            <a:avLst>
              <a:gd name="adj" fmla="val 18421"/>
            </a:avLst>
          </a:prstGeom>
          <a:solidFill>
            <a:srgbClr val="F5F1EB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51760" y="292608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Tekton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63440" y="914400"/>
            <a:ext cx="1280160" cy="822960"/>
          </a:xfrm>
          <a:prstGeom prst="roundRect">
            <a:avLst>
              <a:gd name="adj" fmla="val 11111"/>
            </a:avLst>
          </a:prstGeom>
          <a:solidFill>
            <a:srgbClr val="F5F1EB"/>
          </a:solidFill>
          <a:ln w="19050">
            <a:solidFill>
              <a:srgbClr val="908880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663440" y="969264"/>
            <a:ext cx="128016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👨‍💻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18304" y="1342339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700016" y="1570939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303520" y="1764792"/>
            <a:ext cx="9144" cy="347472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  <a:tailEnd type="arrow"/>
          </a:ln>
        </p:spPr>
      </p:sp>
      <p:sp>
        <p:nvSpPr>
          <p:cNvPr id="27" name="Text 25"/>
          <p:cNvSpPr/>
          <p:nvPr/>
        </p:nvSpPr>
        <p:spPr>
          <a:xfrm>
            <a:off x="5349240" y="1819656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A7F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663440" y="2148840"/>
            <a:ext cx="1280160" cy="822960"/>
          </a:xfrm>
          <a:prstGeom prst="roundRect">
            <a:avLst>
              <a:gd name="adj" fmla="val 11111"/>
            </a:avLst>
          </a:prstGeom>
          <a:solidFill>
            <a:srgbClr val="F5F1EB"/>
          </a:solidFill>
          <a:ln w="19050">
            <a:solidFill>
              <a:srgbClr val="4A7FB5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663440" y="2203704"/>
            <a:ext cx="128016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📁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718304" y="2576779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Repo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700016" y="2805379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app-config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989320" y="2578608"/>
            <a:ext cx="502920" cy="9144"/>
          </a:xfrm>
          <a:prstGeom prst="line">
            <a:avLst/>
          </a:prstGeom>
          <a:noFill/>
          <a:ln w="19050">
            <a:solidFill>
              <a:srgbClr val="8B6AB5"/>
            </a:solidFill>
            <a:prstDash val="solid"/>
            <a:tailEnd type="arrow"/>
          </a:ln>
        </p:spPr>
      </p:sp>
      <p:sp>
        <p:nvSpPr>
          <p:cNvPr id="33" name="Text 31"/>
          <p:cNvSpPr/>
          <p:nvPr/>
        </p:nvSpPr>
        <p:spPr>
          <a:xfrm>
            <a:off x="5989320" y="2423160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B6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watch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6537960" y="2148840"/>
            <a:ext cx="1280160" cy="822960"/>
          </a:xfrm>
          <a:prstGeom prst="roundRect">
            <a:avLst>
              <a:gd name="adj" fmla="val 11111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537960" y="2203704"/>
            <a:ext cx="128016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6592824" y="2576779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574536" y="2805379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GitOps Operator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863840" y="2578608"/>
            <a:ext cx="411480" cy="9144"/>
          </a:xfrm>
          <a:prstGeom prst="line">
            <a:avLst/>
          </a:prstGeom>
          <a:noFill/>
          <a:ln w="19050">
            <a:solidFill>
              <a:srgbClr val="4A9968"/>
            </a:solidFill>
            <a:prstDash val="solid"/>
            <a:tailEnd type="arrow"/>
          </a:ln>
        </p:spPr>
      </p:sp>
      <p:sp>
        <p:nvSpPr>
          <p:cNvPr id="39" name="Text 37"/>
          <p:cNvSpPr/>
          <p:nvPr/>
        </p:nvSpPr>
        <p:spPr>
          <a:xfrm>
            <a:off x="7845552" y="2423160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4A99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apply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8321040" y="2148840"/>
            <a:ext cx="731520" cy="822960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19050">
            <a:solidFill>
              <a:srgbClr val="4A9968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8321040" y="2203704"/>
            <a:ext cx="73152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☸️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8375904" y="2576779"/>
            <a:ext cx="6217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357616" y="2805379"/>
            <a:ext cx="6583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Cluster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7863840" y="3246120"/>
            <a:ext cx="822960" cy="9144"/>
          </a:xfrm>
          <a:prstGeom prst="line">
            <a:avLst/>
          </a:prstGeom>
          <a:noFill/>
          <a:ln w="15240">
            <a:solidFill>
              <a:srgbClr val="B8892C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6537960" y="2999232"/>
            <a:ext cx="9144" cy="246888"/>
          </a:xfrm>
          <a:prstGeom prst="line">
            <a:avLst/>
          </a:prstGeom>
          <a:noFill/>
          <a:ln w="15240">
            <a:solidFill>
              <a:srgbClr val="B8892C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6537960" y="3246120"/>
            <a:ext cx="1325880" cy="9144"/>
          </a:xfrm>
          <a:prstGeom prst="line">
            <a:avLst/>
          </a:prstGeom>
          <a:noFill/>
          <a:ln w="15240">
            <a:solidFill>
              <a:srgbClr val="B8892C"/>
            </a:solidFill>
            <a:prstDash val="dash"/>
            <a:tailEnd type="arrow"/>
          </a:ln>
        </p:spPr>
      </p:sp>
      <p:sp>
        <p:nvSpPr>
          <p:cNvPr id="47" name="Text 45"/>
          <p:cNvSpPr/>
          <p:nvPr/>
        </p:nvSpPr>
        <p:spPr>
          <a:xfrm>
            <a:off x="6565392" y="32918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B889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drift detect → auto-heal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GitOps turns infrastructure into code — every Prod change has a git commit record, auditable and rollbackable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Flags: Decouple Deployment from Feature Release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Traditional: Deploy = Release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005840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F5F1E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6984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😱 Every deploy impacts all users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481328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F5F1E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545336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 Issues require a full rollback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1956816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F5F1EB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020824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🚫 Cannot test with specific users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0" y="502920"/>
            <a:ext cx="9144" cy="3840480"/>
          </a:xfrm>
          <a:prstGeom prst="line">
            <a:avLst/>
          </a:prstGeom>
          <a:noFill/>
          <a:ln w="9525">
            <a:solidFill>
              <a:srgbClr val="D6CCB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Feature Flags: Deploy ≠ Release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800600" y="987552"/>
            <a:ext cx="3977640" cy="1536192"/>
          </a:xfrm>
          <a:prstGeom prst="roundRect">
            <a:avLst>
              <a:gd name="adj" fmla="val 5952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blurRad="127000" dist="508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892040" y="84124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10328" y="841248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928616" y="1097280"/>
            <a:ext cx="3721608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Feature Flag control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feature_flags.is_enabled('new_checkout', user):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new_checkout_flow(user)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old_checkout_flow(user)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800600" y="2606040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F5F1EB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260604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A/B Testing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72200" y="2606040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F5F1EB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72200" y="260604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🐤 Canary Release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543800" y="2606040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F5F1EB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543800" y="260604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Internal Beta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74320" y="3200400"/>
            <a:ext cx="8595360" cy="1097280"/>
          </a:xfrm>
          <a:prstGeom prst="roundRect">
            <a:avLst>
              <a:gd name="adj" fmla="val 8333"/>
            </a:avLst>
          </a:prstGeom>
          <a:solidFill>
            <a:srgbClr val="F5F1EB"/>
          </a:solidFill>
          <a:ln w="15240">
            <a:solidFill>
              <a:srgbClr val="B8892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1480" y="3273552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Deploy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11480" y="356616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is on Prod server — but Flag = OFF, users can't see it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72000" y="3246120"/>
            <a:ext cx="9144" cy="1005840"/>
          </a:xfrm>
          <a:prstGeom prst="line">
            <a:avLst/>
          </a:prstGeom>
          <a:noFill/>
          <a:ln w="9525">
            <a:solidFill>
              <a:srgbClr val="D6CCB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54880" y="327355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🎉 Release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754880" y="356616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 the Flag to ON — feature visible to users (can turn off anytime)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74320" y="44348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Feature Flags enable Continuous Deployment — deploy dozens of times a day, let PM decide when to release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Strategies: Blue/Green vs Canary Release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74320" y="59436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🔵🟢 Blue/Green Deployment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932688"/>
            <a:ext cx="4023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Deploy new version to Green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74320" y="1115568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E5F0E9"/>
          </a:solidFill>
          <a:ln w="15240">
            <a:solidFill>
              <a:srgbClr val="4A996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111556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Blue (v1) — 100% Traffic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240280" y="1115568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F5F1EB"/>
          </a:solidFill>
          <a:ln w="12700">
            <a:solidFill>
              <a:srgbClr val="8A807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40280" y="111556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Green (v2) — 0% Traffic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4320" y="1664208"/>
            <a:ext cx="4023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LB switches traffic to Green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194560" y="1792224"/>
            <a:ext cx="548640" cy="9144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>
            <a:off x="274320" y="187452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F5F1EB"/>
          </a:solidFill>
          <a:ln w="12700">
            <a:solidFill>
              <a:srgbClr val="8A807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8745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Blue (v1) — 0%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240280" y="187452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E5F0E9"/>
          </a:solidFill>
          <a:ln w="15240">
            <a:solidFill>
              <a:srgbClr val="4A99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40280" y="18745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Green (v2) — 100%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248716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Zero downtime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65760" y="276148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Rollback by switching LB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65760" y="303580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Requires two environments (cost)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26280" y="502920"/>
            <a:ext cx="9144" cy="4434840"/>
          </a:xfrm>
          <a:prstGeom prst="line">
            <a:avLst/>
          </a:prstGeom>
          <a:noFill/>
          <a:ln w="9525">
            <a:solidFill>
              <a:srgbClr val="D6CCB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0" y="5943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🐤 Canary Release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303520" y="1097280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F5F1EB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49240" y="1097280"/>
            <a:ext cx="2377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⚖️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596128" y="1097280"/>
            <a:ext cx="5852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532120" y="1572768"/>
            <a:ext cx="9144" cy="320040"/>
          </a:xfrm>
          <a:prstGeom prst="line">
            <a:avLst/>
          </a:prstGeom>
          <a:noFill/>
          <a:ln w="15240">
            <a:solidFill>
              <a:srgbClr val="90888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30368" y="1892808"/>
            <a:ext cx="301752" cy="9144"/>
          </a:xfrm>
          <a:prstGeom prst="line">
            <a:avLst/>
          </a:prstGeom>
          <a:noFill/>
          <a:ln w="15240">
            <a:solidFill>
              <a:srgbClr val="908880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>
            <a:off x="5532120" y="1572768"/>
            <a:ext cx="9144" cy="320040"/>
          </a:xfrm>
          <a:prstGeom prst="line">
            <a:avLst/>
          </a:prstGeom>
          <a:noFill/>
          <a:ln w="15240">
            <a:solidFill>
              <a:srgbClr val="B8892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532120" y="1892808"/>
            <a:ext cx="896112" cy="9144"/>
          </a:xfrm>
          <a:prstGeom prst="line">
            <a:avLst/>
          </a:prstGeom>
          <a:noFill/>
          <a:ln w="15240">
            <a:solidFill>
              <a:srgbClr val="B8892C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>
            <a:off x="4800600" y="1920240"/>
            <a:ext cx="1371600" cy="68580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9050">
            <a:solidFill>
              <a:srgbClr val="908880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00600" y="1975104"/>
            <a:ext cx="137160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4855464" y="2276856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× 9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837176" y="2505456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90% Traffic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629400" y="1920240"/>
            <a:ext cx="1371600" cy="68580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9050">
            <a:solidFill>
              <a:srgbClr val="B8892C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629400" y="1975104"/>
            <a:ext cx="137160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6684264" y="2276856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× 1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665976" y="2505456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10% Traffic (Canary)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766560" y="2788920"/>
            <a:ext cx="1828800" cy="713232"/>
          </a:xfrm>
          <a:prstGeom prst="roundRect">
            <a:avLst>
              <a:gd name="adj" fmla="val 12821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766560" y="2843784"/>
            <a:ext cx="1828800" cy="3280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6821424" y="3159801"/>
            <a:ext cx="17190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803136" y="3388401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 Rate &lt; 0.1%?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P99 Latency OK?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7315200" y="2633472"/>
            <a:ext cx="9144" cy="137160"/>
          </a:xfrm>
          <a:prstGeom prst="line">
            <a:avLst/>
          </a:prstGeom>
          <a:noFill/>
          <a:ln w="19050">
            <a:solidFill>
              <a:srgbClr val="8B6AB5"/>
            </a:solidFill>
            <a:prstDash val="solid"/>
            <a:tailEnd type="arrow"/>
          </a:ln>
        </p:spPr>
      </p:sp>
      <p:sp>
        <p:nvSpPr>
          <p:cNvPr id="43" name="Text 41"/>
          <p:cNvSpPr/>
          <p:nvPr/>
        </p:nvSpPr>
        <p:spPr>
          <a:xfrm>
            <a:off x="4800600" y="2926080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Auto-increase Canary traffic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812280" y="3566160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Auto-rollback Canary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4846320" y="370332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Validate new version at small scale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4846320" y="3959352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Issues only affect a small subset of users</a:t>
            </a:r>
            <a:endParaRPr lang="en-US" sz="10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 Metrics: Four Indicators of DevOps Maturity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023360" cy="1965960"/>
          </a:xfrm>
          <a:prstGeom prst="roundRect">
            <a:avLst>
              <a:gd name="adj" fmla="val 5581"/>
            </a:avLst>
          </a:prstGeom>
          <a:solidFill>
            <a:srgbClr val="F5F1EB"/>
          </a:solidFill>
          <a:ln w="19050">
            <a:solidFill>
              <a:srgbClr val="4A9968"/>
            </a:solidFill>
            <a:prstDash val="solid"/>
          </a:ln>
          <a:effectLst>
            <a:outerShdw blurRad="101600" dist="38100" dir="2700000" algn="bl" rotWithShape="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68580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🚀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84048" y="1106424"/>
            <a:ext cx="3803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Frequency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84048" y="1371600"/>
            <a:ext cx="3803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often you deploy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57200" y="161848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Elite: Multiple/day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" y="189280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High: Daily to weekly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7200" y="216712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Medium: Weekly to monthly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54880" y="594360"/>
            <a:ext cx="4023360" cy="1965960"/>
          </a:xfrm>
          <a:prstGeom prst="roundRect">
            <a:avLst>
              <a:gd name="adj" fmla="val 5581"/>
            </a:avLst>
          </a:prstGeom>
          <a:solidFill>
            <a:srgbClr val="F5F1EB"/>
          </a:solidFill>
          <a:ln w="19050">
            <a:solidFill>
              <a:srgbClr val="4A7FB5"/>
            </a:solidFill>
            <a:prstDash val="solid"/>
          </a:ln>
          <a:effectLst>
            <a:outerShdw blurRad="101600" dist="38100" dir="27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68580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⚡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864608" y="1106424"/>
            <a:ext cx="3803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for Changes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64608" y="1371600"/>
            <a:ext cx="3803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from Commit to Prod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937760" y="161848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Elite: &lt; 1 hour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937760" y="189280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High: &lt; 1 day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937760" y="216712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Medium: 1 week to 1 month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74320" y="2697480"/>
            <a:ext cx="4023360" cy="1965960"/>
          </a:xfrm>
          <a:prstGeom prst="roundRect">
            <a:avLst>
              <a:gd name="adj" fmla="val 5581"/>
            </a:avLst>
          </a:prstGeom>
          <a:solidFill>
            <a:srgbClr val="F5F1EB"/>
          </a:solidFill>
          <a:ln w="19050">
            <a:solidFill>
              <a:srgbClr val="C4605B"/>
            </a:solidFill>
            <a:prstDash val="solid"/>
          </a:ln>
          <a:effectLst>
            <a:outerShdw blurRad="101600" dist="38100" dir="27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274320" y="278892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🔥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384048" y="3209544"/>
            <a:ext cx="3803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Failure Rate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84048" y="3474720"/>
            <a:ext cx="3803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of deploys causing Prod issues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57200" y="372160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Elite: &lt; 5%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57200" y="399592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High: &lt; 15%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57200" y="427024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Medium: 15-45%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54880" y="2697480"/>
            <a:ext cx="4023360" cy="1965960"/>
          </a:xfrm>
          <a:prstGeom prst="roundRect">
            <a:avLst>
              <a:gd name="adj" fmla="val 5581"/>
            </a:avLst>
          </a:prstGeom>
          <a:solidFill>
            <a:srgbClr val="F5F1EB"/>
          </a:solidFill>
          <a:ln w="19050">
            <a:solidFill>
              <a:srgbClr val="B8892C"/>
            </a:solidFill>
            <a:prstDash val="solid"/>
          </a:ln>
          <a:effectLst>
            <a:outerShdw blurRad="101600" dist="38100" dir="27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54880" y="278892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🔧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4864608" y="3209544"/>
            <a:ext cx="3803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MTTR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864608" y="3474720"/>
            <a:ext cx="3803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 To Restore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937760" y="372160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Elite: &lt; 1 hour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937760" y="399592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High: &lt; 1 day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937760" y="427024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Medium: 1 day to 1 week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74320" y="470916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47548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DORA Research (2019): Elite performers vs low performers — 208x faster deploys, 2604x faster recovery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Pyramid: Layers and Speed of Testing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914400" y="1600200"/>
            <a:ext cx="2926080" cy="685800"/>
          </a:xfrm>
          <a:prstGeom prst="roundRect">
            <a:avLst>
              <a:gd name="adj" fmla="val 10667"/>
            </a:avLst>
          </a:prstGeom>
          <a:solidFill>
            <a:srgbClr val="F8ECEC"/>
          </a:solidFill>
          <a:ln w="15240">
            <a:solidFill>
              <a:srgbClr val="C460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636776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E2E Tests (10%)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60120" y="1865376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 real users | Minutes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94360" y="2331720"/>
            <a:ext cx="3566160" cy="713232"/>
          </a:xfrm>
          <a:prstGeom prst="roundRect">
            <a:avLst>
              <a:gd name="adj" fmla="val 10256"/>
            </a:avLst>
          </a:prstGeom>
          <a:solidFill>
            <a:srgbClr val="F3EDE0"/>
          </a:solidFill>
          <a:ln w="15240">
            <a:solidFill>
              <a:srgbClr val="B889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368296"/>
            <a:ext cx="3474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Integration Tests (20%)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596896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+ DB integration | Seconds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74320" y="3090672"/>
            <a:ext cx="4206240" cy="685800"/>
          </a:xfrm>
          <a:prstGeom prst="roundRect">
            <a:avLst>
              <a:gd name="adj" fmla="val 10667"/>
            </a:avLst>
          </a:prstGeom>
          <a:solidFill>
            <a:srgbClr val="E5F0E9"/>
          </a:solidFill>
          <a:ln w="15240">
            <a:solidFill>
              <a:srgbClr val="4A996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312724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Unit Tests (70%)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" y="3355848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| Isolated | Milliseconds    jest, pytest, go test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26280" y="1554480"/>
            <a:ext cx="9144" cy="2194560"/>
          </a:xfrm>
          <a:prstGeom prst="line">
            <a:avLst/>
          </a:prstGeom>
          <a:noFill/>
          <a:ln w="15240">
            <a:solidFill>
              <a:srgbClr val="8A8078"/>
            </a:solidFill>
            <a:prstDash val="solid"/>
            <a:tailEnd type="arrow"/>
          </a:ln>
        </p:spPr>
      </p:sp>
      <p:sp>
        <p:nvSpPr>
          <p:cNvPr id="16" name="Text 14"/>
          <p:cNvSpPr/>
          <p:nvPr/>
        </p:nvSpPr>
        <p:spPr>
          <a:xfrm>
            <a:off x="4434840" y="146304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🐌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434840" y="374904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⚡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937760" y="594360"/>
            <a:ext cx="3931920" cy="2834640"/>
          </a:xfrm>
          <a:prstGeom prst="roundRect">
            <a:avLst>
              <a:gd name="adj" fmla="val 3226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blurRad="127000" dist="508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02920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4748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 / jest commands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065776" y="704088"/>
            <a:ext cx="3675888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CI Pipeline test order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Unit Tests (fail fast)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 tests/unit/ --tb=short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js: jest --testPathPattern=unit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Integration Tests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 tests/integration/ \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--docker-compose=docker-compose.test.yml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E2E Tests (only on main)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 tests/e2e/ \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--base-url=https://staging.myapp.com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4320" y="3547872"/>
            <a:ext cx="2697480" cy="658368"/>
          </a:xfrm>
          <a:prstGeom prst="roundRect">
            <a:avLst>
              <a:gd name="adj" fmla="val 11111"/>
            </a:avLst>
          </a:prstGeom>
          <a:solidFill>
            <a:srgbClr val="F5F1EB"/>
          </a:solidFill>
          <a:ln w="9525">
            <a:solidFill>
              <a:srgbClr val="D6CCB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593592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Fail Fast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" y="3831336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pipeline immediately on unit test failure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46120" y="3547872"/>
            <a:ext cx="2697480" cy="658368"/>
          </a:xfrm>
          <a:prstGeom prst="roundRect">
            <a:avLst>
              <a:gd name="adj" fmla="val 11111"/>
            </a:avLst>
          </a:prstGeom>
          <a:solidFill>
            <a:srgbClr val="F5F1EB"/>
          </a:solidFill>
          <a:ln w="9525">
            <a:solidFill>
              <a:srgbClr val="D6CCB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37560" y="3593592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 Test Isolation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37560" y="3831336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test is independent, no order dependency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217920" y="3547872"/>
            <a:ext cx="2697480" cy="658368"/>
          </a:xfrm>
          <a:prstGeom prst="roundRect">
            <a:avLst>
              <a:gd name="adj" fmla="val 11111"/>
            </a:avLst>
          </a:prstGeom>
          <a:solidFill>
            <a:srgbClr val="F5F1EB"/>
          </a:solidFill>
          <a:ln w="9525">
            <a:solidFill>
              <a:srgbClr val="D6CCB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09360" y="3593592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Coverage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309360" y="3831336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80%+, critical paths 100%</a:t>
            </a:r>
            <a:endParaRPr lang="en-US" sz="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Summary: DevOps Makes Software Delivery Fly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8595360" cy="1261872"/>
          </a:xfrm>
          <a:prstGeom prst="roundRect">
            <a:avLst>
              <a:gd name="adj" fmla="val 7246"/>
            </a:avLst>
          </a:prstGeom>
          <a:solidFill>
            <a:srgbClr val="F5F1EB"/>
          </a:solidFill>
          <a:ln w="15240">
            <a:solidFill>
              <a:srgbClr val="4A7FB5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667512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47472" y="1069848"/>
            <a:ext cx="8449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Is Culture, CI/CD Is the Toolchain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389888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Break down the Dev/Ops wall — shared responsibility for delivery quality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164592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CI/CD Pipeline ensures every commit can be safely deployed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577072" y="6675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Principle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1938528"/>
            <a:ext cx="8595360" cy="1261872"/>
          </a:xfrm>
          <a:prstGeom prst="roundRect">
            <a:avLst>
              <a:gd name="adj" fmla="val 7246"/>
            </a:avLst>
          </a:prstGeom>
          <a:solidFill>
            <a:srgbClr val="F5F1EB"/>
          </a:solidFill>
          <a:ln w="15240">
            <a:solidFill>
              <a:srgbClr val="4A9968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" y="201168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47472" y="2414016"/>
            <a:ext cx="8449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Progress with DORA Metrics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734056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 metrics — Deploy Frequency, Lead Time, Failure Rate, MTTR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65760" y="2990088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Elite performers are not born — they are built by DevOps culture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577072" y="201168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Measurable Outcomes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3282696"/>
            <a:ext cx="8595360" cy="1261872"/>
          </a:xfrm>
          <a:prstGeom prst="roundRect">
            <a:avLst>
              <a:gd name="adj" fmla="val 7246"/>
            </a:avLst>
          </a:prstGeom>
          <a:solidFill>
            <a:srgbClr val="F5F1EB"/>
          </a:solidFill>
          <a:ln w="15240">
            <a:solidFill>
              <a:srgbClr val="4A9B8E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74320" y="3355848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47472" y="3758184"/>
            <a:ext cx="8449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A9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+ GitOps + CI/CD = The Modern Deployment Trio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5760" y="4078224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Container: Consistent environments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65760" y="4334256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GitOps: Infrastructure as Code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5760" y="4590288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CI/CD: Automated delivery → Part 6: Observability &amp; SRE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77072" y="335584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View</a:t>
            </a:r>
            <a:endParaRPr lang="en-US" sz="1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Three Pillars: Metrics, Logs, Traces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F5F1EB"/>
          </a:solidFill>
          <a:ln w="15240">
            <a:solidFill>
              <a:srgbClr val="4A996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66928"/>
            <a:ext cx="2865120" cy="475488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Metrics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79576"/>
            <a:ext cx="109728" cy="109728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 time-series data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7548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CPU%, Memory, Requests/sec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10896" y="1581912"/>
            <a:ext cx="109728" cy="109728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Prometheus + Grafana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10896" y="1984248"/>
            <a:ext cx="109728" cy="109728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rules: CPU &gt; 80% → Notify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0896" y="2386584"/>
            <a:ext cx="109728" cy="109728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'What went wrong'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10896" y="2788920"/>
            <a:ext cx="109728" cy="109728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Retention: Months to Years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13944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F5F1EB"/>
          </a:solidFill>
          <a:ln w="15240">
            <a:solidFill>
              <a:srgbClr val="B8892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39440" y="566928"/>
            <a:ext cx="2865120" cy="475488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3944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356006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Logs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267456" y="1179576"/>
            <a:ext cx="109728" cy="109728"/>
          </a:xfrm>
          <a:prstGeom prst="ellipse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3204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event stream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43204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JSON format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267456" y="1581912"/>
            <a:ext cx="109728" cy="109728"/>
          </a:xfrm>
          <a:prstGeom prst="ellipse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3204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ELK Stack, Loki, CloudWatch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267456" y="1984248"/>
            <a:ext cx="109728" cy="109728"/>
          </a:xfrm>
          <a:prstGeom prst="ellipse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3204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stdout → Centralized collection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267456" y="2386584"/>
            <a:ext cx="109728" cy="109728"/>
          </a:xfrm>
          <a:prstGeom prst="ellipse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43204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'Why it went wrong'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267456" y="2788920"/>
            <a:ext cx="109728" cy="109728"/>
          </a:xfrm>
          <a:prstGeom prst="ellipse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3204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Retention: Weeks to Months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09600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F5F1EB"/>
          </a:solidFill>
          <a:ln w="15240">
            <a:solidFill>
              <a:srgbClr val="8B6A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96000" y="566928"/>
            <a:ext cx="2865120" cy="475488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9600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🔗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651662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Traces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224016" y="1179576"/>
            <a:ext cx="109728" cy="109728"/>
          </a:xfrm>
          <a:prstGeom prst="ellipse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8860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request chain tracing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224016" y="1581912"/>
            <a:ext cx="109728" cy="109728"/>
          </a:xfrm>
          <a:prstGeom prst="ellipse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860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ID spans all services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224016" y="1984248"/>
            <a:ext cx="109728" cy="109728"/>
          </a:xfrm>
          <a:prstGeom prst="ellipse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8860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Jaeger, Zipkin, Tempo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224016" y="2386584"/>
            <a:ext cx="109728" cy="109728"/>
          </a:xfrm>
          <a:prstGeom prst="ellipse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38860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'Where it went wrong'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6224016" y="2788920"/>
            <a:ext cx="109728" cy="109728"/>
          </a:xfrm>
          <a:prstGeom prst="ellipse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8860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Retention: Days to Weeks (high cost)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All three pillars are essential: Metrics tell you something is wrong, Logs tell you why, Traces tell you which service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 / SLO / SLA: Three Levels of Reliability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2743200" cy="438912"/>
          </a:xfrm>
          <a:prstGeom prst="roundRect">
            <a:avLst>
              <a:gd name="adj" fmla="val 16667"/>
            </a:avLst>
          </a:prstGeom>
          <a:solidFill>
            <a:srgbClr val="ECE6DD"/>
          </a:solidFill>
          <a:ln w="19050">
            <a:solidFill>
              <a:srgbClr val="4A99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94360"/>
            <a:ext cx="2606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📏 SLI — Service Level Indicator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74320" y="1078992"/>
            <a:ext cx="2743200" cy="713232"/>
          </a:xfrm>
          <a:prstGeom prst="roundRect">
            <a:avLst>
              <a:gd name="adj" fmla="val 10256"/>
            </a:avLst>
          </a:prstGeom>
          <a:solidFill>
            <a:srgbClr val="F5F1EB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11556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measured service metric values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" y="138988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representing current service performance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" y="1828800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F5F1EB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847088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Availability: 99.95%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4320" y="2304288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F5F1EB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322576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Latency: 245ms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2779776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F5F1EB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2798064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Rate: 0.03%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4320" y="3255264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F5F1EB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3273552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Throughput: 1200 req/s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46120" y="594360"/>
            <a:ext cx="2743200" cy="438912"/>
          </a:xfrm>
          <a:prstGeom prst="roundRect">
            <a:avLst>
              <a:gd name="adj" fmla="val 16667"/>
            </a:avLst>
          </a:prstGeom>
          <a:solidFill>
            <a:srgbClr val="ECE6DD"/>
          </a:solidFill>
          <a:ln w="19050">
            <a:solidFill>
              <a:srgbClr val="4A7F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594360"/>
            <a:ext cx="2606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SLO — Service Level Objective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46120" y="1078992"/>
            <a:ext cx="2743200" cy="713232"/>
          </a:xfrm>
          <a:prstGeom prst="roundRect">
            <a:avLst>
              <a:gd name="adj" fmla="val 10256"/>
            </a:avLst>
          </a:prstGeom>
          <a:solidFill>
            <a:srgbClr val="F5F1EB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37560" y="111556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defined target numbers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337560" y="138988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 is the target value for SLI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46120" y="1828800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F5F1EB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83280" y="1847088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 SLO: ≥ 99.9%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46120" y="2304288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F5F1EB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3280" y="2322576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Latency SLO: ≤ 500ms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46120" y="2779776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F5F1EB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83280" y="2798064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Rate SLO: ≤ 0.1%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246120" y="3255264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F5F1EB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83280" y="3273552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Budget: 0.1% = 43min/mo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217920" y="594360"/>
            <a:ext cx="2743200" cy="438912"/>
          </a:xfrm>
          <a:prstGeom prst="roundRect">
            <a:avLst>
              <a:gd name="adj" fmla="val 16667"/>
            </a:avLst>
          </a:prstGeom>
          <a:solidFill>
            <a:srgbClr val="ECE6DD"/>
          </a:solidFill>
          <a:ln w="19050">
            <a:solidFill>
              <a:srgbClr val="B8892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09360" y="594360"/>
            <a:ext cx="2606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SLA — Service Level Agreement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217920" y="1078992"/>
            <a:ext cx="2743200" cy="713232"/>
          </a:xfrm>
          <a:prstGeom prst="roundRect">
            <a:avLst>
              <a:gd name="adj" fmla="val 10256"/>
            </a:avLst>
          </a:prstGeom>
          <a:solidFill>
            <a:srgbClr val="F5F1EB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09360" y="111556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External-facing legal agreement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09360" y="138988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Violation → Compensation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217920" y="1828800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F5F1EB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55080" y="1847088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EC2: 99.99% Availability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217920" y="2304288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F5F1EB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55080" y="2322576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Compensation: Service Credit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217920" y="2779776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F5F1EB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55080" y="2798064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 &lt; SLA (keep buffer)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217920" y="3255264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F5F1EB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55080" y="3273552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"SLO is the internal target, SLA is the external commitment"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063240" y="1325880"/>
            <a:ext cx="164592" cy="9144"/>
          </a:xfrm>
          <a:prstGeom prst="line">
            <a:avLst/>
          </a:prstGeom>
          <a:noFill/>
          <a:ln w="19050">
            <a:solidFill>
              <a:srgbClr val="8A8078"/>
            </a:solidFill>
            <a:prstDash val="solid"/>
            <a:tailEnd type="arrow"/>
          </a:ln>
        </p:spPr>
      </p:sp>
      <p:sp>
        <p:nvSpPr>
          <p:cNvPr id="46" name="Text 44"/>
          <p:cNvSpPr/>
          <p:nvPr/>
        </p:nvSpPr>
        <p:spPr>
          <a:xfrm>
            <a:off x="3072384" y="1207008"/>
            <a:ext cx="1645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by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6035040" y="1325880"/>
            <a:ext cx="164592" cy="9144"/>
          </a:xfrm>
          <a:prstGeom prst="line">
            <a:avLst/>
          </a:prstGeom>
          <a:noFill/>
          <a:ln w="19050">
            <a:solidFill>
              <a:srgbClr val="8A8078"/>
            </a:solidFill>
            <a:prstDash val="solid"/>
            <a:tailEnd type="arrow"/>
          </a:ln>
        </p:spPr>
      </p:sp>
      <p:sp>
        <p:nvSpPr>
          <p:cNvPr id="48" name="Text 46"/>
          <p:cNvSpPr/>
          <p:nvPr/>
        </p:nvSpPr>
        <p:spPr>
          <a:xfrm>
            <a:off x="6044184" y="1207008"/>
            <a:ext cx="1645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defines</a:t>
            </a:r>
            <a:endParaRPr lang="en-US" sz="650" dirty="0"/>
          </a:p>
        </p:txBody>
      </p:sp>
      <p:sp>
        <p:nvSpPr>
          <p:cNvPr id="49" name="Shape 47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SLO should be 10x stricter than SLA — if SLA is 99.9%, your SLO should be 99.99%, the gap is your Error Budget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Budget: Turning Downtime into a Decision Tool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023360" cy="1005840"/>
          </a:xfrm>
          <a:prstGeom prst="roundRect">
            <a:avLst>
              <a:gd name="adj" fmla="val 9091"/>
            </a:avLst>
          </a:prstGeom>
          <a:solidFill>
            <a:srgbClr val="F5F1EB"/>
          </a:solidFill>
          <a:ln w="19050">
            <a:solidFill>
              <a:srgbClr val="B8892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621792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Budget = 1 - SLO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" y="107899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 = 99.9%  →  Error Budget = 0.1% = 43.8 min/month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1719072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E5F0E9"/>
          </a:solidFill>
          <a:ln w="19050">
            <a:solidFill>
              <a:srgbClr val="4A996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719072"/>
            <a:ext cx="3749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Budget Sufficient → Deploy new features rapidly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2359152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F8ECEC"/>
          </a:solidFill>
          <a:ln w="19050">
            <a:solidFill>
              <a:srgbClr val="C4605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359152"/>
            <a:ext cx="3749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 Budget Exhausted → Freeze feature deploys, focus on stability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74320" y="3090672"/>
            <a:ext cx="4023360" cy="1234440"/>
          </a:xfrm>
          <a:prstGeom prst="roundRect">
            <a:avLst>
              <a:gd name="adj" fmla="val 7407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312724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Budget Policy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3419856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Budget &gt; 50%: Normal deploys, risky deploys allowed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11480" y="3666744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Budget 25-50%: Deploy cautiously, increase testing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11480" y="3913632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Budget &lt; 25%: Freeze feature deployments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754880" y="5943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 Monthly Error Budget Consumption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987552"/>
            <a:ext cx="4069080" cy="9144"/>
          </a:xfrm>
          <a:prstGeom prst="line">
            <a:avLst/>
          </a:prstGeom>
          <a:noFill/>
          <a:ln w="12700">
            <a:solidFill>
              <a:srgbClr val="C4605B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7132320" y="841248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Limit (100%)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754880" y="2880360"/>
            <a:ext cx="237744" cy="502920"/>
          </a:xfrm>
          <a:prstGeom prst="roundRect">
            <a:avLst>
              <a:gd name="adj" fmla="val 11538"/>
            </a:avLst>
          </a:prstGeom>
          <a:solidFill>
            <a:srgbClr val="C4605B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0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4718304" y="269748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5084064" y="3040380"/>
            <a:ext cx="237744" cy="342900"/>
          </a:xfrm>
          <a:prstGeom prst="roundRect">
            <a:avLst>
              <a:gd name="adj" fmla="val 11538"/>
            </a:avLst>
          </a:prstGeom>
          <a:solidFill>
            <a:srgbClr val="4A9968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84064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5047488" y="285750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5413248" y="3200400"/>
            <a:ext cx="237744" cy="182880"/>
          </a:xfrm>
          <a:prstGeom prst="roundRect">
            <a:avLst>
              <a:gd name="adj" fmla="val 15000"/>
            </a:avLst>
          </a:prstGeom>
          <a:solidFill>
            <a:srgbClr val="4A9968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13248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5376672" y="301752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5742432" y="2354580"/>
            <a:ext cx="237744" cy="1028700"/>
          </a:xfrm>
          <a:prstGeom prst="roundRect">
            <a:avLst>
              <a:gd name="adj" fmla="val 11538"/>
            </a:avLst>
          </a:prstGeom>
          <a:solidFill>
            <a:srgbClr val="B8892C"/>
          </a:solidFill>
          <a:ln w="6350">
            <a:solidFill>
              <a:srgbClr val="B8892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742432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5705856" y="217170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</a:t>
            </a:r>
            <a:endParaRPr lang="en-US" sz="650" dirty="0"/>
          </a:p>
        </p:txBody>
      </p:sp>
      <p:sp>
        <p:nvSpPr>
          <p:cNvPr id="33" name="Shape 31"/>
          <p:cNvSpPr/>
          <p:nvPr/>
        </p:nvSpPr>
        <p:spPr>
          <a:xfrm>
            <a:off x="6071616" y="1965960"/>
            <a:ext cx="237744" cy="1417320"/>
          </a:xfrm>
          <a:prstGeom prst="roundRect">
            <a:avLst>
              <a:gd name="adj" fmla="val 11538"/>
            </a:avLst>
          </a:prstGeom>
          <a:solidFill>
            <a:srgbClr val="C4605B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071616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035040" y="178308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62%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6400800" y="2971800"/>
            <a:ext cx="237744" cy="411480"/>
          </a:xfrm>
          <a:prstGeom prst="roundRect">
            <a:avLst>
              <a:gd name="adj" fmla="val 11538"/>
            </a:avLst>
          </a:prstGeom>
          <a:solidFill>
            <a:srgbClr val="4A9968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0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6364224" y="278892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6729984" y="3154680"/>
            <a:ext cx="237744" cy="228600"/>
          </a:xfrm>
          <a:prstGeom prst="roundRect">
            <a:avLst>
              <a:gd name="adj" fmla="val 12000"/>
            </a:avLst>
          </a:prstGeom>
          <a:solidFill>
            <a:srgbClr val="4A9968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729984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6693408" y="297180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650" dirty="0"/>
          </a:p>
        </p:txBody>
      </p:sp>
      <p:sp>
        <p:nvSpPr>
          <p:cNvPr id="42" name="Shape 40"/>
          <p:cNvSpPr/>
          <p:nvPr/>
        </p:nvSpPr>
        <p:spPr>
          <a:xfrm>
            <a:off x="7059168" y="3268980"/>
            <a:ext cx="237744" cy="114300"/>
          </a:xfrm>
          <a:prstGeom prst="roundRect">
            <a:avLst>
              <a:gd name="adj" fmla="val 24000"/>
            </a:avLst>
          </a:prstGeom>
          <a:solidFill>
            <a:srgbClr val="4A9968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059168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7022592" y="308610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650" dirty="0"/>
          </a:p>
        </p:txBody>
      </p:sp>
      <p:sp>
        <p:nvSpPr>
          <p:cNvPr id="45" name="Shape 43"/>
          <p:cNvSpPr/>
          <p:nvPr/>
        </p:nvSpPr>
        <p:spPr>
          <a:xfrm>
            <a:off x="7388352" y="2514600"/>
            <a:ext cx="237744" cy="868680"/>
          </a:xfrm>
          <a:prstGeom prst="roundRect">
            <a:avLst>
              <a:gd name="adj" fmla="val 11538"/>
            </a:avLst>
          </a:prstGeom>
          <a:solidFill>
            <a:srgbClr val="B8892C"/>
          </a:solidFill>
          <a:ln w="6350">
            <a:solidFill>
              <a:srgbClr val="B8892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88352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7351776" y="233172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7717536" y="1211580"/>
            <a:ext cx="237744" cy="2171700"/>
          </a:xfrm>
          <a:prstGeom prst="roundRect">
            <a:avLst>
              <a:gd name="adj" fmla="val 11538"/>
            </a:avLst>
          </a:prstGeom>
          <a:solidFill>
            <a:srgbClr val="C4605B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717536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7680960" y="102870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</a:t>
            </a:r>
            <a:endParaRPr lang="en-US" sz="650" dirty="0"/>
          </a:p>
        </p:txBody>
      </p:sp>
      <p:sp>
        <p:nvSpPr>
          <p:cNvPr id="51" name="Shape 49"/>
          <p:cNvSpPr/>
          <p:nvPr/>
        </p:nvSpPr>
        <p:spPr>
          <a:xfrm>
            <a:off x="8046720" y="2743200"/>
            <a:ext cx="237744" cy="640080"/>
          </a:xfrm>
          <a:prstGeom prst="roundRect">
            <a:avLst>
              <a:gd name="adj" fmla="val 11538"/>
            </a:avLst>
          </a:prstGeom>
          <a:solidFill>
            <a:srgbClr val="B8892C"/>
          </a:solidFill>
          <a:ln w="6350">
            <a:solidFill>
              <a:srgbClr val="B8892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046720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8010144" y="256032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28%</a:t>
            </a:r>
            <a:endParaRPr lang="en-US" sz="650" dirty="0"/>
          </a:p>
        </p:txBody>
      </p:sp>
      <p:sp>
        <p:nvSpPr>
          <p:cNvPr id="54" name="Shape 52"/>
          <p:cNvSpPr/>
          <p:nvPr/>
        </p:nvSpPr>
        <p:spPr>
          <a:xfrm>
            <a:off x="8375904" y="3108960"/>
            <a:ext cx="237744" cy="274320"/>
          </a:xfrm>
          <a:prstGeom prst="roundRect">
            <a:avLst>
              <a:gd name="adj" fmla="val 11538"/>
            </a:avLst>
          </a:prstGeom>
          <a:solidFill>
            <a:srgbClr val="4A9968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375904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8339328" y="292608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650" dirty="0"/>
          </a:p>
        </p:txBody>
      </p:sp>
      <p:sp>
        <p:nvSpPr>
          <p:cNvPr id="57" name="Shape 55"/>
          <p:cNvSpPr/>
          <p:nvPr/>
        </p:nvSpPr>
        <p:spPr>
          <a:xfrm>
            <a:off x="274320" y="35204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7200" y="3566160"/>
            <a:ext cx="6675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 October Error Budget exhausted! → Immediately freeze feature deploys, SRE intervenes for stability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7132320" y="3593592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32320" y="3621024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Deploys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7626096" y="3593592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626096" y="3621024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 Action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8119872" y="3593592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119872" y="3621024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Error Budget gives Dev and Ops a shared language — not 'stability vs speed', but 'how much budget is left to spend'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in Practice: Prometheus + Grafana Combo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365760" y="658368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65836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658368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463040" y="795528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:8080/metrics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65760" y="1207008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20700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368" y="1207008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api-02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463040" y="1344168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:8080/metrics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65760" y="1755648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75564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1755648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api-03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463040" y="1892808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:8080/metrics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103120" y="1371600"/>
            <a:ext cx="457200" cy="9144"/>
          </a:xfrm>
          <a:prstGeom prst="line">
            <a:avLst/>
          </a:prstGeom>
          <a:noFill/>
          <a:ln w="19050">
            <a:solidFill>
              <a:srgbClr val="4A9968"/>
            </a:solidFill>
            <a:prstDash val="solid"/>
            <a:tailEnd type="arrow"/>
          </a:ln>
        </p:spPr>
      </p:sp>
      <p:sp>
        <p:nvSpPr>
          <p:cNvPr id="19" name="Text 17"/>
          <p:cNvSpPr/>
          <p:nvPr/>
        </p:nvSpPr>
        <p:spPr>
          <a:xfrm>
            <a:off x="2084832" y="1115568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scrape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15s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651760" y="621792"/>
            <a:ext cx="1463040" cy="1389888"/>
          </a:xfrm>
          <a:prstGeom prst="roundRect">
            <a:avLst>
              <a:gd name="adj" fmla="val 6579"/>
            </a:avLst>
          </a:prstGeom>
          <a:solidFill>
            <a:srgbClr val="F5F1EB"/>
          </a:solidFill>
          <a:ln w="19050">
            <a:solidFill>
              <a:srgbClr val="4A9968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2651760" y="676656"/>
            <a:ext cx="1463040" cy="639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2706624" y="1344534"/>
            <a:ext cx="13533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688336" y="1573134"/>
            <a:ext cx="13898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Time-Series DB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15s scrape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206240" y="1344168"/>
            <a:ext cx="411480" cy="9144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4663440" y="621792"/>
            <a:ext cx="1463040" cy="1389888"/>
          </a:xfrm>
          <a:prstGeom prst="roundRect">
            <a:avLst>
              <a:gd name="adj" fmla="val 6579"/>
            </a:avLst>
          </a:prstGeom>
          <a:solidFill>
            <a:srgbClr val="F5F1EB"/>
          </a:solidFill>
          <a:ln w="19050">
            <a:solidFill>
              <a:srgbClr val="4A7FB5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663440" y="676656"/>
            <a:ext cx="1463040" cy="639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4718304" y="1344534"/>
            <a:ext cx="13533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700016" y="1573134"/>
            <a:ext cx="13898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Visualization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Dashboard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2651760" y="2331720"/>
            <a:ext cx="146304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97480" y="23317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🔔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2944368" y="2331720"/>
            <a:ext cx="11338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AlertManager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383280" y="2057400"/>
            <a:ext cx="9144" cy="256032"/>
          </a:xfrm>
          <a:prstGeom prst="line">
            <a:avLst/>
          </a:prstGeom>
          <a:noFill/>
          <a:ln w="19050">
            <a:solidFill>
              <a:srgbClr val="C4605B"/>
            </a:solidFill>
            <a:prstDash val="solid"/>
            <a:tailEnd type="arrow"/>
          </a:ln>
        </p:spPr>
      </p:sp>
      <p:sp>
        <p:nvSpPr>
          <p:cNvPr id="33" name="Shape 31"/>
          <p:cNvSpPr/>
          <p:nvPr/>
        </p:nvSpPr>
        <p:spPr>
          <a:xfrm>
            <a:off x="4206240" y="2743200"/>
            <a:ext cx="457200" cy="9144"/>
          </a:xfrm>
          <a:prstGeom prst="line">
            <a:avLst/>
          </a:prstGeom>
          <a:noFill/>
          <a:ln w="19050">
            <a:solidFill>
              <a:srgbClr val="B8892C"/>
            </a:solidFill>
            <a:prstDash val="solid"/>
            <a:tailEnd type="arrow"/>
          </a:ln>
        </p:spPr>
      </p:sp>
      <p:sp>
        <p:nvSpPr>
          <p:cNvPr id="34" name="Text 32"/>
          <p:cNvSpPr/>
          <p:nvPr/>
        </p:nvSpPr>
        <p:spPr>
          <a:xfrm>
            <a:off x="4187952" y="251460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notify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800600" y="2377440"/>
            <a:ext cx="146304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46320" y="237744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📱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093208" y="2377440"/>
            <a:ext cx="11338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PagerDuty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309360" y="594360"/>
            <a:ext cx="2560320" cy="2148840"/>
          </a:xfrm>
          <a:prstGeom prst="roundRect">
            <a:avLst>
              <a:gd name="adj" fmla="val 4255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blurRad="127000" dist="508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40080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1908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PromQL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6437376" y="704088"/>
            <a:ext cx="2304288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HTTP Error Rate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rate(http_requests_total{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status=~'5..'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}[5m]) /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rate(http_requests_total[5m])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P99 Latency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histogram_quantile(0.99,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rate(http_duration_bucket[5m])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CPU Alert Rule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container_cpu_usage &gt; 0.8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274320" y="2944368"/>
            <a:ext cx="2651760" cy="475488"/>
          </a:xfrm>
          <a:prstGeom prst="roundRect">
            <a:avLst>
              <a:gd name="adj" fmla="val 15385"/>
            </a:avLst>
          </a:prstGeom>
          <a:solidFill>
            <a:srgbClr val="F5F1EB"/>
          </a:solidFill>
          <a:ln w="19050">
            <a:solidFill>
              <a:srgbClr val="C4605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84048" y="2944368"/>
            <a:ext cx="245059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Critical: Error Rate &gt; 1%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108960" y="2944368"/>
            <a:ext cx="2651760" cy="475488"/>
          </a:xfrm>
          <a:prstGeom prst="roundRect">
            <a:avLst>
              <a:gd name="adj" fmla="val 15385"/>
            </a:avLst>
          </a:prstGeom>
          <a:solidFill>
            <a:srgbClr val="F5F1EB"/>
          </a:solidFill>
          <a:ln w="19050">
            <a:solidFill>
              <a:srgbClr val="B8892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18688" y="2944368"/>
            <a:ext cx="245059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Warning: P99 &gt; 500ms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943600" y="2944368"/>
            <a:ext cx="2651760" cy="475488"/>
          </a:xfrm>
          <a:prstGeom prst="roundRect">
            <a:avLst>
              <a:gd name="adj" fmla="val 15385"/>
            </a:avLst>
          </a:prstGeom>
          <a:solidFill>
            <a:srgbClr val="F5F1EB"/>
          </a:solidFill>
          <a:ln w="19050">
            <a:solidFill>
              <a:srgbClr val="4A996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53328" y="2944368"/>
            <a:ext cx="245059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Info: Deployment Completed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274320" y="3520440"/>
            <a:ext cx="8595360" cy="932688"/>
          </a:xfrm>
          <a:prstGeom prst="roundRect">
            <a:avLst>
              <a:gd name="adj" fmla="val 9804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blurRad="127000" dist="508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365760" y="33741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4048" y="33741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 rule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02336" y="3630168"/>
            <a:ext cx="8339328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alert: HighErrorRate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expr: rate(http_requests_total{status=~'5..'}[5m]) / rate(http_requests_total[5m]) &gt; 0.01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for: 2m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labels: { severity: critical }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annotations: { summary: 'Error rate {{ $value | humanizePercentage }}' }</a:t>
            </a:r>
            <a:endParaRPr lang="en-US" sz="9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Tracing: Finding Performance Bottlenecks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713232"/>
            <a:ext cx="713232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9088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71323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👤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75488" y="713232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950976" y="1033272"/>
            <a:ext cx="274320" cy="9144"/>
          </a:xfrm>
          <a:prstGeom prst="line">
            <a:avLst/>
          </a:prstGeom>
          <a:noFill/>
          <a:ln w="19050">
            <a:solidFill>
              <a:srgbClr val="5B8DB8"/>
            </a:solidFill>
            <a:prstDash val="solid"/>
            <a:tailEnd type="arrow"/>
          </a:ln>
        </p:spPr>
      </p:sp>
      <p:sp>
        <p:nvSpPr>
          <p:cNvPr id="10" name="Shape 8"/>
          <p:cNvSpPr/>
          <p:nvPr/>
        </p:nvSpPr>
        <p:spPr>
          <a:xfrm>
            <a:off x="813816" y="859536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5B8D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3816" y="85953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B8D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/checkout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1280160" y="713232"/>
            <a:ext cx="713232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25880" y="71323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🌐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72768" y="713232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048256" y="1033272"/>
            <a:ext cx="274320" cy="9144"/>
          </a:xfrm>
          <a:prstGeom prst="line">
            <a:avLst/>
          </a:prstGeom>
          <a:noFill/>
          <a:ln w="19050">
            <a:solidFill>
              <a:srgbClr val="5A9B6E"/>
            </a:solidFill>
            <a:prstDash val="solid"/>
            <a:tailEnd type="arrow"/>
          </a:ln>
        </p:spPr>
      </p:sp>
      <p:sp>
        <p:nvSpPr>
          <p:cNvPr id="16" name="Shape 14"/>
          <p:cNvSpPr/>
          <p:nvPr/>
        </p:nvSpPr>
        <p:spPr>
          <a:xfrm>
            <a:off x="1911096" y="859536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5A9B6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11096" y="85953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9B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proxy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2377440" y="713232"/>
            <a:ext cx="713232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23160" y="71323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670048" y="713232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697480" y="1298448"/>
            <a:ext cx="9144" cy="292608"/>
          </a:xfrm>
          <a:prstGeom prst="line">
            <a:avLst/>
          </a:prstGeom>
          <a:noFill/>
          <a:ln w="19050">
            <a:solidFill>
              <a:srgbClr val="5A9B6E"/>
            </a:solidFill>
            <a:prstDash val="solid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920240" y="1600200"/>
            <a:ext cx="713232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C480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65960" y="16002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212848" y="160020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743200" y="1600200"/>
            <a:ext cx="713232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88920" y="16002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⚡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035808" y="160020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566160" y="1600200"/>
            <a:ext cx="713232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11880" y="16002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📧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858768" y="160020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480560" y="713232"/>
            <a:ext cx="44805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17720" y="71323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6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 ID: abc-123-xyz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543800" y="71323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Spans the entire request chain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303520" y="1234440"/>
            <a:ext cx="3383280" cy="137160"/>
          </a:xfrm>
          <a:prstGeom prst="roundRect">
            <a:avLst>
              <a:gd name="adj" fmla="val 20000"/>
            </a:avLst>
          </a:prstGeom>
          <a:solidFill>
            <a:srgbClr val="1A2A40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80560" y="1234440"/>
            <a:ext cx="7772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440680" y="1417320"/>
            <a:ext cx="3108960" cy="137160"/>
          </a:xfrm>
          <a:prstGeom prst="roundRect">
            <a:avLst>
              <a:gd name="adj" fmla="val 20000"/>
            </a:avLst>
          </a:prstGeom>
          <a:solidFill>
            <a:srgbClr val="1A2A1A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80560" y="1417320"/>
            <a:ext cx="7772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86400" y="1600200"/>
            <a:ext cx="2560320" cy="137160"/>
          </a:xfrm>
          <a:prstGeom prst="roundRect">
            <a:avLst>
              <a:gd name="adj" fmla="val 20000"/>
            </a:avLst>
          </a:prstGeom>
          <a:solidFill>
            <a:srgbClr val="F8ECEC"/>
          </a:solidFill>
          <a:ln w="12700">
            <a:solidFill>
              <a:srgbClr val="C480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80560" y="1600200"/>
            <a:ext cx="7772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query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5486400" y="1783080"/>
            <a:ext cx="365760" cy="137160"/>
          </a:xfrm>
          <a:prstGeom prst="roundRect">
            <a:avLst>
              <a:gd name="adj" fmla="val 20000"/>
            </a:avLst>
          </a:prstGeom>
          <a:solidFill>
            <a:srgbClr val="1A1A2A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480560" y="1783080"/>
            <a:ext cx="7772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8321040" y="1965960"/>
            <a:ext cx="457200" cy="137160"/>
          </a:xfrm>
          <a:prstGeom prst="roundRect">
            <a:avLst>
              <a:gd name="adj" fmla="val 20000"/>
            </a:avLst>
          </a:prstGeom>
          <a:solidFill>
            <a:srgbClr val="F3EDE0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80560" y="1965960"/>
            <a:ext cx="7772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Email(async)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8138160" y="1581912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DB query: 245ms — Bottleneck!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74320" y="2176272"/>
            <a:ext cx="8595360" cy="1389888"/>
          </a:xfrm>
          <a:prstGeom prst="roundRect">
            <a:avLst>
              <a:gd name="adj" fmla="val 6579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blurRad="127000" dist="508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365760" y="202996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84048" y="2029968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(OpenTelemetry)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02336" y="2286000"/>
            <a:ext cx="8339328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opentelemetry import trace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tracer = trace.get_tracer(__name__)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@app.get('/checkout')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checkout(user_id: str):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tracer.start_as_current_span('checkout') as span: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span.set_attribute('user.id', user_id)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with tracer.start_as_current_span('db.query'):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result = await db.fetch_cart(user_id)  # Auto-records duration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result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274320" y="45720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57200" y="46177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Debugging a distributed system without tracing is like solving a puzzle blindfolded — OpenTelemetry is the modern standard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SRE: Treating Operations as a Software Engineering Problem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74320" y="59436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SRE Responsibilities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914400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F5F1EB"/>
          </a:solidFill>
          <a:ln w="19050">
            <a:solidFill>
              <a:srgbClr val="4A996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914400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Eliminate Toil — Automate repetitive manual work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4320" y="1481328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F5F1EB"/>
          </a:solidFill>
          <a:ln w="19050">
            <a:solidFill>
              <a:srgbClr val="4A7F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481328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SLI/SLO/Error Budget Management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2048256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F5F1EB"/>
          </a:solidFill>
          <a:ln w="19050">
            <a:solidFill>
              <a:srgbClr val="C4605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048256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 Incident Response &amp; On-Call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74320" y="2615184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F5F1EB"/>
          </a:solidFill>
          <a:ln w="19050">
            <a:solidFill>
              <a:srgbClr val="B8892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615184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Postmortem Culture — Blameless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74320" y="3182112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3182112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🏗️ Build more reliable system architectures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74320" y="3429000"/>
            <a:ext cx="4023360" cy="804672"/>
          </a:xfrm>
          <a:prstGeom prst="roundRect">
            <a:avLst>
              <a:gd name="adj" fmla="val 11364"/>
            </a:avLst>
          </a:prstGeom>
          <a:solidFill>
            <a:srgbClr val="F5F1EB"/>
          </a:solidFill>
          <a:ln w="19050">
            <a:solidFill>
              <a:srgbClr val="B8892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349300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Toil Budget: &lt; 50% of work time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11480" y="3776472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Exceeds 50% → SRE automates until it drops below 50%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63440" y="594360"/>
            <a:ext cx="4206240" cy="347472"/>
          </a:xfrm>
          <a:prstGeom prst="roundRect">
            <a:avLst>
              <a:gd name="adj" fmla="val 15789"/>
            </a:avLst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09160" y="594360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0" y="594360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SysAdmin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37960" y="594360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589520" y="594360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960120"/>
            <a:ext cx="4206240" cy="420624"/>
          </a:xfrm>
          <a:prstGeom prst="roundRect">
            <a:avLst>
              <a:gd name="adj" fmla="val 8696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09160" y="960120"/>
            <a:ext cx="685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Goal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486400" y="960120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Stability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537960" y="960120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589520" y="960120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663440" y="1435608"/>
            <a:ext cx="4206240" cy="420624"/>
          </a:xfrm>
          <a:prstGeom prst="roundRect">
            <a:avLst>
              <a:gd name="adj" fmla="val 8696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09160" y="1435608"/>
            <a:ext cx="685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486400" y="14356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SSH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537960" y="14356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589520" y="14356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Automated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663440" y="1911096"/>
            <a:ext cx="4206240" cy="420624"/>
          </a:xfrm>
          <a:prstGeom prst="roundRect">
            <a:avLst>
              <a:gd name="adj" fmla="val 8696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09160" y="1911096"/>
            <a:ext cx="685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Handling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486400" y="1911096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&amp; Forget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537960" y="1911096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589520" y="1911096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Postmortem Required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386584"/>
            <a:ext cx="4206240" cy="420624"/>
          </a:xfrm>
          <a:prstGeom prst="roundRect">
            <a:avLst>
              <a:gd name="adj" fmla="val 8696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2386584"/>
            <a:ext cx="685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486400" y="2386584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Uptime/Downtime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537960" y="2386584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Frequency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589520" y="2386584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SLO/Error Budget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Google SRE Handbook: 'SRE is what happens when you ask a software engineer to design an operations team — they automate everything'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Blameless Postmortem: Learning from Failures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74320" y="59436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🚫 Blameless Postmortem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86868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root cause, not someone to blame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" y="1170432"/>
            <a:ext cx="4023360" cy="438912"/>
          </a:xfrm>
          <a:prstGeom prst="roundRect">
            <a:avLst>
              <a:gd name="adj" fmla="val 16667"/>
            </a:avLst>
          </a:prstGeom>
          <a:solidFill>
            <a:srgbClr val="E5F0E9"/>
          </a:solidFill>
          <a:ln w="19050">
            <a:solidFill>
              <a:srgbClr val="4A996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170432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Describe facts, don't blame individuals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74320" y="1700784"/>
            <a:ext cx="4023360" cy="438912"/>
          </a:xfrm>
          <a:prstGeom prst="roundRect">
            <a:avLst>
              <a:gd name="adj" fmla="val 16667"/>
            </a:avLst>
          </a:prstGeom>
          <a:solidFill>
            <a:srgbClr val="E5F0E9"/>
          </a:solidFill>
          <a:ln w="19050">
            <a:solidFill>
              <a:srgbClr val="4A99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700784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5-Why root cause analysis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4320" y="2231136"/>
            <a:ext cx="4023360" cy="438912"/>
          </a:xfrm>
          <a:prstGeom prst="roundRect">
            <a:avLst>
              <a:gd name="adj" fmla="val 16667"/>
            </a:avLst>
          </a:prstGeom>
          <a:solidFill>
            <a:srgbClr val="E5F0E9"/>
          </a:solidFill>
          <a:ln w="19050">
            <a:solidFill>
              <a:srgbClr val="4A996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231136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Systemic improvement, not punishment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74320" y="2761488"/>
            <a:ext cx="4023360" cy="438912"/>
          </a:xfrm>
          <a:prstGeom prst="roundRect">
            <a:avLst>
              <a:gd name="adj" fmla="val 16667"/>
            </a:avLst>
          </a:prstGeom>
          <a:solidFill>
            <a:srgbClr val="E5F0E9"/>
          </a:solidFill>
          <a:ln w="19050">
            <a:solidFill>
              <a:srgbClr val="4A996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2761488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Share learnings openly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4320" y="3310128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F8ECEC"/>
          </a:solidFill>
          <a:ln w="19050">
            <a:solidFill>
              <a:srgbClr val="C4605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3310128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Forbidden: 'It was all XXX's fault'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63440" y="594360"/>
            <a:ext cx="4206240" cy="4160520"/>
          </a:xfrm>
          <a:prstGeom prst="roundRect">
            <a:avLst>
              <a:gd name="adj" fmla="val 2198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blurRad="127000" dist="508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7316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Postmortem Template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791456" y="704088"/>
            <a:ext cx="3950208" cy="3977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Incident Summary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Date: 2024-03-15 14:32 UTC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Duration: 47 minutes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Impact: 23% of global users unable to log in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Severity: SEV-1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Timeline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- 14:32 Alert triggered: Error rate &gt; 5%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- 14:38 SRE on-call paged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- 14:45 Root cause identified: DB migration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- 15:19 Rollback completed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Root Cause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 migration script locked the users table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causing all login requests to timeout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Action Items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] Add DB migration smoke test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] Schedule migrations during maintenance window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] Improve rollback SOP</a:t>
            </a:r>
            <a:endParaRPr lang="en-US" sz="9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Summary: You Now Understand Real-World Deployment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SUMMARY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28600" y="594360"/>
            <a:ext cx="1298448" cy="1572768"/>
          </a:xfrm>
          <a:prstGeom prst="roundRect">
            <a:avLst>
              <a:gd name="adj" fmla="val 7042"/>
            </a:avLst>
          </a:prstGeom>
          <a:solidFill>
            <a:srgbClr val="F5F1EB"/>
          </a:solidFill>
          <a:ln w="19050">
            <a:solidFill>
              <a:srgbClr val="5B8D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1752" y="621792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1752" y="850392"/>
            <a:ext cx="1143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01752" y="1371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Deploy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1752" y="1618488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Single→Split→3-Tier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664208" y="594360"/>
            <a:ext cx="1298448" cy="1572768"/>
          </a:xfrm>
          <a:prstGeom prst="roundRect">
            <a:avLst>
              <a:gd name="adj" fmla="val 7042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37360" y="621792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737360" y="850392"/>
            <a:ext cx="1143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737360" y="1371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37360" y="1618488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LB+Cache+MQ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099816" y="594360"/>
            <a:ext cx="1298448" cy="1572768"/>
          </a:xfrm>
          <a:prstGeom prst="roundRect">
            <a:avLst>
              <a:gd name="adj" fmla="val 7042"/>
            </a:avLst>
          </a:prstGeom>
          <a:solidFill>
            <a:srgbClr val="F5F1EB"/>
          </a:solidFill>
          <a:ln w="19050">
            <a:solidFill>
              <a:srgbClr val="4A9B8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172968" y="621792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172968" y="850392"/>
            <a:ext cx="1143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🐳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3172968" y="1371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172968" y="1618488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Env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535424" y="594360"/>
            <a:ext cx="1298448" cy="1572768"/>
          </a:xfrm>
          <a:prstGeom prst="roundRect">
            <a:avLst>
              <a:gd name="adj" fmla="val 7042"/>
            </a:avLst>
          </a:prstGeom>
          <a:solidFill>
            <a:srgbClr val="F5F1EB"/>
          </a:solidFill>
          <a:ln w="19050">
            <a:solidFill>
              <a:srgbClr val="4A7F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08576" y="621792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608576" y="850392"/>
            <a:ext cx="1143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4608576" y="1371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08576" y="1618488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Principles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971032" y="594360"/>
            <a:ext cx="1298448" cy="1572768"/>
          </a:xfrm>
          <a:prstGeom prst="roundRect">
            <a:avLst>
              <a:gd name="adj" fmla="val 7042"/>
            </a:avLst>
          </a:prstGeom>
          <a:solidFill>
            <a:srgbClr val="F5F1EB"/>
          </a:solidFill>
          <a:ln w="19050">
            <a:solidFill>
              <a:srgbClr val="4A99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44184" y="621792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044184" y="850392"/>
            <a:ext cx="1143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6044184" y="1371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044184" y="1618488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406640" y="594360"/>
            <a:ext cx="1298448" cy="1572768"/>
          </a:xfrm>
          <a:prstGeom prst="roundRect">
            <a:avLst>
              <a:gd name="adj" fmla="val 7042"/>
            </a:avLst>
          </a:prstGeom>
          <a:solidFill>
            <a:srgbClr val="F5F1EB"/>
          </a:solidFill>
          <a:ln w="19050">
            <a:solidFill>
              <a:srgbClr val="B8892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79792" y="621792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479792" y="850392"/>
            <a:ext cx="1143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7479792" y="1371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479792" y="1618488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581912" y="1371600"/>
            <a:ext cx="64008" cy="9144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  <a:tailEnd type="arrow"/>
          </a:ln>
        </p:spPr>
      </p:sp>
      <p:sp>
        <p:nvSpPr>
          <p:cNvPr id="37" name="Shape 35"/>
          <p:cNvSpPr/>
          <p:nvPr/>
        </p:nvSpPr>
        <p:spPr>
          <a:xfrm>
            <a:off x="3017520" y="1371600"/>
            <a:ext cx="64008" cy="9144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>
            <a:off x="4453128" y="1371600"/>
            <a:ext cx="64008" cy="9144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  <a:tailEnd type="arrow"/>
          </a:ln>
        </p:spPr>
      </p:sp>
      <p:sp>
        <p:nvSpPr>
          <p:cNvPr id="39" name="Shape 37"/>
          <p:cNvSpPr/>
          <p:nvPr/>
        </p:nvSpPr>
        <p:spPr>
          <a:xfrm>
            <a:off x="5888736" y="1371600"/>
            <a:ext cx="64008" cy="9144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>
            <a:off x="7324344" y="1371600"/>
            <a:ext cx="64008" cy="9144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  <a:tailEnd type="arrow"/>
          </a:ln>
        </p:spPr>
      </p:sp>
      <p:sp>
        <p:nvSpPr>
          <p:cNvPr id="41" name="Shape 39"/>
          <p:cNvSpPr/>
          <p:nvPr/>
        </p:nvSpPr>
        <p:spPr>
          <a:xfrm>
            <a:off x="274320" y="2286000"/>
            <a:ext cx="8595360" cy="868680"/>
          </a:xfrm>
          <a:prstGeom prst="roundRect">
            <a:avLst>
              <a:gd name="adj" fmla="val 10526"/>
            </a:avLst>
          </a:prstGeom>
          <a:solidFill>
            <a:srgbClr val="F5F1EB"/>
          </a:solidFill>
          <a:ln w="19050">
            <a:solidFill>
              <a:srgbClr val="4A7F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4320" y="233172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Core Insight: Complexity is inevitable — but it can be managed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274320" y="2715768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+ 12-Factor + CI/CD + Observability = The Modern Cloud Native Engineer's Toolkit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74320" y="3273552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F5F1EB"/>
          </a:solidFill>
          <a:ln w="19050">
            <a:solidFill>
              <a:srgbClr val="5B8DB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84048" y="3337560"/>
            <a:ext cx="2432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8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🏗️ Architecture Evolves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384048" y="3675888"/>
            <a:ext cx="243230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monolith to distributed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has a reason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over-engineer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154680" y="3273552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F5F1EB"/>
          </a:solidFill>
          <a:ln w="19050">
            <a:solidFill>
              <a:srgbClr val="4A9B8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64408" y="3337560"/>
            <a:ext cx="2432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9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🐳 Containers Are the Foundation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3264408" y="3675888"/>
            <a:ext cx="243230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environments + Versioning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smallest unit of modern deployment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Docker well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35040" y="3273552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F5F1EB"/>
          </a:solidFill>
          <a:ln w="19050">
            <a:solidFill>
              <a:srgbClr val="4A996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44768" y="3337560"/>
            <a:ext cx="2432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Let Data Decide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6144768" y="3675888"/>
            <a:ext cx="243230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SLO/SLA/DORA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improvement with metrics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rely on gut feelings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vs Monitoring: Beyond Just Charts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0" y="530352"/>
            <a:ext cx="9144" cy="3310128"/>
          </a:xfrm>
          <a:prstGeom prst="line">
            <a:avLst/>
          </a:prstGeom>
          <a:noFill/>
          <a:ln w="635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Traditional Monitoring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4320" y="1005840"/>
            <a:ext cx="4023360" cy="41148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0160">
            <a:solidFill>
              <a:srgbClr val="8A807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03327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know what to look for in advance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" y="1216152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Pre-built Dashboards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74320" y="1481328"/>
            <a:ext cx="4023360" cy="41148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0160">
            <a:solidFill>
              <a:srgbClr val="8A807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5087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knows WHAT is broken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1691640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CPU, slow responses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" y="1956816"/>
            <a:ext cx="4023360" cy="41148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0160">
            <a:solidFill>
              <a:srgbClr val="8A80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198424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answer unknown questions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2167128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Helpless against novel failures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2432304"/>
            <a:ext cx="4023360" cy="41148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0160">
            <a:solidFill>
              <a:srgbClr val="8A807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459736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alert thresholds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7200" y="2642616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when CPU &gt; 80%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Observability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754880" y="1005840"/>
            <a:ext cx="4023360" cy="41148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0160">
            <a:solidFill>
              <a:srgbClr val="4A996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37760" y="103327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 internal system state from external outputs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754880" y="1481328"/>
            <a:ext cx="4023360" cy="41148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0160">
            <a:solidFill>
              <a:srgbClr val="4A996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0" y="15087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Knows What / Why / Where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937760" y="1691640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Pillars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754880" y="1956816"/>
            <a:ext cx="4023360" cy="41148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0160">
            <a:solidFill>
              <a:srgbClr val="4A996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37760" y="198424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answer any question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937760" y="2167128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first-time incidents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754880" y="2432304"/>
            <a:ext cx="4023360" cy="41148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0160">
            <a:solidFill>
              <a:srgbClr val="4A996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37760" y="2459736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and queryable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937760" y="2642616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pre-built dashboards needed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74320" y="3401568"/>
            <a:ext cx="8595360" cy="594360"/>
          </a:xfrm>
          <a:prstGeom prst="roundRect">
            <a:avLst>
              <a:gd name="adj" fmla="val 12308"/>
            </a:avLst>
          </a:prstGeom>
          <a:solidFill>
            <a:srgbClr val="F5F1EB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34015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tells you WHEN things break. Observability tells you WHY.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274320" y="41148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41605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Three Pillars of Observability: Metrics (what is broken) + Logs (why) + Traces (which service) — all three are essential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Pillars Overview: What Metrics, Logs, Traces Each Solve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85216"/>
            <a:ext cx="2865120" cy="4005072"/>
          </a:xfrm>
          <a:prstGeom prst="roundRect">
            <a:avLst>
              <a:gd name="adj" fmla="val 3191"/>
            </a:avLst>
          </a:prstGeom>
          <a:solidFill>
            <a:srgbClr val="F5F1EB"/>
          </a:solidFill>
          <a:ln w="15240">
            <a:solidFill>
              <a:srgbClr val="4A996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85216"/>
            <a:ext cx="2865120" cy="475488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60350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85216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Metrics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97864"/>
            <a:ext cx="109728" cy="109728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13385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 time-series data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10896" y="1600200"/>
            <a:ext cx="109728" cy="109728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153619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happening now?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10896" y="2002536"/>
            <a:ext cx="109728" cy="109728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" y="193852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CPU%, Req/s, Error Rate, P99 Latency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10896" y="2404872"/>
            <a:ext cx="109728" cy="109728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" y="234086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Alerting, capacity planning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10896" y="2807208"/>
            <a:ext cx="109728" cy="109728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274320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Retention: Months to years (low cost)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10896" y="3209544"/>
            <a:ext cx="109728" cy="109728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" y="314553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Prometheus, Grafana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139440" y="585216"/>
            <a:ext cx="2865120" cy="4005072"/>
          </a:xfrm>
          <a:prstGeom prst="roundRect">
            <a:avLst>
              <a:gd name="adj" fmla="val 3191"/>
            </a:avLst>
          </a:prstGeom>
          <a:solidFill>
            <a:srgbClr val="F5F1EB"/>
          </a:solidFill>
          <a:ln w="15240">
            <a:solidFill>
              <a:srgbClr val="B8892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139440" y="585216"/>
            <a:ext cx="2865120" cy="475488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139440" y="60350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3560064" y="585216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Logs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267456" y="1197864"/>
            <a:ext cx="109728" cy="109728"/>
          </a:xfrm>
          <a:prstGeom prst="ellipse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32048" y="113385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Textual event stream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67456" y="1600200"/>
            <a:ext cx="109728" cy="109728"/>
          </a:xfrm>
          <a:prstGeom prst="ellipse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32048" y="153619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did it happen?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267456" y="2002536"/>
            <a:ext cx="109728" cy="109728"/>
          </a:xfrm>
          <a:prstGeom prst="ellipse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32048" y="193852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details, error stack traces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267456" y="2404872"/>
            <a:ext cx="109728" cy="109728"/>
          </a:xfrm>
          <a:prstGeom prst="ellipse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432048" y="234086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Debugging, auditing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267456" y="2807208"/>
            <a:ext cx="109728" cy="109728"/>
          </a:xfrm>
          <a:prstGeom prst="ellipse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32048" y="274320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Retention: Days to months (high cost)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267456" y="3209544"/>
            <a:ext cx="109728" cy="109728"/>
          </a:xfrm>
          <a:prstGeom prst="ellipse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432048" y="314553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ELK, Loki, Fluentd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096000" y="585216"/>
            <a:ext cx="2865120" cy="4005072"/>
          </a:xfrm>
          <a:prstGeom prst="roundRect">
            <a:avLst>
              <a:gd name="adj" fmla="val 3191"/>
            </a:avLst>
          </a:prstGeom>
          <a:solidFill>
            <a:srgbClr val="F5F1EB"/>
          </a:solidFill>
          <a:ln w="15240">
            <a:solidFill>
              <a:srgbClr val="8B6AB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96000" y="585216"/>
            <a:ext cx="2865120" cy="475488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96000" y="60350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🔗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6516624" y="585216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Traces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224016" y="1197864"/>
            <a:ext cx="109728" cy="109728"/>
          </a:xfrm>
          <a:prstGeom prst="ellipse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8608" y="113385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request path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224016" y="1600200"/>
            <a:ext cx="109728" cy="109728"/>
          </a:xfrm>
          <a:prstGeom prst="ellipse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88608" y="153619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is it slow?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224016" y="2002536"/>
            <a:ext cx="109728" cy="109728"/>
          </a:xfrm>
          <a:prstGeom prst="ellipse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388608" y="193852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service, which function, how long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6224016" y="2404872"/>
            <a:ext cx="109728" cy="109728"/>
          </a:xfrm>
          <a:prstGeom prst="ellipse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88608" y="234086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Perf analysis, dependency tracking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224016" y="2807208"/>
            <a:ext cx="109728" cy="109728"/>
          </a:xfrm>
          <a:prstGeom prst="ellipse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88608" y="274320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Retention: Days to weeks (highest cost)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224016" y="3209544"/>
            <a:ext cx="109728" cy="109728"/>
          </a:xfrm>
          <a:prstGeom prst="ellipse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88608" y="314553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Jaeger, Tempo, Zipkin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Cost perspective: Metrics are cheapest (numbers), Logs are moderate (text), Traces are most expensive (every Span must be stored)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Monolithic vs Distributed: Why Observability Becomes Critical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0" y="530352"/>
            <a:ext cx="9144" cy="3931920"/>
          </a:xfrm>
          <a:prstGeom prst="line">
            <a:avLst/>
          </a:prstGeom>
          <a:noFill/>
          <a:ln w="635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566928"/>
            <a:ext cx="3840480" cy="365760"/>
          </a:xfrm>
          <a:prstGeom prst="roundRect">
            <a:avLst>
              <a:gd name="adj" fmla="val 20000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5669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Monolith: Simple Debugging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097280" y="1005840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 w="19050">
            <a:solidFill>
              <a:srgbClr val="5A9B6E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097280" y="1060704"/>
            <a:ext cx="2011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152144" y="1481328"/>
            <a:ext cx="19019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Monolith App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133856" y="1709928"/>
            <a:ext cx="19385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Single Process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74320" y="2057400"/>
            <a:ext cx="3840480" cy="365760"/>
          </a:xfrm>
          <a:prstGeom prst="roundRect">
            <a:avLst>
              <a:gd name="adj" fmla="val 15000"/>
            </a:avLst>
          </a:prstGeom>
          <a:solidFill>
            <a:srgbClr val="F5F1EB"/>
          </a:solidFill>
          <a:ln w="10160">
            <a:solidFill>
              <a:srgbClr val="4A996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0574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 -f app.log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74320" y="2487168"/>
            <a:ext cx="3840480" cy="365760"/>
          </a:xfrm>
          <a:prstGeom prst="roundRect">
            <a:avLst>
              <a:gd name="adj" fmla="val 15000"/>
            </a:avLst>
          </a:prstGeom>
          <a:solidFill>
            <a:srgbClr val="F5F1EB"/>
          </a:solidFill>
          <a:ln w="10160">
            <a:solidFill>
              <a:srgbClr val="4A996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487168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print() / console.log()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74320" y="2916936"/>
            <a:ext cx="3840480" cy="365760"/>
          </a:xfrm>
          <a:prstGeom prst="roundRect">
            <a:avLst>
              <a:gd name="adj" fmla="val 15000"/>
            </a:avLst>
          </a:prstGeom>
          <a:solidFill>
            <a:srgbClr val="F5F1EB"/>
          </a:solidFill>
          <a:ln w="10160">
            <a:solidFill>
              <a:srgbClr val="4A996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916936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gdb / pdb local debugging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4320" y="3364992"/>
            <a:ext cx="3840480" cy="347472"/>
          </a:xfrm>
          <a:prstGeom prst="roundRect">
            <a:avLst>
              <a:gd name="adj" fmla="val 15789"/>
            </a:avLst>
          </a:prstGeom>
          <a:solidFill>
            <a:srgbClr val="E5F0E9"/>
          </a:solidFill>
          <a:ln w="10160">
            <a:solidFill>
              <a:srgbClr val="4A99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" y="3364992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The problem is in this process — just search here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6344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7316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🕸️ Distributed: Debugging Nightmare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754880" y="91440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047488" y="914400"/>
            <a:ext cx="859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035040" y="91440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8076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327648" y="914400"/>
            <a:ext cx="859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api-gw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315200" y="91440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6092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607808" y="914400"/>
            <a:ext cx="859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auth-svc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754880" y="146304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00600" y="146304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047488" y="1463040"/>
            <a:ext cx="859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order-svc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035040" y="146304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080760" y="146304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327648" y="1463040"/>
            <a:ext cx="859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payment-svc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7315200" y="146304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4A9B8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360920" y="146304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7607808" y="1463040"/>
            <a:ext cx="859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inventory-svc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754880" y="201168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8A807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600" y="20116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047488" y="2011680"/>
            <a:ext cx="859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email-svc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35040" y="201168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C4804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080760" y="20116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327648" y="2011680"/>
            <a:ext cx="859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7315200" y="201168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360920" y="20116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7607808" y="2011680"/>
            <a:ext cx="8595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274320" y="290779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" y="2953512"/>
            <a:ext cx="6675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 User says checkout is slow! Which service? Which function? Without tracing, you have to check logs on every service...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7132320" y="2980944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32320" y="3008376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 to find issue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7626096" y="2980944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26096" y="3008376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unfindable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274320" y="43434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7200" y="43891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In distributed systems, a single request may touch 10+ services — without Traces, you have no idea where the bottleneck is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Metrics: Numbers Tell You System Health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3/10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288036" cy="822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4297680" cy="804672"/>
          </a:xfrm>
          <a:prstGeom prst="roundRect">
            <a:avLst>
              <a:gd name="adj" fmla="val 9091"/>
            </a:avLst>
          </a:prstGeom>
          <a:solidFill>
            <a:srgbClr val="F5F1EB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6217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= Numeric Time-Series Data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5760" y="896112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(timestamp, metric_name, labels, value)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" y="1481328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service is running in production — but how do you know it's healthy?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1828800"/>
            <a:ext cx="393192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9525">
            <a:solidFill>
              <a:srgbClr val="D6CCB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1828800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📈 http_requests_total: 15,847 req (counter)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2267712"/>
            <a:ext cx="393192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9525">
            <a:solidFill>
              <a:srgbClr val="D6CCB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267712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⚡ api_response_p99_ms: 245ms (gauge)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2706624"/>
            <a:ext cx="393192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9525">
            <a:solidFill>
              <a:srgbClr val="D6CCB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270662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❌ http_error_rate: 0.03% (gauge)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3145536"/>
            <a:ext cx="393192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9525">
            <a:solidFill>
              <a:srgbClr val="D6CCB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3145536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💾 process_memory_bytes: 512MB (gauge)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4320" y="3630168"/>
            <a:ext cx="4297680" cy="566928"/>
          </a:xfrm>
          <a:prstGeom prst="roundRect">
            <a:avLst>
              <a:gd name="adj" fmla="val 12903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3630168"/>
            <a:ext cx="4069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Without Metrics, it's like driving without a dashboard — no speed, fuel, or engine status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0" y="685800"/>
            <a:ext cx="3840480" cy="2606040"/>
          </a:xfrm>
          <a:prstGeom prst="roundRect">
            <a:avLst>
              <a:gd name="adj" fmla="val 2807"/>
            </a:avLst>
          </a:prstGeom>
          <a:solidFill>
            <a:srgbClr val="F5F1EB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20640" y="749808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http_requests_total (rate/s)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166360" y="2651760"/>
            <a:ext cx="411480" cy="438912"/>
          </a:xfrm>
          <a:prstGeom prst="rect">
            <a:avLst/>
          </a:prstGeom>
          <a:solidFill>
            <a:srgbClr val="4A9968">
              <a:alpha val="60000"/>
            </a:srgbClr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96128" y="2468880"/>
            <a:ext cx="411480" cy="621792"/>
          </a:xfrm>
          <a:prstGeom prst="rect">
            <a:avLst/>
          </a:prstGeom>
          <a:solidFill>
            <a:srgbClr val="4A9968">
              <a:alpha val="60000"/>
            </a:srgbClr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25896" y="2286000"/>
            <a:ext cx="411480" cy="804672"/>
          </a:xfrm>
          <a:prstGeom prst="rect">
            <a:avLst/>
          </a:prstGeom>
          <a:solidFill>
            <a:srgbClr val="4A9968">
              <a:alpha val="60000"/>
            </a:srgbClr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55664" y="1828800"/>
            <a:ext cx="411480" cy="1261872"/>
          </a:xfrm>
          <a:prstGeom prst="rect">
            <a:avLst/>
          </a:prstGeom>
          <a:solidFill>
            <a:srgbClr val="B8892C">
              <a:alpha val="60000"/>
            </a:srgbClr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85432" y="1280160"/>
            <a:ext cx="411480" cy="1810512"/>
          </a:xfrm>
          <a:prstGeom prst="rect">
            <a:avLst/>
          </a:prstGeom>
          <a:solidFill>
            <a:srgbClr val="C4605B">
              <a:alpha val="60000"/>
            </a:srgbClr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15200" y="2011680"/>
            <a:ext cx="411480" cy="1078992"/>
          </a:xfrm>
          <a:prstGeom prst="rect">
            <a:avLst/>
          </a:prstGeom>
          <a:solidFill>
            <a:srgbClr val="B8892C">
              <a:alpha val="60000"/>
            </a:srgbClr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744968" y="2423160"/>
            <a:ext cx="411480" cy="667512"/>
          </a:xfrm>
          <a:prstGeom prst="rect">
            <a:avLst/>
          </a:prstGeom>
          <a:solidFill>
            <a:srgbClr val="4A9968">
              <a:alpha val="60000"/>
            </a:srgbClr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74736" y="2633472"/>
            <a:ext cx="256032" cy="457200"/>
          </a:xfrm>
          <a:prstGeom prst="rect">
            <a:avLst/>
          </a:prstGeom>
          <a:solidFill>
            <a:srgbClr val="4A9968">
              <a:alpha val="60000"/>
            </a:srgbClr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120640" y="3127248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→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029200" y="91440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req/s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937760" y="3456432"/>
            <a:ext cx="1207008" cy="749808"/>
          </a:xfrm>
          <a:prstGeom prst="roundRect">
            <a:avLst>
              <a:gd name="adj" fmla="val 8537"/>
            </a:avLst>
          </a:prstGeom>
          <a:solidFill>
            <a:srgbClr val="F5F1EB"/>
          </a:solidFill>
          <a:ln w="10160">
            <a:solidFill>
              <a:srgbClr val="4A7F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92624" y="34747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 Time-Series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992624" y="3703320"/>
            <a:ext cx="1097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Ordered by time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analysis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6291072" y="3456432"/>
            <a:ext cx="1207008" cy="749808"/>
          </a:xfrm>
          <a:prstGeom prst="roundRect">
            <a:avLst>
              <a:gd name="adj" fmla="val 8537"/>
            </a:avLst>
          </a:prstGeom>
          <a:solidFill>
            <a:srgbClr val="F5F1EB"/>
          </a:solidFill>
          <a:ln w="10160">
            <a:solidFill>
              <a:srgbClr val="4A7F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45936" y="34747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🏷️ Labels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345936" y="3703320"/>
            <a:ext cx="1097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service, env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version, region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7644384" y="3456432"/>
            <a:ext cx="1207008" cy="749808"/>
          </a:xfrm>
          <a:prstGeom prst="roundRect">
            <a:avLst>
              <a:gd name="adj" fmla="val 8537"/>
            </a:avLst>
          </a:prstGeom>
          <a:solidFill>
            <a:srgbClr val="F5F1EB"/>
          </a:solidFill>
          <a:ln w="10160">
            <a:solidFill>
              <a:srgbClr val="4A996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99248" y="34747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Efficient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699248" y="3703320"/>
            <a:ext cx="1097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= small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storage cost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274320" y="4498848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7200" y="454456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Metrics are not Logs — Metrics only store numbers, extremely low cost, suitable for long-term retention (1+ years is no problem)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Metric Data Types: Counter, Gauge, Histogram, Summary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114800" cy="2011680"/>
          </a:xfrm>
          <a:prstGeom prst="roundRect">
            <a:avLst>
              <a:gd name="adj" fmla="val 4545"/>
            </a:avLst>
          </a:prstGeom>
          <a:solidFill>
            <a:srgbClr val="F5F1EB"/>
          </a:solidFill>
          <a:ln w="15240">
            <a:solidFill>
              <a:srgbClr val="4A99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5836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Counter — Only Goes Up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91440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cases: Total requests, total errors, bytes transferred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11480" y="1133856"/>
            <a:ext cx="3657600" cy="292608"/>
          </a:xfrm>
          <a:prstGeom prst="roundRect">
            <a:avLst>
              <a:gd name="adj" fmla="val 15625"/>
            </a:avLst>
          </a:prstGeom>
          <a:solidFill>
            <a:srgbClr val="0D1117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133856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http_requests_total{method='GET',status='200'}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57200" y="14813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Counter alone is meaningless — use rate() to compute per-second rate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" y="2304288"/>
            <a:ext cx="320040" cy="9144"/>
          </a:xfrm>
          <a:prstGeom prst="line">
            <a:avLst/>
          </a:prstGeom>
          <a:noFill/>
          <a:ln w="19050">
            <a:solidFill>
              <a:srgbClr val="4A996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304288"/>
            <a:ext cx="9144" cy="155448"/>
          </a:xfrm>
          <a:prstGeom prst="line">
            <a:avLst/>
          </a:prstGeom>
          <a:noFill/>
          <a:ln w="19050">
            <a:solidFill>
              <a:srgbClr val="4A996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2148840"/>
            <a:ext cx="320040" cy="9144"/>
          </a:xfrm>
          <a:prstGeom prst="line">
            <a:avLst/>
          </a:prstGeom>
          <a:noFill/>
          <a:ln w="19050">
            <a:solidFill>
              <a:srgbClr val="4A99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43000" y="2148840"/>
            <a:ext cx="9144" cy="155448"/>
          </a:xfrm>
          <a:prstGeom prst="line">
            <a:avLst/>
          </a:prstGeom>
          <a:noFill/>
          <a:ln w="19050">
            <a:solidFill>
              <a:srgbClr val="4A99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43000" y="1993392"/>
            <a:ext cx="320040" cy="9144"/>
          </a:xfrm>
          <a:prstGeom prst="line">
            <a:avLst/>
          </a:prstGeom>
          <a:noFill/>
          <a:ln w="19050">
            <a:solidFill>
              <a:srgbClr val="4A996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63040" y="1993392"/>
            <a:ext cx="9144" cy="146304"/>
          </a:xfrm>
          <a:prstGeom prst="line">
            <a:avLst/>
          </a:prstGeom>
          <a:noFill/>
          <a:ln w="19050">
            <a:solidFill>
              <a:srgbClr val="4A996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63040" y="1847088"/>
            <a:ext cx="320040" cy="9144"/>
          </a:xfrm>
          <a:prstGeom prst="line">
            <a:avLst/>
          </a:prstGeom>
          <a:noFill/>
          <a:ln w="19050">
            <a:solidFill>
              <a:srgbClr val="4A996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83080" y="1847088"/>
            <a:ext cx="9144" cy="128016"/>
          </a:xfrm>
          <a:prstGeom prst="line">
            <a:avLst/>
          </a:prstGeom>
          <a:noFill/>
          <a:ln w="19050">
            <a:solidFill>
              <a:srgbClr val="4A99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54880" y="594360"/>
            <a:ext cx="4114800" cy="2011680"/>
          </a:xfrm>
          <a:prstGeom prst="roundRect">
            <a:avLst>
              <a:gd name="adj" fmla="val 4545"/>
            </a:avLst>
          </a:prstGeom>
          <a:solidFill>
            <a:srgbClr val="F5F1EB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37760" y="65836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Gauge — Goes Up and Down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937760" y="91440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cases: Active connections, memory usage, queue depth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892040" y="1133856"/>
            <a:ext cx="3657600" cy="292608"/>
          </a:xfrm>
          <a:prstGeom prst="roundRect">
            <a:avLst>
              <a:gd name="adj" fmla="val 15625"/>
            </a:avLst>
          </a:prstGeom>
          <a:solidFill>
            <a:srgbClr val="0D1117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83480" y="1133856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process_resident_memory_bytes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937760" y="14813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value directly — no rate() needed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937760" y="2029968"/>
            <a:ext cx="228600" cy="146304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66360" y="2029968"/>
            <a:ext cx="228600" cy="237744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94960" y="1993392"/>
            <a:ext cx="228600" cy="27432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23560" y="1993392"/>
            <a:ext cx="228600" cy="219456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852160" y="2057400"/>
            <a:ext cx="228600" cy="155448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80760" y="2057400"/>
            <a:ext cx="228600" cy="246888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74320" y="2761488"/>
            <a:ext cx="4114800" cy="2011680"/>
          </a:xfrm>
          <a:prstGeom prst="roundRect">
            <a:avLst>
              <a:gd name="adj" fmla="val 4545"/>
            </a:avLst>
          </a:prstGeom>
          <a:solidFill>
            <a:srgbClr val="F5F1EB"/>
          </a:solidFill>
          <a:ln w="15240">
            <a:solidFill>
              <a:srgbClr val="B8892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281635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Histogram — Bucketed Distribution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7200" y="3072384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cases: Request latency and response size distribution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57200" y="329184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Buckets: _le=0.1, _le=0.5, _le=1.0, _le=+Inf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57200" y="3493008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histogram_quantile(0.99, ...) to compute P99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57200" y="3730752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quantile computation — most flexible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754880" y="2761488"/>
            <a:ext cx="4114800" cy="2011680"/>
          </a:xfrm>
          <a:prstGeom prst="roundRect">
            <a:avLst>
              <a:gd name="adj" fmla="val 4545"/>
            </a:avLst>
          </a:prstGeom>
          <a:solidFill>
            <a:srgbClr val="F5F1EB"/>
          </a:solidFill>
          <a:ln w="15240">
            <a:solidFill>
              <a:srgbClr val="8B6A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37760" y="281635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Summary — Client-Side Quantiles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937760" y="3072384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cases: When precise quantiles needed, low data volume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4937760" y="329184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outputs P50, P90, P99 quantiles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937760" y="3493008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Cannot aggregate across instances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937760" y="3730752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Histogram in most cases; Summary is rarely used now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vs Pull: Fundamental Collection Mode Differences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0" y="530352"/>
            <a:ext cx="9144" cy="4434840"/>
          </a:xfrm>
          <a:prstGeom prst="line">
            <a:avLst/>
          </a:prstGeom>
          <a:noFill/>
          <a:ln w="6350">
            <a:solidFill>
              <a:srgbClr val="D6CC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62179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⬇️ Pull Mode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914400"/>
            <a:ext cx="6766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A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:8080/metrics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417320" y="91440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6304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709928" y="914400"/>
            <a:ext cx="6766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B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:8080/metrics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68880" y="91440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1460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61488" y="914400"/>
            <a:ext cx="6766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:8080/metrics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68680" y="1417320"/>
            <a:ext cx="9144" cy="347472"/>
          </a:xfrm>
          <a:prstGeom prst="line">
            <a:avLst/>
          </a:prstGeom>
          <a:noFill/>
          <a:ln w="19050">
            <a:solidFill>
              <a:srgbClr val="4A9968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1920240" y="1417320"/>
            <a:ext cx="9144" cy="347472"/>
          </a:xfrm>
          <a:prstGeom prst="line">
            <a:avLst/>
          </a:prstGeom>
          <a:noFill/>
          <a:ln w="19050">
            <a:solidFill>
              <a:srgbClr val="4A9968"/>
            </a:solidFill>
            <a:prstDash val="solid"/>
            <a:tailEnd type="arrow"/>
          </a:ln>
        </p:spPr>
      </p:sp>
      <p:sp>
        <p:nvSpPr>
          <p:cNvPr id="19" name="Shape 17"/>
          <p:cNvSpPr/>
          <p:nvPr/>
        </p:nvSpPr>
        <p:spPr>
          <a:xfrm>
            <a:off x="2971800" y="1417320"/>
            <a:ext cx="9144" cy="347472"/>
          </a:xfrm>
          <a:prstGeom prst="line">
            <a:avLst/>
          </a:prstGeom>
          <a:noFill/>
          <a:ln w="19050">
            <a:solidFill>
              <a:srgbClr val="4A9968"/>
            </a:solidFill>
            <a:prstDash val="solid"/>
            <a:tailEnd type="arrow"/>
          </a:ln>
        </p:spPr>
      </p:sp>
      <p:sp>
        <p:nvSpPr>
          <p:cNvPr id="20" name="Shape 18"/>
          <p:cNvSpPr/>
          <p:nvPr/>
        </p:nvSpPr>
        <p:spPr>
          <a:xfrm>
            <a:off x="457200" y="1783080"/>
            <a:ext cx="2560320" cy="804672"/>
          </a:xfrm>
          <a:prstGeom prst="roundRect">
            <a:avLst>
              <a:gd name="adj" fmla="val 11364"/>
            </a:avLst>
          </a:prstGeom>
          <a:solidFill>
            <a:srgbClr val="F5F1EB"/>
          </a:solidFill>
          <a:ln w="19050">
            <a:solidFill>
              <a:srgbClr val="4A7FB5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7200" y="1837944"/>
            <a:ext cx="2560320" cy="3701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12064" y="2201509"/>
            <a:ext cx="24505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93776" y="2430109"/>
            <a:ext cx="2487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Actively scrapes every 15s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65760" y="2724912"/>
            <a:ext cx="365760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0160">
            <a:solidFill>
              <a:srgbClr val="4A99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2724912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Collector controls scrape timing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" y="3163824"/>
            <a:ext cx="365760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0160">
            <a:solidFill>
              <a:srgbClr val="4A99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3163824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Detects service down immediately (scrape fails)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5760" y="3602736"/>
            <a:ext cx="365760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0160">
            <a:solidFill>
              <a:srgbClr val="B8892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2920" y="3602736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Services must expose HTTP /metrics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760" y="4041648"/>
            <a:ext cx="365760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0160">
            <a:solidFill>
              <a:srgbClr val="B8892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4041648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Short-lived batch jobs may be missed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46320" y="62179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⬆️ Push Mode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846320" y="91440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9204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138928" y="914400"/>
            <a:ext cx="6766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A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806440" y="91440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85216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099048" y="914400"/>
            <a:ext cx="6766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B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766560" y="91440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1228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7059168" y="914400"/>
            <a:ext cx="6766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349240" y="1417320"/>
            <a:ext cx="9144" cy="384048"/>
          </a:xfrm>
          <a:prstGeom prst="line">
            <a:avLst/>
          </a:prstGeom>
          <a:noFill/>
          <a:ln w="19050">
            <a:solidFill>
              <a:srgbClr val="B8892C"/>
            </a:solidFill>
            <a:prstDash val="solid"/>
            <a:tailEnd type="arrow"/>
          </a:ln>
        </p:spPr>
      </p:sp>
      <p:sp>
        <p:nvSpPr>
          <p:cNvPr id="43" name="Shape 41"/>
          <p:cNvSpPr/>
          <p:nvPr/>
        </p:nvSpPr>
        <p:spPr>
          <a:xfrm>
            <a:off x="6309360" y="1417320"/>
            <a:ext cx="9144" cy="384048"/>
          </a:xfrm>
          <a:prstGeom prst="line">
            <a:avLst/>
          </a:prstGeom>
          <a:noFill/>
          <a:ln w="19050">
            <a:solidFill>
              <a:srgbClr val="B8892C"/>
            </a:solidFill>
            <a:prstDash val="solid"/>
            <a:tailEnd type="arrow"/>
          </a:ln>
        </p:spPr>
      </p:sp>
      <p:sp>
        <p:nvSpPr>
          <p:cNvPr id="44" name="Shape 42"/>
          <p:cNvSpPr/>
          <p:nvPr/>
        </p:nvSpPr>
        <p:spPr>
          <a:xfrm>
            <a:off x="7269480" y="1417320"/>
            <a:ext cx="9144" cy="384048"/>
          </a:xfrm>
          <a:prstGeom prst="line">
            <a:avLst/>
          </a:prstGeom>
          <a:noFill/>
          <a:ln w="19050">
            <a:solidFill>
              <a:srgbClr val="B8892C"/>
            </a:solidFill>
            <a:prstDash val="solid"/>
            <a:tailEnd type="arrow"/>
          </a:ln>
        </p:spPr>
      </p:sp>
      <p:sp>
        <p:nvSpPr>
          <p:cNvPr id="45" name="Shape 43"/>
          <p:cNvSpPr/>
          <p:nvPr/>
        </p:nvSpPr>
        <p:spPr>
          <a:xfrm>
            <a:off x="5577840" y="1828800"/>
            <a:ext cx="2103120" cy="804672"/>
          </a:xfrm>
          <a:prstGeom prst="roundRect">
            <a:avLst>
              <a:gd name="adj" fmla="val 11364"/>
            </a:avLst>
          </a:prstGeom>
          <a:solidFill>
            <a:srgbClr val="F5F1EB"/>
          </a:solidFill>
          <a:ln w="19050">
            <a:solidFill>
              <a:srgbClr val="B8892C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5577840" y="1883664"/>
            <a:ext cx="2103120" cy="3701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5632704" y="2247229"/>
            <a:ext cx="19933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Collector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5614416" y="2475829"/>
            <a:ext cx="20299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StatsD / CloudWatch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 OTLP Receiver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4846320" y="2724912"/>
            <a:ext cx="365760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0160">
            <a:solidFill>
              <a:srgbClr val="4A996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83480" y="2724912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Ideal for short-lived Batch/Cron Jobs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846320" y="3163824"/>
            <a:ext cx="365760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0160">
            <a:solidFill>
              <a:srgbClr val="4A996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983480" y="3163824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Can traverse NAT and firewalls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846320" y="3602736"/>
            <a:ext cx="365760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0160">
            <a:solidFill>
              <a:srgbClr val="B8892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83480" y="3602736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Collector becomes the traffic sink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846320" y="4041648"/>
            <a:ext cx="365760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0160">
            <a:solidFill>
              <a:srgbClr val="B8892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83480" y="4041648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Hard to detect when a service is down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274320" y="46634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7200" y="47091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In Kubernetes, Pull (Prometheus) is the go-to — K8s service discovery lets Prometheus automatically find all Pods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Architecture Deep Dive: Pull Mode in Action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713232"/>
            <a:ext cx="1554480" cy="1371600"/>
          </a:xfrm>
          <a:prstGeom prst="roundRect">
            <a:avLst>
              <a:gd name="adj" fmla="val 6667"/>
            </a:avLst>
          </a:prstGeom>
          <a:solidFill>
            <a:srgbClr val="F5F1EB"/>
          </a:solidFill>
          <a:ln w="19050">
            <a:solidFill>
              <a:srgbClr val="5A9B6E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2880" y="768096"/>
            <a:ext cx="155448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37744" y="1426464"/>
            <a:ext cx="14447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Service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19456" y="1655064"/>
            <a:ext cx="14813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/metrics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82880" y="2121408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/metrics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http_req_total 1024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http_duration_sum 5.2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828800" y="1463040"/>
            <a:ext cx="731520" cy="9144"/>
          </a:xfrm>
          <a:prstGeom prst="line">
            <a:avLst/>
          </a:prstGeom>
          <a:noFill/>
          <a:ln w="19050">
            <a:solidFill>
              <a:srgbClr val="4A9968"/>
            </a:solidFill>
            <a:prstDash val="solid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1883664" y="1289304"/>
            <a:ext cx="621792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4A996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83664" y="1289304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A99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scrape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4A99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 15s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2651760" y="713232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F5F1EB"/>
          </a:solidFill>
          <a:ln w="19050">
            <a:solidFill>
              <a:srgbClr val="4A9968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651760" y="768096"/>
            <a:ext cx="201168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2706624" y="1426464"/>
            <a:ext cx="19019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688336" y="1655064"/>
            <a:ext cx="19385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TSDB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Evaluator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754880" y="1463040"/>
            <a:ext cx="640080" cy="9144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  <a:tailEnd type="arrow"/>
          </a:ln>
        </p:spPr>
      </p:sp>
      <p:sp>
        <p:nvSpPr>
          <p:cNvPr id="19" name="Shape 17"/>
          <p:cNvSpPr/>
          <p:nvPr/>
        </p:nvSpPr>
        <p:spPr>
          <a:xfrm>
            <a:off x="4800600" y="1289304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1289304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A7F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4A7F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PromQL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5486400" y="713232"/>
            <a:ext cx="1371600" cy="640080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9050">
            <a:solidFill>
              <a:srgbClr val="4A7FB5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486400" y="768096"/>
            <a:ext cx="1371600" cy="29443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5541264" y="1046074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522976" y="1274674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Dashboard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611880" y="2148840"/>
            <a:ext cx="9144" cy="411480"/>
          </a:xfrm>
          <a:prstGeom prst="line">
            <a:avLst/>
          </a:prstGeom>
          <a:noFill/>
          <a:ln w="19050">
            <a:solidFill>
              <a:srgbClr val="C4605B"/>
            </a:solidFill>
            <a:prstDash val="solid"/>
            <a:tailEnd type="arrow"/>
          </a:ln>
        </p:spPr>
      </p:sp>
      <p:sp>
        <p:nvSpPr>
          <p:cNvPr id="26" name="Shape 24"/>
          <p:cNvSpPr/>
          <p:nvPr/>
        </p:nvSpPr>
        <p:spPr>
          <a:xfrm>
            <a:off x="2651760" y="2606040"/>
            <a:ext cx="2011680" cy="68580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9050">
            <a:solidFill>
              <a:srgbClr val="C4605B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2651760" y="2660904"/>
            <a:ext cx="201168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🔔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2706624" y="2962656"/>
            <a:ext cx="19019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AlertManager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688336" y="3191256"/>
            <a:ext cx="19385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Slack/PagerDuty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754880" y="3044952"/>
            <a:ext cx="640080" cy="9144"/>
          </a:xfrm>
          <a:prstGeom prst="line">
            <a:avLst/>
          </a:prstGeom>
          <a:noFill/>
          <a:ln w="19050">
            <a:solidFill>
              <a:srgbClr val="C4605B"/>
            </a:solidFill>
            <a:prstDash val="solid"/>
            <a:tailEnd type="arrow"/>
          </a:ln>
        </p:spPr>
      </p:sp>
      <p:sp>
        <p:nvSpPr>
          <p:cNvPr id="31" name="Shape 29"/>
          <p:cNvSpPr/>
          <p:nvPr/>
        </p:nvSpPr>
        <p:spPr>
          <a:xfrm>
            <a:off x="4800600" y="2871216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C4605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287121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C460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notify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5486400" y="2606040"/>
            <a:ext cx="1371600" cy="68580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9050">
            <a:solidFill>
              <a:srgbClr val="B8892C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5486400" y="2660904"/>
            <a:ext cx="137160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📱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5541264" y="2962656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On-Call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522976" y="3191256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PagerDuty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274320" y="3310128"/>
            <a:ext cx="8595360" cy="1554480"/>
          </a:xfrm>
          <a:prstGeom prst="roundRect">
            <a:avLst>
              <a:gd name="adj" fmla="val 5882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blurRad="127000" dist="508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365760" y="316382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84048" y="316382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prometheus.yml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02336" y="3419856"/>
            <a:ext cx="833932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global: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scrape_interval: 15s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evaluation_interval: 15s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scrape_configs: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job_name: 'api-service'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static_configs: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targets: ['api-01:8080', 'api-02:8080']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job_name: 'kubernetes-pods'  # K8s auto service discovery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kubernetes_sd_configs: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role: pod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relabel_configs: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source_labels: [__meta_kubernetes_pod_annotation_prometheus_io_scrape]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action: keep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regex: true</a:t>
            </a:r>
            <a:endParaRPr lang="en-US" sz="9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B8E"/>
          </a:solidFill>
          <a:ln w="12700">
            <a:solidFill>
              <a:srgbClr val="4A9B8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+ Prometheus: Auto Service Discovery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572000" cy="4114800"/>
          </a:xfrm>
          <a:prstGeom prst="roundRect">
            <a:avLst>
              <a:gd name="adj" fmla="val 2222"/>
            </a:avLst>
          </a:prstGeom>
          <a:ln w="12700">
            <a:solidFill>
              <a:srgbClr val="4A9B8E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36576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FFFDF8"/>
          </a:solidFill>
          <a:ln w="6350">
            <a:solidFill>
              <a:srgbClr val="4A9B8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A9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Cluster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502920" y="914400"/>
            <a:ext cx="1828800" cy="960120"/>
          </a:xfrm>
          <a:prstGeom prst="roundRect">
            <a:avLst>
              <a:gd name="adj" fmla="val 9524"/>
            </a:avLst>
          </a:prstGeom>
          <a:solidFill>
            <a:srgbClr val="F5F1EB"/>
          </a:solidFill>
          <a:ln w="19050">
            <a:solidFill>
              <a:srgbClr val="5A9B6E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02920" y="969264"/>
            <a:ext cx="182880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57784" y="1413662"/>
            <a:ext cx="17190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api-pod-1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39496" y="1642262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annotation: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prometheus.io/scrape: true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prometheus.io/port: 8080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514600" y="914400"/>
            <a:ext cx="1828800" cy="960120"/>
          </a:xfrm>
          <a:prstGeom prst="roundRect">
            <a:avLst>
              <a:gd name="adj" fmla="val 9524"/>
            </a:avLst>
          </a:prstGeom>
          <a:solidFill>
            <a:srgbClr val="F5F1EB"/>
          </a:solidFill>
          <a:ln w="19050">
            <a:solidFill>
              <a:srgbClr val="5A9B6E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514600" y="969264"/>
            <a:ext cx="182880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569464" y="1413662"/>
            <a:ext cx="17190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api-pod-2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551176" y="1642262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same annotation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02920" y="2029968"/>
            <a:ext cx="1828800" cy="960120"/>
          </a:xfrm>
          <a:prstGeom prst="roundRect">
            <a:avLst>
              <a:gd name="adj" fmla="val 9524"/>
            </a:avLst>
          </a:prstGeom>
          <a:solidFill>
            <a:srgbClr val="F5F1EB"/>
          </a:solidFill>
          <a:ln w="19050">
            <a:solidFill>
              <a:srgbClr val="4A9968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02920" y="2084832"/>
            <a:ext cx="182880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57784" y="2529230"/>
            <a:ext cx="17190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(Deployment)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39496" y="2757830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watches K8s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606040" y="2240280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02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898648" y="2240280"/>
            <a:ext cx="13624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API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377440" y="2624328"/>
            <a:ext cx="201168" cy="9144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2203704" y="2450592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203704" y="245059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A7F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 pods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1417320" y="1463040"/>
            <a:ext cx="9144" cy="566928"/>
          </a:xfrm>
          <a:prstGeom prst="line">
            <a:avLst/>
          </a:prstGeom>
          <a:noFill/>
          <a:ln w="19050">
            <a:solidFill>
              <a:srgbClr val="4A9968"/>
            </a:solidFill>
            <a:prstDash val="solid"/>
            <a:tailEnd type="arrow"/>
          </a:ln>
        </p:spPr>
      </p:sp>
      <p:sp>
        <p:nvSpPr>
          <p:cNvPr id="28" name="Text 26"/>
          <p:cNvSpPr/>
          <p:nvPr/>
        </p:nvSpPr>
        <p:spPr>
          <a:xfrm>
            <a:off x="5303520" y="658368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of Auto-Discovery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257800" y="1005840"/>
            <a:ext cx="3520440" cy="502920"/>
          </a:xfrm>
          <a:prstGeom prst="roundRect">
            <a:avLst>
              <a:gd name="adj" fmla="val 12727"/>
            </a:avLst>
          </a:prstGeom>
          <a:solidFill>
            <a:srgbClr val="F5F1EB"/>
          </a:solidFill>
          <a:ln w="10160">
            <a:solidFill>
              <a:srgbClr val="4A996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394960" y="100584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New Pod starts → automatically added to monitoring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257800" y="1572768"/>
            <a:ext cx="3520440" cy="502920"/>
          </a:xfrm>
          <a:prstGeom prst="roundRect">
            <a:avLst>
              <a:gd name="adj" fmla="val 12727"/>
            </a:avLst>
          </a:prstGeom>
          <a:solidFill>
            <a:srgbClr val="F5F1EB"/>
          </a:solidFill>
          <a:ln w="10160">
            <a:solidFill>
              <a:srgbClr val="4A996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394960" y="1572768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🗑️ Pod deleted → automatically removed, no stale targets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257800" y="2139696"/>
            <a:ext cx="3520440" cy="502920"/>
          </a:xfrm>
          <a:prstGeom prst="roundRect">
            <a:avLst>
              <a:gd name="adj" fmla="val 12727"/>
            </a:avLst>
          </a:prstGeom>
          <a:solidFill>
            <a:srgbClr val="F5F1EB"/>
          </a:solidFill>
          <a:ln w="10160">
            <a:solidFill>
              <a:srgbClr val="4A996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394960" y="2139696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Scale out ×10 → Prometheus discovers all automatically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257800" y="2706624"/>
            <a:ext cx="3520440" cy="502920"/>
          </a:xfrm>
          <a:prstGeom prst="roundRect">
            <a:avLst>
              <a:gd name="adj" fmla="val 12727"/>
            </a:avLst>
          </a:prstGeom>
          <a:solidFill>
            <a:srgbClr val="F5F1EB"/>
          </a:solidFill>
          <a:ln w="10160">
            <a:solidFill>
              <a:srgbClr val="4A996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394960" y="2706624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0️⃣ No manual edits to prometheus.yml needed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257800" y="3017520"/>
            <a:ext cx="3520440" cy="1691640"/>
          </a:xfrm>
          <a:prstGeom prst="roundRect">
            <a:avLst>
              <a:gd name="adj" fmla="val 5405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blurRad="127000" dist="508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5349240" y="287121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367528" y="287121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pod annotation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385816" y="3127248"/>
            <a:ext cx="3264408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Add annotation to Pod spec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metadata: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annotations: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prometheus.io/scrape: 'true'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prometheus.io/path: '/metrics'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prometheus.io/port: '8080'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Prometheus auto-discovers all Pods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with this annotation</a:t>
            </a:r>
            <a:endParaRPr lang="en-US" sz="9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Mode in Practice: StatsD, Pushgateway, OTLP Collector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66928"/>
            <a:ext cx="2865120" cy="3986784"/>
          </a:xfrm>
          <a:prstGeom prst="roundRect">
            <a:avLst>
              <a:gd name="adj" fmla="val 3191"/>
            </a:avLst>
          </a:prstGeom>
          <a:solidFill>
            <a:srgbClr val="F5F1EB"/>
          </a:solidFill>
          <a:ln w="15240">
            <a:solidFill>
              <a:srgbClr val="B8892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66928"/>
            <a:ext cx="2865120" cy="475488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📡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StatsD (UDP Push)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79576"/>
            <a:ext cx="109728" cy="109728"/>
          </a:xfrm>
          <a:prstGeom prst="ellipse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UDP fire-and-forget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7548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Non-blocking for application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10896" y="1581912"/>
            <a:ext cx="109728" cy="109728"/>
          </a:xfrm>
          <a:prstGeom prst="ellipse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library is extremely simple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10896" y="1984248"/>
            <a:ext cx="109728" cy="109728"/>
          </a:xfrm>
          <a:prstGeom prst="ellipse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statsd.increment('orders.created')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0896" y="2386584"/>
            <a:ext cx="109728" cy="109728"/>
          </a:xfrm>
          <a:prstGeom prst="ellipse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High-frequency counters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10896" y="2788920"/>
            <a:ext cx="109728" cy="109728"/>
          </a:xfrm>
          <a:prstGeom prst="ellipse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DogStatsD supports Tags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10896" y="3191256"/>
            <a:ext cx="109728" cy="109728"/>
          </a:xfrm>
          <a:prstGeom prst="ellipse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" y="312724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 Graphite / Prometheus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139440" y="566928"/>
            <a:ext cx="2865120" cy="3986784"/>
          </a:xfrm>
          <a:prstGeom prst="roundRect">
            <a:avLst>
              <a:gd name="adj" fmla="val 3191"/>
            </a:avLst>
          </a:prstGeom>
          <a:solidFill>
            <a:srgbClr val="F5F1EB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39440" y="566928"/>
            <a:ext cx="2865120" cy="475488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13944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356006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Pushgateway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267456" y="1179576"/>
            <a:ext cx="109728" cy="109728"/>
          </a:xfrm>
          <a:prstGeom prst="ellipse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3204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Prometheus relay station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267456" y="1581912"/>
            <a:ext cx="109728" cy="109728"/>
          </a:xfrm>
          <a:prstGeom prst="ellipse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3204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case: Batch Job / Cron Job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67456" y="1984248"/>
            <a:ext cx="109728" cy="109728"/>
          </a:xfrm>
          <a:prstGeom prst="ellipse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3204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done → push → Prometheus scrapes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267456" y="2386584"/>
            <a:ext cx="109728" cy="109728"/>
          </a:xfrm>
          <a:prstGeom prst="ellipse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3204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Not suitable for long-running services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267456" y="2788920"/>
            <a:ext cx="109728" cy="109728"/>
          </a:xfrm>
          <a:prstGeom prst="ellipse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3204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No automatic TTL cleanup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267456" y="3191256"/>
            <a:ext cx="109728" cy="109728"/>
          </a:xfrm>
          <a:prstGeom prst="ellipse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32048" y="312724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Preserves K8s Job completion metrics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096000" y="566928"/>
            <a:ext cx="2865120" cy="3986784"/>
          </a:xfrm>
          <a:prstGeom prst="roundRect">
            <a:avLst>
              <a:gd name="adj" fmla="val 3191"/>
            </a:avLst>
          </a:prstGeom>
          <a:solidFill>
            <a:srgbClr val="F5F1EB"/>
          </a:solidFill>
          <a:ln w="15240">
            <a:solidFill>
              <a:srgbClr val="4A9B8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096000" y="566928"/>
            <a:ext cx="2865120" cy="475488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9600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🏗️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651662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9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OTLP Collector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224016" y="1179576"/>
            <a:ext cx="109728" cy="109728"/>
          </a:xfrm>
          <a:prstGeom prst="ellipse">
            <a:avLst/>
          </a:prstGeom>
          <a:solidFill>
            <a:srgbClr val="4A9B8E"/>
          </a:solidFill>
          <a:ln w="12700">
            <a:solidFill>
              <a:srgbClr val="4A9B8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8860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unified pipeline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224016" y="1581912"/>
            <a:ext cx="109728" cy="109728"/>
          </a:xfrm>
          <a:prstGeom prst="ellipse">
            <a:avLst/>
          </a:prstGeom>
          <a:solidFill>
            <a:srgbClr val="4A9B8E"/>
          </a:solidFill>
          <a:ln w="12700">
            <a:solidFill>
              <a:srgbClr val="4A9B8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8860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Metrics/Logs/Traces simultaneously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224016" y="1984248"/>
            <a:ext cx="109728" cy="109728"/>
          </a:xfrm>
          <a:prstGeom prst="ellipse">
            <a:avLst/>
          </a:prstGeom>
          <a:solidFill>
            <a:srgbClr val="4A9B8E"/>
          </a:solidFill>
          <a:ln w="12700">
            <a:solidFill>
              <a:srgbClr val="4A9B8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8860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Receivers: OTLP, Prometheus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224016" y="2386584"/>
            <a:ext cx="109728" cy="109728"/>
          </a:xfrm>
          <a:prstGeom prst="ellipse">
            <a:avLst/>
          </a:prstGeom>
          <a:solidFill>
            <a:srgbClr val="4A9B8E"/>
          </a:solidFill>
          <a:ln w="12700">
            <a:solidFill>
              <a:srgbClr val="4A9B8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8860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Exporters: Prometheus, Jaeger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224016" y="2788920"/>
            <a:ext cx="109728" cy="109728"/>
          </a:xfrm>
          <a:prstGeom prst="ellipse">
            <a:avLst/>
          </a:prstGeom>
          <a:solidFill>
            <a:srgbClr val="4A9B8E"/>
          </a:solidFill>
          <a:ln w="12700">
            <a:solidFill>
              <a:srgbClr val="4A9B8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8860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as Sidecar or DaemonSet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6224016" y="3191256"/>
            <a:ext cx="109728" cy="109728"/>
          </a:xfrm>
          <a:prstGeom prst="ellipse">
            <a:avLst/>
          </a:prstGeom>
          <a:solidFill>
            <a:srgbClr val="4A9B8E"/>
          </a:solidFill>
          <a:ln w="12700">
            <a:solidFill>
              <a:srgbClr val="4A9B8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88608" y="312724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future standard — recommended adoption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StatsD UDP is the lightest push mode — even if the collector is down, the app is unaffected; ideal for critical hot paths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PromQL: Prometheus Query Language in Practice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8595360" cy="4224528"/>
          </a:xfrm>
          <a:prstGeom prst="roundRect">
            <a:avLst>
              <a:gd name="adj" fmla="val 2165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blurRad="127000" dist="508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PromQL Examples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02336" y="704088"/>
            <a:ext cx="8339328" cy="4041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Counter Rate — HTTP requests per second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rate(http_requests_total[5m])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Error rate grouped by status code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 by(status) (rate(http_requests_total[5m]))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P99 Latency — most common SLO metric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histogram_quantile(0.99,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rate(http_request_duration_seconds_bucket[5m])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Error rate (5xx / total)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sum(rate(http_requests_total{status=~'5..'}[5m]))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 sum(rate(http_requests_total[5m])) * 100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5. Recording Rule — pre-compute complex queries (in prometheus.yml)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record: job:http_error_rate:ratio5m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expr: |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sum(rate(http_requests_total{status=~'5..'}[5m]))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 sum(rate(http_requests_total[5m]))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6. Aggregate across K8s Pods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 by(namespace, deployment) (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rate(http_requests_total[5m])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491947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9651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Recording Rules are a performance key — pre-compute complex PromQL and store the result; Grafana queries become 10x faster</a:t>
            </a:r>
            <a:endParaRPr lang="en-US" sz="10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Methodologies: USE, RED, Four Golden Signals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2697480" cy="4224528"/>
          </a:xfrm>
          <a:prstGeom prst="roundRect">
            <a:avLst>
              <a:gd name="adj" fmla="val 3390"/>
            </a:avLst>
          </a:prstGeom>
          <a:solidFill>
            <a:srgbClr val="F5F1EB"/>
          </a:solidFill>
          <a:ln w="15240">
            <a:solidFill>
              <a:srgbClr val="C480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658368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48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USE Method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914400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Infrastructure resources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84048" y="1133856"/>
            <a:ext cx="2478024" cy="640080"/>
          </a:xfrm>
          <a:prstGeom prst="roundRect">
            <a:avLst>
              <a:gd name="adj" fmla="val 1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152144"/>
            <a:ext cx="2331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— Utilization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353312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usage rate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CPU: 75%, Disk: 60%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84048" y="1847088"/>
            <a:ext cx="2478024" cy="640080"/>
          </a:xfrm>
          <a:prstGeom prst="roundRect">
            <a:avLst>
              <a:gd name="adj" fmla="val 1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865376"/>
            <a:ext cx="2331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— Saturation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2066544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saturation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Average, Queue depth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84048" y="2560320"/>
            <a:ext cx="2478024" cy="640080"/>
          </a:xfrm>
          <a:prstGeom prst="roundRect">
            <a:avLst>
              <a:gd name="adj" fmla="val 1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578608"/>
            <a:ext cx="2331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— Errors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2779776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rate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 IO errors, NIC drops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65760" y="4224528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Is this resource overloaded?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54680" y="594360"/>
            <a:ext cx="2697480" cy="4224528"/>
          </a:xfrm>
          <a:prstGeom prst="roundRect">
            <a:avLst>
              <a:gd name="adj" fmla="val 3390"/>
            </a:avLst>
          </a:prstGeom>
          <a:solidFill>
            <a:srgbClr val="F5F1EB"/>
          </a:solidFill>
          <a:ln w="15240">
            <a:solidFill>
              <a:srgbClr val="5A9B6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46120" y="658368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A9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RED Method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246120" y="914400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Microservice APIs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64408" y="1133856"/>
            <a:ext cx="2478024" cy="640080"/>
          </a:xfrm>
          <a:prstGeom prst="roundRect">
            <a:avLst>
              <a:gd name="adj" fmla="val 1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1152144"/>
            <a:ext cx="2331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— Rate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337560" y="1353312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per second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req/s, RPC/s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264408" y="1847088"/>
            <a:ext cx="2478024" cy="640080"/>
          </a:xfrm>
          <a:prstGeom prst="roundRect">
            <a:avLst>
              <a:gd name="adj" fmla="val 1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37560" y="1865376"/>
            <a:ext cx="2331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— Errors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337560" y="2066544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rate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5xx%, failed RPC %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264408" y="2560320"/>
            <a:ext cx="2478024" cy="640080"/>
          </a:xfrm>
          <a:prstGeom prst="roundRect">
            <a:avLst>
              <a:gd name="adj" fmla="val 1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37560" y="2578608"/>
            <a:ext cx="2331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— Duration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337560" y="2779776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distribution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P50/P95/P99 latency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3246120" y="4224528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How is this service performing?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35040" y="594360"/>
            <a:ext cx="2743200" cy="4224528"/>
          </a:xfrm>
          <a:prstGeom prst="roundRect">
            <a:avLst>
              <a:gd name="adj" fmla="val 3333"/>
            </a:avLst>
          </a:prstGeom>
          <a:solidFill>
            <a:srgbClr val="F5F1EB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26480" y="65836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Four Golden Signals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126480" y="914400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SRE Book — Most important to users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144768" y="1133856"/>
            <a:ext cx="2523744" cy="640080"/>
          </a:xfrm>
          <a:prstGeom prst="roundRect">
            <a:avLst>
              <a:gd name="adj" fmla="val 1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17920" y="1152144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217920" y="135331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request vs bad request latency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6144768" y="1847088"/>
            <a:ext cx="2523744" cy="640080"/>
          </a:xfrm>
          <a:prstGeom prst="roundRect">
            <a:avLst>
              <a:gd name="adj" fmla="val 1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17920" y="1865376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217920" y="2066544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demand in req/s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144768" y="2560320"/>
            <a:ext cx="2523744" cy="640080"/>
          </a:xfrm>
          <a:prstGeom prst="roundRect">
            <a:avLst>
              <a:gd name="adj" fmla="val 1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217920" y="2578608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217920" y="2779776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request ratio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6144768" y="3273552"/>
            <a:ext cx="2523744" cy="640080"/>
          </a:xfrm>
          <a:prstGeom prst="roundRect">
            <a:avLst>
              <a:gd name="adj" fmla="val 1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17920" y="329184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Saturation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217920" y="3493008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saturation (most constrained resource)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6126480" y="422452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How is the user experience?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74320" y="491947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7200" y="49651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Start new services with the RED method — Rate + Errors + Duration, three metrics that reveal 80% of problems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Dashboard Design: Let the Data Speak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3931920" cy="365760"/>
          </a:xfrm>
          <a:prstGeom prst="roundRect">
            <a:avLst>
              <a:gd name="adj" fmla="val 20000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Design Principles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005840"/>
            <a:ext cx="3657600" cy="411480"/>
          </a:xfrm>
          <a:prstGeom prst="roundRect">
            <a:avLst>
              <a:gd name="adj" fmla="val 15556"/>
            </a:avLst>
          </a:prstGeom>
          <a:solidFill>
            <a:srgbClr val="F5F1EB"/>
          </a:solidFill>
          <a:ln w="10160">
            <a:solidFill>
              <a:srgbClr val="4A996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0584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One Dashboard = one service/system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481328"/>
            <a:ext cx="3657600" cy="411480"/>
          </a:xfrm>
          <a:prstGeom prst="roundRect">
            <a:avLst>
              <a:gd name="adj" fmla="val 15556"/>
            </a:avLst>
          </a:prstGeom>
          <a:solidFill>
            <a:srgbClr val="F5F1EB"/>
          </a:solidFill>
          <a:ln w="10160">
            <a:solidFill>
              <a:srgbClr val="4A99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481328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Top: RED/Golden Signals (user impact)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1956816"/>
            <a:ext cx="3657600" cy="411480"/>
          </a:xfrm>
          <a:prstGeom prst="roundRect">
            <a:avLst>
              <a:gd name="adj" fmla="val 15556"/>
            </a:avLst>
          </a:prstGeom>
          <a:solidFill>
            <a:srgbClr val="F5F1EB"/>
          </a:solidFill>
          <a:ln w="10160">
            <a:solidFill>
              <a:srgbClr val="4A7F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1956816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📉 Middle: Resource usage (USE Method)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432304"/>
            <a:ext cx="3657600" cy="411480"/>
          </a:xfrm>
          <a:prstGeom prst="roundRect">
            <a:avLst>
              <a:gd name="adj" fmla="val 15556"/>
            </a:avLst>
          </a:prstGeom>
          <a:solidFill>
            <a:srgbClr val="F5F1EB"/>
          </a:solidFill>
          <a:ln w="10160">
            <a:solidFill>
              <a:srgbClr val="4A7F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432304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Bottom: Downstream dependency status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2907792"/>
            <a:ext cx="3657600" cy="411480"/>
          </a:xfrm>
          <a:prstGeom prst="roundRect">
            <a:avLst>
              <a:gd name="adj" fmla="val 15556"/>
            </a:avLst>
          </a:prstGeom>
          <a:solidFill>
            <a:srgbClr val="F5F1EB"/>
          </a:solidFill>
          <a:ln w="10160">
            <a:solidFill>
              <a:srgbClr val="B8892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907792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🏷️ Use Variables: env, datacenter, pod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3401568"/>
            <a:ext cx="3931920" cy="530352"/>
          </a:xfrm>
          <a:prstGeom prst="roundRect">
            <a:avLst>
              <a:gd name="adj" fmla="val 12069"/>
            </a:avLst>
          </a:prstGeom>
          <a:solidFill>
            <a:srgbClr val="F8ECEC"/>
          </a:solidFill>
          <a:ln w="10160">
            <a:solidFill>
              <a:srgbClr val="C460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1480" y="3401568"/>
            <a:ext cx="3657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Cramming all metrics into one Dashboard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No time range selector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709160" y="685800"/>
            <a:ext cx="4160520" cy="347472"/>
          </a:xfrm>
          <a:prstGeom prst="roundRect">
            <a:avLst>
              <a:gd name="adj" fmla="val 13158"/>
            </a:avLst>
          </a:prstGeom>
          <a:solidFill>
            <a:srgbClr val="ECE6DD"/>
          </a:solidFill>
          <a:ln w="10160">
            <a:solidFill>
              <a:srgbClr val="4A7F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0" y="685800"/>
            <a:ext cx="4069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Service: api | ENV: prod | Last: 6h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709160" y="1078992"/>
            <a:ext cx="1280160" cy="566928"/>
          </a:xfrm>
          <a:prstGeom prst="roundRect">
            <a:avLst>
              <a:gd name="adj" fmla="val 11290"/>
            </a:avLst>
          </a:prstGeom>
          <a:solidFill>
            <a:srgbClr val="E5F0E9"/>
          </a:solidFill>
          <a:ln w="10160">
            <a:solidFill>
              <a:srgbClr val="4A99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1097280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1,234 req/s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754880" y="1389888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108192" y="1078992"/>
            <a:ext cx="1280160" cy="566928"/>
          </a:xfrm>
          <a:prstGeom prst="roundRect">
            <a:avLst>
              <a:gd name="adj" fmla="val 11290"/>
            </a:avLst>
          </a:prstGeom>
          <a:solidFill>
            <a:srgbClr val="F5F1EB"/>
          </a:solidFill>
          <a:ln w="10160">
            <a:solidFill>
              <a:srgbClr val="C4605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53912" y="1097280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0.12%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153912" y="1389888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Rate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507224" y="1078992"/>
            <a:ext cx="1280160" cy="566928"/>
          </a:xfrm>
          <a:prstGeom prst="roundRect">
            <a:avLst>
              <a:gd name="adj" fmla="val 11290"/>
            </a:avLst>
          </a:prstGeom>
          <a:solidFill>
            <a:srgbClr val="F5F1EB"/>
          </a:solidFill>
          <a:ln w="10160">
            <a:solidFill>
              <a:srgbClr val="B8892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552944" y="1097280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245ms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552944" y="1389888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Latency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755648"/>
            <a:ext cx="4160520" cy="1051560"/>
          </a:xfrm>
          <a:prstGeom prst="roundRect">
            <a:avLst>
              <a:gd name="adj" fmla="val 6087"/>
            </a:avLst>
          </a:prstGeom>
          <a:solidFill>
            <a:srgbClr val="F5F1EB"/>
          </a:solidFill>
          <a:ln w="10160">
            <a:solidFill>
              <a:srgbClr val="D6CCB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1828800"/>
            <a:ext cx="3977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Request Rate over time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709160" y="2880360"/>
            <a:ext cx="2011680" cy="896112"/>
          </a:xfrm>
          <a:prstGeom prst="roundRect">
            <a:avLst>
              <a:gd name="adj" fmla="val 7143"/>
            </a:avLst>
          </a:prstGeom>
          <a:solidFill>
            <a:srgbClr val="F5F1EB"/>
          </a:solidFill>
          <a:ln w="10160">
            <a:solidFill>
              <a:srgbClr val="D6CCB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2944368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Usage %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839712" y="2880360"/>
            <a:ext cx="2011680" cy="896112"/>
          </a:xfrm>
          <a:prstGeom prst="roundRect">
            <a:avLst>
              <a:gd name="adj" fmla="val 7143"/>
            </a:avLst>
          </a:prstGeom>
          <a:solidFill>
            <a:srgbClr val="F5F1EB"/>
          </a:solidFill>
          <a:ln w="10160">
            <a:solidFill>
              <a:srgbClr val="D6CCB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931152" y="2944368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Usage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709160" y="3840480"/>
            <a:ext cx="4160520" cy="713232"/>
          </a:xfrm>
          <a:prstGeom prst="roundRect">
            <a:avLst>
              <a:gd name="adj" fmla="val 8974"/>
            </a:avLst>
          </a:prstGeom>
          <a:solidFill>
            <a:srgbClr val="F5F1EB"/>
          </a:solidFill>
          <a:ln w="10160">
            <a:solidFill>
              <a:srgbClr val="D6CC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00600" y="3913632"/>
            <a:ext cx="3977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Latency | Redis Hit Rate | MQ Queue Depth</a:t>
            </a:r>
            <a:endParaRPr lang="en-US" sz="8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Design: The Art of Avoiding Alert Fatigue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Cause-Based Alerts (Not Recommended)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005840"/>
            <a:ext cx="4023360" cy="365760"/>
          </a:xfrm>
          <a:prstGeom prst="roundRect">
            <a:avLst>
              <a:gd name="adj" fmla="val 17500"/>
            </a:avLst>
          </a:prstGeom>
          <a:solidFill>
            <a:srgbClr val="F8ECEC"/>
          </a:solidFill>
          <a:ln w="10160">
            <a:solidFill>
              <a:srgbClr val="C460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02412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&gt; 80%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11480" y="1207008"/>
            <a:ext cx="3657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CPU doesn't always affect users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74320" y="1417320"/>
            <a:ext cx="4023360" cy="365760"/>
          </a:xfrm>
          <a:prstGeom prst="roundRect">
            <a:avLst>
              <a:gd name="adj" fmla="val 17500"/>
            </a:avLst>
          </a:prstGeom>
          <a:solidFill>
            <a:srgbClr val="F8ECEC"/>
          </a:solidFill>
          <a:ln w="10160">
            <a:solidFill>
              <a:srgbClr val="C4605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43560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&gt; 70%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11480" y="1618488"/>
            <a:ext cx="3657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Might just be cache — perfectly normal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74320" y="1828800"/>
            <a:ext cx="4023360" cy="365760"/>
          </a:xfrm>
          <a:prstGeom prst="roundRect">
            <a:avLst>
              <a:gd name="adj" fmla="val 17500"/>
            </a:avLst>
          </a:prstGeom>
          <a:solidFill>
            <a:srgbClr val="F8ECEC"/>
          </a:solidFill>
          <a:ln w="10160">
            <a:solidFill>
              <a:srgbClr val="C4605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84708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 IOPS &gt; 1000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11480" y="2029968"/>
            <a:ext cx="3657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during peak business hours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74320" y="2651760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26517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Symptom-Based Alerts (Recommended)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74320" y="3063240"/>
            <a:ext cx="4023360" cy="365760"/>
          </a:xfrm>
          <a:prstGeom prst="roundRect">
            <a:avLst>
              <a:gd name="adj" fmla="val 17500"/>
            </a:avLst>
          </a:prstGeom>
          <a:solidFill>
            <a:srgbClr val="E5F0E9"/>
          </a:solidFill>
          <a:ln w="10160">
            <a:solidFill>
              <a:srgbClr val="4A99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" y="308152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rate &gt; 1% for 2 minutes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11480" y="3264408"/>
            <a:ext cx="3657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are being affected right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74320" y="3474720"/>
            <a:ext cx="4023360" cy="365760"/>
          </a:xfrm>
          <a:prstGeom prst="roundRect">
            <a:avLst>
              <a:gd name="adj" fmla="val 17500"/>
            </a:avLst>
          </a:prstGeom>
          <a:solidFill>
            <a:srgbClr val="E5F0E9"/>
          </a:solidFill>
          <a:ln w="10160">
            <a:solidFill>
              <a:srgbClr val="4A99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1480" y="349300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latency &gt; 2000ms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11480" y="3675888"/>
            <a:ext cx="3657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are experiencing slowness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74320" y="3886200"/>
            <a:ext cx="4023360" cy="365760"/>
          </a:xfrm>
          <a:prstGeom prst="roundRect">
            <a:avLst>
              <a:gd name="adj" fmla="val 17500"/>
            </a:avLst>
          </a:prstGeom>
          <a:solidFill>
            <a:srgbClr val="E5F0E9"/>
          </a:solidFill>
          <a:ln w="10160">
            <a:solidFill>
              <a:srgbClr val="4A996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1480" y="390448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 burn rate too high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11480" y="4087368"/>
            <a:ext cx="3657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budget is being depleted fast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754880" y="5943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Severity Levels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754880" y="914400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F8ECEC"/>
          </a:solidFill>
          <a:ln w="10160">
            <a:solidFill>
              <a:srgbClr val="C4605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92040" y="932688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 P1 CRITICAL — Wake up On-Call immediately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892040" y="1161288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affected right now | Respond within 5 min | Phone call + PagerDuty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754880" y="1572768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F3EDE0"/>
          </a:solidFill>
          <a:ln w="10160">
            <a:solidFill>
              <a:srgbClr val="B8892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92040" y="1591056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P2 WARNING — Handle during business hours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892040" y="181965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affect users | Fix today | Slack notification is fine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754880" y="2231136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F5F1EB"/>
          </a:solidFill>
          <a:ln w="10160">
            <a:solidFill>
              <a:srgbClr val="4A7F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2249424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P3 INFO — Scheduled resolution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892040" y="247802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issue | Fix this week | Track via ticket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754880" y="3401568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F5F1EB"/>
          </a:solidFill>
          <a:ln w="10160">
            <a:solidFill>
              <a:srgbClr val="4A99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92040" y="3438144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Every alert must have: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892040" y="3657600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 Runbook link  2. A clear owner  3. A defined response SLA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74320" y="437083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7200" y="44165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Alert fatigue is the SRE's worst enemy — review alerts weekly; disable or downgrade alerts nobody acts on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AlertManager: Intelligent Routing &amp; Alert Management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713232"/>
            <a:ext cx="1371600" cy="777240"/>
          </a:xfrm>
          <a:prstGeom prst="roundRect">
            <a:avLst>
              <a:gd name="adj" fmla="val 11765"/>
            </a:avLst>
          </a:prstGeom>
          <a:solidFill>
            <a:srgbClr val="F5F1EB"/>
          </a:solidFill>
          <a:ln w="19050">
            <a:solidFill>
              <a:srgbClr val="4A9968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768096"/>
            <a:ext cx="1371600" cy="357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29184" y="1117397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10896" y="1345997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Sends alerts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691640" y="1124712"/>
            <a:ext cx="457200" cy="9144"/>
          </a:xfrm>
          <a:prstGeom prst="line">
            <a:avLst/>
          </a:prstGeom>
          <a:noFill/>
          <a:ln w="19050">
            <a:solidFill>
              <a:srgbClr val="C4605B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1645920" y="950976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C4605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645920" y="95097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C460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40280" y="713232"/>
            <a:ext cx="1645920" cy="777240"/>
          </a:xfrm>
          <a:prstGeom prst="roundRect">
            <a:avLst>
              <a:gd name="adj" fmla="val 11765"/>
            </a:avLst>
          </a:prstGeom>
          <a:solidFill>
            <a:srgbClr val="F5F1EB"/>
          </a:solidFill>
          <a:ln w="19050">
            <a:solidFill>
              <a:srgbClr val="C4605B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240280" y="768096"/>
            <a:ext cx="1645920" cy="357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🔀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95144" y="1117397"/>
            <a:ext cx="15361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AlertManager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276856" y="1345997"/>
            <a:ext cx="15727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Routing Engine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017520" y="1554480"/>
            <a:ext cx="9144" cy="411480"/>
          </a:xfrm>
          <a:prstGeom prst="line">
            <a:avLst/>
          </a:prstGeom>
          <a:noFill/>
          <a:ln w="19050">
            <a:solidFill>
              <a:srgbClr val="C4605B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1097280" y="2029968"/>
            <a:ext cx="137160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43000" y="202996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💬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389888" y="2029968"/>
            <a:ext cx="10424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#oncall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788920" y="2029968"/>
            <a:ext cx="137160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4640" y="202996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📟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081528" y="2029968"/>
            <a:ext cx="10424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PagerDuty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(P1 only)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480560" y="2029968"/>
            <a:ext cx="137160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8A807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26280" y="202996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📧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773168" y="2029968"/>
            <a:ext cx="10424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(P3 only)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423160" y="1984248"/>
            <a:ext cx="594360" cy="320040"/>
          </a:xfrm>
          <a:prstGeom prst="line">
            <a:avLst/>
          </a:prstGeom>
          <a:noFill/>
          <a:ln w="12700">
            <a:solidFill>
              <a:srgbClr val="C4605B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>
            <a:off x="3063240" y="1984248"/>
            <a:ext cx="457200" cy="320040"/>
          </a:xfrm>
          <a:prstGeom prst="line">
            <a:avLst/>
          </a:prstGeom>
          <a:noFill/>
          <a:ln w="12700">
            <a:solidFill>
              <a:srgbClr val="C4605B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274320" y="2834640"/>
            <a:ext cx="4389120" cy="2084832"/>
          </a:xfrm>
          <a:prstGeom prst="roundRect">
            <a:avLst>
              <a:gd name="adj" fmla="val 4386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blurRad="127000" dist="508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65760" y="26883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84048" y="26883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alertmanager.yml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02336" y="2944368"/>
            <a:ext cx="4133088" cy="1901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route: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receiver: 'slack-default'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group_wait: 30s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group_interval: 5m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repeat_interval: 4h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routes: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match: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severity: critical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receiver: 'pagerduty'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match: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severity: warning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receiver: 'slack-warning'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receivers: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name: 'pagerduty'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pagerduty_configs: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service_key: '&lt;key&gt;'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0" y="6858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Features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937760" y="960120"/>
            <a:ext cx="3840480" cy="594360"/>
          </a:xfrm>
          <a:prstGeom prst="roundRect">
            <a:avLst>
              <a:gd name="adj" fmla="val 12308"/>
            </a:avLst>
          </a:prstGeom>
          <a:solidFill>
            <a:srgbClr val="F5F1EB"/>
          </a:solidFill>
          <a:ln w="10160">
            <a:solidFill>
              <a:srgbClr val="8B6A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74920" y="98755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🔕 Inhibition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074920" y="121615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is down → suppress API alerts to avoid duplicate notifications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937760" y="1618488"/>
            <a:ext cx="3840480" cy="594360"/>
          </a:xfrm>
          <a:prstGeom prst="roundRect">
            <a:avLst>
              <a:gd name="adj" fmla="val 12308"/>
            </a:avLst>
          </a:prstGeom>
          <a:solidFill>
            <a:srgbClr val="F5F1EB"/>
          </a:solidFill>
          <a:ln w="10160">
            <a:solidFill>
              <a:srgbClr val="B8892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74920" y="164592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🔇 Silence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074920" y="18745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Mute specific alerts during maintenance windows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937760" y="2276856"/>
            <a:ext cx="3840480" cy="594360"/>
          </a:xfrm>
          <a:prstGeom prst="roundRect">
            <a:avLst>
              <a:gd name="adj" fmla="val 12308"/>
            </a:avLst>
          </a:prstGeom>
          <a:solidFill>
            <a:srgbClr val="F5F1EB"/>
          </a:solidFill>
          <a:ln w="10160">
            <a:solidFill>
              <a:srgbClr val="4A996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074920" y="230428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Grouping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074920" y="2532888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multiple alerts from the same service into one notification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937760" y="2935224"/>
            <a:ext cx="3840480" cy="594360"/>
          </a:xfrm>
          <a:prstGeom prst="roundRect">
            <a:avLst>
              <a:gd name="adj" fmla="val 12308"/>
            </a:avLst>
          </a:prstGeom>
          <a:solidFill>
            <a:srgbClr val="F5F1EB"/>
          </a:solidFill>
          <a:ln w="10160">
            <a:solidFill>
              <a:srgbClr val="4A7F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74920" y="296265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 Repeat Interval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5074920" y="3191256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repeat every minute — set 4h repeat interval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274320" y="446227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7200" y="45079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Inhibition rules can drastically reduce alert noise — if the datacenter is down, no need to notify every individual service</a:t>
            </a:r>
            <a:endParaRPr lang="en-US" sz="10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Summary: The Complete Pipeline from Collection to Alerting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658368"/>
            <a:ext cx="1508760" cy="1280160"/>
          </a:xfrm>
          <a:prstGeom prst="roundRect">
            <a:avLst>
              <a:gd name="adj" fmla="val 7143"/>
            </a:avLst>
          </a:prstGeom>
          <a:solidFill>
            <a:srgbClr val="F5F1EB"/>
          </a:solidFill>
          <a:ln w="19050">
            <a:solidFill>
              <a:srgbClr val="5A9B6E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2880" y="713232"/>
            <a:ext cx="1508760" cy="5888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37744" y="1324051"/>
            <a:ext cx="13990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19456" y="1552651"/>
            <a:ext cx="1435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Prometheus client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Define Metrics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737360" y="1371600"/>
            <a:ext cx="457200" cy="9144"/>
          </a:xfrm>
          <a:prstGeom prst="line">
            <a:avLst/>
          </a:prstGeom>
          <a:noFill/>
          <a:ln w="19050">
            <a:solidFill>
              <a:srgbClr val="4A9968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1691640" y="1197864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4A996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691640" y="1197864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A99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expose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0" y="658368"/>
            <a:ext cx="1508760" cy="1280160"/>
          </a:xfrm>
          <a:prstGeom prst="roundRect">
            <a:avLst>
              <a:gd name="adj" fmla="val 7143"/>
            </a:avLst>
          </a:prstGeom>
          <a:solidFill>
            <a:srgbClr val="F5F1EB"/>
          </a:solidFill>
          <a:ln w="19050">
            <a:solidFill>
              <a:srgbClr val="4A9968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286000" y="713232"/>
            <a:ext cx="1508760" cy="5888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340864" y="1324051"/>
            <a:ext cx="13990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322576" y="1552651"/>
            <a:ext cx="1435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Prometheus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scrape /metrics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840480" y="1371600"/>
            <a:ext cx="457200" cy="9144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3794760" y="1197864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94760" y="1197864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A7F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389120" y="658368"/>
            <a:ext cx="1508760" cy="1280160"/>
          </a:xfrm>
          <a:prstGeom prst="roundRect">
            <a:avLst>
              <a:gd name="adj" fmla="val 7143"/>
            </a:avLst>
          </a:prstGeom>
          <a:solidFill>
            <a:srgbClr val="F5F1EB"/>
          </a:solidFill>
          <a:ln w="19050">
            <a:solidFill>
              <a:srgbClr val="4A7FB5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89120" y="713232"/>
            <a:ext cx="1508760" cy="5888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443984" y="1324051"/>
            <a:ext cx="13990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425696" y="1552651"/>
            <a:ext cx="1435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Grafana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Dashboard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943600" y="1371600"/>
            <a:ext cx="457200" cy="9144"/>
          </a:xfrm>
          <a:prstGeom prst="line">
            <a:avLst/>
          </a:prstGeom>
          <a:noFill/>
          <a:ln w="19050">
            <a:solidFill>
              <a:srgbClr val="C4605B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5897880" y="1197864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C4605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97880" y="1197864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C460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6492240" y="658368"/>
            <a:ext cx="1325880" cy="1280160"/>
          </a:xfrm>
          <a:prstGeom prst="roundRect">
            <a:avLst>
              <a:gd name="adj" fmla="val 7143"/>
            </a:avLst>
          </a:prstGeom>
          <a:solidFill>
            <a:srgbClr val="F5F1EB"/>
          </a:solidFill>
          <a:ln w="19050">
            <a:solidFill>
              <a:srgbClr val="C4605B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492240" y="713232"/>
            <a:ext cx="1325880" cy="5888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🔔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547104" y="1324051"/>
            <a:ext cx="12161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528816" y="1552651"/>
            <a:ext cx="12527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AlertManager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 Rules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863840" y="1371600"/>
            <a:ext cx="457200" cy="9144"/>
          </a:xfrm>
          <a:prstGeom prst="line">
            <a:avLst/>
          </a:prstGeom>
          <a:noFill/>
          <a:ln w="19050">
            <a:solidFill>
              <a:srgbClr val="B8892C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7818120" y="1197864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B8892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818120" y="1197864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B889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notify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8412480" y="658368"/>
            <a:ext cx="640080" cy="1280160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9050">
            <a:solidFill>
              <a:srgbClr val="B8892C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8412480" y="713232"/>
            <a:ext cx="640080" cy="5888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📱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467344" y="1324051"/>
            <a:ext cx="5303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8449056" y="1552651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On-Call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74320" y="2176272"/>
            <a:ext cx="2651760" cy="2395728"/>
          </a:xfrm>
          <a:prstGeom prst="roundRect">
            <a:avLst>
              <a:gd name="adj" fmla="val 3817"/>
            </a:avLst>
          </a:prstGeom>
          <a:solidFill>
            <a:srgbClr val="F5F1EB"/>
          </a:solidFill>
          <a:ln w="15240">
            <a:solidFill>
              <a:srgbClr val="4A99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84048" y="2267712"/>
            <a:ext cx="24323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Choose the Right Metric Type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84048" y="2633472"/>
            <a:ext cx="2432304" cy="1810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 → rate()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Gauge → use directly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Histogram → P99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use average latency!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154680" y="2176272"/>
            <a:ext cx="2651760" cy="2395728"/>
          </a:xfrm>
          <a:prstGeom prst="roundRect">
            <a:avLst>
              <a:gd name="adj" fmla="val 3817"/>
            </a:avLst>
          </a:prstGeom>
          <a:solidFill>
            <a:srgbClr val="F5F1EB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64408" y="2267712"/>
            <a:ext cx="24323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 Pull &gt; Push in K8s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3264408" y="2633472"/>
            <a:ext cx="2432304" cy="1810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+ K8s SD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Auto-discover all Pods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Short-lived Jobs use Pushgateway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→ OTLP Collector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035040" y="2176272"/>
            <a:ext cx="2651760" cy="2395728"/>
          </a:xfrm>
          <a:prstGeom prst="roundRect">
            <a:avLst>
              <a:gd name="adj" fmla="val 3817"/>
            </a:avLst>
          </a:prstGeom>
          <a:solidFill>
            <a:srgbClr val="F5F1EB"/>
          </a:solidFill>
          <a:ln w="15240">
            <a:solidFill>
              <a:srgbClr val="B8892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144768" y="2267712"/>
            <a:ext cx="24323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Alerts Must Be Meaningful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144768" y="2633472"/>
            <a:ext cx="2432304" cy="1810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Symptom-based first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alert needs a Runbook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alert volume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alert fatigue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Logs: Application Event Records — The Last Line of Defense for Debugging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114800" cy="777240"/>
          </a:xfrm>
          <a:prstGeom prst="roundRect">
            <a:avLst>
              <a:gd name="adj" fmla="val 9412"/>
            </a:avLst>
          </a:prstGeom>
          <a:solidFill>
            <a:srgbClr val="F5F1EB"/>
          </a:solidFill>
          <a:ln w="19050">
            <a:solidFill>
              <a:srgbClr val="B8892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621792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= Timestamped Structured Event Records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4320" y="98755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what happened in the system at a specific moment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1481328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F8ECEC"/>
          </a:solidFill>
          <a:ln w="15240">
            <a:solidFill>
              <a:srgbClr val="C460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4813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Prod suddenly returns 500 errors — which API? which user? what cause?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011680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F3EDE0"/>
          </a:solidFill>
          <a:ln w="15240">
            <a:solidFill>
              <a:srgbClr val="B889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01168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🐛 User reports 'my order disappeared' — when? which service failed?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4320" y="254203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F5F1EB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542032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 Security audit — who deleted this record and when?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3054096"/>
            <a:ext cx="4114800" cy="530352"/>
          </a:xfrm>
          <a:prstGeom prst="roundRect">
            <a:avLst>
              <a:gd name="adj" fmla="val 13793"/>
            </a:avLst>
          </a:prstGeom>
          <a:solidFill>
            <a:srgbClr val="F8ECEC"/>
          </a:solidFill>
          <a:ln w="19050">
            <a:solidFill>
              <a:srgbClr val="C4605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3054096"/>
            <a:ext cx="3840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Without Logs: Can only reproduce issues, guess causes, no audit trail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709160" y="594360"/>
            <a:ext cx="4160520" cy="4224528"/>
          </a:xfrm>
          <a:prstGeom prst="roundRect">
            <a:avLst>
              <a:gd name="adj" fmla="val 2198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blurRad="127000" dist="508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80060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1888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Structured Log Example (JSON)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837176" y="704088"/>
            <a:ext cx="3904488" cy="4041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"timestamp": "2024-03-15T14:32:01.234Z",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"level": "ERROR",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"service": "payment-service",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"version": "v2.1.3",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"trace_id": "abc-123-xyz",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"span_id": "def-456",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"user_id": "user-789",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"event": "payment_failed",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"amount": 299.99,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"currency": "USD",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"error": "insufficient_funds",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"message": "Payment processing failed",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"duration_ms": 145,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"env": "production"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74320" y="491947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49651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A good log entry should tell you 100% what happened without reproducing the issue — include trace_id to correlate with Traces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vs Unstructured Logs: Machine-Readability Is Key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Unstructured Logs (Human-readable, Machine-unfriendly)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987552"/>
            <a:ext cx="4023360" cy="1600200"/>
          </a:xfrm>
          <a:prstGeom prst="roundRect">
            <a:avLst>
              <a:gd name="adj" fmla="val 5714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blurRad="127000" dist="508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4124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841248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plain text logs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02336" y="1097280"/>
            <a:ext cx="3767328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2024-03-15 14:32:01 ERROR User login failed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2024-03-15 14:32:01 ERROR john@example.com bad pwd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2024-03-15 14:33:45 INFO  request GET /api/users 200 145ms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2024-03-15 14:33:52 WARN  high memory: 89%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65760" y="2724912"/>
            <a:ext cx="3749040" cy="365760"/>
          </a:xfrm>
          <a:prstGeom prst="roundRect">
            <a:avLst>
              <a:gd name="adj" fmla="val 15000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72491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Hard to grep: must guess the format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3136392"/>
            <a:ext cx="3749040" cy="365760"/>
          </a:xfrm>
          <a:prstGeom prst="roundRect">
            <a:avLst>
              <a:gd name="adj" fmla="val 15000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13639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Cannot auto-parse email / latency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547872"/>
            <a:ext cx="3749040" cy="365760"/>
          </a:xfrm>
          <a:prstGeom prst="roundRect">
            <a:avLst>
              <a:gd name="adj" fmla="val 15000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354787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Kibana/Loki cannot perform aggregation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Structured Logs (JSON / key=value)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54880" y="987552"/>
            <a:ext cx="4023360" cy="1600200"/>
          </a:xfrm>
          <a:prstGeom prst="roundRect">
            <a:avLst>
              <a:gd name="adj" fmla="val 5714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blurRad="127000" dist="508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46320" y="84124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64608" y="841248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structured JSON logs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82896" y="1097280"/>
            <a:ext cx="3767328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{"time":"2024-03-15T14:32:01Z","level":"ERROR",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"event":"login_failed","user":"john@ex.com",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"reason":"wrong_password","attempt":3}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{"time":"2024-03-15T14:33:45Z","level":"INFO",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"method":"GET","path":"/api/users","status":200,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"duration_ms":145}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{"time":"2024-03-15T14:33:52Z","level":"WARN",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"event":"high_memory","usage_pct":89}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846320" y="2724912"/>
            <a:ext cx="3749040" cy="365760"/>
          </a:xfrm>
          <a:prstGeom prst="roundRect">
            <a:avLst>
              <a:gd name="adj" fmla="val 15000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83480" y="272491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Auto-parsed by machines — ES/Loki auto-index fields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846320" y="3136392"/>
            <a:ext cx="3749040" cy="365760"/>
          </a:xfrm>
          <a:prstGeom prst="roundRect">
            <a:avLst>
              <a:gd name="adj" fmla="val 15000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83480" y="313639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Supports aggregation: avg(duration_ms) by user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46320" y="3547872"/>
            <a:ext cx="3749040" cy="365760"/>
          </a:xfrm>
          <a:prstGeom prst="roundRect">
            <a:avLst>
              <a:gd name="adj" fmla="val 15000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83480" y="354787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Can join with Traces via trace_id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74320" y="3730752"/>
            <a:ext cx="8595360" cy="1024128"/>
          </a:xfrm>
          <a:prstGeom prst="roundRect">
            <a:avLst>
              <a:gd name="adj" fmla="val 8929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blurRad="127000" dist="508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65760" y="358444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84048" y="3584448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structlog example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02336" y="3840480"/>
            <a:ext cx="8339328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structlog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 = structlog.get_logger()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log.error('login_failed', user=email, reason='wrong_password', attempt=3, trace_id=get_trace_id())</a:t>
            </a:r>
            <a:endParaRPr lang="en-US" sz="9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Level Design: When to Use Which Level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621792"/>
            <a:ext cx="8595360" cy="658368"/>
          </a:xfrm>
          <a:prstGeom prst="roundRect">
            <a:avLst>
              <a:gd name="adj" fmla="val 11111"/>
            </a:avLst>
          </a:prstGeom>
          <a:solidFill>
            <a:srgbClr val="F5F1EB"/>
          </a:solidFill>
          <a:ln w="15240">
            <a:solidFill>
              <a:srgbClr val="8A807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621792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DEBUG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286000" y="621792"/>
            <a:ext cx="4114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debug info — enable only in dev/debug, usually off in Production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92240" y="621792"/>
            <a:ext cx="2240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7F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 query: SELECT * FROM users WHERE id=123 (12ms)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74320" y="1335024"/>
            <a:ext cx="8595360" cy="658368"/>
          </a:xfrm>
          <a:prstGeom prst="roundRect">
            <a:avLst>
              <a:gd name="adj" fmla="val 11111"/>
            </a:avLst>
          </a:prstGeom>
          <a:solidFill>
            <a:srgbClr val="F5F1EB"/>
          </a:solidFill>
          <a:ln w="15240">
            <a:solidFill>
              <a:srgbClr val="4A99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335024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INFO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286000" y="1335024"/>
            <a:ext cx="4114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operation events — service start, request success, state changes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92240" y="1335024"/>
            <a:ext cx="2240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7F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payment_completed: order_id=456, amount=299.99, user=john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74320" y="2048256"/>
            <a:ext cx="8595360" cy="658368"/>
          </a:xfrm>
          <a:prstGeom prst="roundRect">
            <a:avLst>
              <a:gd name="adj" fmla="val 11111"/>
            </a:avLst>
          </a:prstGeom>
          <a:solidFill>
            <a:srgbClr val="F3EDE0"/>
          </a:solidFill>
          <a:ln w="15240">
            <a:solidFill>
              <a:srgbClr val="B889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2048256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WARN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286000" y="2048256"/>
            <a:ext cx="4114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Unexpected but handled situations — no impact on main flow, but worth noting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92240" y="2048256"/>
            <a:ext cx="2240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7F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retry_attempt: db_connection failed, retry 2/3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2761488"/>
            <a:ext cx="8595360" cy="658368"/>
          </a:xfrm>
          <a:prstGeom prst="roundRect">
            <a:avLst>
              <a:gd name="adj" fmla="val 11111"/>
            </a:avLst>
          </a:prstGeom>
          <a:solidFill>
            <a:srgbClr val="F8ECEC"/>
          </a:solidFill>
          <a:ln w="15240">
            <a:solidFill>
              <a:srgbClr val="C460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1480" y="2761488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286000" y="2761488"/>
            <a:ext cx="4114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Unexpected error occurred — requires human intervention, partial functionality affected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92240" y="2761488"/>
            <a:ext cx="2240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7F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payment_failed: stripe_api_error, user_id=789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3474720"/>
            <a:ext cx="8595360" cy="658368"/>
          </a:xfrm>
          <a:prstGeom prst="roundRect">
            <a:avLst>
              <a:gd name="adj" fmla="val 11111"/>
            </a:avLst>
          </a:prstGeom>
          <a:solidFill>
            <a:srgbClr val="F8ECEC"/>
          </a:solidFill>
          <a:ln w="15240">
            <a:solidFill>
              <a:srgbClr val="C4605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1480" y="3474720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💀 CRITICAL/FATAL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286000" y="3474720"/>
            <a:ext cx="4114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cannot continue — entire service is down, immediate human action required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92240" y="3474720"/>
            <a:ext cx="2240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7F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db_connection_pool_exhausted: all 100 connections in use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74320" y="4224528"/>
            <a:ext cx="8595360" cy="594360"/>
          </a:xfrm>
          <a:prstGeom prst="roundRect">
            <a:avLst>
              <a:gd name="adj" fmla="val 12308"/>
            </a:avLst>
          </a:prstGeom>
          <a:solidFill>
            <a:srgbClr val="F8ECEC"/>
          </a:solidFill>
          <a:ln w="15240">
            <a:solidFill>
              <a:srgbClr val="C4605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4224528"/>
            <a:ext cx="8321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Common Mistakes: ERROR catch Exception (catching everything as ERROR) | Too many INFO logs (noise) | DEBUG left in Prod (perf issue)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320" y="48920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49377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Production recommendation: INFO and above, use DEBUG only for critical paths | For every log ask: What decision can the on-call engineer make from this?</a:t>
            </a:r>
            <a:endParaRPr lang="en-US" sz="10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ID: How to Correlate Logs in Distributed Systems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Without Correlation ID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102412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reports checkout failure — where do you look?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298448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298448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api-service: ERROR payment failed user_id=123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4320" y="1737360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73736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payment-svc: WARN stripe timeout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74320" y="2176272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2700">
            <a:solidFill>
              <a:srgbClr val="C480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176272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db: ERROR connection timeout 14:32:01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74320" y="2670048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these 3 logs from the same request? 🤷 No way to tell!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Using Trace ID as Correlation ID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754880" y="1024128"/>
            <a:ext cx="4023360" cy="530352"/>
          </a:xfrm>
          <a:prstGeom prst="roundRect">
            <a:avLst>
              <a:gd name="adj" fmla="val 10345"/>
            </a:avLst>
          </a:prstGeom>
          <a:solidFill>
            <a:srgbClr val="E5F0E9"/>
          </a:solidFill>
          <a:ln w="15240">
            <a:solidFill>
              <a:srgbClr val="4A996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92040" y="1024128"/>
            <a:ext cx="3749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A99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api-svc: ERROR payment_failed trace_id="abc-123"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54880" y="1627632"/>
            <a:ext cx="4023360" cy="530352"/>
          </a:xfrm>
          <a:prstGeom prst="roundRect">
            <a:avLst>
              <a:gd name="adj" fmla="val 10345"/>
            </a:avLst>
          </a:prstGeom>
          <a:solidFill>
            <a:srgbClr val="E5F0E9"/>
          </a:solidFill>
          <a:ln w="15240">
            <a:solidFill>
              <a:srgbClr val="4A99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92040" y="1627632"/>
            <a:ext cx="3749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A99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payment-svc: WARN stripe_timeout trace_id="abc-123"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54880" y="2231136"/>
            <a:ext cx="4023360" cy="530352"/>
          </a:xfrm>
          <a:prstGeom prst="roundRect">
            <a:avLst>
              <a:gd name="adj" fmla="val 10345"/>
            </a:avLst>
          </a:prstGeom>
          <a:solidFill>
            <a:srgbClr val="E5F0E9"/>
          </a:solidFill>
          <a:ln w="15240">
            <a:solidFill>
              <a:srgbClr val="4A99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92040" y="2231136"/>
            <a:ext cx="3749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A99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db: ERROR conn_timeout trace_id="abc-123"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754880" y="2852928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Query trace_id='abc-123' to find all related logs at once!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74320" y="3218688"/>
            <a:ext cx="8595360" cy="1389888"/>
          </a:xfrm>
          <a:prstGeom prst="roundRect">
            <a:avLst>
              <a:gd name="adj" fmla="val 6579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blurRad="127000" dist="508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65760" y="307238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84048" y="307238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FastAPI + OpenTelemetry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02336" y="3328416"/>
            <a:ext cx="8339328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opentelemetry import trace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structlog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@app.middleware('http')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logging_middleware(request, call_next):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span = trace.get_current_span()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trace_id = format(span.get_span_context().trace_id, '032x')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All subsequent logs automatically include trace_id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structlog.contextvars.bind_contextvars(trace_id=trace_id)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await call_next(request)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74320" y="4681728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472744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Use OpenTelemetry trace_id as Correlation ID — one ID to link Logs + Traces + Metrics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Monolithic Service Log Collection: From stdout to Centralized Storage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2/10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192024" cy="822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82880" y="749808"/>
            <a:ext cx="1463040" cy="1097280"/>
          </a:xfrm>
          <a:prstGeom prst="roundRect">
            <a:avLst>
              <a:gd name="adj" fmla="val 8333"/>
            </a:avLst>
          </a:prstGeom>
          <a:solidFill>
            <a:srgbClr val="F5F1EB"/>
          </a:solidFill>
          <a:ln w="19050">
            <a:solidFill>
              <a:srgbClr val="5A9B6E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82880" y="804672"/>
            <a:ext cx="1463040" cy="5047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37744" y="1320394"/>
            <a:ext cx="13533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19456" y="1548994"/>
            <a:ext cx="13898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print()/logging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 stdout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691640" y="1399032"/>
            <a:ext cx="365760" cy="9144"/>
          </a:xfrm>
          <a:prstGeom prst="line">
            <a:avLst/>
          </a:prstGeom>
          <a:noFill/>
          <a:ln w="19050">
            <a:solidFill>
              <a:srgbClr val="8A8078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>
            <a:off x="1600200" y="1225296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8A807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600200" y="122529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stdout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2148840" y="749808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F5F1EB"/>
          </a:solidFill>
          <a:ln w="19050">
            <a:solidFill>
              <a:srgbClr val="D6CCBF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148840" y="804672"/>
            <a:ext cx="1371600" cy="5047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📄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203704" y="1320394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File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185416" y="1548994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/var/log/app.log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 journald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566160" y="1399032"/>
            <a:ext cx="365760" cy="9144"/>
          </a:xfrm>
          <a:prstGeom prst="line">
            <a:avLst/>
          </a:prstGeom>
          <a:noFill/>
          <a:ln w="19050">
            <a:solidFill>
              <a:srgbClr val="B8892C"/>
            </a:solidFill>
            <a:prstDash val="solid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3474720" y="1225296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B8892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74720" y="122529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B889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4023360" y="749808"/>
            <a:ext cx="1554480" cy="1097280"/>
          </a:xfrm>
          <a:prstGeom prst="roundRect">
            <a:avLst>
              <a:gd name="adj" fmla="val 8333"/>
            </a:avLst>
          </a:prstGeom>
          <a:solidFill>
            <a:srgbClr val="F5F1EB"/>
          </a:solidFill>
          <a:ln w="19050">
            <a:solidFill>
              <a:srgbClr val="B8892C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023360" y="804672"/>
            <a:ext cx="1554480" cy="5047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4078224" y="1320394"/>
            <a:ext cx="14447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Filebeat /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Fluentd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059936" y="1548994"/>
            <a:ext cx="14813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collect +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transform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623560" y="1399032"/>
            <a:ext cx="365760" cy="9144"/>
          </a:xfrm>
          <a:prstGeom prst="line">
            <a:avLst/>
          </a:prstGeom>
          <a:noFill/>
          <a:ln w="19050">
            <a:solidFill>
              <a:srgbClr val="4A9968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>
            <a:off x="5532120" y="1225296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4A996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32120" y="122529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A99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ship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6080760" y="749808"/>
            <a:ext cx="1508760" cy="1097280"/>
          </a:xfrm>
          <a:prstGeom prst="roundRect">
            <a:avLst>
              <a:gd name="adj" fmla="val 8333"/>
            </a:avLst>
          </a:prstGeom>
          <a:solidFill>
            <a:srgbClr val="F5F1EB"/>
          </a:solidFill>
          <a:ln w="19050">
            <a:solidFill>
              <a:srgbClr val="4A7FB5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080760" y="804672"/>
            <a:ext cx="1508760" cy="5047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6135624" y="1320394"/>
            <a:ext cx="13990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Elasticsearch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Loki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117336" y="1548994"/>
            <a:ext cx="1435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 +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store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635240" y="1399032"/>
            <a:ext cx="365760" cy="9144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7543800" y="1225296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543800" y="122529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A7F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8092440" y="749808"/>
            <a:ext cx="960120" cy="1097280"/>
          </a:xfrm>
          <a:prstGeom prst="roundRect">
            <a:avLst>
              <a:gd name="adj" fmla="val 9524"/>
            </a:avLst>
          </a:prstGeom>
          <a:solidFill>
            <a:srgbClr val="F5F1EB"/>
          </a:solidFill>
          <a:ln w="19050">
            <a:solidFill>
              <a:srgbClr val="5B8DB8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092440" y="804672"/>
            <a:ext cx="960120" cy="5047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8147304" y="1320394"/>
            <a:ext cx="8503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Kibana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129016" y="1548994"/>
            <a:ext cx="8869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 +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visualize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950208" y="1920240"/>
            <a:ext cx="1691640" cy="777240"/>
          </a:xfrm>
          <a:prstGeom prst="roundRect">
            <a:avLst>
              <a:gd name="adj" fmla="val 11765"/>
            </a:avLst>
          </a:prstGeom>
          <a:ln w="12700">
            <a:solidFill>
              <a:srgbClr val="B8892C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041648" y="17739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FFFDF8"/>
          </a:solidFill>
          <a:ln w="6350">
            <a:solidFill>
              <a:srgbClr val="B8892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059936" y="17739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Collectors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023360" y="2029968"/>
            <a:ext cx="1508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Filebeat (Elastic)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4023360" y="2331720"/>
            <a:ext cx="1508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Fluentd (CNCF)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4023360" y="2633472"/>
            <a:ext cx="1508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(Rust)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274320" y="2852928"/>
            <a:ext cx="8595360" cy="1444752"/>
          </a:xfrm>
          <a:prstGeom prst="roundRect">
            <a:avLst>
              <a:gd name="adj" fmla="val 6329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blurRad="127000" dist="508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365760" y="270662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84048" y="270662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Fluentd config (single server)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402336" y="2962656"/>
            <a:ext cx="8339328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&lt;source&gt;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@type tail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path /var/log/app/*.log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pos_file /var/log/fluentd/app.pos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&lt;parse&gt;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@type json  # structured JSON log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&lt;/parse&gt;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 app.logs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&lt;/source&gt;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&lt;match app.logs&gt;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@type elasticsearch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host elasticsearch.logging.svc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port 9200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logstash_format true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&lt;/match&gt;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274320" y="4407408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7200" y="445312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Monolithic log collection is straightforward — output to stdout, OS saves to journald, Filebeat/Fluentd collects and ships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Log Collection: Container Environment Challenges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Major Challenges of Distributed Logs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005840"/>
            <a:ext cx="4023360" cy="512064"/>
          </a:xfrm>
          <a:prstGeom prst="roundRect">
            <a:avLst>
              <a:gd name="adj" fmla="val 14286"/>
            </a:avLst>
          </a:prstGeom>
          <a:solidFill>
            <a:srgbClr val="F8ECEC"/>
          </a:solidFill>
          <a:ln w="15240">
            <a:solidFill>
              <a:srgbClr val="C460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024128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🗑️ Containers Are Ephemeral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11480" y="1243584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restart/delete → Logs are gone!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no longer tail log files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" y="1572768"/>
            <a:ext cx="4023360" cy="512064"/>
          </a:xfrm>
          <a:prstGeom prst="roundRect">
            <a:avLst>
              <a:gd name="adj" fmla="val 14286"/>
            </a:avLst>
          </a:prstGeom>
          <a:solidFill>
            <a:srgbClr val="F8ECEC"/>
          </a:solidFill>
          <a:ln w="15240">
            <a:solidFill>
              <a:srgbClr val="C4605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591056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Pods Spread Across Nodes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11480" y="181051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Pods × 10 Nodes = Logs everywhere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kubectl logs is impossible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74320" y="2139696"/>
            <a:ext cx="4023360" cy="512064"/>
          </a:xfrm>
          <a:prstGeom prst="roundRect">
            <a:avLst>
              <a:gd name="adj" fmla="val 14286"/>
            </a:avLst>
          </a:prstGeom>
          <a:solidFill>
            <a:srgbClr val="F3EDE0"/>
          </a:solidFill>
          <a:ln w="15240">
            <a:solidFill>
              <a:srgbClr val="B889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2157984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Log Volume Explosion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11480" y="237744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microservices × 1000 req/s = TB-level Logs/day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 and filtering strategies needed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4320" y="2706624"/>
            <a:ext cx="4023360" cy="512064"/>
          </a:xfrm>
          <a:prstGeom prst="roundRect">
            <a:avLst>
              <a:gd name="adj" fmla="val 14286"/>
            </a:avLst>
          </a:prstGeom>
          <a:solidFill>
            <a:srgbClr val="F3EDE0"/>
          </a:solidFill>
          <a:ln w="15240">
            <a:solidFill>
              <a:srgbClr val="B8892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2724912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Cannot Correlate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11480" y="294436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from the same request span multiple services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Correlation ID, impossible to trace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63440" y="566928"/>
            <a:ext cx="4114800" cy="365760"/>
          </a:xfrm>
          <a:prstGeom prst="roundRect">
            <a:avLst>
              <a:gd name="adj" fmla="val 20000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73168" y="566928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Solutions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663440" y="1005840"/>
            <a:ext cx="4114800" cy="512064"/>
          </a:xfrm>
          <a:prstGeom prst="roundRect">
            <a:avLst>
              <a:gd name="adj" fmla="val 14286"/>
            </a:avLst>
          </a:prstGeom>
          <a:solidFill>
            <a:srgbClr val="E5F0E9"/>
          </a:solidFill>
          <a:ln w="15240">
            <a:solidFill>
              <a:srgbClr val="4A99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0600" y="1024128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 Output Logs to stdout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800600" y="1243584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Containers don't write files, K8s auto-saves stdout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logs just works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663440" y="1572768"/>
            <a:ext cx="4114800" cy="512064"/>
          </a:xfrm>
          <a:prstGeom prst="roundRect">
            <a:avLst>
              <a:gd name="adj" fmla="val 14286"/>
            </a:avLst>
          </a:prstGeom>
          <a:solidFill>
            <a:srgbClr val="E5F0E9"/>
          </a:solidFill>
          <a:ln w="15240">
            <a:solidFill>
              <a:srgbClr val="4A996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1591056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DaemonSet / Sidecar Collection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800600" y="181051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log collector per Node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Auto-collects stdout from all Containers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663440" y="2139696"/>
            <a:ext cx="4114800" cy="512064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00600" y="2157984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🏷️ Attach Metadata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800600" y="237744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Auto-append: pod name, namespace, node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label → easy filtering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2706624"/>
            <a:ext cx="4114800" cy="512064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2724912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Centralized Storage + Search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800600" y="2944368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Elasticsearch / Loki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Full-text search + structured queries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74320" y="437083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44165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K8s Container stdout → /var/log/containers/*.log is auto-saved — Log collectors only need to tail this directory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B8E"/>
          </a:solidFill>
          <a:ln w="12700">
            <a:solidFill>
              <a:srgbClr val="4A9B8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Collection Architecture: Sidecar vs DaemonSet Pattern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365760" y="5943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DaemonSet Pattern (Recommended)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914400"/>
            <a:ext cx="3931920" cy="3108960"/>
          </a:xfrm>
          <a:prstGeom prst="roundRect">
            <a:avLst>
              <a:gd name="adj" fmla="val 2941"/>
            </a:avLst>
          </a:prstGeom>
          <a:ln w="12700">
            <a:solidFill>
              <a:srgbClr val="4A9B8E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365760" y="76809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FFFDF8"/>
          </a:solidFill>
          <a:ln w="6350">
            <a:solidFill>
              <a:srgbClr val="4A9B8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76809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A9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Node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57200" y="1143000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1430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49808" y="1143000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Pod 1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stdout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1664208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166420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49808" y="1664208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Pod 2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18541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18541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49808" y="218541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Pod 3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627632" y="1078992"/>
            <a:ext cx="1024128" cy="2011680"/>
          </a:xfrm>
          <a:prstGeom prst="roundRect">
            <a:avLst>
              <a:gd name="adj" fmla="val 5357"/>
            </a:avLst>
          </a:prstGeom>
          <a:solidFill>
            <a:srgbClr val="ECE6DD"/>
          </a:solidFill>
          <a:ln w="10160">
            <a:solidFill>
              <a:srgbClr val="D6CCB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627632" y="1115568"/>
            <a:ext cx="1024128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/var/log/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containers/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*.log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536192" y="1527048"/>
            <a:ext cx="73152" cy="9144"/>
          </a:xfrm>
          <a:prstGeom prst="line">
            <a:avLst/>
          </a:prstGeom>
          <a:noFill/>
          <a:ln w="19050">
            <a:solidFill>
              <a:srgbClr val="8A8078"/>
            </a:solidFill>
            <a:prstDash val="solid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536192" y="2029968"/>
            <a:ext cx="73152" cy="9144"/>
          </a:xfrm>
          <a:prstGeom prst="line">
            <a:avLst/>
          </a:prstGeom>
          <a:noFill/>
          <a:ln w="19050">
            <a:solidFill>
              <a:srgbClr val="8A8078"/>
            </a:solidFill>
            <a:prstDash val="solid"/>
            <a:tailEnd type="arrow"/>
          </a:ln>
        </p:spPr>
      </p:sp>
      <p:sp>
        <p:nvSpPr>
          <p:cNvPr id="23" name="Shape 21"/>
          <p:cNvSpPr/>
          <p:nvPr/>
        </p:nvSpPr>
        <p:spPr>
          <a:xfrm>
            <a:off x="1536192" y="2532888"/>
            <a:ext cx="73152" cy="9144"/>
          </a:xfrm>
          <a:prstGeom prst="line">
            <a:avLst/>
          </a:prstGeom>
          <a:noFill/>
          <a:ln w="19050">
            <a:solidFill>
              <a:srgbClr val="8A8078"/>
            </a:solidFill>
            <a:prstDash val="solid"/>
            <a:tailEnd type="arrow"/>
          </a:ln>
        </p:spPr>
      </p:sp>
      <p:sp>
        <p:nvSpPr>
          <p:cNvPr id="24" name="Shape 22"/>
          <p:cNvSpPr/>
          <p:nvPr/>
        </p:nvSpPr>
        <p:spPr>
          <a:xfrm>
            <a:off x="2880360" y="1508760"/>
            <a:ext cx="1234440" cy="91440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 w="19050">
            <a:solidFill>
              <a:srgbClr val="4A9968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2880360" y="1563624"/>
            <a:ext cx="1234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2935224" y="1984248"/>
            <a:ext cx="11247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 Bit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(DaemonSet)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916936" y="2212848"/>
            <a:ext cx="11612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per Node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670048" y="2167128"/>
            <a:ext cx="182880" cy="9144"/>
          </a:xfrm>
          <a:prstGeom prst="line">
            <a:avLst/>
          </a:prstGeom>
          <a:noFill/>
          <a:ln w="19050">
            <a:solidFill>
              <a:srgbClr val="B8892C"/>
            </a:solidFill>
            <a:prstDash val="solid"/>
            <a:tailEnd type="arrow"/>
          </a:ln>
        </p:spPr>
      </p:sp>
      <p:sp>
        <p:nvSpPr>
          <p:cNvPr id="29" name="Text 27"/>
          <p:cNvSpPr/>
          <p:nvPr/>
        </p:nvSpPr>
        <p:spPr>
          <a:xfrm>
            <a:off x="365760" y="413308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1 Collector = 1 Node | Lightweight | Shared by all Pods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754880" y="5943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Sidecar Pattern (Special Cases)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663440" y="914400"/>
            <a:ext cx="4114800" cy="1691640"/>
          </a:xfrm>
          <a:prstGeom prst="roundRect">
            <a:avLst>
              <a:gd name="adj" fmla="val 5405"/>
            </a:avLst>
          </a:prstGeom>
          <a:ln w="12700">
            <a:solidFill>
              <a:srgbClr val="B8892C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4754880" y="76809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FFFDF8"/>
          </a:solidFill>
          <a:ln w="6350">
            <a:solidFill>
              <a:srgbClr val="B8892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73168" y="76809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(with sidecar)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846320" y="1261872"/>
            <a:ext cx="137160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92040" y="126187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138928" y="1261872"/>
            <a:ext cx="10424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629400" y="1261872"/>
            <a:ext cx="137160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75120" y="126187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🔄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922008" y="1261872"/>
            <a:ext cx="10424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 Bit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Sidecar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263640" y="1764792"/>
            <a:ext cx="347472" cy="9144"/>
          </a:xfrm>
          <a:prstGeom prst="line">
            <a:avLst/>
          </a:prstGeom>
          <a:noFill/>
          <a:ln w="19050">
            <a:solidFill>
              <a:srgbClr val="B8892C"/>
            </a:solidFill>
            <a:prstDash val="solid"/>
            <a:tailEnd type="arrow"/>
          </a:ln>
        </p:spPr>
      </p:sp>
      <p:sp>
        <p:nvSpPr>
          <p:cNvPr id="41" name="Shape 39"/>
          <p:cNvSpPr/>
          <p:nvPr/>
        </p:nvSpPr>
        <p:spPr>
          <a:xfrm>
            <a:off x="6163056" y="1591056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B8892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163056" y="159105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B889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shared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B889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volume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663440" y="2743200"/>
            <a:ext cx="411480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0160">
            <a:solidFill>
              <a:srgbClr val="D6CCB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00600" y="2743200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when: each app needs its own log format configuration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663440" y="3182112"/>
            <a:ext cx="411480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0160">
            <a:solidFill>
              <a:srgbClr val="D6CCB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00600" y="3182112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when: legacy app writes to files (no code change)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663440" y="3621024"/>
            <a:ext cx="4114800" cy="384048"/>
          </a:xfrm>
          <a:prstGeom prst="roundRect">
            <a:avLst>
              <a:gd name="adj" fmla="val 14286"/>
            </a:avLst>
          </a:prstGeom>
          <a:solidFill>
            <a:srgbClr val="F3EDE0"/>
          </a:solidFill>
          <a:ln w="10160">
            <a:solidFill>
              <a:srgbClr val="B8892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00600" y="3621024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Downside: extra sidecar container per Pod (2× resources)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4663440" y="4059936"/>
            <a:ext cx="4114800" cy="384048"/>
          </a:xfrm>
          <a:prstGeom prst="roundRect">
            <a:avLst>
              <a:gd name="adj" fmla="val 14286"/>
            </a:avLst>
          </a:prstGeom>
          <a:solidFill>
            <a:srgbClr val="F3EDE0"/>
          </a:solidFill>
          <a:ln w="10160">
            <a:solidFill>
              <a:srgbClr val="B8892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00600" y="4059936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Downside: complex config, hard to manage uniformly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274320" y="437083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7200" y="44165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In K8s, 99% use DaemonSet (Fluent Bit) — unless you have a legacy app that cannot output to stdout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 / EFK Stack: The Industry's Most Widely Used Log Management Solution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658368"/>
            <a:ext cx="1874520" cy="2468880"/>
          </a:xfrm>
          <a:prstGeom prst="roundRect">
            <a:avLst>
              <a:gd name="adj" fmla="val 4878"/>
            </a:avLst>
          </a:prstGeom>
          <a:ln w="12700">
            <a:solidFill>
              <a:srgbClr val="5A9B6E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274320" y="51206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FFFDF8"/>
          </a:solidFill>
          <a:ln w="6350">
            <a:solidFill>
              <a:srgbClr val="5A9B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" y="51206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9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92608" y="960120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" y="9601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🌐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85216" y="960120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170432" y="960120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16152" y="9601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463040" y="960120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92608" y="1572768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8328" y="157276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📦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85216" y="1572768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170432" y="1572768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16152" y="157276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💳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463040" y="1572768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92608" y="2185416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8328" y="218541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📧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85216" y="2185416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170432" y="2185416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C480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216152" y="218541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463040" y="2185416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121408" y="1965960"/>
            <a:ext cx="438912" cy="9144"/>
          </a:xfrm>
          <a:prstGeom prst="line">
            <a:avLst/>
          </a:prstGeom>
          <a:noFill/>
          <a:ln w="19050">
            <a:solidFill>
              <a:srgbClr val="8A8078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>
            <a:off x="2066544" y="1792224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8A807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066544" y="1792224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stdout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633472" y="713232"/>
            <a:ext cx="1417320" cy="2395728"/>
          </a:xfrm>
          <a:prstGeom prst="roundRect">
            <a:avLst>
              <a:gd name="adj" fmla="val 6452"/>
            </a:avLst>
          </a:prstGeom>
          <a:solidFill>
            <a:srgbClr val="F5F1EB"/>
          </a:solidFill>
          <a:ln w="19050">
            <a:solidFill>
              <a:srgbClr val="B8892C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2633472" y="768096"/>
            <a:ext cx="1417320" cy="11020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2688336" y="1959011"/>
            <a:ext cx="13075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Fluentd /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 Bit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670048" y="2187611"/>
            <a:ext cx="1344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DaemonSet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tail logs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parse JSON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add k8s meta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filter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133088" y="1984248"/>
            <a:ext cx="411480" cy="9144"/>
          </a:xfrm>
          <a:prstGeom prst="line">
            <a:avLst/>
          </a:prstGeom>
          <a:noFill/>
          <a:ln w="19050">
            <a:solidFill>
              <a:srgbClr val="B8892C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4064508" y="1810512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B8892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064508" y="181051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B889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ship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4645152" y="1143000"/>
            <a:ext cx="1234440" cy="1371600"/>
          </a:xfrm>
          <a:prstGeom prst="roundRect">
            <a:avLst>
              <a:gd name="adj" fmla="val 7407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4645152" y="1197864"/>
            <a:ext cx="123444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🔧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4700016" y="1856232"/>
            <a:ext cx="11247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Logstash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681728" y="2084832"/>
            <a:ext cx="11612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(optional)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transform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enrich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route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943600" y="1920240"/>
            <a:ext cx="347472" cy="9144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  <a:tailEnd type="arrow"/>
          </a:ln>
        </p:spPr>
      </p:sp>
      <p:sp>
        <p:nvSpPr>
          <p:cNvPr id="42" name="Shape 40"/>
          <p:cNvSpPr/>
          <p:nvPr/>
        </p:nvSpPr>
        <p:spPr>
          <a:xfrm>
            <a:off x="6382512" y="713232"/>
            <a:ext cx="1389888" cy="2395728"/>
          </a:xfrm>
          <a:prstGeom prst="roundRect">
            <a:avLst>
              <a:gd name="adj" fmla="val 6579"/>
            </a:avLst>
          </a:prstGeom>
          <a:solidFill>
            <a:srgbClr val="F5F1EB"/>
          </a:solidFill>
          <a:ln w="19050">
            <a:solidFill>
              <a:srgbClr val="4A7FB5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6382512" y="768096"/>
            <a:ext cx="1389888" cy="11020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6437376" y="1959011"/>
            <a:ext cx="1280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Elasticsearch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419088" y="2187611"/>
            <a:ext cx="13167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index logs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full-text search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retention ILM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shard/replica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7845552" y="1984248"/>
            <a:ext cx="320040" cy="9144"/>
          </a:xfrm>
          <a:prstGeom prst="line">
            <a:avLst/>
          </a:prstGeom>
          <a:noFill/>
          <a:ln w="19050">
            <a:solidFill>
              <a:srgbClr val="5B8DB8"/>
            </a:solidFill>
            <a:prstDash val="solid"/>
            <a:tailEnd type="arrow"/>
          </a:ln>
        </p:spPr>
      </p:sp>
      <p:sp>
        <p:nvSpPr>
          <p:cNvPr id="47" name="Shape 45"/>
          <p:cNvSpPr/>
          <p:nvPr/>
        </p:nvSpPr>
        <p:spPr>
          <a:xfrm>
            <a:off x="8229600" y="1188720"/>
            <a:ext cx="822960" cy="1389888"/>
          </a:xfrm>
          <a:prstGeom prst="roundRect">
            <a:avLst>
              <a:gd name="adj" fmla="val 11111"/>
            </a:avLst>
          </a:prstGeom>
          <a:solidFill>
            <a:srgbClr val="F5F1EB"/>
          </a:solidFill>
          <a:ln w="19050">
            <a:solidFill>
              <a:srgbClr val="5B8DB8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8229600" y="1243584"/>
            <a:ext cx="822960" cy="639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49" name="Text 47"/>
          <p:cNvSpPr/>
          <p:nvPr/>
        </p:nvSpPr>
        <p:spPr>
          <a:xfrm>
            <a:off x="8284464" y="1911462"/>
            <a:ext cx="7132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Kibana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8266176" y="2140062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dashboard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274320" y="3310128"/>
            <a:ext cx="3931920" cy="594360"/>
          </a:xfrm>
          <a:prstGeom prst="roundRect">
            <a:avLst>
              <a:gd name="adj" fmla="val 12308"/>
            </a:avLst>
          </a:prstGeom>
          <a:solidFill>
            <a:srgbClr val="F5F1EB"/>
          </a:solidFill>
          <a:ln w="15240">
            <a:solidFill>
              <a:srgbClr val="4A9B8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1480" y="334670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9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EFK Stack = E + Fluentd + K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11480" y="3602736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Logstash → Fluentd (lighter, CNCF standard)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434840" y="3310128"/>
            <a:ext cx="4434840" cy="594360"/>
          </a:xfrm>
          <a:prstGeom prst="roundRect">
            <a:avLst>
              <a:gd name="adj" fmla="val 12308"/>
            </a:avLst>
          </a:prstGeom>
          <a:solidFill>
            <a:srgbClr val="F5F1EB"/>
          </a:solidFill>
          <a:ln w="15240">
            <a:solidFill>
              <a:srgbClr val="4A996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0" y="3346704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🆕 Grafana Loki: Lightweight Alternative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4572000" y="3602736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Label-based indexing (no full-text indexing) → 90% storage cost reduction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274320" y="406908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7200" y="411480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ELK is powerful but expensive (Elasticsearch storage costs are high); Loki is cheap but weaker at search — choose based on budget and query needs</a:t>
            </a:r>
            <a:endParaRPr lang="en-US" sz="10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Fluentd / Fluent Bit: The Swiss Army Knife of Log Pipelines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365760" y="621792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Pipeline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896112"/>
            <a:ext cx="4389120" cy="914400"/>
          </a:xfrm>
          <a:prstGeom prst="roundRect">
            <a:avLst>
              <a:gd name="adj" fmla="val 8000"/>
            </a:avLst>
          </a:prstGeom>
          <a:solidFill>
            <a:srgbClr val="F5F1EB"/>
          </a:solidFill>
          <a:ln w="1524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9144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⬇️ INPUT Plugins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225296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ECE6DD"/>
          </a:solidFill>
          <a:ln w="10160">
            <a:solidFill>
              <a:srgbClr val="B889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225296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 (file)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536192" y="1225296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ECE6DD"/>
          </a:solidFill>
          <a:ln w="10160">
            <a:solidFill>
              <a:srgbClr val="B889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36192" y="1225296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systemd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615184" y="1225296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ECE6DD"/>
          </a:solidFill>
          <a:ln w="10160">
            <a:solidFill>
              <a:srgbClr val="B8892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15184" y="1225296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forward (TCP)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694176" y="1225296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ECE6DD"/>
          </a:solidFill>
          <a:ln w="10160">
            <a:solidFill>
              <a:srgbClr val="B8892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94176" y="1225296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578608" y="1883664"/>
            <a:ext cx="9144" cy="128016"/>
          </a:xfrm>
          <a:prstGeom prst="line">
            <a:avLst/>
          </a:prstGeom>
          <a:noFill/>
          <a:ln w="19050">
            <a:solidFill>
              <a:srgbClr val="B8892C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365760" y="1938528"/>
            <a:ext cx="4389120" cy="914400"/>
          </a:xfrm>
          <a:prstGeom prst="roundRect">
            <a:avLst>
              <a:gd name="adj" fmla="val 8000"/>
            </a:avLst>
          </a:prstGeom>
          <a:solidFill>
            <a:srgbClr val="F5F1EB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195681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FILTER Plugins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2267712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ECE6DD"/>
          </a:solidFill>
          <a:ln w="10160">
            <a:solidFill>
              <a:srgbClr val="4A7F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2267712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 (JSON/regex)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536192" y="2267712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ECE6DD"/>
          </a:solidFill>
          <a:ln w="10160">
            <a:solidFill>
              <a:srgbClr val="4A7F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36192" y="2267712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grep (filter)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615184" y="2267712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ECE6DD"/>
          </a:solidFill>
          <a:ln w="10160">
            <a:solidFill>
              <a:srgbClr val="4A7F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15184" y="2267712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record_transformer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94176" y="2267712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ECE6DD"/>
          </a:solidFill>
          <a:ln w="10160">
            <a:solidFill>
              <a:srgbClr val="4A7F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94176" y="2267712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kubernetes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578608" y="2907792"/>
            <a:ext cx="9144" cy="128016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365760" y="2962656"/>
            <a:ext cx="4389120" cy="914400"/>
          </a:xfrm>
          <a:prstGeom prst="roundRect">
            <a:avLst>
              <a:gd name="adj" fmla="val 8000"/>
            </a:avLst>
          </a:prstGeom>
          <a:solidFill>
            <a:srgbClr val="F5F1EB"/>
          </a:solidFill>
          <a:ln w="15240">
            <a:solidFill>
              <a:srgbClr val="4A996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2920" y="298094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⬆️ OUTPUT Plugins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3291840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ECE6DD"/>
          </a:solidFill>
          <a:ln w="10160">
            <a:solidFill>
              <a:srgbClr val="4A996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3291840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elasticsearch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1536192" y="3291840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ECE6DD"/>
          </a:solidFill>
          <a:ln w="10160">
            <a:solidFill>
              <a:srgbClr val="4A996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536192" y="3291840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kafka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615184" y="3291840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ECE6DD"/>
          </a:solidFill>
          <a:ln w="10160">
            <a:solidFill>
              <a:srgbClr val="4A996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15184" y="3291840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s3 (archive)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3694176" y="3291840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ECE6DD"/>
          </a:solidFill>
          <a:ln w="10160">
            <a:solidFill>
              <a:srgbClr val="4A996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94176" y="3291840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stdout (debug)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257800" y="685800"/>
            <a:ext cx="3520440" cy="1353312"/>
          </a:xfrm>
          <a:prstGeom prst="roundRect">
            <a:avLst>
              <a:gd name="adj" fmla="val 5405"/>
            </a:avLst>
          </a:prstGeom>
          <a:solidFill>
            <a:srgbClr val="F5F1EB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257800" y="685800"/>
            <a:ext cx="3520440" cy="274320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49240" y="685800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 |  Fluentd  |  Fluent Bit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257800" y="987552"/>
            <a:ext cx="3520440" cy="256032"/>
          </a:xfrm>
          <a:prstGeom prst="rect">
            <a:avLst/>
          </a:prstGeom>
          <a:solidFill>
            <a:srgbClr val="F5F1EB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49240" y="987552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 |  Ruby  |  C/Rust (lightweight)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7800" y="1243584"/>
            <a:ext cx="3520440" cy="256032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349240" y="1243584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 |  ~40MB  |  ~650KB(!)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57800" y="1499616"/>
            <a:ext cx="3520440" cy="256032"/>
          </a:xfrm>
          <a:prstGeom prst="rect">
            <a:avLst/>
          </a:prstGeom>
          <a:solidFill>
            <a:srgbClr val="F5F1EB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49240" y="1499616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 |  1000+  |  70+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7800" y="1755648"/>
            <a:ext cx="3520440" cy="256032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349240" y="1755648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 |  Servers  |  K8s DaemonSet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7800" y="2148840"/>
            <a:ext cx="3520440" cy="2697480"/>
          </a:xfrm>
          <a:prstGeom prst="roundRect">
            <a:avLst>
              <a:gd name="adj" fmla="val 3390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blurRad="127000" dist="508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5349240" y="20025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367528" y="20025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fluent-bit.conf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5385816" y="2258568"/>
            <a:ext cx="3264408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[SERVICE]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Flush        5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Log_Level    info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[INPUT]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         tail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Path         /var/log/containers/*.log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Parser       docker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          kube.*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[FILTER]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         kubernetes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Match        kube.*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Merge_Log    On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Keep_Log     Off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[OUTPUT]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         es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Match        *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Host         elasticsearch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Port         9200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Index        k8s-logs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274320" y="493776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" y="49834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Fluent Bit is nearly standard in K8s — uses only 650KB memory, one per Node, auto-collects all Container logs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Loki: Managing Logs Like Prometheus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Elasticsearch vs Loki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0040" y="1005840"/>
            <a:ext cx="731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Indexing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14400" y="1005840"/>
            <a:ext cx="1463040" cy="475488"/>
          </a:xfrm>
          <a:prstGeom prst="roundRect">
            <a:avLst>
              <a:gd name="adj" fmla="val 11538"/>
            </a:avLst>
          </a:prstGeom>
          <a:solidFill>
            <a:srgbClr val="F3EDE0"/>
          </a:solidFill>
          <a:ln w="10160">
            <a:solidFill>
              <a:srgbClr val="B889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1005840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Elasticsearch: Full-text index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storage cost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60320" y="1005840"/>
            <a:ext cx="1554480" cy="475488"/>
          </a:xfrm>
          <a:prstGeom prst="roundRect">
            <a:avLst>
              <a:gd name="adj" fmla="val 11538"/>
            </a:avLst>
          </a:prstGeom>
          <a:solidFill>
            <a:srgbClr val="E5F0E9"/>
          </a:solidFill>
          <a:ln w="10160">
            <a:solidFill>
              <a:srgbClr val="4A996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06040" y="1005840"/>
            <a:ext cx="1463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Loki: Index labels only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lower storage cost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20040" y="1536192"/>
            <a:ext cx="731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914400" y="1536192"/>
            <a:ext cx="1463040" cy="475488"/>
          </a:xfrm>
          <a:prstGeom prst="roundRect">
            <a:avLst>
              <a:gd name="adj" fmla="val 11538"/>
            </a:avLst>
          </a:prstGeom>
          <a:solidFill>
            <a:srgbClr val="F5F1EB"/>
          </a:solidFill>
          <a:ln w="10160">
            <a:solidFill>
              <a:srgbClr val="D6CCB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1536192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Full-text arbitrary search, very powerful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560320" y="1536192"/>
            <a:ext cx="1554480" cy="475488"/>
          </a:xfrm>
          <a:prstGeom prst="roundRect">
            <a:avLst>
              <a:gd name="adj" fmla="val 11538"/>
            </a:avLst>
          </a:prstGeom>
          <a:solidFill>
            <a:srgbClr val="F5F1EB"/>
          </a:solidFill>
          <a:ln w="10160">
            <a:solidFill>
              <a:srgbClr val="D6CCB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06040" y="1536192"/>
            <a:ext cx="1463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LogQL queries, requires labels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20040" y="2066544"/>
            <a:ext cx="731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14400" y="2066544"/>
            <a:ext cx="1463040" cy="475488"/>
          </a:xfrm>
          <a:prstGeom prst="roundRect">
            <a:avLst>
              <a:gd name="adj" fmla="val 11538"/>
            </a:avLst>
          </a:prstGeom>
          <a:solidFill>
            <a:srgbClr val="F5F1EB"/>
          </a:solidFill>
          <a:ln w="10160">
            <a:solidFill>
              <a:srgbClr val="D6CCB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2066544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Kibana (separate installation)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560320" y="2066544"/>
            <a:ext cx="1554480" cy="475488"/>
          </a:xfrm>
          <a:prstGeom prst="roundRect">
            <a:avLst>
              <a:gd name="adj" fmla="val 11538"/>
            </a:avLst>
          </a:prstGeom>
          <a:solidFill>
            <a:srgbClr val="F5F1EB"/>
          </a:solidFill>
          <a:ln w="10160">
            <a:solidFill>
              <a:srgbClr val="D6CCB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06040" y="2066544"/>
            <a:ext cx="1463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Grafana support (all-in-one)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0040" y="2596896"/>
            <a:ext cx="731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914400" y="2596896"/>
            <a:ext cx="1463040" cy="475488"/>
          </a:xfrm>
          <a:prstGeom prst="roundRect">
            <a:avLst>
              <a:gd name="adj" fmla="val 11538"/>
            </a:avLst>
          </a:prstGeom>
          <a:solidFill>
            <a:srgbClr val="F8ECEC"/>
          </a:solidFill>
          <a:ln w="10160">
            <a:solidFill>
              <a:srgbClr val="C4605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0120" y="2596896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Expensive (high EC2 + Disk overhead)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560320" y="2596896"/>
            <a:ext cx="1554480" cy="475488"/>
          </a:xfrm>
          <a:prstGeom prst="roundRect">
            <a:avLst>
              <a:gd name="adj" fmla="val 11538"/>
            </a:avLst>
          </a:prstGeom>
          <a:solidFill>
            <a:srgbClr val="E5F0E9"/>
          </a:solidFill>
          <a:ln w="10160">
            <a:solidFill>
              <a:srgbClr val="4A99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2596896"/>
            <a:ext cx="1463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💚 Affordable (S3 for log data storage)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3182112"/>
            <a:ext cx="4023360" cy="658368"/>
          </a:xfrm>
          <a:prstGeom prst="roundRect">
            <a:avLst>
              <a:gd name="adj" fmla="val 11111"/>
            </a:avLst>
          </a:prstGeom>
          <a:solidFill>
            <a:srgbClr val="F5F1EB"/>
          </a:solidFill>
          <a:ln w="15240">
            <a:solidFill>
              <a:srgbClr val="4A996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1480" y="3218688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Loki: Grafana ecosystem, cost-sensitive, logs queried by service/namespace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11480" y="3529584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ES: Need complex full-text search, existing Elastic investment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709160" y="658368"/>
            <a:ext cx="4160520" cy="2084832"/>
          </a:xfrm>
          <a:prstGeom prst="roundRect">
            <a:avLst>
              <a:gd name="adj" fmla="val 4386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blurRad="127000" dist="508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800600" y="51206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18888" y="51206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LogQL Examples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837176" y="768096"/>
            <a:ext cx="3904488" cy="1901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Filter ERROR logs for a specific service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{service="payment-svc", env="prod"}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|= "ERROR"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Parse JSON + filter fields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{service="api"}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 json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 status &gt;= 500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Calculate error rate per minute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sum(rate({service="api"} |= "ERROR" [1m]))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by (service)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Find correlated logs by trace_id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{namespace="prod"}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|= `trace_id="abc-123-xyz"`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709160" y="2852928"/>
            <a:ext cx="1920240" cy="1097280"/>
          </a:xfrm>
          <a:prstGeom prst="roundRect">
            <a:avLst>
              <a:gd name="adj" fmla="val 8333"/>
            </a:avLst>
          </a:prstGeom>
          <a:solidFill>
            <a:srgbClr val="F5F1EB"/>
          </a:solidFill>
          <a:ln w="19050">
            <a:solidFill>
              <a:srgbClr val="B8892C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4709160" y="2907792"/>
            <a:ext cx="1920240" cy="5047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4764024" y="3423514"/>
            <a:ext cx="18105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Promtail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745736" y="3652114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 logs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(DaemonSet)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675120" y="3447288"/>
            <a:ext cx="384048" cy="9144"/>
          </a:xfrm>
          <a:prstGeom prst="line">
            <a:avLst/>
          </a:prstGeom>
          <a:noFill/>
          <a:ln w="19050">
            <a:solidFill>
              <a:srgbClr val="4A9968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>
            <a:off x="6592824" y="3273552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4A996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92824" y="327355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A99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7132320" y="2852928"/>
            <a:ext cx="1828800" cy="1097280"/>
          </a:xfrm>
          <a:prstGeom prst="roundRect">
            <a:avLst>
              <a:gd name="adj" fmla="val 8333"/>
            </a:avLst>
          </a:prstGeom>
          <a:solidFill>
            <a:srgbClr val="F5F1EB"/>
          </a:solidFill>
          <a:ln w="19050">
            <a:solidFill>
              <a:srgbClr val="4A9968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32320" y="2907792"/>
            <a:ext cx="1828800" cy="5047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7187184" y="3423514"/>
            <a:ext cx="17190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168896" y="3652114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 index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S3 storage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274320" y="406908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7200" y="411480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Loki's philosophy: Index only labels (service, env, pod), store log body in S3 — saves money but sacrifices full-text search flexibility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Sampling Strategies: Balancing Completeness and Cost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023360" cy="1170432"/>
          </a:xfrm>
          <a:prstGeom prst="roundRect">
            <a:avLst>
              <a:gd name="adj" fmla="val 6250"/>
            </a:avLst>
          </a:prstGeom>
          <a:solidFill>
            <a:srgbClr val="F3EDE0"/>
          </a:solidFill>
          <a:ln w="19050">
            <a:solidFill>
              <a:srgbClr val="B8892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62179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System Log Volume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" y="91440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microservices × 1000 req/s × avg 3 log lines × 500 bytes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74320" y="118872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75 MB/s = 6.5 TB/day = 195 TB/month 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1874520"/>
            <a:ext cx="4023360" cy="530352"/>
          </a:xfrm>
          <a:prstGeom prst="roundRect">
            <a:avLst>
              <a:gd name="adj" fmla="val 13793"/>
            </a:avLst>
          </a:prstGeom>
          <a:solidFill>
            <a:srgbClr val="E5F0E9"/>
          </a:solidFill>
          <a:ln w="15240">
            <a:solidFill>
              <a:srgbClr val="4A99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911096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100% Record Errors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11480" y="2148840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all ERRORs — no sampling, cost is acceptable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74320" y="2468880"/>
            <a:ext cx="4023360" cy="530352"/>
          </a:xfrm>
          <a:prstGeom prst="roundRect">
            <a:avLst>
              <a:gd name="adj" fmla="val 13793"/>
            </a:avLst>
          </a:prstGeom>
          <a:solidFill>
            <a:srgbClr val="F5F1EB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505456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N% Sample Success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11480" y="2743200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requests keep only 10% — statistically sufficient, saves 90% cost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3063240"/>
            <a:ext cx="4023360" cy="530352"/>
          </a:xfrm>
          <a:prstGeom prst="roundRect">
            <a:avLst>
              <a:gd name="adj" fmla="val 13793"/>
            </a:avLst>
          </a:prstGeom>
          <a:solidFill>
            <a:srgbClr val="F5F1EB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3099816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Head-based Sampling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11480" y="3337560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at request start: if trace is sampled, keep all its logs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3657600"/>
            <a:ext cx="4023360" cy="530352"/>
          </a:xfrm>
          <a:prstGeom prst="roundRect">
            <a:avLst>
              <a:gd name="adj" fmla="val 13793"/>
            </a:avLst>
          </a:prstGeom>
          <a:solidFill>
            <a:srgbClr val="F5F1EB"/>
          </a:solidFill>
          <a:ln w="15240">
            <a:solidFill>
              <a:srgbClr val="8B6A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" y="3694176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Dynamic Sampling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11480" y="3931920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trace_ids keep all; repeated patterns reduce sample rate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754880" y="62179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Retention Policy (ILM)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754880" y="960120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E5F0E9"/>
          </a:solidFill>
          <a:ln w="15240">
            <a:solidFill>
              <a:srgbClr val="4A996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92040" y="100584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Hot (0-7 days)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892040" y="126187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SSD storage, fast queries | Recent incidents | Most expensive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754880" y="1618488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F3EDE0"/>
          </a:solidFill>
          <a:ln w="15240">
            <a:solidFill>
              <a:srgbClr val="B8892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92040" y="166420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Warm (7-30 days)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92040" y="192024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HDD storage | This month's events | Medium cost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754880" y="2276856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F5F1EB"/>
          </a:solidFill>
          <a:ln w="15240">
            <a:solidFill>
              <a:srgbClr val="8A807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92040" y="232257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❄️ Cold (30+ days)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92040" y="257860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S3/GCS object storage | Compliance/audit | Very low cost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709160" y="2971800"/>
            <a:ext cx="4160520" cy="1572768"/>
          </a:xfrm>
          <a:prstGeom prst="roundRect">
            <a:avLst>
              <a:gd name="adj" fmla="val 5814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blurRad="127000" dist="508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800600" y="282549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18888" y="282549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Fluent Bit sampling filter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837176" y="3081528"/>
            <a:ext cx="3904488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[FILTER]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     grep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Match    *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Keep only ERROR and WARN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Regex    level ^(ERROR|WARN)$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[FILTER]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     sampling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Match    *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Keep 1 out of every 10 INFO logs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Rate     0.1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Condition  level INFO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Three principles for log cost control: ERROR 100% retained, INFO sampled at 10%, DEBUG never in Production</a:t>
            </a:r>
            <a:endParaRPr lang="en-US" sz="10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Query in Practice: From Chaos to Insight in a Few Commands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8595360" cy="4224528"/>
          </a:xfrm>
          <a:prstGeom prst="roundRect">
            <a:avLst>
              <a:gd name="adj" fmla="val 2165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blurRad="127000" dist="508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 Query Examples (Kibana KQL / Loki LogQL)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02336" y="704088"/>
            <a:ext cx="8339328" cy="4041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===== Kibana KQL =====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Find ERROR logs for a specific service in the last hour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service:"payment-svc" AND level:ERROR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Find all actions by a specific user (audit)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user_id:"user-789" AND @timestamp:[now-24h TO now]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Find high-latency requests (&gt;1000ms)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service:"api" AND duration_ms:&gt;1000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Find all related logs for a specific trace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trace_id:"abc-123-xyz"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===== Grafana LogQL (Loki) =====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5. Calculate error rate per service (per minute)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 by(service) (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rate({namespace="prod"} |= "ERROR" [1m])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6. Extract fields from JSON logs and filter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{service="order-svc"}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 json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 duration_ms &gt; 500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 line_format "{{.user_id}} took {{.duration_ms}}ms"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7. Find the slowest API endpoints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topk(10,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sum by(path) (rate({service="api"}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| json | duration_ms &gt; 0 [5m])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)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491947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9651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In Grafana you can jump from Metrics alerts directly to Logs (Explore), then to Traces — that is the power of observability</a:t>
            </a:r>
            <a:endParaRPr lang="en-US" sz="10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Log-based Alerting: Making Logs More Than Passive Records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365760" y="62179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Log Alerting Modes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914400"/>
            <a:ext cx="4114800" cy="594360"/>
          </a:xfrm>
          <a:prstGeom prst="roundRect">
            <a:avLst>
              <a:gd name="adj" fmla="val 12308"/>
            </a:avLst>
          </a:prstGeom>
          <a:solidFill>
            <a:srgbClr val="F5F1EB"/>
          </a:solidFill>
          <a:ln w="15240">
            <a:solidFill>
              <a:srgbClr val="C4605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96012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Keyword Alert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121615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contains CRITICAL / OOM / panic → alert immediately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1572768"/>
            <a:ext cx="4114800" cy="594360"/>
          </a:xfrm>
          <a:prstGeom prst="roundRect">
            <a:avLst>
              <a:gd name="adj" fmla="val 12308"/>
            </a:avLst>
          </a:prstGeom>
          <a:solidFill>
            <a:srgbClr val="F5F1EB"/>
          </a:solidFill>
          <a:ln w="15240">
            <a:solidFill>
              <a:srgbClr val="B8892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61848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Rate Alert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187452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count &gt; 50 in 1 minute → something is wrong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74320" y="2231136"/>
            <a:ext cx="4114800" cy="594360"/>
          </a:xfrm>
          <a:prstGeom prst="roundRect">
            <a:avLst>
              <a:gd name="adj" fmla="val 12308"/>
            </a:avLst>
          </a:prstGeom>
          <a:solidFill>
            <a:srgbClr val="F5F1EB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27685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Absence Alert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253288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check log missing for 5 minutes → service may be down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74320" y="2907792"/>
            <a:ext cx="4114800" cy="1828800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blurRad="127000" dist="508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76148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2761488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Kibana Alert Rule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02336" y="3017520"/>
            <a:ext cx="3858768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Kibana Watcher (JSON)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index: k8s-logs-*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filter: level:ERROR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threshold: count &gt; 100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time_window: 5m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schedule: every 1m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action: slack_webhook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709160" y="685800"/>
            <a:ext cx="4160520" cy="2148840"/>
          </a:xfrm>
          <a:prstGeom prst="roundRect">
            <a:avLst>
              <a:gd name="adj" fmla="val 4255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blurRad="127000" dist="508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00600" y="53949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18888" y="53949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Loki Ruler Alert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37176" y="795528"/>
            <a:ext cx="3904488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prometheus-style alert from logs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groups: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name: log-alerts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rules: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alert: HighErrorRate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expr: |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sum(rate({namespace='prod'}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|= 'ERROR' [5m]))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/ sum(rate({namespace='prod'} [5m]))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&gt; 0.05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for: 2m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labels: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severity: critical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annotations: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summary: 'Error rate &gt;5%'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709160" y="2944368"/>
            <a:ext cx="4160520" cy="1444752"/>
          </a:xfrm>
          <a:prstGeom prst="roundRect">
            <a:avLst>
              <a:gd name="adj" fmla="val 5063"/>
            </a:avLst>
          </a:prstGeom>
          <a:solidFill>
            <a:srgbClr val="F5F1EB"/>
          </a:solidFill>
          <a:ln w="15240">
            <a:solidFill>
              <a:srgbClr val="4A99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46320" y="2980944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Deriving Metrics from Logs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46320" y="3291840"/>
            <a:ext cx="384048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 can compute Metrics from Logs in real time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need to add a Prometheus client in the App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Great for quickly adding Metrics to Legacy Apps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74320" y="455371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459943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Log alerts are more context-rich than Metric alerts — alert messages can include log content, so on-call can see the problem at a glance</a:t>
            </a:r>
            <a:endParaRPr lang="en-US" sz="10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Engineering Best Practices: Making Logs Truly Valuable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Logging Best Practices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987552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00584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Output to stdout uniformly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11480" y="1207008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for containerized environments, K8s/Docker auto-handles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74320" y="1463040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481328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Use structured JSON format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11480" y="1682496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Machine-readable, Kibana/Loki auto-parse fields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74320" y="1938528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956816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Include trace_id / correlation_id in every log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11480" y="2157984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 cross-service requests, one ID to trace all related logs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74320" y="2414016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2432304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Include necessary context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11480" y="2633472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user_id, service, version, env, duration_ms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74320" y="2889504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2907792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Error logs with full Stack Trace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1480" y="3108960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just log the message, include the exception chain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274320" y="3364992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1480" y="338328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Set appropriate Log Levels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11480" y="3584448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Production: INFO+, enable DEBUG only when needed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66344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7316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Logging Anti-Patterns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663440" y="987552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00600" y="100584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Log sensitive data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800600" y="1207008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Passwords, credit card numbers, PII — GDPR violation!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663440" y="1463040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1481328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DEBUG logs left in Production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00600" y="1682496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issues + storage cost explosion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663440" y="1938528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00600" y="1956816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catch(e) { logger.error('error') }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800600" y="2157984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context, impossible to debug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663440" y="2414016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F3EDE0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00600" y="2432304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Log but never look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800600" y="2633472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massive logs but no Dashboard or alerts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663440" y="2889504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F3EDE0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00600" y="2907792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Log all fields for every request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800600" y="3108960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sampling strategy → 10× storage cost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663440" y="3364992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F3EDE0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00600" y="338328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Only log errors, never successes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4800600" y="3584448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analyze normal traffic patterns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The most important logging principle: every log should have a reader — logs nobody reads are waste; alerts and dashboards are the purpose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Summary: From Event Records to System Insight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658368"/>
            <a:ext cx="1325880" cy="1188720"/>
          </a:xfrm>
          <a:prstGeom prst="roundRect">
            <a:avLst>
              <a:gd name="adj" fmla="val 7692"/>
            </a:avLst>
          </a:prstGeom>
          <a:solidFill>
            <a:srgbClr val="F5F1EB"/>
          </a:solidFill>
          <a:ln w="19050">
            <a:solidFill>
              <a:srgbClr val="5A9B6E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2880" y="713232"/>
            <a:ext cx="132588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37744" y="1276502"/>
            <a:ext cx="12161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19456" y="1505102"/>
            <a:ext cx="12527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structlog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 output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554480" y="1325880"/>
            <a:ext cx="320040" cy="9144"/>
          </a:xfrm>
          <a:prstGeom prst="line">
            <a:avLst/>
          </a:prstGeom>
          <a:noFill/>
          <a:ln w="19050">
            <a:solidFill>
              <a:srgbClr val="8A8078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1440180" y="1152144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8A807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0180" y="1152144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stdout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1965960" y="658368"/>
            <a:ext cx="1325880" cy="1188720"/>
          </a:xfrm>
          <a:prstGeom prst="roundRect">
            <a:avLst>
              <a:gd name="adj" fmla="val 7692"/>
            </a:avLst>
          </a:prstGeom>
          <a:solidFill>
            <a:srgbClr val="F5F1EB"/>
          </a:solidFill>
          <a:ln w="19050">
            <a:solidFill>
              <a:srgbClr val="B8892C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965960" y="713232"/>
            <a:ext cx="132588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020824" y="1276502"/>
            <a:ext cx="12161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 Bit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002536" y="1505102"/>
            <a:ext cx="12527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DaemonSet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collect+parse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337560" y="1325880"/>
            <a:ext cx="347472" cy="9144"/>
          </a:xfrm>
          <a:prstGeom prst="line">
            <a:avLst/>
          </a:prstGeom>
          <a:noFill/>
          <a:ln w="19050">
            <a:solidFill>
              <a:srgbClr val="B8892C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3236976" y="1152144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B8892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36976" y="1152144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B889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ship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776472" y="658368"/>
            <a:ext cx="1325880" cy="1188720"/>
          </a:xfrm>
          <a:prstGeom prst="roundRect">
            <a:avLst>
              <a:gd name="adj" fmla="val 7692"/>
            </a:avLst>
          </a:prstGeom>
          <a:solidFill>
            <a:srgbClr val="F5F1EB"/>
          </a:solidFill>
          <a:ln w="19050">
            <a:solidFill>
              <a:srgbClr val="4A7FB5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776472" y="713232"/>
            <a:ext cx="132588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3831336" y="1276502"/>
            <a:ext cx="12161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 / ES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813048" y="1505102"/>
            <a:ext cx="12527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index+store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labels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148072" y="1325880"/>
            <a:ext cx="347472" cy="9144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5047488" y="1152144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47488" y="1152144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A7F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5586984" y="658368"/>
            <a:ext cx="1325880" cy="1188720"/>
          </a:xfrm>
          <a:prstGeom prst="roundRect">
            <a:avLst>
              <a:gd name="adj" fmla="val 7692"/>
            </a:avLst>
          </a:prstGeom>
          <a:solidFill>
            <a:srgbClr val="F5F1EB"/>
          </a:solidFill>
          <a:ln w="19050">
            <a:solidFill>
              <a:srgbClr val="5B8DB8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586984" y="713232"/>
            <a:ext cx="132588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5641848" y="1276502"/>
            <a:ext cx="12161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Kibana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623560" y="1505102"/>
            <a:ext cx="12527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dashboard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958584" y="1325880"/>
            <a:ext cx="347472" cy="9144"/>
          </a:xfrm>
          <a:prstGeom prst="line">
            <a:avLst/>
          </a:prstGeom>
          <a:noFill/>
          <a:ln w="19050">
            <a:solidFill>
              <a:srgbClr val="C4605B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6858000" y="1152144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C4605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0" y="1152144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C460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7397496" y="658368"/>
            <a:ext cx="1600200" cy="1188720"/>
          </a:xfrm>
          <a:prstGeom prst="roundRect">
            <a:avLst>
              <a:gd name="adj" fmla="val 7692"/>
            </a:avLst>
          </a:prstGeom>
          <a:solidFill>
            <a:srgbClr val="F5F1EB"/>
          </a:solidFill>
          <a:ln w="19050">
            <a:solidFill>
              <a:srgbClr val="B8892C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7397496" y="713232"/>
            <a:ext cx="160020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📱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7452360" y="1276502"/>
            <a:ext cx="14904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On-Call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434072" y="1505102"/>
            <a:ext cx="1527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investigate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 resolve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74320" y="2103120"/>
            <a:ext cx="2651760" cy="2560320"/>
          </a:xfrm>
          <a:prstGeom prst="roundRect">
            <a:avLst>
              <a:gd name="adj" fmla="val 3571"/>
            </a:avLst>
          </a:prstGeom>
          <a:solidFill>
            <a:srgbClr val="F5F1EB"/>
          </a:solidFill>
          <a:ln w="19050">
            <a:solidFill>
              <a:srgbClr val="B8892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217627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Structured First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84048" y="2542032"/>
            <a:ext cx="2432304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format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Machine-readable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trace_id required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enough context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sensitive data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154680" y="2103120"/>
            <a:ext cx="2651760" cy="2560320"/>
          </a:xfrm>
          <a:prstGeom prst="roundRect">
            <a:avLst>
              <a:gd name="adj" fmla="val 3571"/>
            </a:avLst>
          </a:prstGeom>
          <a:solidFill>
            <a:srgbClr val="F5F1EB"/>
          </a:solidFill>
          <a:ln w="19050">
            <a:solidFill>
              <a:srgbClr val="4A9B8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46120" y="217627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A9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DaemonSet Collection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3264408" y="2542032"/>
            <a:ext cx="2432304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standard: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 Bit DaemonSet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Auto-collect stdout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Auto-add k8s metadata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to Loki or ES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035040" y="2103120"/>
            <a:ext cx="2651760" cy="2560320"/>
          </a:xfrm>
          <a:prstGeom prst="roundRect">
            <a:avLst>
              <a:gd name="adj" fmla="val 3571"/>
            </a:avLst>
          </a:prstGeom>
          <a:solidFill>
            <a:srgbClr val="F5F1EB"/>
          </a:solidFill>
          <a:ln w="19050">
            <a:solidFill>
              <a:srgbClr val="C4605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126480" y="217627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Cost Control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144768" y="2542032"/>
            <a:ext cx="2432304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→ 100% retained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 → 10% sampled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→ not in Prod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Hot/Warm/Cold tiers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 90% cheaper than ES</a:t>
            </a:r>
            <a:endParaRPr lang="en-US" sz="9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Tracing: Why We Need It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4/10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384048" cy="822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8595360" cy="475488"/>
          </a:xfrm>
          <a:prstGeom prst="roundRect">
            <a:avLst>
              <a:gd name="adj" fmla="val 15385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9436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In distributed systems, a single request traverses 10+ services — every hop is a potential failure point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82880" y="1170432"/>
            <a:ext cx="1170432" cy="91440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82880" y="1225296"/>
            <a:ext cx="1170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37744" y="1645920"/>
            <a:ext cx="106070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Request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417320" y="1170432"/>
            <a:ext cx="1170432" cy="91440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417320" y="1225296"/>
            <a:ext cx="1170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🖥️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472184" y="1645920"/>
            <a:ext cx="106070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651760" y="1170432"/>
            <a:ext cx="1170432" cy="91440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651760" y="1225296"/>
            <a:ext cx="1170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🔀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706624" y="1645920"/>
            <a:ext cx="106070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886200" y="1170432"/>
            <a:ext cx="1170432" cy="91440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886200" y="1225296"/>
            <a:ext cx="1170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🔐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3941064" y="1645920"/>
            <a:ext cx="106070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Service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120640" y="1170432"/>
            <a:ext cx="1170432" cy="91440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120640" y="1225296"/>
            <a:ext cx="1170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5175504" y="1645920"/>
            <a:ext cx="106070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Service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355080" y="1170432"/>
            <a:ext cx="1170432" cy="91440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355080" y="1225296"/>
            <a:ext cx="1170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🏭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6409944" y="1645920"/>
            <a:ext cx="106070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Svc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589520" y="1170432"/>
            <a:ext cx="1170432" cy="91440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589520" y="1225296"/>
            <a:ext cx="1170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7644384" y="1645920"/>
            <a:ext cx="1060704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1353312" y="1581912"/>
            <a:ext cx="246888" cy="9144"/>
          </a:xfrm>
          <a:prstGeom prst="line">
            <a:avLst/>
          </a:prstGeom>
          <a:noFill/>
          <a:ln w="19050">
            <a:solidFill>
              <a:srgbClr val="8B6AB5"/>
            </a:solidFill>
            <a:prstDash val="solid"/>
            <a:tailEnd type="arrow"/>
          </a:ln>
        </p:spPr>
      </p:sp>
      <p:sp>
        <p:nvSpPr>
          <p:cNvPr id="33" name="Shape 31"/>
          <p:cNvSpPr/>
          <p:nvPr/>
        </p:nvSpPr>
        <p:spPr>
          <a:xfrm>
            <a:off x="2587752" y="1581912"/>
            <a:ext cx="246888" cy="9144"/>
          </a:xfrm>
          <a:prstGeom prst="line">
            <a:avLst/>
          </a:prstGeom>
          <a:noFill/>
          <a:ln w="19050">
            <a:solidFill>
              <a:srgbClr val="8B6AB5"/>
            </a:solidFill>
            <a:prstDash val="solid"/>
            <a:tailEnd type="arrow"/>
          </a:ln>
        </p:spPr>
      </p:sp>
      <p:sp>
        <p:nvSpPr>
          <p:cNvPr id="34" name="Shape 32"/>
          <p:cNvSpPr/>
          <p:nvPr/>
        </p:nvSpPr>
        <p:spPr>
          <a:xfrm>
            <a:off x="3822192" y="1581912"/>
            <a:ext cx="246888" cy="9144"/>
          </a:xfrm>
          <a:prstGeom prst="line">
            <a:avLst/>
          </a:prstGeom>
          <a:noFill/>
          <a:ln w="19050">
            <a:solidFill>
              <a:srgbClr val="8B6AB5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5056632" y="1581912"/>
            <a:ext cx="246888" cy="9144"/>
          </a:xfrm>
          <a:prstGeom prst="line">
            <a:avLst/>
          </a:prstGeom>
          <a:noFill/>
          <a:ln w="19050">
            <a:solidFill>
              <a:srgbClr val="8B6AB5"/>
            </a:solidFill>
            <a:prstDash val="solid"/>
            <a:tailEnd type="arrow"/>
          </a:ln>
        </p:spPr>
      </p:sp>
      <p:sp>
        <p:nvSpPr>
          <p:cNvPr id="36" name="Shape 34"/>
          <p:cNvSpPr/>
          <p:nvPr/>
        </p:nvSpPr>
        <p:spPr>
          <a:xfrm>
            <a:off x="6291072" y="1581912"/>
            <a:ext cx="246888" cy="9144"/>
          </a:xfrm>
          <a:prstGeom prst="line">
            <a:avLst/>
          </a:prstGeom>
          <a:noFill/>
          <a:ln w="19050">
            <a:solidFill>
              <a:srgbClr val="8B6AB5"/>
            </a:solidFill>
            <a:prstDash val="solid"/>
            <a:tailEnd type="arrow"/>
          </a:ln>
        </p:spPr>
      </p:sp>
      <p:sp>
        <p:nvSpPr>
          <p:cNvPr id="37" name="Shape 35"/>
          <p:cNvSpPr/>
          <p:nvPr/>
        </p:nvSpPr>
        <p:spPr>
          <a:xfrm>
            <a:off x="7525512" y="1581912"/>
            <a:ext cx="246888" cy="9144"/>
          </a:xfrm>
          <a:prstGeom prst="line">
            <a:avLst/>
          </a:prstGeom>
          <a:noFill/>
          <a:ln w="19050">
            <a:solidFill>
              <a:srgbClr val="8B6AB5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>
            <a:off x="274320" y="2212848"/>
            <a:ext cx="8595360" cy="502920"/>
          </a:xfrm>
          <a:prstGeom prst="roundRect">
            <a:avLst>
              <a:gd name="adj" fmla="val 14545"/>
            </a:avLst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221284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tracing: you can see errors, but have no way to trace which services a request passed through or where it failed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274320" y="2834640"/>
            <a:ext cx="2743200" cy="475488"/>
          </a:xfrm>
          <a:prstGeom prst="roundRect">
            <a:avLst>
              <a:gd name="adj" fmla="val 15385"/>
            </a:avLst>
          </a:prstGeom>
          <a:solidFill>
            <a:srgbClr val="F5F1EB"/>
          </a:solidFill>
          <a:ln w="15240">
            <a:solidFill>
              <a:srgbClr val="B8892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11480" y="2834640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Cannot identify which service causes latency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3172968" y="2834640"/>
            <a:ext cx="2743200" cy="475488"/>
          </a:xfrm>
          <a:prstGeom prst="roundRect">
            <a:avLst>
              <a:gd name="adj" fmla="val 15385"/>
            </a:avLst>
          </a:prstGeom>
          <a:solidFill>
            <a:srgbClr val="F8ECEC"/>
          </a:solidFill>
          <a:ln w="15240">
            <a:solidFill>
              <a:srgbClr val="C4605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310128" y="2834640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💥 Error propagation path is unclear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071616" y="2834640"/>
            <a:ext cx="2743200" cy="475488"/>
          </a:xfrm>
          <a:prstGeom prst="roundRect">
            <a:avLst>
              <a:gd name="adj" fmla="val 15385"/>
            </a:avLst>
          </a:prstGeom>
          <a:solidFill>
            <a:srgbClr val="F5F1EB"/>
          </a:solidFill>
          <a:ln w="15240">
            <a:solidFill>
              <a:srgbClr val="8B6A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08776" y="2834640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Cross-service causality cannot be reconstructed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274320" y="3438144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7200" y="3483864"/>
            <a:ext cx="7955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 A request failed, but you have no idea which service caused the issue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274320" y="45720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7200" y="46177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Distributed tracing = building a complete journey map for every request, leaving no issue hidden</a:t>
            </a:r>
            <a:endParaRPr lang="en-US" sz="10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Trace, Span &amp; Context: Core Concepts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3931920" cy="1261872"/>
          </a:xfrm>
          <a:prstGeom prst="roundRect">
            <a:avLst>
              <a:gd name="adj" fmla="val 7246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49224"/>
            <a:ext cx="73152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🗺️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078992" y="68580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78992" y="1014984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journey of a request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78992" y="1289304"/>
            <a:ext cx="30175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 a unique traceId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Spans across all service boundaries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1984248"/>
            <a:ext cx="3931920" cy="1261872"/>
          </a:xfrm>
          <a:prstGeom prst="roundRect">
            <a:avLst>
              <a:gd name="adj" fmla="val 7246"/>
            </a:avLst>
          </a:prstGeom>
          <a:solidFill>
            <a:srgbClr val="F5F1EB"/>
          </a:solidFill>
          <a:ln w="19050">
            <a:solidFill>
              <a:srgbClr val="4A7F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2039112"/>
            <a:ext cx="73152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📐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1078992" y="2075688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78992" y="240487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unit of work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78992" y="2679192"/>
            <a:ext cx="30175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spanId + parentSpanId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Start/end time + attributes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74320" y="3374136"/>
            <a:ext cx="3931920" cy="1261872"/>
          </a:xfrm>
          <a:prstGeom prst="roundRect">
            <a:avLst>
              <a:gd name="adj" fmla="val 7246"/>
            </a:avLst>
          </a:prstGeom>
          <a:solidFill>
            <a:srgbClr val="F5F1EB"/>
          </a:solidFill>
          <a:ln w="19050">
            <a:solidFill>
              <a:srgbClr val="4A99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3429000"/>
            <a:ext cx="73152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🏷️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078992" y="3465576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78992" y="3794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propagated across service boundaries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78992" y="4069080"/>
            <a:ext cx="30175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Propagated via HTTP headers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W3C Trace Context standard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434840" y="594360"/>
            <a:ext cx="4434840" cy="4224528"/>
          </a:xfrm>
          <a:prstGeom prst="roundRect">
            <a:avLst>
              <a:gd name="adj" fmla="val 2165"/>
            </a:avLst>
          </a:prstGeom>
          <a:solidFill>
            <a:srgbClr val="F5F1EB"/>
          </a:solidFill>
          <a:ln w="15240">
            <a:solidFill>
              <a:srgbClr val="8B6A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26280" y="658368"/>
            <a:ext cx="4251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Parent-Child Span Hierarchy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617720" y="1024128"/>
            <a:ext cx="4160520" cy="365760"/>
          </a:xfrm>
          <a:prstGeom prst="roundRect">
            <a:avLst>
              <a:gd name="adj" fmla="val 15000"/>
            </a:avLst>
          </a:prstGeom>
          <a:solidFill>
            <a:srgbClr val="2D1F5E"/>
          </a:solidFill>
          <a:ln w="15240">
            <a:solidFill>
              <a:srgbClr val="8B6A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09160" y="1024128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B6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Span: HTTP POST /checkout  (traceId: abc-123)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983480" y="1389888"/>
            <a:ext cx="9144" cy="228600"/>
          </a:xfrm>
          <a:prstGeom prst="line">
            <a:avLst/>
          </a:prstGeom>
          <a:noFill/>
          <a:ln w="12700">
            <a:solidFill>
              <a:srgbClr val="D6CCB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166360" y="1618488"/>
            <a:ext cx="3337560" cy="347472"/>
          </a:xfrm>
          <a:prstGeom prst="roundRect">
            <a:avLst>
              <a:gd name="adj" fmla="val 15789"/>
            </a:avLst>
          </a:prstGeom>
          <a:solidFill>
            <a:srgbClr val="ECE6DD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257800" y="1618488"/>
            <a:ext cx="3154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7F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Span: Auth Service Validate Token  (parentId: root)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166360" y="2057400"/>
            <a:ext cx="3337560" cy="347472"/>
          </a:xfrm>
          <a:prstGeom prst="roundRect">
            <a:avLst>
              <a:gd name="adj" fmla="val 15789"/>
            </a:avLst>
          </a:prstGeom>
          <a:solidFill>
            <a:srgbClr val="ECE6DD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57800" y="2057400"/>
            <a:ext cx="3154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99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Span: Order Service Create Order  (parentId: root)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40680" y="2404872"/>
            <a:ext cx="9144" cy="228600"/>
          </a:xfrm>
          <a:prstGeom prst="line">
            <a:avLst/>
          </a:prstGeom>
          <a:noFill/>
          <a:ln w="12700">
            <a:solidFill>
              <a:srgbClr val="D6CCB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623560" y="2633472"/>
            <a:ext cx="2880360" cy="329184"/>
          </a:xfrm>
          <a:prstGeom prst="roundRect">
            <a:avLst>
              <a:gd name="adj" fmla="val 16667"/>
            </a:avLst>
          </a:prstGeom>
          <a:solidFill>
            <a:srgbClr val="ECE6DD"/>
          </a:solidFill>
          <a:ln w="12700">
            <a:solidFill>
              <a:srgbClr val="C480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715000" y="2633472"/>
            <a:ext cx="2697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48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Span: DB INSERT orders  (parentId: order-span)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166360" y="3063240"/>
            <a:ext cx="3337560" cy="347472"/>
          </a:xfrm>
          <a:prstGeom prst="roundRect">
            <a:avLst>
              <a:gd name="adj" fmla="val 15789"/>
            </a:avLst>
          </a:prstGeom>
          <a:solidFill>
            <a:srgbClr val="ECE6DD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257800" y="3063240"/>
            <a:ext cx="3154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889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Span: Inventory Service Deduct Stock  (parentId: root)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617720" y="3767328"/>
            <a:ext cx="4160520" cy="9144"/>
          </a:xfrm>
          <a:prstGeom prst="line">
            <a:avLst/>
          </a:prstGeom>
          <a:noFill/>
          <a:ln w="9525">
            <a:solidFill>
              <a:srgbClr val="D6CCBF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4617720" y="3822192"/>
            <a:ext cx="4160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Timeline →    Total Duration: 245ms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274320" y="45720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7200" y="46177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Each Span records start time, end time, status code, and tag attributes — fully reconstructing the execution details across services</a:t>
            </a:r>
            <a:endParaRPr lang="en-US" sz="10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Propagation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8595360" cy="457200"/>
          </a:xfrm>
          <a:prstGeom prst="roundRect">
            <a:avLst>
              <a:gd name="adj" fmla="val 16000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W3C Trace Context Standard  ·  HTTP Header: traceparent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" y="1170432"/>
            <a:ext cx="8595360" cy="1005840"/>
          </a:xfrm>
          <a:prstGeom prst="roundRect">
            <a:avLst>
              <a:gd name="adj" fmla="val 9091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blurRad="127000" dist="508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02412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" y="1024128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traceparent Header Format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02336" y="1280160"/>
            <a:ext cx="833932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traceparent: 00-{traceId(32-hex-chars)}-{parentSpanId(16-hex-chars)}-{flags(01=sampled,00=not sampled)}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Example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traceparent: 00-4bf92f3577b34da6a3ce929d0e0e4736-00f067aa0ba902b7-01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74320" y="228600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Cross-Service Propagation Flow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2633472"/>
            <a:ext cx="2560320" cy="1389888"/>
          </a:xfrm>
          <a:prstGeom prst="roundRect">
            <a:avLst>
              <a:gd name="adj" fmla="val 6579"/>
            </a:avLst>
          </a:prstGeom>
          <a:solidFill>
            <a:srgbClr val="1A1F2E"/>
          </a:solidFill>
          <a:ln w="19050">
            <a:solidFill>
              <a:srgbClr val="4A7F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A (Caller)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2980944"/>
            <a:ext cx="2194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Create root Span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Set traceparent header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Send HTTP request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834640" y="3282696"/>
            <a:ext cx="1280160" cy="9144"/>
          </a:xfrm>
          <a:prstGeom prst="line">
            <a:avLst/>
          </a:prstGeom>
          <a:noFill/>
          <a:ln w="19050">
            <a:solidFill>
              <a:srgbClr val="8B6AB5"/>
            </a:solidFill>
            <a:prstDash val="solid"/>
            <a:tailEnd type="arrow"/>
          </a:ln>
        </p:spPr>
      </p:sp>
      <p:sp>
        <p:nvSpPr>
          <p:cNvPr id="20" name="Text 18"/>
          <p:cNvSpPr/>
          <p:nvPr/>
        </p:nvSpPr>
        <p:spPr>
          <a:xfrm>
            <a:off x="2788920" y="2761488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B6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 Request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8B6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traceparent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160520" y="2633472"/>
            <a:ext cx="2560320" cy="1389888"/>
          </a:xfrm>
          <a:prstGeom prst="roundRect">
            <a:avLst>
              <a:gd name="adj" fmla="val 6579"/>
            </a:avLst>
          </a:prstGeom>
          <a:solidFill>
            <a:srgbClr val="1A2E1A"/>
          </a:solidFill>
          <a:ln w="19050">
            <a:solidFill>
              <a:srgbClr val="4A996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51960" y="267004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B (Callee)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343400" y="2980944"/>
            <a:ext cx="2194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Read traceparent header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Parse traceId + parentSpanId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Create child Span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720840" y="3282696"/>
            <a:ext cx="1097280" cy="914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25" name="Text 23"/>
          <p:cNvSpPr/>
          <p:nvPr/>
        </p:nvSpPr>
        <p:spPr>
          <a:xfrm>
            <a:off x="6675120" y="2761488"/>
            <a:ext cx="1234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Continue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 Service C...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74320" y="416052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Context formats (OTel Collector can convert between them):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74320" y="4434840"/>
            <a:ext cx="1371600" cy="256032"/>
          </a:xfrm>
          <a:prstGeom prst="roundRect">
            <a:avLst>
              <a:gd name="adj" fmla="val 17857"/>
            </a:avLst>
          </a:prstGeom>
          <a:solidFill>
            <a:srgbClr val="ECE6DD"/>
          </a:solidFill>
          <a:ln w="9525">
            <a:solidFill>
              <a:srgbClr val="B8892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74320" y="443484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889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B3 (Zipkin)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783080" y="4434840"/>
            <a:ext cx="1371600" cy="256032"/>
          </a:xfrm>
          <a:prstGeom prst="roundRect">
            <a:avLst>
              <a:gd name="adj" fmla="val 17857"/>
            </a:avLst>
          </a:prstGeom>
          <a:solidFill>
            <a:srgbClr val="ECE6DD"/>
          </a:solidFill>
          <a:ln w="9525">
            <a:solidFill>
              <a:srgbClr val="5A9B6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783080" y="443484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9B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Jaeger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291840" y="4434840"/>
            <a:ext cx="1371600" cy="256032"/>
          </a:xfrm>
          <a:prstGeom prst="roundRect">
            <a:avLst>
              <a:gd name="adj" fmla="val 17857"/>
            </a:avLst>
          </a:prstGeom>
          <a:solidFill>
            <a:srgbClr val="ECE6DD"/>
          </a:solidFill>
          <a:ln w="9525">
            <a:solidFill>
              <a:srgbClr val="C480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91840" y="443484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80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AWS X-Ray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74320" y="473659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478231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The traceparent header must be forwarded in every HTTP/gRPC call — missing it at any layer breaks the trace chain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Monolithic vs Distributed Tracing Differences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4114800" cy="365760"/>
          </a:xfrm>
          <a:prstGeom prst="roundRect">
            <a:avLst>
              <a:gd name="adj" fmla="val 20000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5943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🏛️  Monolithic Architecture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594360"/>
            <a:ext cx="4114800" cy="365760"/>
          </a:xfrm>
          <a:prstGeom prst="roundRect">
            <a:avLst>
              <a:gd name="adj" fmla="val 20000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64608" y="5943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Distributed Architecture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1042416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7472" y="1106424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" y="1097280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67512" y="1078992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Process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67512" y="1271016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code runs in the same memory space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1609344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472" y="1673352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7472" y="1664208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67512" y="1645920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 Tracing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67512" y="1837944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intercept call stack traces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2176272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472" y="224028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7472" y="223113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67512" y="2212848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Instrumentation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67512" y="2404872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SDK covers the entire application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2743200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7472" y="280720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7472" y="279806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67512" y="2779776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Trace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67512" y="2971800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request path, simple Span hierarchy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754880" y="1042416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28032" y="1106424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F3EDE0"/>
          </a:solidFill>
          <a:ln w="6350">
            <a:solidFill>
              <a:srgbClr val="B8892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28032" y="1097280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148072" y="1078992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Service Needs Instrumentation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148072" y="1271016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languages/frameworks, high maintenance cost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754880" y="1609344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8032" y="1673352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F3EDE0"/>
          </a:solidFill>
          <a:ln w="6350">
            <a:solidFill>
              <a:srgbClr val="B8892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28032" y="1664208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148072" y="1645920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Gaps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148072" y="1837944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queues (Kafka/RabbitMQ) hard to correlate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754880" y="2176272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828032" y="224028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28032" y="223113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148072" y="2212848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HTTP/gRPC Boundaries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5148072" y="2404872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rely on Context Propagation to link spans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754880" y="2743200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828032" y="280720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28032" y="279806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148072" y="2779776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Clock Skew Issues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5148072" y="2971800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machines have unsynchronized clocks, Span order may be wrong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274320" y="45720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" y="46177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Distributed tracing is inherently 10x more complex than monolithic — but OpenTelemetry dramatically lowers the implementation barrier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OpenTelemetry: The Industry Standard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8595360" cy="475488"/>
          </a:xfrm>
          <a:prstGeom prst="roundRect">
            <a:avLst>
              <a:gd name="adj" fmla="val 15385"/>
            </a:avLst>
          </a:prstGeom>
          <a:solidFill>
            <a:srgbClr val="2D1F5E"/>
          </a:solidFill>
          <a:ln w="19050">
            <a:solidFill>
              <a:srgbClr val="8B6A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9436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= Vendor-Neutral Observability Standard   ·   CNCF Graduated Project   ·   All Three Pillars Covered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182880" y="1170432"/>
            <a:ext cx="2865120" cy="3246120"/>
          </a:xfrm>
          <a:prstGeom prst="roundRect">
            <a:avLst>
              <a:gd name="adj" fmla="val 3191"/>
            </a:avLst>
          </a:prstGeom>
          <a:solidFill>
            <a:srgbClr val="F5F1EB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82880" y="1170432"/>
            <a:ext cx="2865120" cy="475488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2880" y="1188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🔌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03504" y="1170432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10896" y="1783080"/>
            <a:ext cx="109728" cy="109728"/>
          </a:xfrm>
          <a:prstGeom prst="ellipse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1719072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Instrumentation Interface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75488" y="1920240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for creating Spans in code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10896" y="2185416"/>
            <a:ext cx="109728" cy="109728"/>
          </a:xfrm>
          <a:prstGeom prst="ellipse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212140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Agnostic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75488" y="232257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/ Go / Java / JS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10896" y="2587752"/>
            <a:ext cx="109728" cy="109728"/>
          </a:xfrm>
          <a:prstGeom prst="ellipse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" y="252374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Only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75488" y="272491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implementation logic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10896" y="2990088"/>
            <a:ext cx="109728" cy="109728"/>
          </a:xfrm>
          <a:prstGeom prst="ellipse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5488" y="292608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Points in Code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75488" y="312724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tracer.start_span()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139440" y="1170432"/>
            <a:ext cx="2865120" cy="3246120"/>
          </a:xfrm>
          <a:prstGeom prst="roundRect">
            <a:avLst>
              <a:gd name="adj" fmla="val 3191"/>
            </a:avLst>
          </a:prstGeom>
          <a:solidFill>
            <a:srgbClr val="F5F1EB"/>
          </a:solidFill>
          <a:ln w="15240">
            <a:solidFill>
              <a:srgbClr val="4A99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139440" y="1170432"/>
            <a:ext cx="2865120" cy="475488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139440" y="1188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3560064" y="1170432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267456" y="1783080"/>
            <a:ext cx="109728" cy="109728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32048" y="1719072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Implementation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432048" y="1920240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Span lifecycle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3267456" y="2185416"/>
            <a:ext cx="109728" cy="109728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32048" y="212140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Processing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3432048" y="232257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multiple Spans before sending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3267456" y="2587752"/>
            <a:ext cx="109728" cy="109728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32048" y="252374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 Decisions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3432048" y="272491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sampling logic lives here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3267456" y="2990088"/>
            <a:ext cx="109728" cy="109728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32048" y="292608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Exporters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3432048" y="312724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to Collector or backend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6096000" y="1170432"/>
            <a:ext cx="2865120" cy="3246120"/>
          </a:xfrm>
          <a:prstGeom prst="roundRect">
            <a:avLst>
              <a:gd name="adj" fmla="val 3191"/>
            </a:avLst>
          </a:prstGeom>
          <a:solidFill>
            <a:srgbClr val="F5F1EB"/>
          </a:solidFill>
          <a:ln w="15240">
            <a:solidFill>
              <a:srgbClr val="8B6AB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096000" y="1170432"/>
            <a:ext cx="2865120" cy="475488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096000" y="1188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6516624" y="1170432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Collector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6224016" y="1783080"/>
            <a:ext cx="109728" cy="109728"/>
          </a:xfrm>
          <a:prstGeom prst="ellipse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88608" y="1719072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Telemetry Data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6388608" y="1920240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OTLP / Jaeger / Zipkin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6224016" y="2185416"/>
            <a:ext cx="109728" cy="109728"/>
          </a:xfrm>
          <a:prstGeom prst="ellipse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88608" y="212140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Processing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6388608" y="232257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Filter, enrich, transform formats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6224016" y="2587752"/>
            <a:ext cx="109728" cy="109728"/>
          </a:xfrm>
          <a:prstGeom prst="ellipse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88608" y="2523744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Multi-Target Export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388608" y="2724912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to multiple backends simultaneously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6224016" y="2990088"/>
            <a:ext cx="109728" cy="109728"/>
          </a:xfrm>
          <a:prstGeom prst="ellipse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388608" y="292608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Decouple Applications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6388608" y="312724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changes need no code changes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274320" y="44805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covers the three pillars of observability: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291840" y="4462272"/>
            <a:ext cx="1691640" cy="320040"/>
          </a:xfrm>
          <a:prstGeom prst="roundRect">
            <a:avLst>
              <a:gd name="adj" fmla="val 17143"/>
            </a:avLst>
          </a:prstGeom>
          <a:solidFill>
            <a:srgbClr val="F5F1EB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291840" y="4462272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Traces  Request Tracing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5120640" y="4462272"/>
            <a:ext cx="1691640" cy="320040"/>
          </a:xfrm>
          <a:prstGeom prst="roundRect">
            <a:avLst>
              <a:gd name="adj" fmla="val 17143"/>
            </a:avLst>
          </a:prstGeom>
          <a:solidFill>
            <a:srgbClr val="F5F1EB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120640" y="4462272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Metrics  Metrics Monitoring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6949440" y="4462272"/>
            <a:ext cx="1691640" cy="320040"/>
          </a:xfrm>
          <a:prstGeom prst="roundRect">
            <a:avLst>
              <a:gd name="adj" fmla="val 17143"/>
            </a:avLst>
          </a:prstGeom>
          <a:solidFill>
            <a:srgbClr val="F5F1EB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949440" y="4462272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Logs  Log Recording</a:t>
            </a:r>
            <a:endParaRPr lang="en-US" sz="10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Collector Architecture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7/10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672084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74320" y="59436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Architecture: Receivers  →  Processors  →  Exporters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82880" y="1024128"/>
            <a:ext cx="2560320" cy="2423160"/>
          </a:xfrm>
          <a:prstGeom prst="roundRect">
            <a:avLst>
              <a:gd name="adj" fmla="val 3774"/>
            </a:avLst>
          </a:prstGeom>
          <a:ln w="12700">
            <a:solidFill>
              <a:srgbClr val="4A7FB5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274320" y="87782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FFFDF8"/>
          </a:solidFill>
          <a:ln w="6350">
            <a:solidFill>
              <a:srgbClr val="4A7F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2608" y="87782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Receivers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320040" y="1170432"/>
            <a:ext cx="228600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4904" y="1170432"/>
            <a:ext cx="2194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OTLP (gRPC/HTTP)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20040" y="1700784"/>
            <a:ext cx="228600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4904" y="1700784"/>
            <a:ext cx="2194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2231136"/>
            <a:ext cx="228600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4904" y="2231136"/>
            <a:ext cx="2194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Zipkin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20040" y="2761488"/>
            <a:ext cx="228600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74904" y="2761488"/>
            <a:ext cx="2194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743200" y="2221992"/>
            <a:ext cx="457200" cy="9144"/>
          </a:xfrm>
          <a:prstGeom prst="line">
            <a:avLst/>
          </a:prstGeom>
          <a:noFill/>
          <a:ln w="19050">
            <a:solidFill>
              <a:srgbClr val="8B6AB5"/>
            </a:solidFill>
            <a:prstDash val="solid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3200400" y="1024128"/>
            <a:ext cx="2743200" cy="2423160"/>
          </a:xfrm>
          <a:prstGeom prst="roundRect">
            <a:avLst>
              <a:gd name="adj" fmla="val 3774"/>
            </a:avLst>
          </a:prstGeom>
          <a:ln w="12700">
            <a:solidFill>
              <a:srgbClr val="8B6AB5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3291840" y="87782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FFFDF8"/>
          </a:solidFill>
          <a:ln w="6350">
            <a:solidFill>
              <a:srgbClr val="8B6A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10128" y="87782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Processors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3337560" y="1170432"/>
            <a:ext cx="246888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92424" y="11704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Processing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337560" y="1700784"/>
            <a:ext cx="246888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92424" y="1700784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 Enrichment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337560" y="2231136"/>
            <a:ext cx="246888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92424" y="2231136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Filtering / Sampling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337560" y="2761488"/>
            <a:ext cx="246888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392424" y="2761488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Detection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943600" y="2221992"/>
            <a:ext cx="457200" cy="9144"/>
          </a:xfrm>
          <a:prstGeom prst="line">
            <a:avLst/>
          </a:prstGeom>
          <a:noFill/>
          <a:ln w="19050">
            <a:solidFill>
              <a:srgbClr val="4A9968"/>
            </a:solidFill>
            <a:prstDash val="solid"/>
            <a:tailEnd type="arrow"/>
          </a:ln>
        </p:spPr>
      </p:sp>
      <p:sp>
        <p:nvSpPr>
          <p:cNvPr id="34" name="Shape 32"/>
          <p:cNvSpPr/>
          <p:nvPr/>
        </p:nvSpPr>
        <p:spPr>
          <a:xfrm>
            <a:off x="6400800" y="1024128"/>
            <a:ext cx="2560320" cy="2423160"/>
          </a:xfrm>
          <a:prstGeom prst="roundRect">
            <a:avLst>
              <a:gd name="adj" fmla="val 3774"/>
            </a:avLst>
          </a:prstGeom>
          <a:ln w="12700">
            <a:solidFill>
              <a:srgbClr val="4A9968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492240" y="87782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FFFDF8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10528" y="87782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Exporters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6537960" y="1170432"/>
            <a:ext cx="228600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92824" y="1170432"/>
            <a:ext cx="2194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537960" y="1700784"/>
            <a:ext cx="228600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92824" y="1700784"/>
            <a:ext cx="2194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Zipkin / OTLP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537960" y="2231136"/>
            <a:ext cx="228600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592824" y="2231136"/>
            <a:ext cx="2194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537960" y="2761488"/>
            <a:ext cx="228600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592824" y="2761488"/>
            <a:ext cx="2194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 / Others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91440" y="896112"/>
            <a:ext cx="8961120" cy="2670048"/>
          </a:xfrm>
          <a:prstGeom prst="roundRect">
            <a:avLst>
              <a:gd name="adj" fmla="val 3425"/>
            </a:avLst>
          </a:prstGeom>
          <a:ln w="12700">
            <a:solidFill>
              <a:srgbClr val="D6CCBF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182880" y="74980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FFFDF8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01168" y="749808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6CC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Collector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274320" y="3730752"/>
            <a:ext cx="8595360" cy="1024128"/>
          </a:xfrm>
          <a:prstGeom prst="roundRect">
            <a:avLst>
              <a:gd name="adj" fmla="val 8929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blurRad="127000" dist="508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365760" y="358444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4048" y="3584448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otel-collector-config.yaml (overview)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02336" y="3840480"/>
            <a:ext cx="8339328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receivers: {otlp: {protocols: {grpc: {endpoint: 0.0.0.0:4317}}}}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processors: {batch: {timeout: 1s, send_batch_size: 1024}}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exporters: {jaeger: {endpoint: jaeger:14250}, prometheus: {endpoint: 0.0.0.0:8889}}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service: {pipelines: {traces: {receivers: [otlp], processors: [batch], exporters: [jaeger]}}}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274320" y="48006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57200" y="48463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Collector decouples apps from backends — switching from Jaeger to Tempo requires no application code changes</a:t>
            </a:r>
            <a:endParaRPr lang="en-US" sz="10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Jaeger: Distributed Tracing Backend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7/10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672084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74320" y="59436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 was open-sourced by Uber and is now a CNCF graduated project — one of the most widely used distributed tracing backends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74320" y="1005840"/>
            <a:ext cx="2103120" cy="1143000"/>
          </a:xfrm>
          <a:prstGeom prst="roundRect">
            <a:avLst>
              <a:gd name="adj" fmla="val 8000"/>
            </a:avLst>
          </a:prstGeom>
          <a:solidFill>
            <a:srgbClr val="F5F1EB"/>
          </a:solidFill>
          <a:ln w="19050">
            <a:solidFill>
              <a:srgbClr val="4A7FB5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74320" y="1060704"/>
            <a:ext cx="210312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📡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29184" y="1600200"/>
            <a:ext cx="19933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jaeger-agent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10896" y="1828800"/>
            <a:ext cx="20299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Sidecar / DaemonSet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UDP port 6831/6832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606040" y="1005840"/>
            <a:ext cx="2103120" cy="1143000"/>
          </a:xfrm>
          <a:prstGeom prst="roundRect">
            <a:avLst>
              <a:gd name="adj" fmla="val 8000"/>
            </a:avLst>
          </a:prstGeom>
          <a:solidFill>
            <a:srgbClr val="F5F1EB"/>
          </a:solidFill>
          <a:ln w="19050">
            <a:solidFill>
              <a:srgbClr val="4A9968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606040" y="1060704"/>
            <a:ext cx="210312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2660904" y="1600200"/>
            <a:ext cx="19933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jaeger-collector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642616" y="1828800"/>
            <a:ext cx="20299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Validate, index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Store to backend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937760" y="1005840"/>
            <a:ext cx="2103120" cy="1143000"/>
          </a:xfrm>
          <a:prstGeom prst="roundRect">
            <a:avLst>
              <a:gd name="adj" fmla="val 8000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937760" y="1060704"/>
            <a:ext cx="210312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4992624" y="1600200"/>
            <a:ext cx="19933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jaeger-query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974336" y="1828800"/>
            <a:ext cx="20299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 API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REST + gRPC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269480" y="1005840"/>
            <a:ext cx="2103120" cy="1143000"/>
          </a:xfrm>
          <a:prstGeom prst="roundRect">
            <a:avLst>
              <a:gd name="adj" fmla="val 8000"/>
            </a:avLst>
          </a:prstGeom>
          <a:solidFill>
            <a:srgbClr val="F5F1EB"/>
          </a:solidFill>
          <a:ln w="19050">
            <a:solidFill>
              <a:srgbClr val="B8892C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269480" y="1060704"/>
            <a:ext cx="210312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🖥️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324344" y="1600200"/>
            <a:ext cx="19933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 UI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306056" y="1828800"/>
            <a:ext cx="20299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 visualization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Gantt timeline chart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377440" y="1572768"/>
            <a:ext cx="228600" cy="9144"/>
          </a:xfrm>
          <a:prstGeom prst="line">
            <a:avLst/>
          </a:prstGeom>
          <a:noFill/>
          <a:ln w="19050">
            <a:solidFill>
              <a:srgbClr val="8B6AB5"/>
            </a:solidFill>
            <a:prstDash val="solid"/>
            <a:tailEnd type="arrow"/>
          </a:ln>
        </p:spPr>
      </p:sp>
      <p:sp>
        <p:nvSpPr>
          <p:cNvPr id="27" name="Shape 25"/>
          <p:cNvSpPr/>
          <p:nvPr/>
        </p:nvSpPr>
        <p:spPr>
          <a:xfrm>
            <a:off x="4709160" y="1572768"/>
            <a:ext cx="228600" cy="9144"/>
          </a:xfrm>
          <a:prstGeom prst="line">
            <a:avLst/>
          </a:prstGeom>
          <a:noFill/>
          <a:ln w="19050">
            <a:solidFill>
              <a:srgbClr val="8B6AB5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>
            <a:off x="7040880" y="1572768"/>
            <a:ext cx="228600" cy="9144"/>
          </a:xfrm>
          <a:prstGeom prst="line">
            <a:avLst/>
          </a:prstGeom>
          <a:noFill/>
          <a:ln w="19050">
            <a:solidFill>
              <a:srgbClr val="8B6AB5"/>
            </a:solidFill>
            <a:prstDash val="solid"/>
            <a:tailEnd type="arrow"/>
          </a:ln>
        </p:spPr>
      </p:sp>
      <p:sp>
        <p:nvSpPr>
          <p:cNvPr id="29" name="Text 27"/>
          <p:cNvSpPr/>
          <p:nvPr/>
        </p:nvSpPr>
        <p:spPr>
          <a:xfrm>
            <a:off x="274320" y="2331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Backends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1737360" y="2240280"/>
            <a:ext cx="219456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792224" y="2240280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Elasticsearch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206240" y="2240280"/>
            <a:ext cx="219456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261104" y="2240280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Cassandra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675120" y="2240280"/>
            <a:ext cx="219456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29984" y="2240280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Badger (local)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291840" y="2148840"/>
            <a:ext cx="9144" cy="109728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37" name="Shape 35"/>
          <p:cNvSpPr/>
          <p:nvPr/>
        </p:nvSpPr>
        <p:spPr>
          <a:xfrm>
            <a:off x="274320" y="2816352"/>
            <a:ext cx="4114800" cy="438912"/>
          </a:xfrm>
          <a:prstGeom prst="roundRect">
            <a:avLst>
              <a:gd name="adj" fmla="val 14583"/>
            </a:avLst>
          </a:prstGeom>
          <a:solidFill>
            <a:srgbClr val="F5F1EB"/>
          </a:solidFill>
          <a:ln w="10160">
            <a:solidFill>
              <a:srgbClr val="8B6A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048" y="2816352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Search traces by service / operation / tag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663440" y="2816352"/>
            <a:ext cx="4114800" cy="438912"/>
          </a:xfrm>
          <a:prstGeom prst="roundRect">
            <a:avLst>
              <a:gd name="adj" fmla="val 14583"/>
            </a:avLst>
          </a:prstGeom>
          <a:solidFill>
            <a:srgbClr val="F5F1EB"/>
          </a:solidFill>
          <a:ln w="10160">
            <a:solidFill>
              <a:srgbClr val="4A7F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73168" y="2816352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Compare multiple traces to detect performance regressions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74320" y="3346704"/>
            <a:ext cx="4114800" cy="438912"/>
          </a:xfrm>
          <a:prstGeom prst="roundRect">
            <a:avLst>
              <a:gd name="adj" fmla="val 14583"/>
            </a:avLst>
          </a:prstGeom>
          <a:solidFill>
            <a:srgbClr val="F5F1EB"/>
          </a:solidFill>
          <a:ln w="10160">
            <a:solidFill>
              <a:srgbClr val="4A996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84048" y="3346704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🗂️  Service dependency graph (Service Graph) auto-generated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663440" y="3346704"/>
            <a:ext cx="4114800" cy="438912"/>
          </a:xfrm>
          <a:prstGeom prst="roundRect">
            <a:avLst>
              <a:gd name="adj" fmla="val 14583"/>
            </a:avLst>
          </a:prstGeom>
          <a:solidFill>
            <a:srgbClr val="F5F1EB"/>
          </a:solidFill>
          <a:ln w="10160">
            <a:solidFill>
              <a:srgbClr val="B8892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73168" y="3346704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Tail sampling: Jaeger Collector supports remote sampling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74320" y="452628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7200" y="457200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Jaeger UI provides Gantt timeline charts to visually show each Span's duration ratio, quickly pinpointing bottleneck services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 Strategies: Head vs Tail Sampling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7/10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672084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8595360" cy="438912"/>
          </a:xfrm>
          <a:prstGeom prst="roundRect">
            <a:avLst>
              <a:gd name="adj" fmla="val 16667"/>
            </a:avLst>
          </a:prstGeom>
          <a:solidFill>
            <a:srgbClr val="F8ECEC"/>
          </a:solidFill>
          <a:ln w="15240">
            <a:solidFill>
              <a:srgbClr val="C460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9436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Tracing 100% of requests is impractical — data volume too large, storage costs too high, performance overhead too great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1133856"/>
            <a:ext cx="4114800" cy="365760"/>
          </a:xfrm>
          <a:prstGeom prst="roundRect">
            <a:avLst>
              <a:gd name="adj" fmla="val 20000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1133856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Head-based Sampling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1133856"/>
            <a:ext cx="4114800" cy="365760"/>
          </a:xfrm>
          <a:prstGeom prst="roundRect">
            <a:avLst>
              <a:gd name="adj" fmla="val 20000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64608" y="1133856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Tail-based Sampling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74320" y="1572768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7472" y="163677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7472" y="162763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67512" y="1609344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Decided at Request Start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67512" y="1801368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Immediately determines whether to trace at a fixed probability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2093976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472" y="2157984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7472" y="2148840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7512" y="2130552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to Implement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67512" y="2322576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into SDK, no extra infrastructure needed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2615184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7472" y="2679192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7472" y="2670048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67512" y="2651760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Overhead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67512" y="2843784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Unsampled requests produce no Spans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4320" y="3136392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7472" y="320040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F3EDE0"/>
          </a:solidFill>
          <a:ln w="6350">
            <a:solidFill>
              <a:srgbClr val="B8892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7472" y="319125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67512" y="3172968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Miss Rare Errors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67512" y="3364992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Low-probability errors may be filtered out by sample rate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754880" y="1572768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28032" y="163677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F3EDE0"/>
          </a:solidFill>
          <a:ln w="6350">
            <a:solidFill>
              <a:srgbClr val="B8892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28032" y="162763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148072" y="1609344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Decided After Trace Completes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148072" y="1801368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Waits for the entire trace to finish before deciding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0" y="2093976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28032" y="2157984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28032" y="2148840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148072" y="2130552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Retains All Errors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5148072" y="2322576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retention of traces containing errors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754880" y="2615184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28032" y="2679192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F3EDE0"/>
          </a:solidFill>
          <a:ln w="6350">
            <a:solidFill>
              <a:srgbClr val="B8892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28032" y="2670048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148072" y="2651760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Buffer All Traces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5148072" y="2843784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Collector requires significant memory buffer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754880" y="3136392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828032" y="320040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28032" y="319125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148072" y="3172968"/>
            <a:ext cx="36210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Architecture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5148072" y="3364992"/>
            <a:ext cx="36210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Collector Tail Sampling config is complex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274320" y="4023360"/>
            <a:ext cx="2743200" cy="438912"/>
          </a:xfrm>
          <a:prstGeom prst="roundRect">
            <a:avLst>
              <a:gd name="adj" fmla="val 14583"/>
            </a:avLst>
          </a:prstGeom>
          <a:solidFill>
            <a:srgbClr val="F5F1EB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4048" y="4023360"/>
            <a:ext cx="25237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Probabilistic: Randomly sample X% of requests (most common)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3172968" y="4023360"/>
            <a:ext cx="2743200" cy="438912"/>
          </a:xfrm>
          <a:prstGeom prst="roundRect">
            <a:avLst>
              <a:gd name="adj" fmla="val 14583"/>
            </a:avLst>
          </a:prstGeom>
          <a:solidFill>
            <a:srgbClr val="F5F1EB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82696" y="4023360"/>
            <a:ext cx="25237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Limiting: Max N traces per second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6071616" y="4023360"/>
            <a:ext cx="2743200" cy="438912"/>
          </a:xfrm>
          <a:prstGeom prst="roundRect">
            <a:avLst>
              <a:gd name="adj" fmla="val 14583"/>
            </a:avLst>
          </a:prstGeom>
          <a:solidFill>
            <a:srgbClr val="F5F1EB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81344" y="4023360"/>
            <a:ext cx="25237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Rule-based: Errors = 100%, normal = 1%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274320" y="45720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7200" y="46177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Production typically uses 1-10% head sampling combined with tail sampling to retain all error traces — balancing cost and observability</a:t>
            </a:r>
            <a:endParaRPr lang="en-US" sz="10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SDK Instrumentation Implementation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74320" y="5943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Span Creation (Python / FastAPI)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74320" y="896112"/>
            <a:ext cx="4206240" cy="3310128"/>
          </a:xfrm>
          <a:prstGeom prst="roundRect">
            <a:avLst>
              <a:gd name="adj" fmla="val 2762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blurRad="127000" dist="508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74980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749808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OTel SDK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02336" y="1005840"/>
            <a:ext cx="3950208" cy="3127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opentelemetry import trace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opentelemetry.sdk.trace import TracerProvider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opentelemetry.sdk.trace.export import (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BatchSpanProcessor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opentelemetry.exporter.otlp.proto.grpc.trace_exporter import (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OTLPSpanExporter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Initialize TracerProvider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provider = TracerProvider()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provider.add_span_processor(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BatchSpanProcessor(OTLPSpanExporter())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trace.set_tracer_provider(provider)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Get Tracer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tracer = trace.get_tracer(__name__)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Create manual Span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tracer.start_as_current_span("process_order") as span: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Add custom attributes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span.set_attribute("order.id", order_id)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span.set_attribute("order.amount", amount)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process(order)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span.add_event("order_processed")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54880" y="5943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Auto-Instrumentation (No Code Changes)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754880" y="896112"/>
            <a:ext cx="4114800" cy="1691640"/>
          </a:xfrm>
          <a:prstGeom prst="roundRect">
            <a:avLst>
              <a:gd name="adj" fmla="val 5405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blurRad="127000" dist="508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846320" y="74980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64608" y="749808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Auto-Instrumentation (Zero Invasion)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882896" y="1005840"/>
            <a:ext cx="3858768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Install auto-instrumentation packages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opentelemetry-instrument-fastapi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opentelemetry-instrument-sqlalchemy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opentelemetry-instrument-requests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Auto-inject at startup (no code changes)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opentelemetry-instrument \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--traces_exporter otlp \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uvicorn app:main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754880" y="2724912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 and libraries supported by auto-instrumentation: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54880" y="3017520"/>
            <a:ext cx="4114800" cy="310896"/>
          </a:xfrm>
          <a:prstGeom prst="roundRect">
            <a:avLst>
              <a:gd name="adj" fmla="val 17647"/>
            </a:avLst>
          </a:prstGeom>
          <a:solidFill>
            <a:srgbClr val="F5F1EB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92040" y="3017520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FastAPI / Flask / Django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754880" y="3383280"/>
            <a:ext cx="4114800" cy="310896"/>
          </a:xfrm>
          <a:prstGeom prst="roundRect">
            <a:avLst>
              <a:gd name="adj" fmla="val 17647"/>
            </a:avLst>
          </a:prstGeom>
          <a:solidFill>
            <a:srgbClr val="F5F1EB"/>
          </a:solidFill>
          <a:ln w="9525">
            <a:solidFill>
              <a:srgbClr val="C480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92040" y="3383280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48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SQLAlchemy / psycopg2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754880" y="3749040"/>
            <a:ext cx="4114800" cy="310896"/>
          </a:xfrm>
          <a:prstGeom prst="roundRect">
            <a:avLst>
              <a:gd name="adj" fmla="val 17647"/>
            </a:avLst>
          </a:prstGeom>
          <a:solidFill>
            <a:srgbClr val="F5F1EB"/>
          </a:solidFill>
          <a:ln w="9525">
            <a:solidFill>
              <a:srgbClr val="4A99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92040" y="3749040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requests / httpx / aiohttp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754880" y="4114800"/>
            <a:ext cx="4114800" cy="310896"/>
          </a:xfrm>
          <a:prstGeom prst="roundRect">
            <a:avLst>
              <a:gd name="adj" fmla="val 17647"/>
            </a:avLst>
          </a:prstGeom>
          <a:solidFill>
            <a:srgbClr val="F5F1EB"/>
          </a:solidFill>
          <a:ln w="9525">
            <a:solidFill>
              <a:srgbClr val="B8892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92040" y="4114800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Redis / Celery / Kafka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74320" y="452628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457200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Auto-instrumentation is ideal for quick starts; manual instrumentation suits business-critical paths — both can be combined</a:t>
            </a:r>
            <a:endParaRPr lang="en-US" sz="10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Deployment in Kubernetes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8/10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768096" cy="82296"/>
          </a:xfrm>
          <a:prstGeom prst="rect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82880" y="594360"/>
            <a:ext cx="2926080" cy="4224528"/>
          </a:xfrm>
          <a:prstGeom prst="roundRect">
            <a:avLst>
              <a:gd name="adj" fmla="val 3125"/>
            </a:avLst>
          </a:prstGeom>
          <a:solidFill>
            <a:srgbClr val="F5F1EB"/>
          </a:solidFill>
          <a:ln w="19050">
            <a:solidFill>
              <a:srgbClr val="4A7F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583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DaemonSet Mode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92608" y="100584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one OTel Collector per node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02920" y="1353312"/>
            <a:ext cx="2286000" cy="822960"/>
          </a:xfrm>
          <a:prstGeom prst="roundRect">
            <a:avLst>
              <a:gd name="adj" fmla="val 7778"/>
            </a:avLst>
          </a:prstGeom>
          <a:solidFill>
            <a:srgbClr val="ECE6DD"/>
          </a:solidFill>
          <a:ln w="9525">
            <a:solidFill>
              <a:srgbClr val="D6CCBF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502920" y="138988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K8s Node / Pod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85800" y="1664208"/>
            <a:ext cx="822960" cy="384048"/>
          </a:xfrm>
          <a:prstGeom prst="roundRect">
            <a:avLst>
              <a:gd name="adj" fmla="val 11905"/>
            </a:avLst>
          </a:prstGeom>
          <a:solidFill>
            <a:srgbClr val="F5F1EB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1664208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 Pod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645920" y="1664208"/>
            <a:ext cx="914400" cy="384048"/>
          </a:xfrm>
          <a:prstGeom prst="roundRect">
            <a:avLst>
              <a:gd name="adj" fmla="val 11905"/>
            </a:avLst>
          </a:prstGeom>
          <a:solidFill>
            <a:srgbClr val="2D1F5E"/>
          </a:solidFill>
          <a:ln w="9525">
            <a:solidFill>
              <a:srgbClr val="8B6A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645920" y="1664208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B6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OTel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8B6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Collector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92608" y="2304288"/>
            <a:ext cx="27066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92608" y="2542032"/>
            <a:ext cx="2706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Apps send to localhost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92608" y="2834640"/>
            <a:ext cx="2706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Shared per node, resource-efficient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92608" y="3127248"/>
            <a:ext cx="2706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Suitable for large clusters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92608" y="3511296"/>
            <a:ext cx="27066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92608" y="3749040"/>
            <a:ext cx="27066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Node failure loses that node's data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92608" y="4023360"/>
            <a:ext cx="27066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Collector upgrades affect entire node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172968" y="594360"/>
            <a:ext cx="2926080" cy="4224528"/>
          </a:xfrm>
          <a:prstGeom prst="roundRect">
            <a:avLst>
              <a:gd name="adj" fmla="val 3125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64408" y="6583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Sidecar Mode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282696" y="100584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Pod includes a Collector sidecar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493008" y="1353312"/>
            <a:ext cx="2286000" cy="822960"/>
          </a:xfrm>
          <a:prstGeom prst="roundRect">
            <a:avLst>
              <a:gd name="adj" fmla="val 7778"/>
            </a:avLst>
          </a:prstGeom>
          <a:solidFill>
            <a:srgbClr val="ECE6DD"/>
          </a:solidFill>
          <a:ln w="9525">
            <a:solidFill>
              <a:srgbClr val="D6CCBF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3493008" y="138988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K8s Node / Pod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3675888" y="1664208"/>
            <a:ext cx="822960" cy="384048"/>
          </a:xfrm>
          <a:prstGeom prst="roundRect">
            <a:avLst>
              <a:gd name="adj" fmla="val 11905"/>
            </a:avLst>
          </a:prstGeom>
          <a:solidFill>
            <a:srgbClr val="F5F1EB"/>
          </a:solidFill>
          <a:ln w="9525">
            <a:solidFill>
              <a:srgbClr val="8B6A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75888" y="1664208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 Pod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636008" y="1664208"/>
            <a:ext cx="914400" cy="384048"/>
          </a:xfrm>
          <a:prstGeom prst="roundRect">
            <a:avLst>
              <a:gd name="adj" fmla="val 11905"/>
            </a:avLst>
          </a:prstGeom>
          <a:solidFill>
            <a:srgbClr val="2D1F5E"/>
          </a:solidFill>
          <a:ln w="9525">
            <a:solidFill>
              <a:srgbClr val="8B6A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36008" y="1664208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B6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OTel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8B6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Collector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3282696" y="2304288"/>
            <a:ext cx="27066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282696" y="2542032"/>
            <a:ext cx="2706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Full isolation, no interference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282696" y="2834640"/>
            <a:ext cx="2706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Per-Pod sampling strategies possible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282696" y="3218688"/>
            <a:ext cx="27066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282696" y="3456432"/>
            <a:ext cx="27066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High resource overhead (extra container per Pod)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3282696" y="3730752"/>
            <a:ext cx="27066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Complex maintenance with many Pods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6144768" y="594360"/>
            <a:ext cx="2926080" cy="4224528"/>
          </a:xfrm>
          <a:prstGeom prst="roundRect">
            <a:avLst>
              <a:gd name="adj" fmla="val 3125"/>
            </a:avLst>
          </a:prstGeom>
          <a:solidFill>
            <a:srgbClr val="F5F1EB"/>
          </a:solidFill>
          <a:ln w="19050">
            <a:solidFill>
              <a:srgbClr val="4A996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236208" y="6583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Central Collector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254496" y="100584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apps send to a centralized deployment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464808" y="1353312"/>
            <a:ext cx="2286000" cy="822960"/>
          </a:xfrm>
          <a:prstGeom prst="roundRect">
            <a:avLst>
              <a:gd name="adj" fmla="val 7778"/>
            </a:avLst>
          </a:prstGeom>
          <a:solidFill>
            <a:srgbClr val="ECE6DD"/>
          </a:solidFill>
          <a:ln w="9525">
            <a:solidFill>
              <a:srgbClr val="D6CCBF"/>
            </a:solidFill>
            <a:prstDash val="dash"/>
          </a:ln>
        </p:spPr>
      </p:sp>
      <p:sp>
        <p:nvSpPr>
          <p:cNvPr id="44" name="Text 42"/>
          <p:cNvSpPr/>
          <p:nvPr/>
        </p:nvSpPr>
        <p:spPr>
          <a:xfrm>
            <a:off x="6464808" y="138988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K8s Node / Pod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6647688" y="1664208"/>
            <a:ext cx="822960" cy="384048"/>
          </a:xfrm>
          <a:prstGeom prst="roundRect">
            <a:avLst>
              <a:gd name="adj" fmla="val 11905"/>
            </a:avLst>
          </a:prstGeom>
          <a:solidFill>
            <a:srgbClr val="F5F1EB"/>
          </a:solidFill>
          <a:ln w="9525">
            <a:solidFill>
              <a:srgbClr val="4A996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647688" y="1664208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 Pod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7607808" y="1664208"/>
            <a:ext cx="914400" cy="384048"/>
          </a:xfrm>
          <a:prstGeom prst="roundRect">
            <a:avLst>
              <a:gd name="adj" fmla="val 11905"/>
            </a:avLst>
          </a:prstGeom>
          <a:solidFill>
            <a:srgbClr val="2D1F5E"/>
          </a:solidFill>
          <a:ln w="9525">
            <a:solidFill>
              <a:srgbClr val="8B6A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07808" y="1664208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B6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OTel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8B6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Collector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6254496" y="2304288"/>
            <a:ext cx="27066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254496" y="2542032"/>
            <a:ext cx="2706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Easiest to manage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254496" y="2834640"/>
            <a:ext cx="2706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Unified config and monitoring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254496" y="3218688"/>
            <a:ext cx="27066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254496" y="3456432"/>
            <a:ext cx="27066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Single point of failure risk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6254496" y="3730752"/>
            <a:ext cx="27066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Slightly higher network overhead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6254496" y="4005072"/>
            <a:ext cx="27066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Horizontal scaling needed under heavy load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274320" y="48920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7200" y="49377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Most teams start with DaemonSet and switch to Sidecar only when strong isolation is needed — Central Collector suits small clusters</a:t>
            </a:r>
            <a:endParaRPr lang="en-US" sz="10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Mesh Auto-Tracing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8/10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768096" cy="82296"/>
          </a:xfrm>
          <a:prstGeom prst="rect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8595360" cy="457200"/>
          </a:xfrm>
          <a:prstGeom prst="roundRect">
            <a:avLst>
              <a:gd name="adj" fmla="val 16000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Istio / Envoy: Automatically inject tracing headers at the proxy layer — apps get basic tracing without any SDK instrumentation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82880" y="1143000"/>
            <a:ext cx="3200400" cy="1645920"/>
          </a:xfrm>
          <a:prstGeom prst="roundRect">
            <a:avLst>
              <a:gd name="adj" fmla="val 5556"/>
            </a:avLst>
          </a:prstGeom>
          <a:ln w="12700">
            <a:solidFill>
              <a:srgbClr val="4A7FB5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274320" y="99669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FFFDF8"/>
          </a:solidFill>
          <a:ln w="6350">
            <a:solidFill>
              <a:srgbClr val="4A7F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2608" y="99669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A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365760" y="1325880"/>
            <a:ext cx="1280160" cy="1234440"/>
          </a:xfrm>
          <a:prstGeom prst="roundRect">
            <a:avLst>
              <a:gd name="adj" fmla="val 5926"/>
            </a:avLst>
          </a:prstGeom>
          <a:solidFill>
            <a:srgbClr val="ECE6DD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1371600"/>
            <a:ext cx="1280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🐍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 SDK)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28800" y="1325880"/>
            <a:ext cx="1417320" cy="1234440"/>
          </a:xfrm>
          <a:prstGeom prst="roundRect">
            <a:avLst>
              <a:gd name="adj" fmla="val 5926"/>
            </a:avLst>
          </a:prstGeom>
          <a:solidFill>
            <a:srgbClr val="2D1F5E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28800" y="1371600"/>
            <a:ext cx="1417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🔷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(Sidecar)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645920" y="1947672"/>
            <a:ext cx="182880" cy="914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19" name="Shape 17"/>
          <p:cNvSpPr/>
          <p:nvPr/>
        </p:nvSpPr>
        <p:spPr>
          <a:xfrm>
            <a:off x="3383280" y="1947672"/>
            <a:ext cx="914400" cy="9144"/>
          </a:xfrm>
          <a:prstGeom prst="line">
            <a:avLst/>
          </a:prstGeom>
          <a:noFill/>
          <a:ln w="19050">
            <a:solidFill>
              <a:srgbClr val="8B6AB5"/>
            </a:solidFill>
            <a:prstDash val="solid"/>
            <a:tailEnd type="arrow"/>
          </a:ln>
        </p:spPr>
      </p:sp>
      <p:sp>
        <p:nvSpPr>
          <p:cNvPr id="20" name="Shape 18"/>
          <p:cNvSpPr/>
          <p:nvPr/>
        </p:nvSpPr>
        <p:spPr>
          <a:xfrm>
            <a:off x="3451860" y="1773936"/>
            <a:ext cx="7772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8B6A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51860" y="1773936"/>
            <a:ext cx="777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8B6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Inject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8B6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traceparent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4297680" y="1143000"/>
            <a:ext cx="3200400" cy="1645920"/>
          </a:xfrm>
          <a:prstGeom prst="roundRect">
            <a:avLst>
              <a:gd name="adj" fmla="val 5556"/>
            </a:avLst>
          </a:prstGeom>
          <a:ln w="12700">
            <a:solidFill>
              <a:srgbClr val="4A9968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4389120" y="99669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FFFDF8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07408" y="99669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B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4480560" y="1325880"/>
            <a:ext cx="1417320" cy="1234440"/>
          </a:xfrm>
          <a:prstGeom prst="roundRect">
            <a:avLst>
              <a:gd name="adj" fmla="val 5926"/>
            </a:avLst>
          </a:prstGeom>
          <a:solidFill>
            <a:srgbClr val="2D1F5E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80560" y="1371600"/>
            <a:ext cx="1417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🔷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(Read Headers)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897880" y="1947672"/>
            <a:ext cx="182880" cy="914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>
            <a:off x="6080760" y="1325880"/>
            <a:ext cx="1280160" cy="1234440"/>
          </a:xfrm>
          <a:prstGeom prst="roundRect">
            <a:avLst>
              <a:gd name="adj" fmla="val 5926"/>
            </a:avLst>
          </a:prstGeom>
          <a:solidFill>
            <a:srgbClr val="ECE6DD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80760" y="1371600"/>
            <a:ext cx="1280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🐍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 SDK)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7498080" y="1947672"/>
            <a:ext cx="914400" cy="9144"/>
          </a:xfrm>
          <a:prstGeom prst="line">
            <a:avLst/>
          </a:prstGeom>
          <a:noFill/>
          <a:ln w="19050">
            <a:solidFill>
              <a:srgbClr val="B8892C"/>
            </a:solidFill>
            <a:prstDash val="solid"/>
            <a:tailEnd type="arrow"/>
          </a:ln>
        </p:spPr>
      </p:sp>
      <p:sp>
        <p:nvSpPr>
          <p:cNvPr id="31" name="Shape 29"/>
          <p:cNvSpPr/>
          <p:nvPr/>
        </p:nvSpPr>
        <p:spPr>
          <a:xfrm>
            <a:off x="7566660" y="1773936"/>
            <a:ext cx="7772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B8892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566660" y="1773936"/>
            <a:ext cx="777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B889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Span →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B889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Jaeger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274320" y="2944368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Important Limitations of Service Mesh Tracing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74320" y="3291840"/>
            <a:ext cx="8595360" cy="384048"/>
          </a:xfrm>
          <a:prstGeom prst="roundRect">
            <a:avLst>
              <a:gd name="adj" fmla="val 16667"/>
            </a:avLst>
          </a:prstGeom>
          <a:solidFill>
            <a:srgbClr val="F5F1EB"/>
          </a:solidFill>
          <a:ln w="10160">
            <a:solidFill>
              <a:srgbClr val="B8892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1480" y="3291840"/>
            <a:ext cx="8321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Apps must still forward traceparent headers — otherwise parent-child Span links break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74320" y="3721608"/>
            <a:ext cx="8595360" cy="384048"/>
          </a:xfrm>
          <a:prstGeom prst="roundRect">
            <a:avLst>
              <a:gd name="adj" fmla="val 16667"/>
            </a:avLst>
          </a:prstGeom>
          <a:solidFill>
            <a:srgbClr val="F5F1EB"/>
          </a:solidFill>
          <a:ln w="10160">
            <a:solidFill>
              <a:srgbClr val="C4605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1480" y="3721608"/>
            <a:ext cx="8321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Cannot see application internal logic — only inter-service HTTP/gRPC calls are visible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74320" y="4151376"/>
            <a:ext cx="8595360" cy="384048"/>
          </a:xfrm>
          <a:prstGeom prst="roundRect">
            <a:avLst>
              <a:gd name="adj" fmla="val 16667"/>
            </a:avLst>
          </a:prstGeom>
          <a:solidFill>
            <a:srgbClr val="F5F1EB"/>
          </a:solidFill>
          <a:ln w="10160">
            <a:solidFill>
              <a:srgbClr val="C4605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11480" y="4151376"/>
            <a:ext cx="8321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Database queries, cache calls, and other internal Spans require SDK instrumentation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74320" y="461772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7200" y="46634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Service Mesh tracing is a great starting point, but ultimately OTel SDK is needed for full business-layer tracing</a:t>
            </a:r>
            <a:endParaRPr lang="en-US" sz="10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Integrating Traces, Logs &amp; Metrics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8/10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768096" cy="82296"/>
          </a:xfrm>
          <a:prstGeom prst="rect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8595360" cy="457200"/>
          </a:xfrm>
          <a:prstGeom prst="roundRect">
            <a:avLst>
              <a:gd name="adj" fmla="val 16000"/>
            </a:avLst>
          </a:prstGeom>
          <a:solidFill>
            <a:srgbClr val="2D1F5E"/>
          </a:solidFill>
          <a:ln w="19050">
            <a:solidFill>
              <a:srgbClr val="8B6A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Inject traceId and spanId into every log entry — three pillars are linked via Correlation ID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82880" y="1170432"/>
            <a:ext cx="2926080" cy="2450592"/>
          </a:xfrm>
          <a:prstGeom prst="roundRect">
            <a:avLst>
              <a:gd name="adj" fmla="val 3731"/>
            </a:avLst>
          </a:prstGeom>
          <a:solidFill>
            <a:srgbClr val="F5F1EB"/>
          </a:solidFill>
          <a:ln w="19050">
            <a:solidFill>
              <a:srgbClr val="B889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2880" y="12344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74320" y="16916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74320" y="1965960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Monitoring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20040" y="2231136"/>
            <a:ext cx="26517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error_rate or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latency spikes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Click into Grafana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172968" y="1170432"/>
            <a:ext cx="2926080" cy="2450592"/>
          </a:xfrm>
          <a:prstGeom prst="roundRect">
            <a:avLst>
              <a:gd name="adj" fmla="val 3731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172968" y="12344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🔍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3264408" y="16916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/ Jaeger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264408" y="1965960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Analysis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310128" y="2231136"/>
            <a:ext cx="26517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traces in the problem window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which Span has abnormal latency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Click to view correlated logs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144768" y="1170432"/>
            <a:ext cx="2926080" cy="2450592"/>
          </a:xfrm>
          <a:prstGeom prst="roundRect">
            <a:avLst>
              <a:gd name="adj" fmla="val 3731"/>
            </a:avLst>
          </a:prstGeom>
          <a:solidFill>
            <a:srgbClr val="F5F1EB"/>
          </a:solidFill>
          <a:ln w="19050">
            <a:solidFill>
              <a:srgbClr val="4A996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44768" y="12344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236208" y="16916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36208" y="1965960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Queries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281928" y="2231136"/>
            <a:ext cx="26517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by traceId to find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service logs for that request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Pinpoint the exact error line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108960" y="2496312"/>
            <a:ext cx="64008" cy="9144"/>
          </a:xfrm>
          <a:prstGeom prst="line">
            <a:avLst/>
          </a:prstGeom>
          <a:noFill/>
          <a:ln w="19050">
            <a:solidFill>
              <a:srgbClr val="8A8078"/>
            </a:solidFill>
            <a:prstDash val="solid"/>
            <a:tailEnd type="arrow"/>
          </a:ln>
        </p:spPr>
      </p:sp>
      <p:sp>
        <p:nvSpPr>
          <p:cNvPr id="27" name="Shape 25"/>
          <p:cNvSpPr/>
          <p:nvPr/>
        </p:nvSpPr>
        <p:spPr>
          <a:xfrm>
            <a:off x="2866644" y="2322576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8A807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866644" y="232257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TraceID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Correlation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6080760" y="2496312"/>
            <a:ext cx="64008" cy="9144"/>
          </a:xfrm>
          <a:prstGeom prst="line">
            <a:avLst/>
          </a:prstGeom>
          <a:noFill/>
          <a:ln w="19050">
            <a:solidFill>
              <a:srgbClr val="8A8078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>
            <a:off x="5838444" y="2322576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8A807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838444" y="232257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TraceID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Correlation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74320" y="3730752"/>
            <a:ext cx="8595360" cy="530352"/>
          </a:xfrm>
          <a:prstGeom prst="roundRect">
            <a:avLst>
              <a:gd name="adj" fmla="val 13793"/>
            </a:avLst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3730752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Workflow: Prometheus detects anomaly → Grafana Explore finds Trace → Tempo shows Span details → Click TraceID to jump to Loki for related logs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74320" y="437083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44165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Correlation ID across three pillars is the core capability of observability — Grafana's Explore page enables direct navigation between all three data sources</a:t>
            </a:r>
            <a:endParaRPr lang="en-US" sz="10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Cost &amp; Performance Impact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4114800" cy="1481328"/>
          </a:xfrm>
          <a:prstGeom prst="roundRect">
            <a:avLst>
              <a:gd name="adj" fmla="val 6173"/>
            </a:avLst>
          </a:prstGeom>
          <a:solidFill>
            <a:srgbClr val="F5F1EB"/>
          </a:solidFill>
          <a:ln w="19050">
            <a:solidFill>
              <a:srgbClr val="B889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65836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SDK Performance Overhead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969264"/>
            <a:ext cx="38404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CPU: ~1-3% extra for instrumentation &amp; serialization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11480" y="1225296"/>
            <a:ext cx="38404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Memory: ~1-5KB per Span (incl. attributes, events)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11480" y="1481328"/>
            <a:ext cx="38404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Network: Batch-processed transfer to Collector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11480" y="1737360"/>
            <a:ext cx="38404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Latency: Async export, request latency impact &lt; 1ms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663440" y="594360"/>
            <a:ext cx="4206240" cy="1481328"/>
          </a:xfrm>
          <a:prstGeom prst="roundRect">
            <a:avLst>
              <a:gd name="adj" fmla="val 6173"/>
            </a:avLst>
          </a:prstGeom>
          <a:solidFill>
            <a:srgbClr val="F5F1EB"/>
          </a:solidFill>
          <a:ln w="19050">
            <a:solidFill>
              <a:srgbClr val="C4605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0600" y="65836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Storage Cost Estimate (100% Sampling)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0" y="969264"/>
            <a:ext cx="4114800" cy="960120"/>
          </a:xfrm>
          <a:prstGeom prst="roundRect">
            <a:avLst>
              <a:gd name="adj" fmla="val 9524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blurRad="127000" dist="508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846320" y="822960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64608" y="822960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Daily Data Volume Estimate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882896" y="1078992"/>
            <a:ext cx="3858768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1,000,000 requests/day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× 10 Spans per request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× 2 KB per Span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20 GB Trace data per day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82880" y="2240280"/>
            <a:ext cx="2865120" cy="2487168"/>
          </a:xfrm>
          <a:prstGeom prst="roundRect">
            <a:avLst>
              <a:gd name="adj" fmla="val 3676"/>
            </a:avLst>
          </a:prstGeom>
          <a:solidFill>
            <a:srgbClr val="F5F1EB"/>
          </a:solidFill>
          <a:ln w="15240">
            <a:solidFill>
              <a:srgbClr val="C4605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2880" y="2240280"/>
            <a:ext cx="2865120" cy="475488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82880" y="22585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🔴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03504" y="2240280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Sampling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10896" y="2852928"/>
            <a:ext cx="109728" cy="109728"/>
          </a:xfrm>
          <a:prstGeom prst="ellipse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5488" y="278892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GB per day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75488" y="299008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cost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10896" y="3255264"/>
            <a:ext cx="109728" cy="109728"/>
          </a:xfrm>
          <a:prstGeom prst="ellipse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5488" y="3191256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observability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5488" y="3392424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request queryable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10896" y="3657600"/>
            <a:ext cx="109728" cy="109728"/>
          </a:xfrm>
          <a:prstGeom prst="ellipse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" y="3593592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Suitable for: testing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75488" y="3794760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recommended for production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3139440" y="2240280"/>
            <a:ext cx="2865120" cy="2487168"/>
          </a:xfrm>
          <a:prstGeom prst="roundRect">
            <a:avLst>
              <a:gd name="adj" fmla="val 3676"/>
            </a:avLst>
          </a:prstGeom>
          <a:solidFill>
            <a:srgbClr val="F5F1EB"/>
          </a:solidFill>
          <a:ln w="15240">
            <a:solidFill>
              <a:srgbClr val="B8892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139440" y="2240280"/>
            <a:ext cx="2865120" cy="475488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139440" y="22585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🟡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3560064" y="2240280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Sampling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267456" y="2852928"/>
            <a:ext cx="109728" cy="109728"/>
          </a:xfrm>
          <a:prstGeom prst="ellipse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432048" y="278892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GB per day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3432048" y="299008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cost reduction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267456" y="3255264"/>
            <a:ext cx="109728" cy="109728"/>
          </a:xfrm>
          <a:prstGeom prst="ellipse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32048" y="3191256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 coverage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3432048" y="3392424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issues still traceable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3267456" y="3657600"/>
            <a:ext cx="109728" cy="109728"/>
          </a:xfrm>
          <a:prstGeom prst="ellipse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32048" y="3593592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Suitable for: general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3432048" y="3794760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choice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6096000" y="2240280"/>
            <a:ext cx="2865120" cy="2487168"/>
          </a:xfrm>
          <a:prstGeom prst="roundRect">
            <a:avLst>
              <a:gd name="adj" fmla="val 3676"/>
            </a:avLst>
          </a:prstGeom>
          <a:solidFill>
            <a:srgbClr val="F5F1EB"/>
          </a:solidFill>
          <a:ln w="15240">
            <a:solidFill>
              <a:srgbClr val="4A996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096000" y="2240280"/>
            <a:ext cx="2865120" cy="475488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096000" y="22585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🟢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6516624" y="2240280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1% Sampling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6224016" y="2852928"/>
            <a:ext cx="109728" cy="109728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88608" y="278892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MB per day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6388608" y="299008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cost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6224016" y="3255264"/>
            <a:ext cx="109728" cy="109728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88608" y="3191256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analysis only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6388608" y="3392424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issues hard to find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224016" y="3657600"/>
            <a:ext cx="109728" cy="109728"/>
          </a:xfrm>
          <a:prstGeom prst="ellipse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88608" y="3593592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with tail sampling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6388608" y="3794760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 error traces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274320" y="48006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57200" y="48463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Sampling rate design principle: low sampling for normal requests + 100% retention for errors/high-latency = optimal cost-effectiveness</a:t>
            </a:r>
            <a:endParaRPr lang="en-US" sz="10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Tracing Anti-patterns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4160520" cy="1353312"/>
          </a:xfrm>
          <a:prstGeom prst="roundRect">
            <a:avLst>
              <a:gd name="adj" fmla="val 6757"/>
            </a:avLst>
          </a:prstGeom>
          <a:solidFill>
            <a:srgbClr val="F8ECEC"/>
          </a:solidFill>
          <a:ln w="15240">
            <a:solidFill>
              <a:srgbClr val="C460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667512"/>
            <a:ext cx="39410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💣  No Sampling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4048" y="960120"/>
            <a:ext cx="394106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sample rate + high traffic = storage explosion, skyrocketing costs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84048" y="1435608"/>
            <a:ext cx="3941064" cy="411480"/>
          </a:xfrm>
          <a:prstGeom prst="roundRect">
            <a:avLst>
              <a:gd name="adj" fmla="val 11111"/>
            </a:avLst>
          </a:prstGeom>
          <a:solidFill>
            <a:srgbClr val="E5F0E9"/>
          </a:solidFill>
          <a:ln w="9525">
            <a:solidFill>
              <a:srgbClr val="4A996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1453896"/>
            <a:ext cx="3758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Best practice: Set a reasonable sample rate, use tail sampling to retain errors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594360"/>
            <a:ext cx="4160520" cy="1353312"/>
          </a:xfrm>
          <a:prstGeom prst="roundRect">
            <a:avLst>
              <a:gd name="adj" fmla="val 6757"/>
            </a:avLst>
          </a:prstGeom>
          <a:solidFill>
            <a:srgbClr val="F8ECEC"/>
          </a:solidFill>
          <a:ln w="15240">
            <a:solidFill>
              <a:srgbClr val="C4605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667512"/>
            <a:ext cx="39410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Missing Context Propagation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18888" y="960120"/>
            <a:ext cx="394106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layer (Message Queue, Async Job) forgetting to forward traceparent breaks the trace chain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818888" y="1435608"/>
            <a:ext cx="3941064" cy="411480"/>
          </a:xfrm>
          <a:prstGeom prst="roundRect">
            <a:avLst>
              <a:gd name="adj" fmla="val 11111"/>
            </a:avLst>
          </a:prstGeom>
          <a:solidFill>
            <a:srgbClr val="E5F0E9"/>
          </a:solidFill>
          <a:ln w="9525">
            <a:solidFill>
              <a:srgbClr val="4A996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10328" y="1453896"/>
            <a:ext cx="3758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Best practice: All service boundaries must forward trace headers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075688"/>
            <a:ext cx="4160520" cy="1353312"/>
          </a:xfrm>
          <a:prstGeom prst="roundRect">
            <a:avLst>
              <a:gd name="adj" fmla="val 6757"/>
            </a:avLst>
          </a:prstGeom>
          <a:solidFill>
            <a:srgbClr val="F8ECEC"/>
          </a:solidFill>
          <a:ln w="15240">
            <a:solidFill>
              <a:srgbClr val="C4605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4048" y="2148840"/>
            <a:ext cx="39410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🙈  Only Tracing Happy Path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84048" y="2441448"/>
            <a:ext cx="394106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instrumenting try blocks; catch/error paths have no Spans — failures become untraceable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84048" y="2916936"/>
            <a:ext cx="3941064" cy="411480"/>
          </a:xfrm>
          <a:prstGeom prst="roundRect">
            <a:avLst>
              <a:gd name="adj" fmla="val 11111"/>
            </a:avLst>
          </a:prstGeom>
          <a:solidFill>
            <a:srgbClr val="E5F0E9"/>
          </a:solidFill>
          <a:ln w="9525">
            <a:solidFill>
              <a:srgbClr val="4A99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" y="2935224"/>
            <a:ext cx="3758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Best practice: Record exceptions in Spans via span.record_exception(e)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709160" y="2075688"/>
            <a:ext cx="4160520" cy="1353312"/>
          </a:xfrm>
          <a:prstGeom prst="roundRect">
            <a:avLst>
              <a:gd name="adj" fmla="val 6757"/>
            </a:avLst>
          </a:prstGeom>
          <a:solidFill>
            <a:srgbClr val="F8ECEC"/>
          </a:solidFill>
          <a:ln w="15240">
            <a:solidFill>
              <a:srgbClr val="C4605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18888" y="2148840"/>
            <a:ext cx="39410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🗂️  Not Correlating with Logs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18888" y="2441448"/>
            <a:ext cx="394106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Traces alone only show timing; without detailed error messages, deep debugging is impossible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818888" y="2916936"/>
            <a:ext cx="3941064" cy="411480"/>
          </a:xfrm>
          <a:prstGeom prst="roundRect">
            <a:avLst>
              <a:gd name="adj" fmla="val 11111"/>
            </a:avLst>
          </a:prstGeom>
          <a:solidFill>
            <a:srgbClr val="E5F0E9"/>
          </a:solidFill>
          <a:ln w="9525">
            <a:solidFill>
              <a:srgbClr val="4A99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10328" y="2935224"/>
            <a:ext cx="3758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Best practice: Inject trace_id and span_id into log entries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3557016"/>
            <a:ext cx="8595360" cy="1353312"/>
          </a:xfrm>
          <a:prstGeom prst="roundRect">
            <a:avLst>
              <a:gd name="adj" fmla="val 6757"/>
            </a:avLst>
          </a:prstGeom>
          <a:solidFill>
            <a:srgbClr val="F8ECEC"/>
          </a:solidFill>
          <a:ln w="15240">
            <a:solidFill>
              <a:srgbClr val="C4605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84048" y="3630168"/>
            <a:ext cx="8375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Vendor Lock-in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84048" y="3922776"/>
            <a:ext cx="83759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Instrumenting directly with Jaeger SDK or Zipkin SDK means switching backends requires major code changes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84048" y="4398264"/>
            <a:ext cx="8375904" cy="411480"/>
          </a:xfrm>
          <a:prstGeom prst="roundRect">
            <a:avLst>
              <a:gd name="adj" fmla="val 11111"/>
            </a:avLst>
          </a:prstGeom>
          <a:solidFill>
            <a:srgbClr val="E5F0E9"/>
          </a:solidFill>
          <a:ln w="9525">
            <a:solidFill>
              <a:srgbClr val="4A996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5488" y="4416552"/>
            <a:ext cx="81930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Best practice: Always use OTel API/SDK; abstract backends via Collector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74320" y="48006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48463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The value of a tracing system comes from completeness and correlation — avoiding these anti-patterns maximizes tracing ROI</a:t>
            </a:r>
            <a:endParaRPr lang="en-US" sz="10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Chapter Summary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9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2084832" cy="3767328"/>
          </a:xfrm>
          <a:prstGeom prst="roundRect">
            <a:avLst>
              <a:gd name="adj" fmla="val 4386"/>
            </a:avLst>
          </a:prstGeom>
          <a:solidFill>
            <a:srgbClr val="F5F1EB"/>
          </a:solidFill>
          <a:ln w="15240">
            <a:solidFill>
              <a:srgbClr val="8B6AB5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74320" y="667512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🗺️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47472" y="1069848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1389888"/>
            <a:ext cx="19019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Track request paths across service boundaries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5760" y="1645920"/>
            <a:ext cx="19019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Trace + Span + Context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5760" y="1901952"/>
            <a:ext cx="19019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W3C traceparent standard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2157984"/>
            <a:ext cx="19019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Solves distributed debugging challenges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423160" y="594360"/>
            <a:ext cx="2084832" cy="3767328"/>
          </a:xfrm>
          <a:prstGeom prst="roundRect">
            <a:avLst>
              <a:gd name="adj" fmla="val 4386"/>
            </a:avLst>
          </a:prstGeom>
          <a:solidFill>
            <a:srgbClr val="F5F1EB"/>
          </a:solidFill>
          <a:ln w="15240">
            <a:solidFill>
              <a:srgbClr val="4A7FB5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423160" y="667512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🔧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496312" y="1069848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Do It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514600" y="1389888"/>
            <a:ext cx="19019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OTel SDK auto/manual instrumentation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14600" y="1645920"/>
            <a:ext cx="19019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OTel Collector routing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514600" y="1901952"/>
            <a:ext cx="19019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Jaeger / Tempo backends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514600" y="2157984"/>
            <a:ext cx="19019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K8s DaemonSet deployment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0" y="594360"/>
            <a:ext cx="2084832" cy="3767328"/>
          </a:xfrm>
          <a:prstGeom prst="roundRect">
            <a:avLst>
              <a:gd name="adj" fmla="val 4386"/>
            </a:avLst>
          </a:prstGeom>
          <a:solidFill>
            <a:srgbClr val="F5F1EB"/>
          </a:solidFill>
          <a:ln w="15240">
            <a:solidFill>
              <a:srgbClr val="B8892C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572000" y="667512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4645152" y="1069848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 Strategy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663440" y="1389888"/>
            <a:ext cx="19019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Head sampling: low overhead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663440" y="1645920"/>
            <a:ext cx="19019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Tail sampling: retains all errors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663440" y="1901952"/>
            <a:ext cx="19019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Production: 1-10% + 100% errors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663440" y="2157984"/>
            <a:ext cx="19019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Essential for cost control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720840" y="594360"/>
            <a:ext cx="2084832" cy="3767328"/>
          </a:xfrm>
          <a:prstGeom prst="roundRect">
            <a:avLst>
              <a:gd name="adj" fmla="val 4386"/>
            </a:avLst>
          </a:prstGeom>
          <a:solidFill>
            <a:srgbClr val="F5F1EB"/>
          </a:solidFill>
          <a:ln w="15240">
            <a:solidFill>
              <a:srgbClr val="4A9968"/>
            </a:solidFill>
            <a:prstDash val="solid"/>
          </a:ln>
          <a:effectLst>
            <a:outerShdw blurRad="76200" dist="254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720840" y="667512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🔗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6793992" y="1069848"/>
            <a:ext cx="193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812280" y="1389888"/>
            <a:ext cx="19019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TraceID injected into every log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812280" y="1645920"/>
            <a:ext cx="19019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Grafana Tempo + Loki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812280" y="1901952"/>
            <a:ext cx="19019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Three pillars linked together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812280" y="2157984"/>
            <a:ext cx="19019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Alert → Trace → Log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274320" y="4462272"/>
            <a:ext cx="8595360" cy="457200"/>
          </a:xfrm>
          <a:prstGeom prst="roundRect">
            <a:avLst>
              <a:gd name="adj" fmla="val 16000"/>
            </a:avLst>
          </a:prstGeom>
          <a:solidFill>
            <a:srgbClr val="F5F1EB"/>
          </a:solidFill>
          <a:ln w="15240">
            <a:solidFill>
              <a:srgbClr val="8B6A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446227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Next Chapter PART 10: SRE Practices — Integrating Traces + Metrics + Logs into the SLO/SLI Framework</a:t>
            </a:r>
            <a:endParaRPr lang="en-US" sz="11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Pillars Integration: Grafana Stack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7/10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672084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474720" y="1463040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 w="25400">
            <a:solidFill>
              <a:srgbClr val="4A996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0" y="15544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Grafana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74720" y="19659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Observability Interface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74320" y="137160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F5F1EB"/>
          </a:solidFill>
          <a:ln w="15240">
            <a:solidFill>
              <a:srgbClr val="B889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144475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Prometheus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74320" y="178308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(Metrics)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" y="256032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F5F1EB"/>
          </a:solidFill>
          <a:ln w="15240">
            <a:solidFill>
              <a:srgbClr val="5A9B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263347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A9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Loki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" y="297180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(Logs)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766560" y="137160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F5F1EB"/>
          </a:solidFill>
          <a:ln w="15240">
            <a:solidFill>
              <a:srgbClr val="8B6A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66560" y="144475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Tempo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766560" y="178308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(Traces)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766560" y="256032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F5F1EB"/>
          </a:solidFill>
          <a:ln w="15240">
            <a:solidFill>
              <a:srgbClr val="C4605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66560" y="263347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AlertManager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66560" y="297180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(Alerts)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103120" y="1719072"/>
            <a:ext cx="1371600" cy="9144"/>
          </a:xfrm>
          <a:prstGeom prst="line">
            <a:avLst/>
          </a:prstGeom>
          <a:noFill/>
          <a:ln w="19050">
            <a:solidFill>
              <a:srgbClr val="B8892C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2205990" y="1545336"/>
            <a:ext cx="116586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B8892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205990" y="1545336"/>
            <a:ext cx="11658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B889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PromQL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103120" y="2907792"/>
            <a:ext cx="1371600" cy="9144"/>
          </a:xfrm>
          <a:prstGeom prst="line">
            <a:avLst/>
          </a:prstGeom>
          <a:noFill/>
          <a:ln w="19050">
            <a:solidFill>
              <a:srgbClr val="5A9B6E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>
            <a:off x="2205990" y="2734056"/>
            <a:ext cx="116586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5A9B6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05990" y="2734056"/>
            <a:ext cx="11658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5A9B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LogQL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5669280" y="1719072"/>
            <a:ext cx="1097280" cy="9144"/>
          </a:xfrm>
          <a:prstGeom prst="line">
            <a:avLst/>
          </a:prstGeom>
          <a:noFill/>
          <a:ln w="19050">
            <a:solidFill>
              <a:srgbClr val="8B6AB5"/>
            </a:solidFill>
            <a:prstDash val="solid"/>
            <a:tailEnd type="arrow"/>
          </a:ln>
        </p:spPr>
      </p:sp>
      <p:sp>
        <p:nvSpPr>
          <p:cNvPr id="31" name="Shape 29"/>
          <p:cNvSpPr/>
          <p:nvPr/>
        </p:nvSpPr>
        <p:spPr>
          <a:xfrm>
            <a:off x="5751576" y="1545336"/>
            <a:ext cx="932688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8B6A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51576" y="1545336"/>
            <a:ext cx="9326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8B6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TraceQL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5669280" y="2907792"/>
            <a:ext cx="1097280" cy="9144"/>
          </a:xfrm>
          <a:prstGeom prst="line">
            <a:avLst/>
          </a:prstGeom>
          <a:noFill/>
          <a:ln w="19050">
            <a:solidFill>
              <a:srgbClr val="C4605B"/>
            </a:solidFill>
            <a:prstDash val="solid"/>
            <a:tailEnd type="arrow"/>
          </a:ln>
        </p:spPr>
      </p:sp>
      <p:sp>
        <p:nvSpPr>
          <p:cNvPr id="34" name="Shape 32"/>
          <p:cNvSpPr/>
          <p:nvPr/>
        </p:nvSpPr>
        <p:spPr>
          <a:xfrm>
            <a:off x="5751576" y="2734056"/>
            <a:ext cx="932688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C4605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751576" y="2734056"/>
            <a:ext cx="9326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C460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274320" y="3657600"/>
            <a:ext cx="8595360" cy="475488"/>
          </a:xfrm>
          <a:prstGeom prst="roundRect">
            <a:avLst>
              <a:gd name="adj" fmla="val 15385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365760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Integration Flow: Click metric anomaly  →  Find Trace  →  View correlated logs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274320" y="44348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Grafana Stack = Prometheus (Metrics) + Loki (Logs) + Tempo (Traces) + Grafana (UI) — open-source, vendor-neutral, fully integrated</a:t>
            </a:r>
            <a:endParaRPr lang="en-US" sz="10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→ Incident → Postmortem Complete Flow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28600" y="594360"/>
            <a:ext cx="1280160" cy="749808"/>
          </a:xfrm>
          <a:prstGeom prst="roundRect">
            <a:avLst>
              <a:gd name="adj" fmla="val 10976"/>
            </a:avLst>
          </a:prstGeom>
          <a:solidFill>
            <a:srgbClr val="F5F1EB"/>
          </a:solidFill>
          <a:ln w="19050">
            <a:solidFill>
              <a:srgbClr val="C460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30936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28600" y="72237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Fired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74320" y="103327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rule triggered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1508760" y="969264"/>
            <a:ext cx="201168" cy="914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>
            <a:off x="1709928" y="594360"/>
            <a:ext cx="1280160" cy="749808"/>
          </a:xfrm>
          <a:prstGeom prst="roundRect">
            <a:avLst>
              <a:gd name="adj" fmla="val 10976"/>
            </a:avLst>
          </a:prstGeom>
          <a:solidFill>
            <a:srgbClr val="F5F1EB"/>
          </a:solidFill>
          <a:ln w="19050">
            <a:solidFill>
              <a:srgbClr val="B889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755648" y="630936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709928" y="72237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&amp; Notify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755648" y="103327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AlertManager → PagerDuty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2990088" y="969264"/>
            <a:ext cx="201168" cy="914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19" name="Shape 17"/>
          <p:cNvSpPr/>
          <p:nvPr/>
        </p:nvSpPr>
        <p:spPr>
          <a:xfrm>
            <a:off x="3191256" y="594360"/>
            <a:ext cx="1280160" cy="749808"/>
          </a:xfrm>
          <a:prstGeom prst="roundRect">
            <a:avLst>
              <a:gd name="adj" fmla="val 10976"/>
            </a:avLst>
          </a:prstGeom>
          <a:solidFill>
            <a:srgbClr val="F5F1EB"/>
          </a:solidFill>
          <a:ln w="19050">
            <a:solidFill>
              <a:srgbClr val="4A7F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36976" y="630936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191256" y="72237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236976" y="103327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On-call engineer accepts alert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4471416" y="969264"/>
            <a:ext cx="201168" cy="914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24" name="Shape 22"/>
          <p:cNvSpPr/>
          <p:nvPr/>
        </p:nvSpPr>
        <p:spPr>
          <a:xfrm>
            <a:off x="4672584" y="594360"/>
            <a:ext cx="1280160" cy="749808"/>
          </a:xfrm>
          <a:prstGeom prst="roundRect">
            <a:avLst>
              <a:gd name="adj" fmla="val 10976"/>
            </a:avLst>
          </a:prstGeom>
          <a:solidFill>
            <a:srgbClr val="F5F1EB"/>
          </a:solidFill>
          <a:ln w="19050">
            <a:solidFill>
              <a:srgbClr val="4A7F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18304" y="630936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672584" y="72237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718304" y="103327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Grafana Dashboard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5952744" y="969264"/>
            <a:ext cx="201168" cy="914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6153912" y="594360"/>
            <a:ext cx="1280160" cy="749808"/>
          </a:xfrm>
          <a:prstGeom prst="roundRect">
            <a:avLst>
              <a:gd name="adj" fmla="val 10976"/>
            </a:avLst>
          </a:prstGeom>
          <a:solidFill>
            <a:srgbClr val="F5F1EB"/>
          </a:solidFill>
          <a:ln w="19050">
            <a:solidFill>
              <a:srgbClr val="4A996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99632" y="630936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153912" y="72237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199632" y="103327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Hotfix or rollback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7434072" y="969264"/>
            <a:ext cx="201168" cy="914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34" name="Shape 32"/>
          <p:cNvSpPr/>
          <p:nvPr/>
        </p:nvSpPr>
        <p:spPr>
          <a:xfrm>
            <a:off x="7635240" y="594360"/>
            <a:ext cx="1280160" cy="749808"/>
          </a:xfrm>
          <a:prstGeom prst="roundRect">
            <a:avLst>
              <a:gd name="adj" fmla="val 10976"/>
            </a:avLst>
          </a:prstGeom>
          <a:solidFill>
            <a:srgbClr val="F5F1EB"/>
          </a:solidFill>
          <a:ln w="19050">
            <a:solidFill>
              <a:srgbClr val="4A99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680960" y="630936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635240" y="72237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Postmortem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680960" y="103327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Blameless review within 48 hrs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365760" y="1508760"/>
            <a:ext cx="2560320" cy="1005840"/>
          </a:xfrm>
          <a:prstGeom prst="roundRect">
            <a:avLst>
              <a:gd name="adj" fmla="val 10909"/>
            </a:avLst>
          </a:prstGeom>
          <a:solidFill>
            <a:srgbClr val="F5F1EB"/>
          </a:solidFill>
          <a:ln w="19050">
            <a:solidFill>
              <a:srgbClr val="C4605B"/>
            </a:solidFill>
            <a:prstDash val="solid"/>
          </a:ln>
          <a:effectLst>
            <a:outerShdw blurRad="101600" dist="381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457200" y="1618488"/>
            <a:ext cx="237744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 min</a:t>
            </a:r>
            <a:endParaRPr lang="en-US" sz="3400" dirty="0"/>
          </a:p>
        </p:txBody>
      </p:sp>
      <p:sp>
        <p:nvSpPr>
          <p:cNvPr id="40" name="Text 38"/>
          <p:cNvSpPr/>
          <p:nvPr/>
        </p:nvSpPr>
        <p:spPr>
          <a:xfrm>
            <a:off x="457200" y="207203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MTTD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57200" y="232806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 to Detect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00400" y="1508760"/>
            <a:ext cx="2560320" cy="1005840"/>
          </a:xfrm>
          <a:prstGeom prst="roundRect">
            <a:avLst>
              <a:gd name="adj" fmla="val 10909"/>
            </a:avLst>
          </a:prstGeom>
          <a:solidFill>
            <a:srgbClr val="F5F1EB"/>
          </a:solidFill>
          <a:ln w="19050">
            <a:solidFill>
              <a:srgbClr val="B8892C"/>
            </a:solidFill>
            <a:prstDash val="solid"/>
          </a:ln>
          <a:effectLst>
            <a:outerShdw blurRad="101600" dist="381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3291840" y="1618488"/>
            <a:ext cx="237744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 min</a:t>
            </a:r>
            <a:endParaRPr lang="en-US" sz="3400" dirty="0"/>
          </a:p>
        </p:txBody>
      </p:sp>
      <p:sp>
        <p:nvSpPr>
          <p:cNvPr id="44" name="Text 42"/>
          <p:cNvSpPr/>
          <p:nvPr/>
        </p:nvSpPr>
        <p:spPr>
          <a:xfrm>
            <a:off x="3291840" y="207203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MTTA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3291840" y="232806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 to Acknowledge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35040" y="1508760"/>
            <a:ext cx="2560320" cy="1005840"/>
          </a:xfrm>
          <a:prstGeom prst="roundRect">
            <a:avLst>
              <a:gd name="adj" fmla="val 10909"/>
            </a:avLst>
          </a:prstGeom>
          <a:solidFill>
            <a:srgbClr val="F5F1EB"/>
          </a:solidFill>
          <a:ln w="19050">
            <a:solidFill>
              <a:srgbClr val="4A9968"/>
            </a:solidFill>
            <a:prstDash val="solid"/>
          </a:ln>
          <a:effectLst>
            <a:outerShdw blurRad="101600" dist="381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6126480" y="1618488"/>
            <a:ext cx="237744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30 min</a:t>
            </a:r>
            <a:endParaRPr lang="en-US" sz="3400" dirty="0"/>
          </a:p>
        </p:txBody>
      </p:sp>
      <p:sp>
        <p:nvSpPr>
          <p:cNvPr id="48" name="Text 46"/>
          <p:cNvSpPr/>
          <p:nvPr/>
        </p:nvSpPr>
        <p:spPr>
          <a:xfrm>
            <a:off x="6126480" y="207203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MTTR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6126480" y="232806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 to Recover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74320" y="2788920"/>
            <a:ext cx="8595360" cy="384048"/>
          </a:xfrm>
          <a:prstGeom prst="roundRect">
            <a:avLst>
              <a:gd name="adj" fmla="val 19048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" y="278892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  Alert Fired  →  Notification Sent  →  Acknowledged  →  Root Cause Found  →  Mitigated  →  Postmortem Complete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274320" y="44348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5720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Every alert should have a clear owner and runbook; production-impacting incidents must complete a postmortem within 48 hours</a:t>
            </a:r>
            <a:endParaRPr lang="en-US" sz="10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SLI, SLO, SLA Definitions &amp; Differences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82880" y="566928"/>
            <a:ext cx="2865120" cy="3547872"/>
          </a:xfrm>
          <a:prstGeom prst="roundRect">
            <a:avLst>
              <a:gd name="adj" fmla="val 3191"/>
            </a:avLst>
          </a:prstGeom>
          <a:solidFill>
            <a:srgbClr val="F5F1EB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2880" y="566928"/>
            <a:ext cx="2865120" cy="475488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0350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 (Service Level Indicator)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10896" y="1179576"/>
            <a:ext cx="109728" cy="109728"/>
          </a:xfrm>
          <a:prstGeom prst="ellipse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measured value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10896" y="1581912"/>
            <a:ext cx="109728" cy="109728"/>
          </a:xfrm>
          <a:prstGeom prst="ellipse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Request success rate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0896" y="1984248"/>
            <a:ext cx="109728" cy="109728"/>
          </a:xfrm>
          <a:prstGeom prst="ellipse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value: 99.95%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10896" y="2386584"/>
            <a:ext cx="109728" cy="109728"/>
          </a:xfrm>
          <a:prstGeom prst="ellipse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latency: 180ms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10896" y="2788920"/>
            <a:ext cx="109728" cy="109728"/>
          </a:xfrm>
          <a:prstGeom prst="ellipse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 from real traffic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139440" y="566928"/>
            <a:ext cx="2865120" cy="3547872"/>
          </a:xfrm>
          <a:prstGeom prst="roundRect">
            <a:avLst>
              <a:gd name="adj" fmla="val 3191"/>
            </a:avLst>
          </a:prstGeom>
          <a:solidFill>
            <a:srgbClr val="F5F1EB"/>
          </a:solidFill>
          <a:ln w="15240">
            <a:solidFill>
              <a:srgbClr val="B8892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39440" y="566928"/>
            <a:ext cx="2865120" cy="475488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13944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356006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 (Service Level Objective)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267456" y="1179576"/>
            <a:ext cx="109728" cy="109728"/>
          </a:xfrm>
          <a:prstGeom prst="ellipse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3204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target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267456" y="1581912"/>
            <a:ext cx="109728" cy="109728"/>
          </a:xfrm>
          <a:prstGeom prst="ellipse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3204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≥ 99.9% success rate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67456" y="1984248"/>
            <a:ext cx="109728" cy="109728"/>
          </a:xfrm>
          <a:prstGeom prst="ellipse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3204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by engineering team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267456" y="2386584"/>
            <a:ext cx="109728" cy="109728"/>
          </a:xfrm>
          <a:prstGeom prst="ellipse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43204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be stricter than SLA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267456" y="2788920"/>
            <a:ext cx="109728" cy="109728"/>
          </a:xfrm>
          <a:prstGeom prst="ellipse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3204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 error budget policy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096000" y="566928"/>
            <a:ext cx="2865120" cy="3547872"/>
          </a:xfrm>
          <a:prstGeom prst="roundRect">
            <a:avLst>
              <a:gd name="adj" fmla="val 3191"/>
            </a:avLst>
          </a:prstGeom>
          <a:solidFill>
            <a:srgbClr val="F5F1EB"/>
          </a:solidFill>
          <a:ln w="15240">
            <a:solidFill>
              <a:srgbClr val="C4605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096000" y="566928"/>
            <a:ext cx="2865120" cy="475488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09600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651662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(Service Level Agreement)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224016" y="1179576"/>
            <a:ext cx="109728" cy="109728"/>
          </a:xfrm>
          <a:prstGeom prst="ellipse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8860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Contractual commitment to customers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224016" y="1581912"/>
            <a:ext cx="109728" cy="109728"/>
          </a:xfrm>
          <a:prstGeom prst="ellipse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8860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Promise: ≥ 99.5% success rate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224016" y="1984248"/>
            <a:ext cx="109728" cy="109728"/>
          </a:xfrm>
          <a:prstGeom prst="ellipse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8860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Agreed upon with customers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224016" y="2386584"/>
            <a:ext cx="109728" cy="109728"/>
          </a:xfrm>
          <a:prstGeom prst="ellipse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8860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Breach triggers financial penalties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224016" y="2788920"/>
            <a:ext cx="109728" cy="109728"/>
          </a:xfrm>
          <a:prstGeom prst="ellipse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8860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be more lenient than SLO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274320" y="4078224"/>
            <a:ext cx="8595360" cy="274320"/>
          </a:xfrm>
          <a:prstGeom prst="roundRect">
            <a:avLst>
              <a:gd name="adj" fmla="val 23333"/>
            </a:avLst>
          </a:prstGeom>
          <a:solidFill>
            <a:srgbClr val="F3EDE0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7200" y="407822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Core Principle: SLO must be stricter than SLA | SLI=99.95% → SLO=99.9% → SLA=99.5%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274320" y="4626864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" y="4672584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SLO is your internal target, SLA is your commitment to customers — always keep SLO &gt; SLA</a:t>
            </a:r>
            <a:endParaRPr lang="en-US" sz="10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Budget: The Compass of Reliability Engineering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7/10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672084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66928"/>
            <a:ext cx="8595360" cy="384048"/>
          </a:xfrm>
          <a:prstGeom prst="roundRect">
            <a:avLst>
              <a:gd name="adj" fmla="val 19048"/>
            </a:avLst>
          </a:prstGeom>
          <a:solidFill>
            <a:srgbClr val="F5F1EB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6692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Budget = 1 − SLO  →  99.9% SLO = 0.1% budget ≈ ~43.8 min downtime/month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1078992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Budget Consumption (Example: 68% used)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74320" y="1298448"/>
            <a:ext cx="8595360" cy="237744"/>
          </a:xfrm>
          <a:prstGeom prst="roundRect">
            <a:avLst>
              <a:gd name="adj" fmla="val 19231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" y="1298448"/>
            <a:ext cx="5844845" cy="237744"/>
          </a:xfrm>
          <a:prstGeom prst="roundRect">
            <a:avLst>
              <a:gd name="adj" fmla="val 19231"/>
            </a:avLst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" y="1298448"/>
            <a:ext cx="584484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FFF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68%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" y="1700784"/>
            <a:ext cx="8595360" cy="493776"/>
          </a:xfrm>
          <a:prstGeom prst="roundRect">
            <a:avLst>
              <a:gd name="adj" fmla="val 14815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1737360"/>
            <a:ext cx="3840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Budget Healthy (&lt; 50% used)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389120" y="1737360"/>
            <a:ext cx="4297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freely · Experiment boldly · Ship features aggressively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2304288"/>
            <a:ext cx="8595360" cy="493776"/>
          </a:xfrm>
          <a:prstGeom prst="roundRect">
            <a:avLst>
              <a:gd name="adj" fmla="val 14815"/>
            </a:avLst>
          </a:prstGeom>
          <a:solidFill>
            <a:srgbClr val="F3EDE0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340864"/>
            <a:ext cx="3840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Budget Warning (50–90% used)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389120" y="2340864"/>
            <a:ext cx="4297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down releases · Investigate reliability issues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4320" y="2907792"/>
            <a:ext cx="8595360" cy="493776"/>
          </a:xfrm>
          <a:prstGeom prst="roundRect">
            <a:avLst>
              <a:gd name="adj" fmla="val 14815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2944368"/>
            <a:ext cx="3840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 Budget Exhausted (≥ 100% used)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389120" y="2944368"/>
            <a:ext cx="4297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deployments · Enter incident mode · SRE + Dev focus on reliability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74320" y="44348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Error budget is the shared contract between Product and SRE — when budget is exhausted, reliability takes priority over velocity</a:t>
            </a:r>
            <a:endParaRPr lang="en-US" sz="10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 Engineer Responsibilities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" y="65836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" y="64922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67512" y="63093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 &amp; Reliability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67512" y="82296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SLOs, track SLIs, maintain service health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59436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2312" y="65836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2312" y="64922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102352" y="63093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Planning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102352" y="82296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growth, scale proactively before overload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1362456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472" y="1426464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7472" y="1417320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67512" y="1399032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&amp; Efficiency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67512" y="1591056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 latency, throughput, and resource utilization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709160" y="1362456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82312" y="1426464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82312" y="1417320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102352" y="1399032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Management (Safe Deploy)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102352" y="1591056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deployments, Feature Flags, Canary releases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2130552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472" y="219456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" y="218541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67512" y="2167128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&amp; Alerting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67512" y="2359152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dashboards, tune alerts, reduce noise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709160" y="2130552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82312" y="219456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82312" y="218541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102352" y="2167128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Incident Response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102352" y="2359152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On-call rotation, incident command, runbooks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74320" y="3547872"/>
            <a:ext cx="8595360" cy="402336"/>
          </a:xfrm>
          <a:prstGeom prst="roundRect">
            <a:avLst>
              <a:gd name="adj" fmla="val 18182"/>
            </a:avLst>
          </a:prstGeom>
          <a:solidFill>
            <a:srgbClr val="ECE6DD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7200" y="3547872"/>
            <a:ext cx="8229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  50% Rule: SREs should spend less than 50% of their time on toil; the rest goes to engineering improvements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274320" y="437083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7200" y="44165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SRE is not just operations — it's applying software engineering to reliability problems</a:t>
            </a:r>
            <a:endParaRPr lang="en-US" sz="10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Toil: What It Is and Why It Matters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66928"/>
            <a:ext cx="8595360" cy="384048"/>
          </a:xfrm>
          <a:prstGeom prst="roundRect">
            <a:avLst>
              <a:gd name="adj" fmla="val 19048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6692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 Toil: Manual · Repetitive · Automatable · Scales linearly with growth · No lasting value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1042416"/>
            <a:ext cx="4160520" cy="365760"/>
          </a:xfrm>
          <a:prstGeom prst="roundRect">
            <a:avLst>
              <a:gd name="adj" fmla="val 20000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1042416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Toil Examples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09160" y="1042416"/>
            <a:ext cx="4160520" cy="365760"/>
          </a:xfrm>
          <a:prstGeom prst="roundRect">
            <a:avLst>
              <a:gd name="adj" fmla="val 20000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18888" y="1042416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Non-Toil (Engineering Value)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74320" y="1463040"/>
            <a:ext cx="4160520" cy="365760"/>
          </a:xfrm>
          <a:prstGeom prst="roundRect">
            <a:avLst>
              <a:gd name="adj" fmla="val 17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7472" y="152704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7472" y="151790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67512" y="1499616"/>
            <a:ext cx="36667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Manually SSH into each server to deploy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4320" y="1883664"/>
            <a:ext cx="4160520" cy="365760"/>
          </a:xfrm>
          <a:prstGeom prst="roundRect">
            <a:avLst>
              <a:gd name="adj" fmla="val 17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472" y="1947672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7472" y="1938528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67512" y="1920240"/>
            <a:ext cx="36667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Ticket-driven capacity adjustments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74320" y="2304288"/>
            <a:ext cx="4160520" cy="365760"/>
          </a:xfrm>
          <a:prstGeom prst="roundRect">
            <a:avLst>
              <a:gd name="adj" fmla="val 17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472" y="236829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7472" y="235915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67512" y="2340864"/>
            <a:ext cx="36667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runbooks from scratch every time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274320" y="2724912"/>
            <a:ext cx="4160520" cy="365760"/>
          </a:xfrm>
          <a:prstGeom prst="roundRect">
            <a:avLst>
              <a:gd name="adj" fmla="val 17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7472" y="278892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7472" y="277977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67512" y="2761488"/>
            <a:ext cx="36667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Manually restarting crashed Pods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274320" y="3145536"/>
            <a:ext cx="4160520" cy="365760"/>
          </a:xfrm>
          <a:prstGeom prst="roundRect">
            <a:avLst>
              <a:gd name="adj" fmla="val 17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472" y="3209544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47472" y="3200400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67512" y="3182112"/>
            <a:ext cx="36667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Copy-pasting configs between environments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709160" y="1463040"/>
            <a:ext cx="4160520" cy="365760"/>
          </a:xfrm>
          <a:prstGeom prst="roundRect">
            <a:avLst>
              <a:gd name="adj" fmla="val 17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782312" y="152704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782312" y="151790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102352" y="1499616"/>
            <a:ext cx="36667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CI/CD pipelines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709160" y="1883664"/>
            <a:ext cx="4160520" cy="365760"/>
          </a:xfrm>
          <a:prstGeom prst="roundRect">
            <a:avLst>
              <a:gd name="adj" fmla="val 17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782312" y="1947672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82312" y="1938528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102352" y="1920240"/>
            <a:ext cx="36667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auto-scaling controllers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709160" y="2304288"/>
            <a:ext cx="4160520" cy="365760"/>
          </a:xfrm>
          <a:prstGeom prst="roundRect">
            <a:avLst>
              <a:gd name="adj" fmla="val 17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782312" y="236829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82312" y="235915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102352" y="2340864"/>
            <a:ext cx="36667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self-healing runbooks once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4709160" y="2724912"/>
            <a:ext cx="4160520" cy="365760"/>
          </a:xfrm>
          <a:prstGeom prst="roundRect">
            <a:avLst>
              <a:gd name="adj" fmla="val 17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782312" y="278892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82312" y="277977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5102352" y="2761488"/>
            <a:ext cx="36667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Implementing auto-restart with health checks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4709160" y="3145536"/>
            <a:ext cx="4160520" cy="365760"/>
          </a:xfrm>
          <a:prstGeom prst="roundRect">
            <a:avLst>
              <a:gd name="adj" fmla="val 17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782312" y="3209544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782312" y="3200400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102352" y="3182112"/>
            <a:ext cx="36667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Terraform for Infrastructure as Code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274320" y="4526280"/>
            <a:ext cx="8595360" cy="256032"/>
          </a:xfrm>
          <a:prstGeom prst="roundRect">
            <a:avLst>
              <a:gd name="adj" fmla="val 25000"/>
            </a:avLst>
          </a:prstGeom>
          <a:solidFill>
            <a:srgbClr val="ECE6DD"/>
          </a:solidFill>
          <a:ln w="9525">
            <a:solidFill>
              <a:srgbClr val="4A996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Goal: Automate toil away and keep toil under 50% of total time</a:t>
            </a:r>
            <a:endParaRPr lang="en-US" sz="95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On-call Design Principles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" y="65836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" y="64922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67512" y="63093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Must Be Actionable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67512" y="82296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alert needs clear response steps; otherwise it's noise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59436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2312" y="65836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2312" y="64922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102352" y="63093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on Symptoms, Not Causes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102352" y="82296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on 'users experiencing latency', not 'CPU usage high'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137160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472" y="143560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7472" y="142646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67512" y="140817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Alert Needs a Runbook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67512" y="160020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on-call engineer should be able to follow the steps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709160" y="137160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82312" y="143560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82312" y="142646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🔕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102352" y="140817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Alert Fatigue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102352" y="160020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many false positives make engineers ignore all alerts, destroying team culture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214884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472" y="221284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" y="220370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67512" y="218541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Rotation Must Be Sustainable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67512" y="237744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Rotation cycles must not cause burnout; ensure sufficient backup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709160" y="214884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82312" y="221284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82312" y="220370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102352" y="218541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+ Secondary On-call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102352" y="237744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coverage ensures adequate support for major incidents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74320" y="44348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720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Gold standard for alert design: when an alert fires at 3 AM, the on-call engineer knows exactly what to do</a:t>
            </a:r>
            <a:endParaRPr lang="en-US" sz="10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 Writing Guide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66928"/>
            <a:ext cx="8595360" cy="384048"/>
          </a:xfrm>
          <a:prstGeom prst="roundRect">
            <a:avLst>
              <a:gd name="adj" fmla="val 19048"/>
            </a:avLst>
          </a:prstGeom>
          <a:solidFill>
            <a:srgbClr val="F5F1EB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6692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 = Step-by-step guide for handling a specific alert — enables any on-call engineer to resolve independently, not just experts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1115568"/>
            <a:ext cx="8595360" cy="3246120"/>
          </a:xfrm>
          <a:prstGeom prst="roundRect">
            <a:avLst>
              <a:gd name="adj" fmla="val 2817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blurRad="127000" dist="508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96926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" y="96926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Markdown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02336" y="1225296"/>
            <a:ext cx="8339328" cy="3063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Runbook: High Error Rate Alert (high-error-rate)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Alert Description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Service: payment-service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Condition: error_rate &gt; 1% for 5 minutes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Impact Scope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Users: Unable to complete checkout flow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Investigation Steps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Check Grafana Dashboard: payment-service overview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Identify failing endpoint: /api/checkout vs /api/refund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Check Loki logs: {service="payment"} |= "ERROR"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Trace related spans: Click Exemplar in Grafana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Mitigation Steps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If recent deploy → Rollback immediately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If DB connection issue → Restart connection pool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If Stripe API issue → Enable degraded mode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Escalation Path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Not mitigated in 15 min → Notify Tech Lead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Not mitigated in 30 min → Initiate P1 incident process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74320" y="461772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6634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A good runbook enables even the most junior on-call engineer to handle incidents — after writing, have a colleague test if the steps actually work</a:t>
            </a:r>
            <a:endParaRPr lang="en-US" sz="10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Blameless Postmortem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66928"/>
            <a:ext cx="8595360" cy="384048"/>
          </a:xfrm>
          <a:prstGeom prst="roundRect">
            <a:avLst>
              <a:gd name="adj" fmla="val 19048"/>
            </a:avLst>
          </a:prstGeom>
          <a:solidFill>
            <a:srgbClr val="E5F0E9"/>
          </a:solidFill>
          <a:ln w="15240">
            <a:solidFill>
              <a:srgbClr val="4A996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6692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Core Principle: Review systems, not people — individuals made reasonable decisions within a flawed system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1042416"/>
            <a:ext cx="4160520" cy="658368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109728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Reconstruction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4048" y="135331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events in chronological order to establish clear cause-and-effect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17720" y="1042416"/>
            <a:ext cx="4160520" cy="658368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27448" y="109728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Analysis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27448" y="135331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5 Whys to drill down layer by layer and find systemic root causes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4320" y="1792224"/>
            <a:ext cx="4160520" cy="658368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1847088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Assessment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84048" y="210312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impact: affected users, duration, revenue loss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17720" y="1792224"/>
            <a:ext cx="4160520" cy="658368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27448" y="1847088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Items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27448" y="210312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Specific, trackable improvement measures with assigned owners and deadlines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2633472"/>
            <a:ext cx="8595360" cy="1325880"/>
          </a:xfrm>
          <a:prstGeom prst="roundRect">
            <a:avLst>
              <a:gd name="adj" fmla="val 6207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2679192"/>
            <a:ext cx="2286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Whys Example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57200" y="2944368"/>
            <a:ext cx="8229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Why did the service go down? → DB connections exhausted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3136392"/>
            <a:ext cx="8229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Why exhausted? → Connections not properly released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3328416"/>
            <a:ext cx="8229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Why not released? → Missing finally block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3520440"/>
            <a:ext cx="8229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Why missing? → No code review checklist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" y="3712464"/>
            <a:ext cx="8229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Fix: Establish a code review checklist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4320" y="425196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42976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Google SRE culture: Postmortems are learning opportunities, not punishment — sharing openly benefits the entire organization</a:t>
            </a:r>
            <a:endParaRPr lang="en-US" sz="10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Maturity Model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76072"/>
            <a:ext cx="8595360" cy="502920"/>
          </a:xfrm>
          <a:prstGeom prst="roundRect">
            <a:avLst>
              <a:gd name="adj" fmla="val 14545"/>
            </a:avLst>
          </a:prstGeom>
          <a:solidFill>
            <a:srgbClr val="F5F1E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576072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ECE6DD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62179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0 (Critical)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621792"/>
            <a:ext cx="1737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Monitoring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0" y="621792"/>
            <a:ext cx="4663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Outages discovered from customer complaints; fully reactive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1170432"/>
            <a:ext cx="8595360" cy="502920"/>
          </a:xfrm>
          <a:prstGeom prst="roundRect">
            <a:avLst>
              <a:gd name="adj" fmla="val 14545"/>
            </a:avLst>
          </a:prstGeom>
          <a:solidFill>
            <a:srgbClr val="F5F1EB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320" y="1170432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ECE6DD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21615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 (Warning)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286000" y="1216152"/>
            <a:ext cx="1737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Metrics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14800" y="1216152"/>
            <a:ext cx="4663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&amp; memory monitoring, manual alert checking, no auto-notification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74320" y="1764792"/>
            <a:ext cx="8595360" cy="502920"/>
          </a:xfrm>
          <a:prstGeom prst="roundRect">
            <a:avLst>
              <a:gd name="adj" fmla="val 14545"/>
            </a:avLst>
          </a:prstGeom>
          <a:solidFill>
            <a:srgbClr val="F5F1EB"/>
          </a:solidFill>
          <a:ln w="12700">
            <a:solidFill>
              <a:srgbClr val="8A807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" y="1764792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ECE6DD"/>
          </a:solidFill>
          <a:ln w="12700">
            <a:solidFill>
              <a:srgbClr val="8A807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18105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286000" y="1810512"/>
            <a:ext cx="1737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Logging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114800" y="1810512"/>
            <a:ext cx="4663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structured logs + basic dashboards, searchable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74320" y="2359152"/>
            <a:ext cx="8595360" cy="502920"/>
          </a:xfrm>
          <a:prstGeom prst="roundRect">
            <a:avLst>
              <a:gd name="adj" fmla="val 14545"/>
            </a:avLst>
          </a:prstGeom>
          <a:solidFill>
            <a:srgbClr val="F5F1EB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4320" y="2359152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ECE6DD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240487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3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286000" y="2404872"/>
            <a:ext cx="1737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Tracing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114800" y="2404872"/>
            <a:ext cx="4663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Tracing + Correlation ID, cross-service tracing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74320" y="2953512"/>
            <a:ext cx="8595360" cy="502920"/>
          </a:xfrm>
          <a:prstGeom prst="roundRect">
            <a:avLst>
              <a:gd name="adj" fmla="val 14545"/>
            </a:avLst>
          </a:prstGeom>
          <a:solidFill>
            <a:srgbClr val="F5F1EB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74320" y="2953512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ECE6DD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299923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286000" y="2999232"/>
            <a:ext cx="1737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SLO-Driven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114800" y="2999232"/>
            <a:ext cx="4663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SLO-based alerting + error budget management, user-experience focused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74320" y="3547872"/>
            <a:ext cx="8595360" cy="502920"/>
          </a:xfrm>
          <a:prstGeom prst="roundRect">
            <a:avLst>
              <a:gd name="adj" fmla="val 14545"/>
            </a:avLst>
          </a:prstGeom>
          <a:solidFill>
            <a:srgbClr val="F5F1EB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74320" y="3547872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ECE6DD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359359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5 (Target)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286000" y="3593592"/>
            <a:ext cx="1737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Observability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114800" y="3593592"/>
            <a:ext cx="4663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OTel, auto-remediation, AIOps anomaly detection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74320" y="4178808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7200" y="422452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Most teams are at Level 2–3 — aim for Level 4 (SLO-driven); Level 5 is the long-term goal</a:t>
            </a:r>
            <a:endParaRPr lang="en-US" sz="10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Cost Control Strategies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6/10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576072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66928"/>
            <a:ext cx="8595360" cy="384048"/>
          </a:xfrm>
          <a:prstGeom prst="roundRect">
            <a:avLst>
              <a:gd name="adj" fmla="val 19048"/>
            </a:avLst>
          </a:prstGeom>
          <a:solidFill>
            <a:srgbClr val="F5F1EB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56692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 Observability is not free: storage, compute, and network all cost money — target 5–10% of infra cost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1060704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7472" y="1124712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" y="1115568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📉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67512" y="1097280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Sampling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67512" y="1289304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log all DEBUG in production; dynamically adjust log levels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709160" y="1060704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82312" y="1124712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82312" y="1115568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102352" y="1097280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Cardinality Cap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102352" y="1289304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high-cardinality labels (e.g. user_id) — they blow up Prometheus memory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1792224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472" y="1856232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472" y="1847088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7512" y="1828800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Sampling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67512" y="2020824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1–10% sampling rate; reduce sampling for high-traffic paths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709160" y="1792224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782312" y="1856232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82312" y="1847088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💾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102352" y="1828800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Retention Policy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102352" y="2020824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data 7 days, warm data 30 days, cold data archived for 1 year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74320" y="3200400"/>
            <a:ext cx="8595360" cy="384048"/>
          </a:xfrm>
          <a:prstGeom prst="roundRect">
            <a:avLst>
              <a:gd name="adj" fmla="val 19048"/>
            </a:avLst>
          </a:prstGeom>
          <a:solidFill>
            <a:srgbClr val="F3EDE0"/>
          </a:solidFill>
          <a:ln w="10160">
            <a:solidFill>
              <a:srgbClr val="B8892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320040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Principle: Observability cost should be 5–10% of infra cost — exceeding that signals a design problem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65760" y="3657600"/>
            <a:ext cx="2560320" cy="685800"/>
          </a:xfrm>
          <a:prstGeom prst="roundRect">
            <a:avLst>
              <a:gd name="adj" fmla="val 16000"/>
            </a:avLst>
          </a:prstGeom>
          <a:solidFill>
            <a:srgbClr val="F5F1EB"/>
          </a:solidFill>
          <a:ln w="19050">
            <a:solidFill>
              <a:srgbClr val="C4605B"/>
            </a:solidFill>
            <a:prstDash val="solid"/>
          </a:ln>
          <a:effectLst>
            <a:outerShdw blurRad="101600" dist="381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57200" y="3767328"/>
            <a:ext cx="237744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days</a:t>
            </a:r>
            <a:endParaRPr lang="en-US" sz="3400" dirty="0"/>
          </a:p>
        </p:txBody>
      </p:sp>
      <p:sp>
        <p:nvSpPr>
          <p:cNvPr id="35" name="Text 33"/>
          <p:cNvSpPr/>
          <p:nvPr/>
        </p:nvSpPr>
        <p:spPr>
          <a:xfrm>
            <a:off x="457200" y="404164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Data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200400" y="3657600"/>
            <a:ext cx="2560320" cy="685800"/>
          </a:xfrm>
          <a:prstGeom prst="roundRect">
            <a:avLst>
              <a:gd name="adj" fmla="val 16000"/>
            </a:avLst>
          </a:prstGeom>
          <a:solidFill>
            <a:srgbClr val="F5F1EB"/>
          </a:solidFill>
          <a:ln w="19050">
            <a:solidFill>
              <a:srgbClr val="B8892C"/>
            </a:solidFill>
            <a:prstDash val="solid"/>
          </a:ln>
          <a:effectLst>
            <a:outerShdw blurRad="101600" dist="381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3291840" y="3767328"/>
            <a:ext cx="237744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days</a:t>
            </a:r>
            <a:endParaRPr lang="en-US" sz="3400" dirty="0"/>
          </a:p>
        </p:txBody>
      </p:sp>
      <p:sp>
        <p:nvSpPr>
          <p:cNvPr id="38" name="Text 36"/>
          <p:cNvSpPr/>
          <p:nvPr/>
        </p:nvSpPr>
        <p:spPr>
          <a:xfrm>
            <a:off x="3291840" y="404164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Data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035040" y="3657600"/>
            <a:ext cx="2560320" cy="685800"/>
          </a:xfrm>
          <a:prstGeom prst="roundRect">
            <a:avLst>
              <a:gd name="adj" fmla="val 16000"/>
            </a:avLst>
          </a:prstGeom>
          <a:solidFill>
            <a:srgbClr val="F5F1EB"/>
          </a:solidFill>
          <a:ln w="19050">
            <a:solidFill>
              <a:srgbClr val="4A7FB5"/>
            </a:solidFill>
            <a:prstDash val="solid"/>
          </a:ln>
          <a:effectLst>
            <a:outerShdw blurRad="101600" dist="38100" dir="2700000" algn="bl" rotWithShape="0">
              <a:srgbClr val="9E9488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126480" y="3767328"/>
            <a:ext cx="237744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year</a:t>
            </a:r>
            <a:endParaRPr lang="en-US" sz="3400" dirty="0"/>
          </a:p>
        </p:txBody>
      </p:sp>
      <p:sp>
        <p:nvSpPr>
          <p:cNvPr id="41" name="Text 39"/>
          <p:cNvSpPr/>
          <p:nvPr/>
        </p:nvSpPr>
        <p:spPr>
          <a:xfrm>
            <a:off x="6126480" y="404164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Data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74320" y="4626864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4672584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High cardinality is Prometheus's biggest cost trap — never use user_id as a label</a:t>
            </a:r>
            <a:endParaRPr lang="en-US" sz="10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Observability Anti-patterns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" y="65836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" y="64922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67512" y="63093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Alerting on Everything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67512" y="82296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fatigue causes engineers to ignore all alerts, including critical ones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59436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2312" y="65836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2312" y="64922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102352" y="63093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Unstructured Logs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102352" y="82296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Grep hell — searching plain-text logs with grep doesn't scale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1399032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472" y="146304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7472" y="145389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67512" y="1435608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Sprawl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67512" y="1627632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dashboards but nobody knows which to look at, and nobody maintains them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709160" y="1399032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82312" y="146304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82312" y="145389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102352" y="1435608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Trace Sampling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102352" y="1627632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Collecting 100% of traces causes storage costs to explode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2203704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472" y="2267712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" y="2258568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67512" y="2240280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SLOs Defined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67512" y="2432304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objectively measure reliability or make data-driven decisions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709160" y="2203704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82312" y="2267712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F8ECEC"/>
          </a:solidFill>
          <a:ln w="6350">
            <a:solidFill>
              <a:srgbClr val="C4605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82312" y="2258568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102352" y="2240280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Only in Production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102352" y="2432304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should be caught in dev; discovering them late costs the most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74320" y="36576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7200" y="37033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Observability anti-patterns are accumulated debt — each one increases MTTR for the next incident</a:t>
            </a:r>
            <a:endParaRPr lang="en-US" sz="10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Complete Ecosystem Overview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7/10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672084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82880" y="658368"/>
            <a:ext cx="1645920" cy="640080"/>
          </a:xfrm>
          <a:prstGeom prst="roundRect">
            <a:avLst>
              <a:gd name="adj" fmla="val 8571"/>
            </a:avLst>
          </a:prstGeom>
          <a:solidFill>
            <a:srgbClr val="F5F1EB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8600" y="658368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🐍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5488" y="658368"/>
            <a:ext cx="13167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SDK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82880" y="1481328"/>
            <a:ext cx="1645920" cy="640080"/>
          </a:xfrm>
          <a:prstGeom prst="roundRect">
            <a:avLst>
              <a:gd name="adj" fmla="val 8571"/>
            </a:avLst>
          </a:prstGeom>
          <a:solidFill>
            <a:srgbClr val="F5F1E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8600" y="1481328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☕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5488" y="1481328"/>
            <a:ext cx="13167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SDK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82880" y="2304288"/>
            <a:ext cx="1645920" cy="640080"/>
          </a:xfrm>
          <a:prstGeom prst="roundRect">
            <a:avLst>
              <a:gd name="adj" fmla="val 8571"/>
            </a:avLst>
          </a:prstGeom>
          <a:solidFill>
            <a:srgbClr val="F5F1EB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600" y="2304288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🐹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" y="2304288"/>
            <a:ext cx="13167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SDK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82880" y="3127248"/>
            <a:ext cx="1645920" cy="640080"/>
          </a:xfrm>
          <a:prstGeom prst="roundRect">
            <a:avLst>
              <a:gd name="adj" fmla="val 8571"/>
            </a:avLst>
          </a:prstGeom>
          <a:solidFill>
            <a:srgbClr val="F5F1EB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8600" y="3127248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</a:rPr>
              <a:t>🟩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75488" y="3127248"/>
            <a:ext cx="13167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SDK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828800" y="978408"/>
            <a:ext cx="457200" cy="914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828800" y="1801368"/>
            <a:ext cx="457200" cy="914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23" name="Shape 21"/>
          <p:cNvSpPr/>
          <p:nvPr/>
        </p:nvSpPr>
        <p:spPr>
          <a:xfrm>
            <a:off x="1828800" y="2624328"/>
            <a:ext cx="457200" cy="914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24" name="Shape 22"/>
          <p:cNvSpPr/>
          <p:nvPr/>
        </p:nvSpPr>
        <p:spPr>
          <a:xfrm>
            <a:off x="1828800" y="3447288"/>
            <a:ext cx="457200" cy="914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2331720" y="658368"/>
            <a:ext cx="2286000" cy="3456432"/>
          </a:xfrm>
          <a:prstGeom prst="roundRect">
            <a:avLst>
              <a:gd name="adj" fmla="val 4800"/>
            </a:avLst>
          </a:prstGeom>
          <a:solidFill>
            <a:srgbClr val="F5F1EB"/>
          </a:solidFill>
          <a:ln w="25400">
            <a:solidFill>
              <a:srgbClr val="4A996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31720" y="74980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🔧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2331720" y="1261872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Collector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423160" y="1664208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· Process · Export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423160" y="1938528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Traces / Metrics / Logs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423160" y="2212848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Multi-backend output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423160" y="2487168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 · Filtering · Transform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17720" y="1280160"/>
            <a:ext cx="457200" cy="914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33" name="Shape 31"/>
          <p:cNvSpPr/>
          <p:nvPr/>
        </p:nvSpPr>
        <p:spPr>
          <a:xfrm>
            <a:off x="4617720" y="2743200"/>
            <a:ext cx="457200" cy="914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34" name="Shape 32"/>
          <p:cNvSpPr/>
          <p:nvPr/>
        </p:nvSpPr>
        <p:spPr>
          <a:xfrm>
            <a:off x="5074920" y="658368"/>
            <a:ext cx="1828800" cy="1664208"/>
          </a:xfrm>
          <a:prstGeom prst="roundRect">
            <a:avLst>
              <a:gd name="adj" fmla="val 5495"/>
            </a:avLst>
          </a:prstGeom>
          <a:ln w="12700">
            <a:solidFill>
              <a:srgbClr val="4A9968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5166360" y="51206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FFFDF8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184648" y="51206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5166360" y="914400"/>
            <a:ext cx="1645920" cy="329184"/>
          </a:xfrm>
          <a:prstGeom prst="roundRect">
            <a:avLst>
              <a:gd name="adj" fmla="val 16667"/>
            </a:avLst>
          </a:prstGeom>
          <a:solidFill>
            <a:srgbClr val="ECE6DD"/>
          </a:solidFill>
          <a:ln w="9525">
            <a:solidFill>
              <a:srgbClr val="8B6A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166360" y="914400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166360" y="1353312"/>
            <a:ext cx="1645920" cy="329184"/>
          </a:xfrm>
          <a:prstGeom prst="roundRect">
            <a:avLst>
              <a:gd name="adj" fmla="val 16667"/>
            </a:avLst>
          </a:prstGeom>
          <a:solidFill>
            <a:srgbClr val="ECE6DD"/>
          </a:solidFill>
          <a:ln w="9525">
            <a:solidFill>
              <a:srgbClr val="B8892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166360" y="1353312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166360" y="1792224"/>
            <a:ext cx="1645920" cy="329184"/>
          </a:xfrm>
          <a:prstGeom prst="roundRect">
            <a:avLst>
              <a:gd name="adj" fmla="val 16667"/>
            </a:avLst>
          </a:prstGeom>
          <a:solidFill>
            <a:srgbClr val="ECE6DD"/>
          </a:solidFill>
          <a:ln w="9525">
            <a:solidFill>
              <a:srgbClr val="5A9B6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66360" y="1792224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A9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 / Tempo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074920" y="2414016"/>
            <a:ext cx="1828800" cy="1700784"/>
          </a:xfrm>
          <a:prstGeom prst="roundRect">
            <a:avLst>
              <a:gd name="adj" fmla="val 5376"/>
            </a:avLst>
          </a:prstGeom>
          <a:ln w="12700">
            <a:solidFill>
              <a:srgbClr val="B8892C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5166360" y="2267712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FFFDF8"/>
          </a:solidFill>
          <a:ln w="6350">
            <a:solidFill>
              <a:srgbClr val="B8892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184648" y="2267712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166360" y="2651760"/>
            <a:ext cx="1645920" cy="329184"/>
          </a:xfrm>
          <a:prstGeom prst="roundRect">
            <a:avLst>
              <a:gd name="adj" fmla="val 16667"/>
            </a:avLst>
          </a:prstGeom>
          <a:solidFill>
            <a:srgbClr val="ECE6DD"/>
          </a:solidFill>
          <a:ln w="9525">
            <a:solidFill>
              <a:srgbClr val="B8892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166360" y="2651760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Datadog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5166360" y="3090672"/>
            <a:ext cx="1645920" cy="329184"/>
          </a:xfrm>
          <a:prstGeom prst="roundRect">
            <a:avLst>
              <a:gd name="adj" fmla="val 16667"/>
            </a:avLst>
          </a:prstGeom>
          <a:solidFill>
            <a:srgbClr val="ECE6DD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166360" y="3090672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Relic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5166360" y="3529584"/>
            <a:ext cx="1645920" cy="329184"/>
          </a:xfrm>
          <a:prstGeom prst="roundRect">
            <a:avLst>
              <a:gd name="adj" fmla="val 16667"/>
            </a:avLst>
          </a:prstGeom>
          <a:solidFill>
            <a:srgbClr val="ECE6DD"/>
          </a:solidFill>
          <a:ln w="9525">
            <a:solidFill>
              <a:srgbClr val="C4605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166360" y="3529584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Honeycomb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995160" y="658368"/>
            <a:ext cx="1920240" cy="3456432"/>
          </a:xfrm>
          <a:prstGeom prst="roundRect">
            <a:avLst>
              <a:gd name="adj" fmla="val 4762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040880" y="74980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🔌  Vendor Portability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040880" y="1133856"/>
            <a:ext cx="18288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backends without modifying application code — just change the Collector export config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274320" y="44348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720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OTel is the USB standard for observability — instrument once, switch any backend, protect your investment</a:t>
            </a:r>
            <a:endParaRPr lang="en-US" sz="10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Pre-launch Checklist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59436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" y="65836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" y="64922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67512" y="63093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67512" y="82296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services define RED metrics (Rate, Errors, Duration)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59436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2312" y="65836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2312" y="64922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102352" y="63093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102352" y="82296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structured logs with Correlation ID, no sensitive data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141732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472" y="148132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7472" y="147218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67512" y="145389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67512" y="164592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SDK integrated, sampling configured, Context Propagation working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709160" y="141732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82312" y="148132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82312" y="147218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102352" y="145389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102352" y="164592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SLO has an alert, every alert has a Runbook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224028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472" y="230428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" y="229514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67512" y="227685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67512" y="246888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overview dashboard, dependency graph, SLO dashboard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709160" y="2240280"/>
            <a:ext cx="4160520" cy="512064"/>
          </a:xfrm>
          <a:prstGeom prst="roundRect">
            <a:avLst>
              <a:gd name="adj" fmla="val 12500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82312" y="230428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E5F0E9"/>
          </a:solidFill>
          <a:ln w="6350">
            <a:solidFill>
              <a:srgbClr val="4A996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82312" y="229514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102352" y="2276856"/>
            <a:ext cx="3666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Incidents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102352" y="2468880"/>
            <a:ext cx="3666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On-call rotation set, escalation policy defined, postmortem process established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74320" y="44348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720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The pre-launch checklist is not a formality — every gap is the reason the next 3 AM incident can't be resolved quickly</a:t>
            </a:r>
            <a:endParaRPr lang="en-US" sz="10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Complete: The Full Cloud Native Journey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10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74320" y="530352"/>
            <a:ext cx="8595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 Congratulations on completing the full Cloud Native course!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29768" y="1005840"/>
            <a:ext cx="1554480" cy="914400"/>
          </a:xfrm>
          <a:prstGeom prst="roundRect">
            <a:avLst>
              <a:gd name="adj" fmla="val 9000"/>
            </a:avLst>
          </a:prstGeom>
          <a:solidFill>
            <a:srgbClr val="F5F1EB"/>
          </a:solidFill>
          <a:ln w="9525">
            <a:solidFill>
              <a:srgbClr val="D6CC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9768" y="106984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🖥️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75488" y="1426464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Deploy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5488" y="1664208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server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984248" y="1463040"/>
            <a:ext cx="128016" cy="914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>
            <a:off x="2112264" y="1005840"/>
            <a:ext cx="1554480" cy="914400"/>
          </a:xfrm>
          <a:prstGeom prst="roundRect">
            <a:avLst>
              <a:gd name="adj" fmla="val 9000"/>
            </a:avLst>
          </a:prstGeom>
          <a:solidFill>
            <a:srgbClr val="F5F1EB"/>
          </a:solidFill>
          <a:ln w="9525">
            <a:solidFill>
              <a:srgbClr val="D6CCB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12264" y="106984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⚖️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157984" y="1426464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157984" y="1664208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Multi-server + LB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666744" y="1463040"/>
            <a:ext cx="128016" cy="914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20" name="Shape 18"/>
          <p:cNvSpPr/>
          <p:nvPr/>
        </p:nvSpPr>
        <p:spPr>
          <a:xfrm>
            <a:off x="3794760" y="1005840"/>
            <a:ext cx="1554480" cy="914400"/>
          </a:xfrm>
          <a:prstGeom prst="roundRect">
            <a:avLst>
              <a:gd name="adj" fmla="val 9000"/>
            </a:avLst>
          </a:prstGeom>
          <a:solidFill>
            <a:srgbClr val="F5F1EB"/>
          </a:solidFill>
          <a:ln w="9525">
            <a:solidFill>
              <a:srgbClr val="D6CCB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794760" y="106984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🐳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840480" y="1426464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Containerization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40480" y="1664208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consistent env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5349240" y="1463040"/>
            <a:ext cx="128016" cy="914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5477256" y="1005840"/>
            <a:ext cx="1554480" cy="914400"/>
          </a:xfrm>
          <a:prstGeom prst="roundRect">
            <a:avLst>
              <a:gd name="adj" fmla="val 9000"/>
            </a:avLst>
          </a:prstGeom>
          <a:solidFill>
            <a:srgbClr val="F5F1EB"/>
          </a:solidFill>
          <a:ln w="9525">
            <a:solidFill>
              <a:srgbClr val="D6CCB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77256" y="106984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📐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522976" y="1426464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 App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522976" y="1664208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native principles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7031736" y="1463040"/>
            <a:ext cx="128016" cy="914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>
            <a:off x="7159752" y="1005840"/>
            <a:ext cx="1554480" cy="914400"/>
          </a:xfrm>
          <a:prstGeom prst="roundRect">
            <a:avLst>
              <a:gd name="adj" fmla="val 9000"/>
            </a:avLst>
          </a:prstGeom>
          <a:solidFill>
            <a:srgbClr val="F5F1EB"/>
          </a:solidFill>
          <a:ln w="9525">
            <a:solidFill>
              <a:srgbClr val="D6CCB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59752" y="106984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🔄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205472" y="1426464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205472" y="1664208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pipelines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29768" y="2084832"/>
            <a:ext cx="1554480" cy="914400"/>
          </a:xfrm>
          <a:prstGeom prst="roundRect">
            <a:avLst>
              <a:gd name="adj" fmla="val 9000"/>
            </a:avLst>
          </a:prstGeom>
          <a:solidFill>
            <a:srgbClr val="F5F1EB"/>
          </a:solidFill>
          <a:ln w="9525">
            <a:solidFill>
              <a:srgbClr val="D6CCB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9768" y="2148840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🛡️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75488" y="25054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75488" y="274320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engineering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1984248" y="2542032"/>
            <a:ext cx="128016" cy="914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39" name="Shape 37"/>
          <p:cNvSpPr/>
          <p:nvPr/>
        </p:nvSpPr>
        <p:spPr>
          <a:xfrm>
            <a:off x="2112264" y="2084832"/>
            <a:ext cx="1554480" cy="914400"/>
          </a:xfrm>
          <a:prstGeom prst="roundRect">
            <a:avLst>
              <a:gd name="adj" fmla="val 9000"/>
            </a:avLst>
          </a:prstGeom>
          <a:solidFill>
            <a:srgbClr val="F5F1EB"/>
          </a:solidFill>
          <a:ln w="9525">
            <a:solidFill>
              <a:srgbClr val="D6CCB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12264" y="2148840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📈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2157984" y="25054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157984" y="274320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Prometheus+Grafana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3666744" y="2542032"/>
            <a:ext cx="128016" cy="914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44" name="Shape 42"/>
          <p:cNvSpPr/>
          <p:nvPr/>
        </p:nvSpPr>
        <p:spPr>
          <a:xfrm>
            <a:off x="3794760" y="2084832"/>
            <a:ext cx="1554480" cy="914400"/>
          </a:xfrm>
          <a:prstGeom prst="roundRect">
            <a:avLst>
              <a:gd name="adj" fmla="val 9000"/>
            </a:avLst>
          </a:prstGeom>
          <a:solidFill>
            <a:srgbClr val="F5F1EB"/>
          </a:solidFill>
          <a:ln w="9525">
            <a:solidFill>
              <a:srgbClr val="D6CCB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794760" y="2148840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📋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3840480" y="25054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3840480" y="274320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ELK+Loki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349240" y="2542032"/>
            <a:ext cx="128016" cy="914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49" name="Shape 47"/>
          <p:cNvSpPr/>
          <p:nvPr/>
        </p:nvSpPr>
        <p:spPr>
          <a:xfrm>
            <a:off x="5477256" y="2084832"/>
            <a:ext cx="1554480" cy="914400"/>
          </a:xfrm>
          <a:prstGeom prst="roundRect">
            <a:avLst>
              <a:gd name="adj" fmla="val 9000"/>
            </a:avLst>
          </a:prstGeom>
          <a:solidFill>
            <a:srgbClr val="F5F1EB"/>
          </a:solidFill>
          <a:ln w="9525">
            <a:solidFill>
              <a:srgbClr val="D6CCB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477256" y="2148840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🔍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5522976" y="25054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5522976" y="274320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OTel+Jaeger+Tempo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7031736" y="2542032"/>
            <a:ext cx="128016" cy="9144"/>
          </a:xfrm>
          <a:prstGeom prst="line">
            <a:avLst/>
          </a:prstGeom>
          <a:noFill/>
          <a:ln w="19050">
            <a:solidFill>
              <a:srgbClr val="D6CCBF"/>
            </a:solidFill>
            <a:prstDash val="solid"/>
            <a:tailEnd type="arrow"/>
          </a:ln>
        </p:spPr>
      </p:sp>
      <p:sp>
        <p:nvSpPr>
          <p:cNvPr id="54" name="Shape 52"/>
          <p:cNvSpPr/>
          <p:nvPr/>
        </p:nvSpPr>
        <p:spPr>
          <a:xfrm>
            <a:off x="7159752" y="2084832"/>
            <a:ext cx="1554480" cy="914400"/>
          </a:xfrm>
          <a:prstGeom prst="roundRect">
            <a:avLst>
              <a:gd name="adj" fmla="val 9000"/>
            </a:avLst>
          </a:prstGeom>
          <a:solidFill>
            <a:srgbClr val="E5F0E9"/>
          </a:solidFill>
          <a:ln w="22860">
            <a:solidFill>
              <a:srgbClr val="4A996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159752" y="2148840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🎯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7205472" y="25054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Observability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7205472" y="274320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pillars unified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274320" y="3090672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 You now have the skills to deploy and operate distributed systems in the real world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228600" y="3438144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28600" y="3438144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 150 Slides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2514600" y="3438144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514600" y="3438144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 10 Topics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4800600" y="3438144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800600" y="3438144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 Full-stack to SRE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7086600" y="3438144"/>
            <a:ext cx="1828800" cy="384048"/>
          </a:xfrm>
          <a:prstGeom prst="roundRect">
            <a:avLst>
              <a:gd name="adj" fmla="val 19048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086600" y="3438144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 Cloud Native Ready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274320" y="44348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720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Next steps: Kubernetes · Service Mesh (Istio) · GitOps (Argo CD / Flux) · FinOps · Platform Engineering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16341</Words>
  <Application>Microsoft Macintosh PowerPoint</Application>
  <PresentationFormat>Custom</PresentationFormat>
  <Paragraphs>3410</Paragraphs>
  <Slides>110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110</vt:i4>
      </vt:variant>
    </vt:vector>
  </HeadingPairs>
  <TitlesOfParts>
    <vt:vector size="114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HungWei Chiu</cp:lastModifiedBy>
  <cp:revision>2</cp:revision>
  <dcterms:created xsi:type="dcterms:W3CDTF">2026-04-03T16:24:51Z</dcterms:created>
  <dcterms:modified xsi:type="dcterms:W3CDTF">2026-04-03T23:32:13Z</dcterms:modified>
</cp:coreProperties>
</file>