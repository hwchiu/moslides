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</p:sldIdLst>
  <p:notesMasterIdLst>
    <p:notesMasterId r:id="rId14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274320" cy="2743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217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COURSE  · 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系統部署實務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從單體部署到 Cloud Native 的完整演進之路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碩士課程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00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小時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0" y="274320"/>
            <a:ext cx="9144" cy="448056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59436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91440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914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93208" y="685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97840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單機 → 三層架構 → 分散式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955280" y="90525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90525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低複雜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5448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8745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93208" y="1645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19385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 / Session / DB Replica / Cache / MQ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55280" y="186537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86537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高複雜 🔺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251460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8346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8346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93208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93208" y="28986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· Compose · Registry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955280" y="282549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5280" y="282549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複雜↓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63440" y="347472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0600" y="379476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93208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+ DevOps + SRE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93208" y="385876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工程最佳實踐 · CI/CD · 可觀測性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955280" y="378561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55280" y="37856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工程紀律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1828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58A6FF">
                    <a:alpha val="2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914400" y="2560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課程大綱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完整演進之路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50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61872"/>
            <a:ext cx="91440" cy="530352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1732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4173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3167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15179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1417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 → 三層架構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85623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856232"/>
            <a:ext cx="91440" cy="530352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201168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01168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191109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211226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0" y="2011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/ Session / DB 擴展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45059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450592"/>
            <a:ext cx="91440" cy="530352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6060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6060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25054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4400" y="270662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2606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 / Registry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04495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044952"/>
            <a:ext cx="91440" cy="5303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320040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200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309981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4400" y="330098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0" y="3200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應用設計原則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3931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639312"/>
            <a:ext cx="91440" cy="5303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" y="3794760"/>
            <a:ext cx="219456" cy="219456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4400" y="389534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整合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0" y="3794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GitOps · 部署策略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42336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4233672"/>
            <a:ext cx="91440" cy="530352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4389120"/>
            <a:ext cx="219456" cy="219456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43891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14400" y="42885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14400" y="44897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閉環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6928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· SRE · Post-mortem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起點：最簡單的部署架構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1/10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96012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03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HOST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188720"/>
            <a:ext cx="11430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43584"/>
            <a:ext cx="11430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20624" y="1687982"/>
            <a:ext cx="10332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02336" y="1916582"/>
            <a:ext cx="10698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572768" y="1709928"/>
            <a:ext cx="54864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1527048" y="155448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HTTP/80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94560" y="822960"/>
            <a:ext cx="6400800" cy="2103120"/>
          </a:xfrm>
          <a:prstGeom prst="roundRect">
            <a:avLst>
              <a:gd name="adj" fmla="val 4348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86000" y="6766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04288" y="6766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468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468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523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505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78808" y="1783080"/>
            <a:ext cx="512064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133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09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91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64808" y="1783080"/>
            <a:ext cx="512064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419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105156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040880" y="1106424"/>
            <a:ext cx="137160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95744" y="1812341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077456" y="2040941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194560" y="265176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同一台機器共享：CPU / RAM / Disk / Network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部署超簡單，一台搞定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幾分鐘內可完成部署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≈ Prod，除錯方便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log 在同一處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單點故障 (SPOF)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任一進程掛掉，整個服務停止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無法水平擴展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流量增加只能換更大的機器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HTTP Request 的完整旅程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233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瀏覽器輸入 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0312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5798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3969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解析 IP 位址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4048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9534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7705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57784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7784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63270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1441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1520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7006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5177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344168" y="1463040"/>
            <a:ext cx="694944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129844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Query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081528" y="1463040"/>
            <a:ext cx="694944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03580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:80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18888" y="1463040"/>
            <a:ext cx="694944" cy="9144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477316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 Pass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56248" y="1463040"/>
            <a:ext cx="694944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651052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280160" y="2606040"/>
            <a:ext cx="6035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1828800" y="24505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HTTP Response (JSON)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292608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035808"/>
            <a:ext cx="672998" cy="201168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55264"/>
            <a:ext cx="672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~5ms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38758" y="3035808"/>
            <a:ext cx="1009498" cy="2011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8758" y="3255264"/>
            <a:ext cx="10094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~20ms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048256" y="3035808"/>
            <a:ext cx="1261872" cy="201168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48256" y="3255264"/>
            <a:ext cx="1261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~40ms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310128" y="3035808"/>
            <a:ext cx="2103120" cy="20116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10128" y="32552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~80ms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413248" y="3035808"/>
            <a:ext cx="3364992" cy="2011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13248" y="3255264"/>
            <a:ext cx="3364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— 通常是瓶頸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~200ms+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74320" y="35478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593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在單機架構中，所有步驟共用同一組資源 — 任何一步過載，全部都跟著慢下來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第一步擴展：分離資料庫 Server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05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7160" y="137160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" y="1426464"/>
            <a:ext cx="731520" cy="336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" y="1751990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3736" y="198059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029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868680" y="167335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6304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55448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app-server-01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82880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82880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88366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6537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+ Backend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+ FastAPI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1828800"/>
            <a:ext cx="822960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709160" y="167335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:5432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6928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E36209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76072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E362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7900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db-server-01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03504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08990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7161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:5432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専用機器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資料獨立備份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機器可獨立 snapshot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可重啟不影響資料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分離職責，故障範圍縮小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網路延遲增加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同主機 IPC → 跨機器 TCP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仍然是單點故障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或 DB 任一掛掉，服務中斷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三層架構：前端 + 後端 + 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1097280" cy="128016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740664"/>
            <a:ext cx="10972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" y="1351483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35608" y="1463040"/>
            <a:ext cx="420624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1389888" y="1307592"/>
            <a:ext cx="5120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HTTP/443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2024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92024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97510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5681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server-01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538728" y="1508760"/>
            <a:ext cx="457200" cy="9144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349300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06908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06908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0565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87568" y="1508760"/>
            <a:ext cx="457200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564184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1792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27278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5449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92024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/ 反向代理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6908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業務邏輯 / API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資料持久化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職責分離，各自獨立擴展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前後端可以分別 Scale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技術棧靈活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各層可選用最適合的技術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部署順序問題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→ Backend → Frontend，順序錯誤就失敗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 repo 的版本必須匹配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三層架構的真實挑戰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💣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部署順序地雷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必須先啟動 DB，再啟動 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再啟動 Frontend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順序錯一個 → 服務全掛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9204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前端 v2.1 依賴後端 API v3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後端 v3 依賴 DB Schema v5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任一版本不對齊 → 整個掛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1148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環境差異問題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開發: Mac OS + brew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正式: Ubuntu 20.04 + apt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⛔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9204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前提條件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 儲存在本機 → 無法多機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本機快取 → 各機器資料不同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本機寫檔 → 資料只在一台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如何找出系統瓶頸？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🔍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74320" y="2606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找瓶頸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66160" y="68580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685800"/>
            <a:ext cx="73152" cy="658368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77724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60520" y="74066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飽和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60520" y="99669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請求越來越慢 | 工具: top, htop, Prometheus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46304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463040"/>
            <a:ext cx="73152" cy="658368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55448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160520" y="151790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記憶體不足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60520" y="177393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OOM kills | 工具: free -m, memory_usage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224028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2240280"/>
            <a:ext cx="73152" cy="6583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233172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💿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160520" y="229514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磁碟 I/O 瓶頸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60520" y="255117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DB 查詢慢 | 工具: iostat, pg_stat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301752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017520"/>
            <a:ext cx="73152" cy="6583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310896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160520" y="307238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網路頻寬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60520" y="332841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大檔案傳輸慢 | 工具: iftop, netstat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66160" y="379476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0" y="3794760"/>
            <a:ext cx="73152" cy="658368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388620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160520" y="384962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慢查詢 (最常見)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160520" y="410565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API P99 高 | 工具: EXPLAIN ANALYZE, slow_log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先量測再優化 — 沒有量測數據就動手，等於猜測。Profile first, optimize second.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何時需要開始思考 Scale？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70%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 5 分鐘以上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不是偶發 spike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&gt; 1s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29184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尾端延遲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使用者已感受到卡頓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&gt; 0.1%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12648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錯誤率超過閾值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或 timeout 增加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2727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42616"/>
            <a:ext cx="82296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常見錯誤：過早 Scale — 先從程式優化開始 (索引、快取、查詢)，不要一有問題就加機器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先做這些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加索引 (最快、最便宜)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引入 Redis 快取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優化 N+1 查詢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9884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CDN 靜態資源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再考慮 Scale Out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確認瓶頸真的是機器不足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應用必須先設計成 Stateless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 vs Scale Out：兩種擴展策略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Scale Up（垂直擴展）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106424"/>
            <a:ext cx="8229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1479499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" y="1708099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vCPU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258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96012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645920" y="1014984"/>
            <a:ext cx="10058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00784" y="1483157"/>
            <a:ext cx="8961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82496" y="1711757"/>
            <a:ext cx="932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vCPU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974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834640" y="82296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877824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1464869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1216" y="1693469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vCPU 💸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0" y="868680"/>
            <a:ext cx="320040" cy="1097280"/>
          </a:xfrm>
          <a:prstGeom prst="roundRect">
            <a:avLst>
              <a:gd name="adj" fmla="val 14286"/>
            </a:avLst>
          </a:prstGeom>
          <a:ln w="12700">
            <a:solidFill>
              <a:srgbClr val="F85149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096512" y="8046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不需改程式碼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直接升級機器規格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費用指數成長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高階機器貴、且仍是單點故障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751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物理上限存在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停機才能升級，有天花板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Scale Out（水平擴展）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37760" y="10058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005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217920" y="82296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640" y="82296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10528" y="82296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1024128"/>
            <a:ext cx="457200" cy="914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6217920" y="137160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137160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10528" y="137160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760720" y="1572768"/>
            <a:ext cx="457200" cy="914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6217920" y="192024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63640" y="192024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510528" y="192024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760720" y="2121408"/>
            <a:ext cx="457200" cy="914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75488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2803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2803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14807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線性成本增長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14807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用小機器組成艦隊，彈性高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5488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無停機擴容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動態加減節點，應對流量高峰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前提：應用必須 Stateless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Session、本機快取、本機寫檔 → 都要重新設計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設計：Scale Out 的先決條件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Stateful — 無法 Scale 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062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44168" y="1673352"/>
            <a:ext cx="36576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76479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6479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1965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34640" y="8686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34640" y="92354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89504" y="122529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4640" y="1691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174650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204825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87752" y="1161288"/>
            <a:ext cx="246888" cy="13716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2587752" y="1417320"/>
            <a:ext cx="246888" cy="50292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" y="25146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找不到 Session → 被登出！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存在本機記憶體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必須用 Sticky Session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一台掛掉，使用者全部登出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Stateless — 可自由 Scale Out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90118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824728" y="1673352"/>
            <a:ext cx="36576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24535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24535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30021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78040" y="822960"/>
            <a:ext cx="1508760" cy="1600200"/>
          </a:xfrm>
          <a:prstGeom prst="roundRect">
            <a:avLst>
              <a:gd name="adj" fmla="val 606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269480" y="9601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0" y="9601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62088" y="9601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69480" y="14173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14173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62088" y="14173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068312" y="1207008"/>
            <a:ext cx="201168" cy="14630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7068312" y="1435608"/>
            <a:ext cx="201168" cy="201168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7589520" y="256032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589520" y="261518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644384" y="298825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626096" y="321685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Store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371600"/>
            <a:ext cx="9144" cy="1188720"/>
          </a:xfrm>
          <a:prstGeom prst="line">
            <a:avLst/>
          </a:prstGeom>
          <a:noFill/>
          <a:ln w="12700">
            <a:solidFill>
              <a:srgbClr val="6E40C9"/>
            </a:solidFill>
            <a:prstDash val="dash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75488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2803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14807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集中存入 Redis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75488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 Server 都能處理任意請求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可自由分配，Server 可隨時加減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85876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922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913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89534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其他需注意：本機快取、本機寫檔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408736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任何「狀態」都要外部化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小結：架構演進路線圖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單機部署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設定簡單，快速啟動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SPOF 單點故障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不可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2803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分離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資料與應用分開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獨立備份與優化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仍舊 2 個 SPOF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職責分離清楚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技術棧彈性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版本相依複雜化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82803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準備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必須 Stateless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準備好了嗎？→ Part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4828032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2: Scale Out 的挑戰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Balancer：流量分發的核心元件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13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7724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77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77724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28016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801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28016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178308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178308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80160" y="950976"/>
            <a:ext cx="201168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280160" y="1453896"/>
            <a:ext cx="201168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280160" y="1956816"/>
            <a:ext cx="201168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554480" y="1005840"/>
            <a:ext cx="137160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554480" y="1060704"/>
            <a:ext cx="13716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9344" y="1719072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91056" y="1947672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Robin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Conn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37160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124712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24712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112264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12264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Hash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099816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99816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0" y="548640"/>
            <a:ext cx="1828800" cy="2578608"/>
          </a:xfrm>
          <a:prstGeom prst="roundRect">
            <a:avLst>
              <a:gd name="adj" fmla="val 5000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291840" y="402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10128" y="402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GROUP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337560" y="658368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37560" y="713232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392424" y="1000719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74136" y="1229319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37560" y="1371600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37560" y="1426464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92424" y="1713951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374136" y="1942551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337560" y="2084832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37560" y="2139696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92424" y="2427183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74136" y="2655783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971800" y="950976"/>
            <a:ext cx="32004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2971800" y="1664208"/>
            <a:ext cx="32004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2971800" y="2377440"/>
            <a:ext cx="32004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5577840" y="118872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577840" y="1243584"/>
            <a:ext cx="155448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632704" y="1711757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14416" y="1940357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Primary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46320" y="950976"/>
            <a:ext cx="685800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846320" y="1664208"/>
            <a:ext cx="685800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846320" y="2377440"/>
            <a:ext cx="685800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流量均勻分散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避免單一節點過載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高可用性 (HA)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一台掛掉，LB 自動排除，服務不中斷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同一使用者可能被派到不同 Server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本身也需要 HA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掛掉 → 整個服務掛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的陷阱：Session 狀態問題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Session 黏性問題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105156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1051560"/>
            <a:ext cx="9144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55648" y="1051560"/>
            <a:ext cx="5852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371600" y="1325880"/>
            <a:ext cx="4572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514600" y="96012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96012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A  💾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23160" y="1252728"/>
            <a:ext cx="4572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514600" y="173736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73736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3160" y="2029968"/>
            <a:ext cx="4572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320040" y="2514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→ Server B → 找不到 Session → 被登出！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502920"/>
            <a:ext cx="9144" cy="448056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三種解決方案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0058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0972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JWT Token（無狀態）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4081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Token存Client，Server無狀態 | 推薦 REST API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9659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0574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集中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236829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Session集中存Redis，所有Server共用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29260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0175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Sticky Session（不推薦⚠️）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LB固定綁定IP | 失去Scale Out彈性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現代架構首選 JWT + Redis 的組合 — 讓 Server 真正 Stateless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資料庫的擴展：Read Replica 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15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2011680" cy="228600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6576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9144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" y="91440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920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" y="192024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1225296"/>
            <a:ext cx="71323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2286000" y="106984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331720" y="1956816"/>
            <a:ext cx="713232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286000" y="180136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73152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08960" y="786384"/>
            <a:ext cx="164592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163824" y="1444752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145536" y="1673352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Only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00600" y="1325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→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1554480"/>
            <a:ext cx="22860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5074920" y="594360"/>
            <a:ext cx="1920240" cy="2423160"/>
          </a:xfrm>
          <a:prstGeom prst="roundRect">
            <a:avLst>
              <a:gd name="adj" fmla="val 4762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1663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846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REPLICAS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212080" y="86868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86868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2120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578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046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12080" y="196596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57800" y="19659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04688" y="196596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00600" y="1097280"/>
            <a:ext cx="36576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4800600" y="1645920"/>
            <a:ext cx="36576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4800600" y="2194560"/>
            <a:ext cx="36576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274320" y="29260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非同步複製 (async) — 可能有微小延遲 (Replication Lag)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讀取效能大幅提升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操作是 Read，Replica 分流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專注寫入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效能不受 Read 影響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資料可能落後 Primary 數毫秒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不解決 Write 瓶頸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高頻寫入仍然是 Primary 的問題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 Caching 策略：從外到內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A7F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CDN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61288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(JS/CSS/圖片)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天/週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63624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Cloudflare, CloudFront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65960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不碰後端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68296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~60-80%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3944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3944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3944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56006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快取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67456" y="116128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204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回應快取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3204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秒/分鐘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67456" y="156362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儲存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6596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Redis, Memcached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6829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~30-50%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9600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00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9600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51662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In-Process 快取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4016" y="116128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60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超熱資料 (config/常數)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8860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秒級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224016" y="156362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不可跨 Server 共用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96596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需特別處理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36829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~10-20%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快取失效 (Cache Invalidation) 是分散式系統中最難的問題之一 — 想清楚 TTL 再設計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訊息佇列：非同步解耦的利器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同步呼叫鏈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8424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1752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80160" y="1444752"/>
            <a:ext cx="36576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123444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06040" y="1444752"/>
            <a:ext cx="36576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56032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" y="1920240"/>
            <a:ext cx="4023360" cy="475488"/>
          </a:xfrm>
          <a:prstGeom prst="roundRect">
            <a:avLst>
              <a:gd name="adj" fmla="val 13462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192024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任一步驟慢 → 全部等待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任一步驟失敗 → 整個 Request 失敗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" y="24871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總延遲 = 所有步驟之和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914400" cy="201168"/>
          </a:xfrm>
          <a:prstGeom prst="rect">
            <a:avLst/>
          </a:prstGeom>
          <a:solidFill>
            <a:srgbClr val="238636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34440" y="2743200"/>
            <a:ext cx="1097280" cy="201168"/>
          </a:xfrm>
          <a:prstGeom prst="rect">
            <a:avLst/>
          </a:prstGeom>
          <a:solidFill>
            <a:srgbClr val="D29922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31720" y="2743200"/>
            <a:ext cx="1280160" cy="201168"/>
          </a:xfrm>
          <a:prstGeom prst="rect">
            <a:avLst/>
          </a:prstGeom>
          <a:solidFill>
            <a:srgbClr val="F85149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訊息佇列（非同步）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90118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8289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Service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72200" y="1325880"/>
            <a:ext cx="54864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126480" y="1170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766560" y="91440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766560" y="969264"/>
            <a:ext cx="11887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821424" y="134233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803136" y="157093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RabbitMQ/Kafka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001000" y="1115568"/>
            <a:ext cx="18288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229600" y="8686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22208" y="8686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01000" y="1572768"/>
            <a:ext cx="18288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8229600" y="13258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75320" y="13258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522208" y="13258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001000" y="2029968"/>
            <a:ext cx="18288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8229600" y="17830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7532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📊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522208" y="17830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訂單→通知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657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非同步寄信  ·  用戶無需等待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461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削峰填谷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3375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瞬間大量請求  ·  Queue緩衝消化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179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93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服務解耦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093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各服務獨立Scale  ·  互不影響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完整分散式架構：你現在需要維運什麼？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9/10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864108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18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720" y="71323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68680" y="62179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62179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(1000+)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☁️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70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20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🛡️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13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554480" y="987552"/>
            <a:ext cx="9144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45720" y="122529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68680" y="1133856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113385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1288" y="1133856"/>
            <a:ext cx="1499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(HA Pair)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1490472"/>
            <a:ext cx="9144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22960" y="154533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1F6FEB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4400" y="139903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1F6F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139903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×3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1440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0700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96596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1168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5856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54480" y="2084832"/>
            <a:ext cx="9144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22960" y="213969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14400" y="199339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" y="199339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×3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1440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0700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965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58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108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54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401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29768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4340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📋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9028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554480" y="2679192"/>
            <a:ext cx="9144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68680" y="2825496"/>
            <a:ext cx="12801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161288" y="2825496"/>
            <a:ext cx="950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(W)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240280" y="2944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replication →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06324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0896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35584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5196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9768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4456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44068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73328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126480" y="6400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你在維運的機器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217920" y="1005840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005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CDN/WAF/LB ×3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21040" y="10058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6217920" y="1481328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1F6FE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55080" y="148132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Frontend+Backend ×6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21040" y="1481328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6217920" y="1956816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E3620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55080" y="195681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Primary+Replicas ×4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21040" y="1956816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217920" y="2432304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55080" y="24323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Redis+RabbitMQ ×2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321040" y="2432304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6126480" y="294436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26480" y="294436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台機器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3447288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每台機器設定各不相同、環境飄移 — 部署靠手動 SSH，每次都是一場冒險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7132320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32320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626096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626096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設定漂移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119872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119872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部署惡夢：維運複雜度爆炸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+ Python 3.9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Staging: Ubuntu + Python 3.8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CentOS + Python 3.6 (!!)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9496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15台機器逐一SSH更新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更新中失敗 → 版本不一致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需要停機維護窗口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每次部署都提心吊膽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設定管理混亂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DB密碼寫死在程式碼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各機器設定微妙不同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沒有版本控管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新人入職需一週搞懂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9204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🤯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39496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落差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Dev本機 vs 15台Prod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3776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本機測試通過 → Prod爆炸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「It works on my machine」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除錯難度 ×10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小結：問題累積，需要新思維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20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94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594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解決了什麼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5943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帶來的代價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601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Load Balancer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96012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流量分散、高可用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96012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307592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307592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Redis Session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34640" y="13075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實現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130759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本身要 HA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655064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655064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Read Replica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165506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讀取效能提升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165506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002536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002536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Cache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200253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效能大幅提升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200253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快取失效複雜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350008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50008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Message Queue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235000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非同步解耦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60720" y="235000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最終一致性問題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269748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69748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分散式架構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26974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高可用、可擴展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269748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維運 15+ 台機器！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0" y="621792"/>
            <a:ext cx="19202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6217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10/10 🔴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3200400"/>
            <a:ext cx="8595360" cy="731520"/>
          </a:xfrm>
          <a:prstGeom prst="roundRect">
            <a:avLst>
              <a:gd name="adj" fmla="val 10000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這樣下去不行了！15 台機器各自獨立設定 — 部署一次靠手動 SSH，版本飄移是常態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4041648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416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Part 3 預告：Container 技術如何把這一切簡化 — 統一打包、環境一致、秒級部署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是什麼？解決什麼問題？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21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005840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424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Dev (Mac)  —  Python 3.9 + brew Postgres 14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12984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brew install 所有依賴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810512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8470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Staging (Ubuntu 20.04)  —  Python 3.8 + apt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1031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套件版本與 Dev 不一致，偶爾出現神秘錯誤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Prod (CentOS 7)  —  Python 3.6 (!!) + yum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系統內建 Python，幾乎無法升級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42900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4564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「在我這裡可以跑啊！」— 版本地獄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使用 Container 之後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960120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8138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8138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74336" y="1069848"/>
            <a:ext cx="157276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66560" y="1627632"/>
            <a:ext cx="457200" cy="9144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720840" y="14721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315200" y="960120"/>
            <a:ext cx="1417320" cy="164592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0" y="1014984"/>
            <a:ext cx="14173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370064" y="1815998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51776" y="2044598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(不可變快照)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→ 任何主機都能執行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4632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Server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17220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Server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9808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006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54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554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Dev=Staging=Prod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722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270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秒級啟動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270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VM 分鐘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5438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986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版本控管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5986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= 可回滾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把「應用 + 所有依賴」打包成一個不可變的 Image — 在哪裡跑都一樣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vs Container：架構深度對比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Virtual Machine (VM)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67712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67712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67712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67712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🔲 Hypervisor (VMware/KVM)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分鐘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4592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GB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718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強 (OS)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Container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00600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48272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48272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48272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48272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0060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061E18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Runtime (Docker)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060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秒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MB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5236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A1929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5236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輕量 (Process)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分鐘 → 秒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4747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啟動時間 VM→Container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6499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→ MB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336499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大小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9360" y="422452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82512" y="4242816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強→輕量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2512" y="4608576"/>
            <a:ext cx="24140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隔離程度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核心概念：Image → Container → Registry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4008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937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937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49808"/>
            <a:ext cx="20756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97480" y="1399032"/>
            <a:ext cx="822960" cy="9144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2651760" y="1243584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1188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1188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6674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4845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不可變快照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120640" y="1399032"/>
            <a:ext cx="7772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5074920" y="124358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8932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8932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4418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2589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執行中的實例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(可多個)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98080" y="1399032"/>
            <a:ext cx="59436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7452360" y="1243584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push/pull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83880" y="713232"/>
            <a:ext cx="822960" cy="160020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83880" y="768096"/>
            <a:ext cx="82296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238744" y="1545336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0456" y="17739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Hub/ECR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4320" y="2578608"/>
            <a:ext cx="8595360" cy="320040"/>
          </a:xfrm>
          <a:prstGeom prst="roundRect">
            <a:avLst>
              <a:gd name="adj" fmla="val 17143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5786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常用 Docker 指令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294436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296265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myapp:v1.2.3 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296265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Dockerfile 建立 Image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31012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32841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-p 8080:8080 myapp:v1.2.3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332841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Container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67588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69417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6941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查看執行中的 Container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404164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912" y="405993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&lt;container-id&gt;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405993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Container log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440740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442569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exec -it &lt;container-id&gt; bash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0" y="442569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進入 Container 除錯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Compose：多容器應用一鍵啟動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4251960"/>
          </a:xfrm>
          <a:prstGeom prst="roundRect">
            <a:avLst>
              <a:gd name="adj" fmla="val 227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76732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nginx: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["80:80"]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[backend]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./backend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DB_URL: postgresql://db/app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pgdata:/var/lib/postgresql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pgdata: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07408" y="2487168"/>
            <a:ext cx="329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658368"/>
            <a:ext cx="41148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846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383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00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0408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0957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774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834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383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00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408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0957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774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:6379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537960" y="1325880"/>
            <a:ext cx="457200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6492240" y="11704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733288" y="1901952"/>
            <a:ext cx="9144" cy="402336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6903720" y="2880360"/>
            <a:ext cx="109728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858000" y="2724912"/>
            <a:ext cx="201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一個指令搞定：docker compose up -d — 開發環境從此告別手動啟動多個服務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Registry：Image 的倉庫與版本管理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程式碼變更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08760" y="1188720"/>
            <a:ext cx="7315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46304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3172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8658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6829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0" y="1188720"/>
            <a:ext cx="7315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611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80560" y="658368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80560" y="713232"/>
            <a:ext cx="137160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35424" y="130027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17136" y="152887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Hub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ECR / GCR / Harbor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188720"/>
            <a:ext cx="73152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766560" y="658368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766560" y="713232"/>
            <a:ext cx="21031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821424" y="1300277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03136" y="1528877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23317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策略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:latest — 避免在 Production 使用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無法回溯，不知道是哪個版本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:v1.2.3 (Semantic Version) — 推薦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明確版本，隨時可回滾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:git-abc1234 (Commit Hash)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148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commit 對應一個不可變 Image，CI/CD 常用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:20240315-abc1234 (Date+Hash)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9204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時間戳+Hash，可讀性與唯一性兼具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永遠不要在 Prod 用 :latest — 你永遠不知道 latest 到底是哪個版本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化：從維運噩夢到一致部署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9144" cy="28529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化之前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18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069848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865376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660904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60904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56432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6432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RHEL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74320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69848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3.7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865376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65376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60904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60904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456432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1.14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69848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1.16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65376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65376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1.18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660904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456432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2.4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4320" y="196596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19659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SSH 部署腳本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224028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1480" y="22402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每台主機設定各不同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251460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25146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「只有我知道怎麼重啟」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297180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29718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15+ 台 × N 個不同設定 = 維運地獄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Container 化之後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00600" y="868680"/>
            <a:ext cx="3977640" cy="2194560"/>
          </a:xfrm>
          <a:prstGeom prst="roundRect">
            <a:avLst>
              <a:gd name="adj" fmla="val 4167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892040" y="7223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0328" y="7223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ON ALL HOSTS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98348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98348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503834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nginx:1.25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2005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5800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85800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91286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backend:v2.1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689457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98348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503834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postgres:16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02005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85800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685800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691286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redis:7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689457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754880" y="29718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個 Container Image，全部環境一致 — Dev = Staging = Prod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74320" y="3401568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3401568"/>
            <a:ext cx="8595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9/10  →  5/10  ↓  維運噩夢  →  標準化部署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2743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57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3657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= Staging = Prod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461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3375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版本鎖定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33375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隨時可回滾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2179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093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快速部署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3093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+ run，秒級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App：現代應用的設計原則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27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6692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是什麼？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Heroku 工程師總結的 12 條準則，讓應用程式能在 Cloud Native 環境中良好運作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→ many deploys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10896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dep declaration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5332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5332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in environment vars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DB/MQ/Cache as attached resources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0896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1868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build → release → run stages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5332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5332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processes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Self-contained: export via port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0896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1868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1868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process model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4360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332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5332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startup, graceful shutdown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404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 mirrors production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0896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1868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1868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as event streams (stdout)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4360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5332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5332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as one-off processes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這 12 條原則不是規定，是建議 — 但遵循它們能讓你的 App 在 Container/Cloud 環境中自然地運作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1-3：Codebase、Dependencies、Config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Repo = 一個應用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不要把多個應用混在同一個 repo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多個環境 = 同一份 code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分支策略：main/dev/feature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永遠對應 Prod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每個環境不同 branch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顯式宣告所有依賴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/ package.json / go.mod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不依賴 System-Level 套件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不能假設主機有 curl 或 zip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完美符合此條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即依賴清單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pip install 沒有版本號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設定放在環境變數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DB_URL, API_KEY, PORT...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os.getenv('DB_URL')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Kubernetes ConfigMap/Secret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設定寫死在程式碼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config.dev.py / config.prod.py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不進版本控管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Config 放環境變數是 12-Factor 最重要的一條 — 讓同一個 Image 在 dev/staging/prod 都能跑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4-6：Backing Services、Build/Release/Run、Processes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資料庫/MQ/Cache = 附加服務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= 第三方服務，同等對待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DB 只需換 URL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URL/credential 存取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localhost:5432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DB_URL env var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Build：原始碼 → 可執行包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Release：Build + Config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打上版本號，不可變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Run：執行特定 Release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三個階段嚴格分離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不可被修改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必須是 Stateless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無狀態 = 可隨時增減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 Scale Out 的前提！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Session/State → 外部儲存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/ DB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本地檔案系統存 Session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JWT + Redis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Stateless Process (Factor 6) 是 Scale Out 的基石 — 沒有這條，水平擴展就是夢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7-9：Port Binding、Concurrency、Disposability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應用自帶 HTTP Server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Port 對外提供服務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不需要外部 Apache/Nginx 才能跑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Flask/FastAPI/Express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容器化天然符合此條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PORT=8080 環境變數控制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Process 類型 Scale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Process × N = Scale Out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Process = 非同步任務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不同類型可獨立 Scale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× 5, Worker × 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Deployment 完美支援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要能快速啟動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&lt; 10 秒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優雅關閉 (Graceful Shutdown)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 SIGTERM → 完成當前請求再關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也沒關係 — 快速重啟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K8s 完美搭配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Disposability 讓 Kubernetes 可以隨時 kill/restart 你的 Container — 不用怕，設計好就沒問題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10-12：Dev/Prod Parity、Logs、Admin 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環境要盡量接近 Prod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Dev 用 SQLite, Prod 用 Postgres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Docker Compose 模擬全部服務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 Dev → Deploy 週期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讓 Parity 變容易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輸出到 stdout/stderr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不要自己處理 Log 檔案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由平台收集 (FluentD, CloudWatch)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Log (JSON)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方便搜尋與分析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/ docker logs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一次性管理任務 = 獨立 Process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Migration: kubectl exec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Cleanup: 獨立 Job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App 一起打包進 Image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SSH 進 Prod 機器跑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Logs as streams (Factor 11) 讓 ELK Stack / CloudWatch 可以集中管理所有 Container 的 log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App 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669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5669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/ Docker 的支援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543800" y="56692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9326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326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0" y="9326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in repo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43800" y="9326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2527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2527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91840" y="12527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+ requirements.txt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43800" y="12527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15727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727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15727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 docker-compose / K8s Secret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543800" y="15727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18928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8928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91840" y="18928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services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43800" y="18928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22128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2128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0" y="22128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tag → run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43800" y="22128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25328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5328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91840" y="25328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Container = Scale Out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25328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28529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8529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0" y="28529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+ -p flag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43800" y="28529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31729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1729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91840" y="31729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×N / K8s replicas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43800" y="31729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930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91840" y="34930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快速啟動/關閉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43800" y="34930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74320" y="38130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8130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91840" y="38130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Image，環境一致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43800" y="38130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74320" y="41330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1330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291840" y="41330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logs / stdout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43800" y="41330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74320" y="44531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4531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3291840" y="44531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exec / K8s Job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43800" y="44531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不只解決了環境一致問題 — 它幾乎完美地支援了所有 12-Factor App 的原則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實戰：一個符合規範的 FastAPI Service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20624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9502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DB_URL = os.getenv('DATABASE_URL')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@app.get('/health')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health():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{'status': 'ok'}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2029968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    # Factor 2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# Factor 7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"main:app", "--port", "8080"]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16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916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02336" y="3172968"/>
            <a:ext cx="39502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postgresql://db/app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['8080:8080']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       # Factor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遵循了哪些 Factor？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2 — 依賴宣告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3 — Config 環境變數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6 — Stateless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9 — 快速啟動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4 — Backing Svc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7 — Port Binding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10 — Dev/Prod Parity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311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11 — Stdout Log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一個符合 12-Factor 的 App 天然就是 Container-ready — 這就是現代 Cloud Native 應用的標配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小結：設計優良的 Cloud Native 應用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不是規定，是智慧結晶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Heroku 從數百個應用中提煉的最佳實踐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每一條都解決了真實的工程痛點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學習重點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87452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194767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35000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— 它們互相強化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67004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 Dockerfile 管理依賴 (Factor 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用環境變數設定 (Factor 3)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318211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Process = Scale Out (Factor 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77072" y="1947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15468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322783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" y="363016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下一步：自動化這一切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020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docker build/push 只是起點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206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自動部署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46227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Part 5: DevOps 與 CI/CD Pipeline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77072" y="32278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 Part 5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DevOps：打破開發與維運的高牆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開發團隊 (Dev)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快速開發新功能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頻繁合併代碼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下午 5 點 push code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「快點上線！」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feature/week  ·  功能開發速度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0" y="502920"/>
            <a:ext cx="9144" cy="4224528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4224528" y="21031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 THE WALL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0" y="118872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590288" y="118872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4114800" y="192024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90288" y="192024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5" name="Shape 23"/>
          <p:cNvSpPr/>
          <p:nvPr/>
        </p:nvSpPr>
        <p:spPr>
          <a:xfrm>
            <a:off x="4114800" y="265176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590288" y="2651760"/>
            <a:ext cx="43891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7" name="Shape 25"/>
          <p:cNvSpPr/>
          <p:nvPr/>
        </p:nvSpPr>
        <p:spPr>
          <a:xfrm>
            <a:off x="4846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維運團隊 (Ops)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37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穩定第一，不要動！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😰 週五 5 點不能部署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變更管理需要審批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「你們搞壞了 Prod！」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×3h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937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 ·  平均故障恢復時間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74320" y="38862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913632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DevOps 的核心目標：拆掉這道牆 — 讓開發、測試、部署、維運成為統一的連續流程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DevOps 不是職稱，是文化和實踐 — Dev 懂 Ops，Ops 懂 Dev，自動化一切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Pipeline：從 Commit 到 Production 全自動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🔨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379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196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832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832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381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198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 test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834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383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00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385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apply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183880" y="658368"/>
            <a:ext cx="868680" cy="13258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713232"/>
            <a:ext cx="86868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38744" y="1347826"/>
            <a:ext cx="758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0456" y="1576426"/>
            <a:ext cx="795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481328" y="1463040"/>
            <a:ext cx="2743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14356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81528" y="1463040"/>
            <a:ext cx="2743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30358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681728" y="1463040"/>
            <a:ext cx="27432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46360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463040"/>
            <a:ext cx="274320" cy="9144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62362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882128" y="1463040"/>
            <a:ext cx="27432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364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7160" y="566928"/>
            <a:ext cx="5120640" cy="1508760"/>
          </a:xfrm>
          <a:prstGeom prst="roundRect">
            <a:avLst>
              <a:gd name="adj" fmla="val 6061"/>
            </a:avLst>
          </a:prstGeom>
          <a:ln w="12700">
            <a:solidFill>
              <a:srgbClr val="58A6FF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860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566928"/>
            <a:ext cx="4114800" cy="1508760"/>
          </a:xfrm>
          <a:prstGeom prst="roundRect">
            <a:avLst>
              <a:gd name="adj" fmla="val 6061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98348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0176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— Continuous Delivery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74320" y="246888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23225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23225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02336" y="2578608"/>
            <a:ext cx="4133088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Pipeline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myapp:$GITHUB_SHA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registry/myapp:$GITHUB_SHA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kubectl set image deploy/api api=myapp:$GITHUB_SHA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3776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2920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10min</a:t>
            </a:r>
            <a:endParaRPr lang="en-US" sz="3400" dirty="0"/>
          </a:p>
        </p:txBody>
      </p:sp>
      <p:sp>
        <p:nvSpPr>
          <p:cNvPr id="52" name="Text 50"/>
          <p:cNvSpPr/>
          <p:nvPr/>
        </p:nvSpPr>
        <p:spPr>
          <a:xfrm>
            <a:off x="502920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時間目標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90372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99516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55" name="Text 53"/>
          <p:cNvSpPr/>
          <p:nvPr/>
        </p:nvSpPr>
        <p:spPr>
          <a:xfrm>
            <a:off x="699516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自動化測試覆蓋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93776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02920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50+</a:t>
            </a:r>
            <a:endParaRPr lang="en-US" sz="3400" dirty="0"/>
          </a:p>
        </p:txBody>
      </p:sp>
      <p:sp>
        <p:nvSpPr>
          <p:cNvPr id="58" name="Text 56"/>
          <p:cNvSpPr/>
          <p:nvPr/>
        </p:nvSpPr>
        <p:spPr>
          <a:xfrm>
            <a:off x="502920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每天部署次數 (Netflix)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0372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9516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1hr</a:t>
            </a:r>
            <a:endParaRPr lang="en-US" sz="3400" dirty="0"/>
          </a:p>
        </p:txBody>
      </p:sp>
      <p:sp>
        <p:nvSpPr>
          <p:cNvPr id="61" name="Text 59"/>
          <p:cNvSpPr/>
          <p:nvPr/>
        </p:nvSpPr>
        <p:spPr>
          <a:xfrm>
            <a:off x="699516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Commit→Prod 時間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GitOps：Git 作為唯一真相來源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核心原則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Git 是唯一真相來源 (Single Source of Truth)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所有變更通過 Pull Request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自動同步 — Git state = Cluster state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可審計、可回滾 — git revert 即回滾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508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Tekton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👨‍💻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1830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001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03520" y="1764792"/>
            <a:ext cx="9144" cy="347472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49240" y="181965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1830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0001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9320" y="2578608"/>
            <a:ext cx="50292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5989320" y="2423160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53796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59282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7453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 Operator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863840" y="2578608"/>
            <a:ext cx="41148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45552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321040" y="2148840"/>
            <a:ext cx="731520" cy="82296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21040" y="2203704"/>
            <a:ext cx="7315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☸️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375904" y="2576779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57616" y="2805379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63840" y="3246120"/>
            <a:ext cx="822960" cy="9144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537960" y="2999232"/>
            <a:ext cx="9144" cy="246888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6537960" y="3246120"/>
            <a:ext cx="1325880" cy="9144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6565392" y="32918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 detect → auto-heal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GitOps 讓基礎設施變成 Code — 每次 Prod 變更都有 git commit 記錄，可審計可回滾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Flags：從部署中解放功能發布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傳統做法：部署 = 上線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每次部署都影響所有用戶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發現問題只能全量回滾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無法針對特定用戶測試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"/>
            <a:ext cx="9144" cy="384048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Feature Flags：部署 ≠ 上線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987552"/>
            <a:ext cx="3977640" cy="1536192"/>
          </a:xfrm>
          <a:prstGeom prst="roundRect">
            <a:avLst>
              <a:gd name="adj" fmla="val 59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28616" y="1097280"/>
            <a:ext cx="372160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Flag 控制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feature_flags.is_enabled('new_checkout', user):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new_checkout_flow(user)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old_checkout_flow(user)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A/B Testing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722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438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Internal Beta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20040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273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部署 (Deploy)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566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Code 放到 Prod Server — 但 Flag = OFF，用戶看不到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0" y="3246120"/>
            <a:ext cx="9144" cy="1005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7355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發布 (Release)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566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Flag 切到 ON — 功能對用戶可見 (隨時可關)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Feature Flag 讓你做到 Continuous Deployment — 每天部署數十次，功能上線時機由 PM 決定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部署策略：Blue/Green vs Canary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🔵🟢 Blue/Green 部署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93268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1：部署新版本到 Green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100% 流量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4028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0% 流量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6420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2：LB 切換流量至 Green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1792224"/>
            <a:ext cx="54864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27432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4028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100%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24871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零停機時間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回滾只需切 LB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30358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需要兩套環境 (成本)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02920"/>
            <a:ext cx="9144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109728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97280"/>
            <a:ext cx="237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96128" y="1097280"/>
            <a:ext cx="585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32120" y="1572768"/>
            <a:ext cx="9144" cy="32004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30368" y="1892808"/>
            <a:ext cx="301752" cy="9144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572768"/>
            <a:ext cx="9144" cy="32004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1892808"/>
            <a:ext cx="896112" cy="9144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8006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8554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× 9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371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流量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294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294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6842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× 1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9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流量 (Canary)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66560" y="2788920"/>
            <a:ext cx="1828800" cy="713232"/>
          </a:xfrm>
          <a:prstGeom prst="roundRect">
            <a:avLst>
              <a:gd name="adj" fmla="val 1282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2843784"/>
            <a:ext cx="1828800" cy="328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3159801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3388401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Rate &lt; 0.1%?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P99 Latency OK?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15200" y="2633472"/>
            <a:ext cx="9144" cy="13716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4800600" y="29260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自動增加 Canary 流量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12280" y="3566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自動回滾 Canary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46320" y="37033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小範圍驗證新版本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46320" y="39593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問題只影響少數用戶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Metrics：衡量 DevOps 成熟度的四個指標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多次/天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每天~每週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每週~每月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6460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Commit 到 Prod 的時間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1週~1月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8404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部署導致 Prod 問題的比率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5%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15%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15-45%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86460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460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Restore — 恢復時間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3776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1天~1週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709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DORA Research (2019): Elite 表現者比低表現者 — 部署快 208x，故障恢復快 2604x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持續測試金字塔：測試的層次與速度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60020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3677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E2E Tests (10%)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8653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模擬真實用戶 | 分鐘級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68296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Integration Tests (20%)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968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DB 整合 | 秒級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12724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Unit Tests (70%)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335584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| 隔離 | 毫秒級    jest, pytest, go test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26280" y="1554480"/>
            <a:ext cx="9144" cy="219456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4434840" y="1463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 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34840" y="3749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 ⚡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594360"/>
            <a:ext cx="393192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/ jest commands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65776" y="704088"/>
            <a:ext cx="367588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 Pipeline 測試順序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Unit Tests (fail fast)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tests/unit/ --tb=short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js: jest --testPathPattern=unit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Integration Tests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tests/integration/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--docker-compose=docker-compose.test.yml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E2E Tests (only on main)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tests/e2e/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--base-url=https://staging.myapp.com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Fail Fast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失敗立刻停止 Pipeline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測試隔離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Test 獨立，不依賴順序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179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Coverage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80%+，關鍵路徑 100%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小結：DevOps 讓軟體交付飛起來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是文化，CI/CD 是工具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打破 Dev/Ops 高牆，共同對交付品質負責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都能安全部署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938528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01168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414016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DORA Metrics 衡量進步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7340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個指標 — 部署頻率、Lead Time、失敗率、MTTR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900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Elite 表現者不是天生的 — 是 DevOps 文化建立的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77072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量化成果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282696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335584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758184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GitOps + CI/CD = 現代部署三劍客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078224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Container：環境一致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3342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GitOps：基礎設施即代碼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5902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CI/CD：自動化交付 → Part 6: 可觀測性與 SRE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77072" y="3355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整合視角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可觀測性三本柱：Metrics、Logs、Traces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數字型時序資料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記憶體, 請求數/秒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Prometheus + Grafana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告警規則：CPU &gt; 80% → 通知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「What 出了問題」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月 ~ 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JSON 格式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ELK Stack, Loki, CloudWatch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集中收集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「Why 出了問題」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週 ~ 月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分散式請求鏈路追蹤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 貫穿所有服務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Jaeger, Zipkin, Tempo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「Where 出了問題」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天 ~ 週 (成本高)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三本柱缺一不可：Metrics 告訴你有問題，Logs 告訴你原因，Traces 告訴你在哪個服務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/ SLO / SLA：可靠性的三個層次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SLI — Service Level Indicator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實際量測的服務指標值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一個數字，代表服務現在的表現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可用性: 99.95%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延遲: 245ms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錯誤率: 0.03%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吞吐量: 1200 req/s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SLO — Service Level Objective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你設定的目標數字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 SLI 的目標值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 SLO: ≥ 99.9%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461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SLO: ≤ 500ms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SLO: ≤ 0.1%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461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0.1% = 43min/月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SLA — Service Level Agreement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對外承諾的法律協議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違反 → 賠償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EC2: 99.99% 可用性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賠償: Service Credit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179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&lt; SLA (保留緩衝)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179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「SLO 是內部目標，SLA 是外部承諾」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63240" y="1325880"/>
            <a:ext cx="16459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30723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by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6035040" y="1325880"/>
            <a:ext cx="16459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60441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要比 SLA 嚴格 10x — SLA 是 99.9%，你的 SLO 應該是 99.99%，中間是 Error Budget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Budget：把停機時間變成決策工具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1 - SLO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= 99.9%  →  Error Budget = 0.1% = 43.8 分鐘/月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1907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Budget 充足 → 可以快速部署新功能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35915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35915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Budget 耗盡 → 停止功能部署，專注穩定性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27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Policy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4198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&gt; 50%：正常部署，可做風險部署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6667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25-50%：謹慎部署，加強測試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9136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&lt; 25%：凍結功能部署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年 Monthly Error Budget 消耗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87552"/>
            <a:ext cx="4069080" cy="9144"/>
          </a:xfrm>
          <a:prstGeom prst="line">
            <a:avLst/>
          </a:prstGeom>
          <a:noFill/>
          <a:ln w="12700">
            <a:solidFill>
              <a:srgbClr val="F85149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7132320" y="8412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(100%)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237744" cy="5029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18304" y="26974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5084064" y="3040380"/>
            <a:ext cx="237744" cy="34290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47488" y="28575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413248" y="3200400"/>
            <a:ext cx="237744" cy="182880"/>
          </a:xfrm>
          <a:prstGeom prst="roundRect">
            <a:avLst>
              <a:gd name="adj" fmla="val 15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76672" y="30175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742432" y="2354580"/>
            <a:ext cx="237744" cy="102870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243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705856" y="2171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6071616" y="1965960"/>
            <a:ext cx="237744" cy="14173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7161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1783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400800" y="2971800"/>
            <a:ext cx="237744" cy="41148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64224" y="27889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6729984" y="3154680"/>
            <a:ext cx="237744" cy="228600"/>
          </a:xfrm>
          <a:prstGeom prst="roundRect">
            <a:avLst>
              <a:gd name="adj" fmla="val 12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693408" y="29718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7059168" y="3268980"/>
            <a:ext cx="237744" cy="1143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022592" y="30861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7388352" y="2514600"/>
            <a:ext cx="237744" cy="8686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8835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51776" y="23317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7717536" y="1211580"/>
            <a:ext cx="237744" cy="217170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753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680960" y="1028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8046720" y="2743200"/>
            <a:ext cx="237744" cy="6400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4672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010144" y="25603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8375904" y="3108960"/>
            <a:ext cx="237744" cy="27432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7590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339328" y="2926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274320" y="3520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356616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10月份 Error Budget 耗盡！→ 立即凍結功能部署，SRE 介入穩定性改善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132320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32320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凍結部署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626096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26096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行動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8119872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19872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讓 Dev 和 Ops 有共同語言 — 不是「穩定 vs 速度」，而是「剩多少 budget 可以花」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監控實戰：Prometheus + Grafana 組合拳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583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65836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63040" y="7955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070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2070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12070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63040" y="13441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175564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75564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175564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63040" y="18928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03120" y="1371600"/>
            <a:ext cx="45720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2084832" y="111556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5176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5176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70662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8833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時序資料庫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15s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1344168"/>
            <a:ext cx="41148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66344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0001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視覺化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51760" y="233172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97480" y="2331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44368" y="233172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3280" y="2057400"/>
            <a:ext cx="9144" cy="256032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206240" y="2743200"/>
            <a:ext cx="45720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187952" y="25146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800600" y="237744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3774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93208" y="237744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9360" y="594360"/>
            <a:ext cx="25603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90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37376" y="704088"/>
            <a:ext cx="23042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status=~'5..'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}[5m]) /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P99 延遲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rate(http_duration_bucket[5m])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CPU 告警規則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container_cpu_usage &gt; 0.8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Critical: 錯誤率 &gt; 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10896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Warning: P99 &gt; 500ms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Info: 部署完成通知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520440"/>
            <a:ext cx="8595360" cy="932688"/>
          </a:xfrm>
          <a:prstGeom prst="roundRect">
            <a:avLst>
              <a:gd name="adj" fmla="val 980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3741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3741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 rule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630168"/>
            <a:ext cx="8339328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expr: rate(http_requests_total{status=~'5..'}[5m]) / rate(http_requests_total[5m]) &gt; 0.01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 { severity: critical 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 { summary: 'Error rate {{ $value | humanizePercentage }}' }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分散式追蹤：找出效能瓶頸在哪裡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50976" y="1033272"/>
            <a:ext cx="274320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0" name="Text 8"/>
          <p:cNvSpPr/>
          <p:nvPr/>
        </p:nvSpPr>
        <p:spPr>
          <a:xfrm>
            <a:off x="90525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/checkout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28016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7276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48256" y="1033272"/>
            <a:ext cx="274320" cy="9144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200253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37744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2316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97480" y="1298448"/>
            <a:ext cx="9144" cy="292608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92024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596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1284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3580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56616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5876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480560" y="713232"/>
            <a:ext cx="4480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7132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ID: abc-123-xyz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43800" y="713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貫穿整個請求鏈路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1234440"/>
            <a:ext cx="3383280" cy="137160"/>
          </a:xfrm>
          <a:prstGeom prst="roundRect">
            <a:avLst>
              <a:gd name="adj" fmla="val 20000"/>
            </a:avLst>
          </a:prstGeom>
          <a:solidFill>
            <a:srgbClr val="1A2A40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123444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417320"/>
            <a:ext cx="3108960" cy="137160"/>
          </a:xfrm>
          <a:prstGeom prst="roundRect">
            <a:avLst>
              <a:gd name="adj" fmla="val 20000"/>
            </a:avLst>
          </a:prstGeom>
          <a:solidFill>
            <a:srgbClr val="1A2A1A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141732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1600200"/>
            <a:ext cx="2560320" cy="1371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160020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0" y="1783080"/>
            <a:ext cx="365760" cy="137160"/>
          </a:xfrm>
          <a:prstGeom prst="roundRect">
            <a:avLst>
              <a:gd name="adj" fmla="val 20000"/>
            </a:avLst>
          </a:prstGeom>
          <a:solidFill>
            <a:srgbClr val="1A1A2A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178308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321040" y="1965960"/>
            <a:ext cx="457200" cy="137160"/>
          </a:xfrm>
          <a:prstGeom prst="roundRect">
            <a:avLst>
              <a:gd name="adj" fmla="val 20000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196596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Email(async)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158191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DB query: 245ms — 瓶頸！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2176272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0299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02996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(OpenTelemetry)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286000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@app.get('/checkout')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checkout(user_id: str):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tracer.start_as_current_span('checkout')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span.set_attribute('user.id', user_id)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 tracer.start_as_current_span('db.query'):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 = await db.fetch_cart(user_id)  # 自動記錄時間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沒有 Tracing 的分散式系統，除錯就像蒙眼猜謎 — OpenTelemetry 是現代標準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SRE：把維運當成軟體工程問題來解決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的核心工作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消除 Toil — 把重複手動工作自動化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SLI/SLO/Error Budget 管理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4825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Incident Response 與 On-Call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1518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Postmortem 文化 — Blameless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318211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8211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打造更可靠的系統架構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02336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93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 預算: &lt; 50% 工作時間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7764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50% → SRE 幫你自動化，直到降到 50% 以下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9436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79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8952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960120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主要目標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3796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8952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可靠性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435608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1435608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SSH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796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8952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全自動化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1911096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911096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故障處理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修完拉倒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3796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 必須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386584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2386584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衡量方式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有沒有當機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58952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SLO/Error Budget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的 SRE 手冊：「SRE 是把軟體工程師扔進維運問題 — 他們的反應是把一切自動化」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Postmortem：從故障中學習，而不是追責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Blameless Postmortem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不找兇手，找根本原因 (Root Cause)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70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描述事實，不指責個人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00784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0078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5-Why 根本原因分析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23113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系統性改善，而非懲罰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6148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公開分享學習成果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3101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101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禁止: 「都是 XXX 的錯」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59436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Postmortem Template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91456" y="704088"/>
            <a:ext cx="395020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Incident Summary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Date: 2024-03-15 14:32 UTC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Duration: 47 minutes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Impact: 全球 23% 用戶無法登入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Severity: SEV-1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Timeline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- 14:32 Alert triggered: Error rate &gt; 5%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- 14:38 SRE on-call paged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- 14:45 Root cause identified: DB migration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- 15:19 Rollback completed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Root Cause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migration script 鎖住了 users table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導致所有登入請求 timeout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Action Items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加入 DB migration smoke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Migration 改在 Maintenance window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改善 Rollback SOP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課程總結：你現在已經了解真實世界的部署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  ·  50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175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175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單機→拆分→三層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64208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LB+Cache+MQ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99816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2968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172968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72968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一致環境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35424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608576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設計原則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71032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44184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044184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44184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0664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7979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7979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581912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3017520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4453128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888736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7324344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274320" y="228600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2331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核心洞察：複雜度是必然的 — 但可以被管理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274320" y="27157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+ 12-Factor + CI/CD + Observability = 現代 Cloud Native 工程師的工具箱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架構是演進的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8404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從單機到分散式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每一步都有原因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不要過度設計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5468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6440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是基石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26440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環境一致 + 版本管理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現代部署的最小單位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學會用好 Docker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504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476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數字說話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4476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SLO/SLA/DORA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用指標驅動改善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不靠感覺做決策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vs 監控：不只是看圖表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3310128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傳統監控 (Monitoring)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你事先知道要看什麼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2161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預設 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只知道 What 壞了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CPU高、回應慢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無法回答未知問題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遇到新型故障束手無策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靜態告警閾值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CPU&gt;80% 就告警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可觀測性 (Observability)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能從外部推導系統內部狀態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 What/Why/Where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三本柱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可回答任意問題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3776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即使是第一次發生的問題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動態、可查詢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不需要預設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40156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4015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tells you WHEN things break. Observability tells you WHY.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41148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可觀測性的三本柱：Metrics（什麼出問題）+ Logs（為什麼）+ Traces（在哪個服務）— 缺一不可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三本柱總覽：Metrics、Logs、Traces 各自解決什麼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92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9786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數值型時序資料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60020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happening now?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20025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Req/s, 錯誤率, P99延遲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40487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適合：告警、容量規劃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80720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保留：月到年（低成本）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0896" y="320954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工具：Prometheus, Grafana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944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3944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3944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56006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7456" y="119786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60020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it happen?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00253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請求詳細記錄、錯誤堆疊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40487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適合：除錯、審計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80720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保留：天到月（高成本）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67456" y="320954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3204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工具：ELK, Loki, Fluentd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09600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9600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9600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51662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24016" y="119786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60020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 slow?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00253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哪個服務、哪個函式、耗時多少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40487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適合：效能分析、依賴追蹤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80720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保留：天到週（最高成本）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24016" y="320954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860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工具：Jaeger, Tempo, Zipkin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從成本角度：Metrics 最便宜（數字），Logs 中等（文字），Traces 最貴（每個 Span 都要儲存）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單體 vs 分散式：為什麼可觀測性變得關鍵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393192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單體服務：簡單偵錯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10058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7280" y="106070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52144" y="1481328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 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33856" y="1709928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一個 Process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57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-f app.log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487168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4871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 / console.log()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2916936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91693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gdb / pdb 本地除錯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364992"/>
            <a:ext cx="3840480" cy="347472"/>
          </a:xfrm>
          <a:prstGeom prst="roundRect">
            <a:avLst>
              <a:gd name="adj" fmla="val 15789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36499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問題出在這個 process，直接找就好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分散式：除錯地獄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4748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2764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api-gw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31520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0780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auth-svc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4748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order-svc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03504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076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2764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payment-svc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31520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6092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60780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inventory-svc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4748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email-svc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3504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8076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2764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31520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6092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60780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290779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953512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User說結帳很慢！是哪個服務？哪個函式？沒有 Tracing 只能每個服務慢慢查 log...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132320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0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15分鐘找問題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26096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26096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有時找不到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分散式系統中一個請求可能觸碰 10+ 個服務 — 沒有 Traces，你根本不知道慢在哪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Metrics：數字告訴你系統的健康狀態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297680" cy="804672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6217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= 時間序列數字資料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8961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(timestamp, metric_name, labels, value)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48132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服務在跑，但你怎麼知道它健康嗎？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82880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288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📈 http_requests_total: 15,847 req (counter)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67712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2677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api_response_p99_ms: 245ms (gauge)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06624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0662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http_error_rate: 0.03% (gauge)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145536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14553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💾 process_memory_bytes: 512MB (gauge)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63016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63016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Metrics 就像開車沒有儀表板 — 不知道速度、油量、引擎狀態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68580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7498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 (rate/s)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66360" y="2651760"/>
            <a:ext cx="411480" cy="43891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96128" y="2468880"/>
            <a:ext cx="411480" cy="62179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25896" y="2286000"/>
            <a:ext cx="411480" cy="80467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1828800"/>
            <a:ext cx="411480" cy="1261872"/>
          </a:xfrm>
          <a:prstGeom prst="rect">
            <a:avLst/>
          </a:prstGeom>
          <a:solidFill>
            <a:srgbClr val="D29922">
              <a:alpha val="60000"/>
            </a:srgbClr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85432" y="1280160"/>
            <a:ext cx="411480" cy="1810512"/>
          </a:xfrm>
          <a:prstGeom prst="rect">
            <a:avLst/>
          </a:prstGeom>
          <a:solidFill>
            <a:srgbClr val="F85149">
              <a:alpha val="60000"/>
            </a:srgbClr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0" y="2011680"/>
            <a:ext cx="411480" cy="1078992"/>
          </a:xfrm>
          <a:prstGeom prst="rect">
            <a:avLst/>
          </a:prstGeom>
          <a:solidFill>
            <a:srgbClr val="D29922">
              <a:alpha val="60000"/>
            </a:srgbClr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44968" y="2423160"/>
            <a:ext cx="411480" cy="66751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2633472"/>
            <a:ext cx="256032" cy="457200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0640" y="312724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0" y="9144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937760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92624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時序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92624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按時間排列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可計算趨勢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291072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標籤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45936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env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region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644384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99248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高效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699248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 = 小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保存成本低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Metrics 不是 Logs — Metrics 只存數字，成本極低，適合長期保留（1年以上都沒問題）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 Metric 資料類型：Counter、Gauge、Histogram、Summary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Counter — 只增不減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適用：請求總數、錯誤總數、位元組數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http_requests_total{method='GET',status='200'}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Counter 本身無意義，用 rate() 換算每秒速率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320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304288"/>
            <a:ext cx="9144" cy="15544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148840"/>
            <a:ext cx="320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2148840"/>
            <a:ext cx="9144" cy="15544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000" y="1993392"/>
            <a:ext cx="320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1993392"/>
            <a:ext cx="9144" cy="14630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1847088"/>
            <a:ext cx="320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83080" y="1847088"/>
            <a:ext cx="9144" cy="128016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Gauge — 可升可降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適用：當前連線數、記憶體用量、Queue深度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9204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process_resident_memory_bytes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93776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直接使用數值，不需要 rate()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37760" y="2029968"/>
            <a:ext cx="228600" cy="14630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66360" y="2029968"/>
            <a:ext cx="228600" cy="2377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94960" y="1993392"/>
            <a:ext cx="228600" cy="27432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23560" y="1993392"/>
            <a:ext cx="228600" cy="219456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52160" y="2057400"/>
            <a:ext cx="228600" cy="155448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057400"/>
            <a:ext cx="228600" cy="246888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Histogram — 分桶分布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適用：請求延遲、回應大小的分布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桶 (Bucket): _le=0.1, _le=0.5, _le=1.0, _le=+Inf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histogram_quantile(0.99, ...) 計算 P99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端計算分位數，最靈活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Summary — 客戶端分位數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3776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適用：需要精確分位數，資料量小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3776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直接輸出 P50、P90、P99 分位數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3776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無法跨 instance 聚合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3776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多數情況用 Histogram，Summary 漸少用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vs Pull：收集模式的根本差異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443484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Pull Mode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17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09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6888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4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6148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1417320"/>
            <a:ext cx="9144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920240" y="1417320"/>
            <a:ext cx="9144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971800" y="1417320"/>
            <a:ext cx="9144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57200" y="1783080"/>
            <a:ext cx="256032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1837944"/>
            <a:ext cx="25603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2064" y="2201509"/>
            <a:ext cx="2450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3776" y="2430109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 15 秒主動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Collector控制抓取時機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服務掛了立刻發現 (scrape失敗)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服務必須暴露 HTTP /metrics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短暫 Batch Job 會錯過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Push Mode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46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38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0644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9904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665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0591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49240" y="1417320"/>
            <a:ext cx="9144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6309360" y="1417320"/>
            <a:ext cx="9144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269480" y="1417320"/>
            <a:ext cx="9144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5577840" y="1828800"/>
            <a:ext cx="210312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77840" y="1883664"/>
            <a:ext cx="21031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5632704" y="2247229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14416" y="2475829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StatsD / 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OTLP Receiver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8348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適合短暫 Batch/Cron Job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8348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可穿越 NAT、Firewall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84632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8348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Collector成為流量接收端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84632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8348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服務掛了難以偵測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Kubernetes 環境首選 Pull (Prometheus) — 因為 K8s 的服務發現讓 Prometheus 自動找到所有 Pod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架構深度解析：Pull Mode 實作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68096"/>
            <a:ext cx="15544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42646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65506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/metrics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2880" y="21214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/metrics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http_req_total 1024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http_duration_sum 5.2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828800" y="1463040"/>
            <a:ext cx="73152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2" name="Text 10"/>
          <p:cNvSpPr/>
          <p:nvPr/>
        </p:nvSpPr>
        <p:spPr>
          <a:xfrm>
            <a:off x="1783080" y="130759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15s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651760" y="713232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51760" y="768096"/>
            <a:ext cx="20116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06624" y="1426464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88336" y="1655064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TSDB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Evaluator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1463040"/>
            <a:ext cx="64008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4709160" y="130759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0" y="713232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0" y="768096"/>
            <a:ext cx="1371600" cy="2944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41264" y="104607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522976" y="127467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11880" y="2148840"/>
            <a:ext cx="9144" cy="41148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651760" y="26060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651760" y="2660904"/>
            <a:ext cx="20116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706624" y="2962656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88336" y="3191256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Slack/PagerDuty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54880" y="3044952"/>
            <a:ext cx="640080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4709160" y="288950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86400" y="26060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86400" y="26609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41264" y="29626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522976" y="31912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PagerDuty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310128"/>
            <a:ext cx="8595360" cy="1554480"/>
          </a:xfrm>
          <a:prstGeom prst="roundRect">
            <a:avLst>
              <a:gd name="adj" fmla="val 588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" y="3163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163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prometheus.yml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02336" y="3419856"/>
            <a:ext cx="83393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scrape_interval: 15s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evaluation_interval: 15s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'api-service'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static_configs: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targets: ['api-01:8080', 'api-02:8080']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'kubernetes-pods'  # K8s 自動服務發現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kubernetes_sd_configs: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role: pod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relabel_configs: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source_labels: [__meta_kubernetes_pod_annotation_prometheus_io_scrape]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action: keep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regex: true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+ Prometheus：自動服務發現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98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5720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Cluster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778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3949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annotation: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prometheus.io/scrape: true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prometheus.io/port: 8080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51460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6946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5117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annotation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2029968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084832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7784" y="252923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(Deployment)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" y="275783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watches K8s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606040" y="224028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02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98648" y="2240280"/>
            <a:ext cx="1362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API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77440" y="2624328"/>
            <a:ext cx="20116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2331720" y="2468880"/>
            <a:ext cx="292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pods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417320" y="1463040"/>
            <a:ext cx="9144" cy="56692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03520" y="65836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自動發現的好處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57800" y="1005840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10058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新 Pod 啟動 → 自動加入監控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57800" y="1572768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94960" y="1572768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Pod 刪除 → 自動移除，不留殘餘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257800" y="2139696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2139696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Scale Out ×10 → Prometheus 自動找到全部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257800" y="2706624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4960" y="2706624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0️⃣ 不需要人工修改 prometheus.yml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57800" y="3017520"/>
            <a:ext cx="3520440" cy="1691640"/>
          </a:xfrm>
          <a:prstGeom prst="roundRect">
            <a:avLst>
              <a:gd name="adj" fmla="val 540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349240" y="28712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67528" y="28712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 annotation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385816" y="3127248"/>
            <a:ext cx="326440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在 Pod spec 加上 annotation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prometheus.io/scrape: 'true'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prometheus.io/path: '/metrics'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prometheus.io/port: '8080'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 自動偵測所有帶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這個 annotation 的 Pod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Mode 實戰：StatsD、Pushgateway、OTLP Collector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 (UDP Push)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fire-and-forget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不阻塞 application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library 極簡單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statsd.increment('orders.created')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適合：高頻計數器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DogStatsD 支援 Tags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319125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Graphite / Prometheus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Pushgateway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官方中繼站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用途：Batch Job / Cron Job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完成 → push → Prometheus scrape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注意：不適合長期服務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注意：不自動 TTL 清除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67456" y="319125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Job 完成 metrics 保存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Collector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統一 Pipeline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同時接收 Metrics/Logs/Traces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Receiver：OTLP, Prometheus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Exporter：Prometheus, Jaeger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或 DaemonSet 部署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24016" y="3191256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8860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未來標準，推薦採用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StatsD UDP 是最輕量的 push — 即使 collector 掛了也不影響 app，適合不能 block 的關鍵路徑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PromQL：Prometheus 查詢語言實戰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100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 Examples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Counter Rate — 每秒 HTTP 請求數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按 status 碼分組的錯誤率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by(status) (rate(http_requests_total[5m]))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P99 延遲 — 最常用的 SLO 指標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rate(http_request_duration_seconds_bucket[5m])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錯誤率 (5xx / total)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sum(rate(http_requests_total{status=~'5..'}[5m]))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 * 100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Recording Rule — 預計算複雜查詢（放 prometheus.yml）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record: job:http_error_rate:ratio5m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expr: |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sum(rate(http_requests_total{status=~'5..'}[5m]))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跨 K8s Pod 聚合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by(namespace, deployment)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Recording Rules 是效能關鍵 — 把複雜 PromQL 預計算儲存，Grafana 查詢快 10 倍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監控方法論：USE、RED、四個黃金信號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USE Method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適用：基礎設施資源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404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— Utilization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資源使用率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75%, Disk: 60%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404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Saturation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資源飽和度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Average, Queue深度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8404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 errors, NIC drops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576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問：這個資源過載了嗎？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5468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RED Method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4612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適用：微服務 API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6440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Rate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每秒請求數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req/s, RPC/s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6440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3756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5xx%, failed RPC 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440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Duration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3756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延遲分布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P50/P95/P99 latency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4612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問：這個服務表現如何？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0" y="594360"/>
            <a:ext cx="2743200" cy="4224528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65836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四個黃金信號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91440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SRE Book — 對用戶最重要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44768" y="1133856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1521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0" y="13533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好請求 vs 壞請求的延遲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44768" y="1847088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186537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20665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系統需求量 req/s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44768" y="2560320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25786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27797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失敗請求的比率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3273552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17920" y="349300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系統飽和度 (最受限的資源)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126480" y="422452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問：用戶的體驗如何？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新服務先從 RED 方法開始 — Rate + Errors + Duration 三個 Metric 能告訴你 80% 的問題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 設計：讓數據說話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102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設計原則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一個 Dashboard = 一個服務/系統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48132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頂部：RED/四黃金信號 (用戶影響)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56816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中部：資源使用 (USE Method)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32304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底部：下游依賴狀態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0779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使用 Variables：env, datacenter, pod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401568"/>
            <a:ext cx="3931920" cy="530352"/>
          </a:xfrm>
          <a:prstGeom prst="roundRect">
            <a:avLst>
              <a:gd name="adj" fmla="val 12069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401568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把所有 Metric 塞進一個 Dashboard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沒有時間範圍選擇器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68580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api | ENV: prod | Last: 6h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1,234 req/s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54880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108192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161B22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53912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53912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07224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52944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245ms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52944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755648"/>
            <a:ext cx="4160520" cy="1051560"/>
          </a:xfrm>
          <a:prstGeom prst="roundRect">
            <a:avLst>
              <a:gd name="adj" fmla="val 6087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82880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Rate over time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Usage 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839712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31152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Usage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09160" y="3840480"/>
            <a:ext cx="4160520" cy="713232"/>
          </a:xfrm>
          <a:prstGeom prst="roundRect">
            <a:avLst>
              <a:gd name="adj" fmla="val 8974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91363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Latency | Redis Hit Rate | MQ Queue Depth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告警設計：避免告警疲勞的藝術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Cause-based 告警（不推薦）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80%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CPU高不一定影響用戶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173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35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&gt; 70%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6184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可能只是 cache，正常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8288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8470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IOPS &gt; 1000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0299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業務繁忙期的正常現象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651760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Symptom-based 告警（推薦）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632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815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&gt; 1% 持續 2 分鐘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2644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用戶正在受影響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930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&gt; 2000ms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36758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用戶感受到服務變慢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38862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9044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burn rate 過快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40873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快耗盡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告警嚴重度分級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91440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93268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P1 CRITICAL — 立即叫醒 On-Call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92040" y="11612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現在有用戶受影響 | 5分鐘內必須回應 | 打電話+PagerDuty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157276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15910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P2 WARNING — 工作時間處理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92040" y="1819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可能影響用戶 | 今天內處理 | Slack 通知即可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54880" y="223113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24942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P3 INFO — 排程處理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92040" y="24780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潛在問題 | 本週處理 | Ticket 追蹤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54880" y="3401568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4381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每個告警必須：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92040" y="36576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有 Runbook 連結  2. 明確的負責人  3. 明確的回應 SLA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告警疲勞是 SRE 最大敵人 — 每週 review 告警，把沒人 action 的告警關掉或降級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AlertManager：智慧路由與告警管理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104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713232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768096"/>
            <a:ext cx="13716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184" y="111739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0896" y="134599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發送告警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91640" y="1124712"/>
            <a:ext cx="457200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645920" y="96926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40280" y="713232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40280" y="768096"/>
            <a:ext cx="164592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🔀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295144" y="1117397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76856" y="1345997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路由引擎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17520" y="1554480"/>
            <a:ext cx="9144" cy="41148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109728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8988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#oncall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8892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📟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8152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(P1 only)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48056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7316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(P3 only)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423160" y="1984248"/>
            <a:ext cx="594360" cy="320040"/>
          </a:xfrm>
          <a:prstGeom prst="line">
            <a:avLst/>
          </a:prstGeom>
          <a:noFill/>
          <a:ln w="12700">
            <a:solidFill>
              <a:srgbClr val="F85149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063240" y="1984248"/>
            <a:ext cx="457200" cy="320040"/>
          </a:xfrm>
          <a:prstGeom prst="line">
            <a:avLst/>
          </a:prstGeom>
          <a:noFill/>
          <a:ln w="12700">
            <a:solidFill>
              <a:srgbClr val="F85149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74320" y="2834640"/>
            <a:ext cx="4389120" cy="2084832"/>
          </a:xfrm>
          <a:prstGeom prst="roundRect">
            <a:avLst>
              <a:gd name="adj" fmla="val 438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2688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2688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alertmanager.yml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02336" y="2944368"/>
            <a:ext cx="41330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receiver: 'slack-default'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group_wait: 30s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group_interval: 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repeat_interval: 4h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critical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'pagerduty'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warning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'slack-warning'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receivers: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'pagerduty'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pagerduty_configs: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service_key: '&lt;key&gt;'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0" y="685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進階功能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960120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98755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 Inhibition (抑制)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74920" y="121615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掛了 → 抑制 API 告警，避免重複通知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937760" y="1618488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492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🔇 Silence (靜音)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74920" y="1874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維護窗口期間靜音特定告警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937760" y="2276856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4920" y="2304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Grouping (分組)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74920" y="25328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同一服務的多個告警合併通知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937760" y="2935224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74920" y="296265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Repeat Interval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074920" y="319125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不要每分鐘重複，設定 4h 重複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Inhibition 規則可以大幅減少告警噪音 — datacenter 掛了就不用個別通知每個服務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小結：從收集到告警的完整鏈路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 client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定義 Metrics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37360" y="1371600"/>
            <a:ext cx="45720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69164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8600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4086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2257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 /metrics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840480" y="1371600"/>
            <a:ext cx="45720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79476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8912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8912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44398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42569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457200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492240" y="658368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713232"/>
            <a:ext cx="13258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547104" y="1324051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28816" y="1552651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Rules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863840" y="1371600"/>
            <a:ext cx="45720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781812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412480" y="658368"/>
            <a:ext cx="640080" cy="128016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12480" y="713232"/>
            <a:ext cx="6400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467344" y="1324051"/>
            <a:ext cx="5303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449056" y="1552651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On-Call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選對 Metric 類型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→ rate()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→ 直接用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→ P99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不要用 average latency!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5468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6440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Pull &gt; Push in K8s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6440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K8s SD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自動發現所有 Pod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短暫 Job 用 Pushgateway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 → OTLP Collector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3504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4476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告警要有意義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4476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Symptom-based 優先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每個告警要有 Runbook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控制告警數量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避免告警疲勞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Logs：應用程式的事件日誌 — 除錯的最後防線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= 帶時間戳的結構化事件記錄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記錄了系統在特定時刻「發生了什麼事」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Prod 突然出現 500 錯誤 — 哪個 API？哪個 user？什麼原因？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用戶說「我的訂單消失了」— 什麼時候？哪個 service 出問題？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4203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4203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安全審計 — 誰在什麼時候刪除了這筆資料？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054096"/>
            <a:ext cx="4114800" cy="530352"/>
          </a:xfrm>
          <a:prstGeom prst="roundRect">
            <a:avLst>
              <a:gd name="adj" fmla="val 13793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054096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Log：只能重現問題、猜測原因、無法審計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594360"/>
            <a:ext cx="4160520" cy="4224528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Log Example (JSON)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37176" y="704088"/>
            <a:ext cx="390448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"2024-03-15T14:32:01.234Z",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"level": "ERROR",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"service": "payment-service",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"v2.1.3",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"trace_id": "abc-123-xyz",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"span_id": "def-456",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"user_id": "user-789",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"event": "payment_failed",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"amount": 299.99,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"currency": "USD",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"error": "insufficient_funds",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"message": "Payment processing failed",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"duration_ms": 145,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"env": "production"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一條好的 Log 應該能讓你在不重現問題的情況下，100% 知道發生了什麼 — 包含 trace_id 讓你串聯 Traces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結構化日誌 vs 非結構化日誌：機器可讀才是關鍵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非結構化日誌（人能讀，機器難讀）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text logs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0233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User login failed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john@example.com bad pwd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14:33:45 INFO  request GET /api/users 200 145ms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14:33:52 WARN  high memory: 89%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難以 grep: 要猜 format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無法自動解析 email / latency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Kibana/Loki 無法做 aggregation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結構化日誌（JSON / key=value）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JSON logs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8289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{"time":"2024-03-15T14:32:01Z","level":"ERROR",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"event":"login_failed","user":"john@ex.com",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"reason":"wrong_password","attempt":3}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{"time":"2024-03-15T14:33:45Z","level":"INFO",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"method":"GET","path":"/api/users","status":200,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"duration_ms":145}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{"time":"2024-03-15T14:33:52Z","level":"WARN",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"event":"high_memory","usage_pct":89}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機器自動解析 — ES/Loki 自動建 index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 aggregation: avg(duration_ms) by user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可直接 join with Traces (trace_id)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730752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5844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48" y="35844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structlog example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2336" y="3840480"/>
            <a:ext cx="833932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= structlog.get_logger()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log.error('login_failed', user=email, reason='wrong_password', attempt=3, trace_id=get_trace_id())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等級設計：什麼情況記哪個等級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108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21792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217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DEBUG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621792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詳細的除錯資訊 — 只在開發/除錯時開啟，Production 通常關閉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92240" y="62179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query: SELECT * FROM users WHERE id=123 (12ms)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335024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33502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1335024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正常運作的重要事件 — 服務啟動、請求成功、狀態變更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1335024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payment_completed: order_id=456, amount=299.99, user=john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048256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04825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2048256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不預期但已處理的情況 — 不影響主流程，但值得注意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048256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retry_attempt: db_connection failed, retry 2/3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76148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276148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發生了不預期的錯誤 — 需要人工介入，影響部分功能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761488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payment_failed: stripe_api_error, user_id=789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747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CRITICAL/FATAL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347472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系統無法繼續運作 — 整個服務掛掉，立即需要人工處理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3474720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db_connection_pool_exhausted: all 100 connections in use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422452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2452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常見錯誤：ERROR catch Exception (全部 catch 都用 ERROR) | INFO 記太多（噪音）| DEBUG 留在 Prod（效能問題）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892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937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Production 建議：INFO 以上，關鍵路徑才用 DEBUG | 每條 Log 都問：On-Call 人員看到這條能做什麼决定？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ID：如何在分散式系統中串聯日誌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Correlation 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0241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用戶說結帳失敗，你要查哪裡？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2984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api-service: ERROR payment failed user_id=123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73736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 timeout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1762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1762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connection timeout 14:32:01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670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這三條 Log 是同一個請求嗎？🤷 完全無法確定！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使用 Trace ID 作為 Correlation ID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102412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02412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api-svc: ERROR payment_failed trace_id="abc-123"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1627632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62763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stripe_timeout trace_id="abc-123"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2231136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231136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conn_timeout trace_id="abc-123"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28529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用 trace_id='abc-123' 一次查到所有相關 Log！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218688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07238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307238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FastAPI + OpenTelemetry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2336" y="3328416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@app.middleware('http')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logging_middleware(request, call_next):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 = trace.get_current_span()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trace_id = format(span.get_span_context().trace_id, '032x')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所有後續 log 自動帶 trace_id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structlog.contextvars.bind_contextvars(trace_id=trace_id)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await call_next(request)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6817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727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使用 OpenTelemetry trace_id 作為 Correlation ID — 一個 ID 串聯 Logs + Traces + Metrics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單體服務 Log 收集：從 stdout 到集中儲存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2/10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192024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49808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2880" y="804672"/>
            <a:ext cx="14630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37744" y="132039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9456" y="154899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print()/logging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stdout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691640" y="1399032"/>
            <a:ext cx="36576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4" name="Text 12"/>
          <p:cNvSpPr/>
          <p:nvPr/>
        </p:nvSpPr>
        <p:spPr>
          <a:xfrm>
            <a:off x="164592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148840" y="749808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30363D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48840" y="804672"/>
            <a:ext cx="13716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203704" y="132039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File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185416" y="154899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/var/log/app.log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journald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566160" y="1399032"/>
            <a:ext cx="36576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352044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023360" y="749808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023360" y="804672"/>
            <a:ext cx="1554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78224" y="132039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59936" y="154899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23560" y="1399032"/>
            <a:ext cx="36576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557784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80760" y="749808"/>
            <a:ext cx="15087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80760" y="804672"/>
            <a:ext cx="150876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35624" y="1320394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Loki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1548994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635240" y="1399032"/>
            <a:ext cx="36576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758952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092440" y="749808"/>
            <a:ext cx="960120" cy="109728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092440" y="804672"/>
            <a:ext cx="96012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147304" y="1320394"/>
            <a:ext cx="850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129016" y="1548994"/>
            <a:ext cx="886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50208" y="1920240"/>
            <a:ext cx="1691640" cy="777240"/>
          </a:xfrm>
          <a:prstGeom prst="roundRect">
            <a:avLst>
              <a:gd name="adj" fmla="val 11765"/>
            </a:avLst>
          </a:prstGeom>
          <a:ln w="12700">
            <a:solidFill>
              <a:srgbClr val="D2992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041648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59936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023360" y="202996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(Elastic)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23360" y="2331720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(CNCF)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023360" y="263347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(Rust)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2852928"/>
            <a:ext cx="8595360" cy="1444752"/>
          </a:xfrm>
          <a:prstGeom prst="roundRect">
            <a:avLst>
              <a:gd name="adj" fmla="val 632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706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706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Fluentd config (single server)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962656"/>
            <a:ext cx="833932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&lt;source&gt;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tail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/var/log/app/*.log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pos_file /var/log/fluentd/app.pos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&lt;parse&gt;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@type json  # structured JSON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&lt;/parse&gt;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app.logs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&lt;/source&gt;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&lt;match app.logs&gt;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elasticsearch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elasticsearch.logging.svc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9200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logstash_format true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&lt;/match&gt;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4074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4531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單體服務 Log 收集很簡單 — 輸出到 stdout，OS 幫你存到 journald，Filebeat/Fluentd 收集傳送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分散式架構 Log 收集：Container 環境的挑戰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 Log 的四大挑戰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容器是短暫的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435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重啟/刪除 → Log 消失！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不能再 tail log file 了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9105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Pod 分散在多個 Node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8105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個 Pod × 10 台 Node = Log 到處都是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 kubectl logs 是不可能的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139696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15798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Log 量爆炸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個微服務 × 1000 req/s = TB 級 Log/天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需要取樣與過濾策略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06624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72491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無法關聯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2944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同一個請求跨多 service 的 Log 分散各處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Correlation ID 無從查起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66928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566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解決方案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005840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2412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Log 輸出到 stdout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12435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不寫檔案，K8s 自動保存 stdout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就能看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1572768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59105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/ Sidecar 收集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1810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Node 跑一個 log collector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自動收集所有 Container 的 stdout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2139696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157984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加入 Metadata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377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自動附加：pod name, namespace, node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label → 方便過濾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2706624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72491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集中儲存 + 搜尋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2944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/ Loki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全文搜尋 + 結構化查詢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K8s 的 Container stdout → /var/log/containers/*.log 會自動保存 — Log collector 只需要 tail 這個目錄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收集架構：Sidecar 模式 vs DaemonSet 模式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112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594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DaemonSet 模式（推薦）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3931920" cy="3108960"/>
          </a:xfrm>
          <a:prstGeom prst="roundRect">
            <a:avLst>
              <a:gd name="adj" fmla="val 2941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Node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14300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1430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114300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1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16642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642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9808" y="16642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9808" y="218541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3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27632" y="1078992"/>
            <a:ext cx="1024128" cy="2011680"/>
          </a:xfrm>
          <a:prstGeom prst="roundRect">
            <a:avLst>
              <a:gd name="adj" fmla="val 5357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27632" y="1115568"/>
            <a:ext cx="10241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containers/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*.log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536192" y="1527048"/>
            <a:ext cx="7315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536192" y="2029968"/>
            <a:ext cx="7315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536192" y="2532888"/>
            <a:ext cx="7315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880360" y="150876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880360" y="1563624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935224" y="1984248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(DaemonSet)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916936" y="2212848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per Node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670048" y="2167128"/>
            <a:ext cx="18288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65760" y="41330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1個 Collector = 1個Node | 輕量 | 所有Pod共享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Sidecar 模式（特殊場景）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63440" y="914400"/>
            <a:ext cx="4114800" cy="1691640"/>
          </a:xfrm>
          <a:prstGeom prst="roundRect">
            <a:avLst>
              <a:gd name="adj" fmla="val 5405"/>
            </a:avLst>
          </a:prstGeom>
          <a:ln w="12700">
            <a:solidFill>
              <a:srgbClr val="D2992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75488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316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(with sidecar)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84632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3892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62940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🔄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92200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63640" y="1764792"/>
            <a:ext cx="347472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1" name="Text 39"/>
          <p:cNvSpPr/>
          <p:nvPr/>
        </p:nvSpPr>
        <p:spPr>
          <a:xfrm>
            <a:off x="6217920" y="1609344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2743200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2743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適合：需要每個 App 有自己的 Log 格式設定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63440" y="3182112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0600" y="318211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適合：寫到檔案的 legacy app（不改 code）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63440" y="3621024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362102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缺點：每個 Pod 多一個 sidecar container（資源×2）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63440" y="4059936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405993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缺點：設定複雜，難統一管理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K8s 環境 99% 用 DaemonSet (Fluent Bit) — 除非你有 legacy app 無法改為 stdout 輸出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/ EFK Stack：業界最廣泛的 Log 集中管理方案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874520" cy="2468880"/>
          </a:xfrm>
          <a:prstGeom prst="roundRect">
            <a:avLst>
              <a:gd name="adj" fmla="val 4878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74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92608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170432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5216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170432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16152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💳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2608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5216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70432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16152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121408" y="1965960"/>
            <a:ext cx="43891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075688" y="1810512"/>
            <a:ext cx="5303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33472" y="713232"/>
            <a:ext cx="1417320" cy="23957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633472" y="768096"/>
            <a:ext cx="1417320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688336" y="1959011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70048" y="2187611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tail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parse 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add k8s meta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filter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133088" y="1984248"/>
            <a:ext cx="41148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087368" y="18288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645152" y="114300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645152" y="1197864"/>
            <a:ext cx="12344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00016" y="1856232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681728" y="2084832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(optional)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transform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enrich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route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943600" y="1920240"/>
            <a:ext cx="347472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382512" y="713232"/>
            <a:ext cx="1389888" cy="239572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382512" y="768096"/>
            <a:ext cx="1389888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437376" y="1959011"/>
            <a:ext cx="1280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419088" y="2187611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index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full-text 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retention ILM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shard/replica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45552" y="1984248"/>
            <a:ext cx="320040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8229600" y="1188720"/>
            <a:ext cx="822960" cy="138988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229600" y="1243584"/>
            <a:ext cx="82296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284464" y="1911462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266176" y="214006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74320" y="3310128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EFK Stack = E + Fluentd + K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11480" y="36027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 → Fluentd（更輕量，CNCF 標準）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34840" y="3310128"/>
            <a:ext cx="443484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0" y="3346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Grafana Loki：輕量替代方案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0" y="36027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標籤式索引（不全文索引）→ 儲存成本降低 90%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ELK 強大但貴 (Elasticsearch 儲存成本高)；Loki 便宜但搜尋較弱 — 根據預算和查詢需求選擇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 Fluent Bit：Log 收集管線的瑞士刀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114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896112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INPUT 插件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(file)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36192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36192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15184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15184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(TCP)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94176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94176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78608" y="1883664"/>
            <a:ext cx="9144" cy="128016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65760" y="1938528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19568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FILTER 插件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(JSON/regex)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536192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36192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 (filter)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15184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15184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record_transformer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94176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94176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kubernetes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78608" y="2907792"/>
            <a:ext cx="9144" cy="128016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65760" y="2962656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9809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OUTPUT 插件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elasticsearch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36192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36192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kafka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15184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15184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 (archive)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94176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94176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 (debug)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57800" y="685800"/>
            <a:ext cx="3520440" cy="1353312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57800" y="685800"/>
            <a:ext cx="3520440" cy="27432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9240" y="6858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  |  Fluentd  |  Fluent Bit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7800" y="987552"/>
            <a:ext cx="3520440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49240" y="9875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語言  |  Ruby  |  C/Rust (輕量)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7800" y="1243584"/>
            <a:ext cx="3520440" cy="25603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49240" y="12435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  |  ~40MB  |  ~650KB(!)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7800" y="1499616"/>
            <a:ext cx="3520440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49240" y="14996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 |  1000+  |  70+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7800" y="1755648"/>
            <a:ext cx="3520440" cy="25603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49240" y="17556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  |  伺服器  |  K8s DaemonSet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7800" y="2148840"/>
            <a:ext cx="3520440" cy="2697480"/>
          </a:xfrm>
          <a:prstGeom prst="roundRect">
            <a:avLst>
              <a:gd name="adj" fmla="val 339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349240" y="20025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67528" y="20025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fluent-bit.conf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85816" y="2258568"/>
            <a:ext cx="3264408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[SERVICE]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Flush        5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Log_Level    info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[INPUT]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tail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        /var/log/containers/*.log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Parser       docker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         kube.*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kubernetes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kube.*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Merge_Log    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Keep_Log     Off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[OUTPUT]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        elasticsearch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        9200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Index        k8s-logs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4320" y="49377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983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Fluent Bit 在 K8s 中幾乎是標準配置 — 只佔 650KB 記憶體，每個 Node 跑一個，自動收集所有 Container Log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Loki：像 Prometheus 一樣管理 Log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vs Loki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005840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索引方式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005840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00584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Elasticsearch: 全文索引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儲存成本高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1005840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100584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Loki: 只索引 Labels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儲存成本低 90%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536192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搜尋能力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1536192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153619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全文任意搜尋，非常強大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1536192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1536192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LogQL 查詢，需要有 label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066544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2066544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206654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(需另外安裝)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560320" y="2066544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06040" y="2066544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原生支援（一站式）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" y="2596896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14400" y="2596896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259689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昂貴（EC2 + Disk 開銷大）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0" y="2596896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2596896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💚 便宜（S3 儲存 log data）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182112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2186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 Loki：有 Grafana 生態、成本敏感、logs 主要按 service/namespace 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1480" y="352958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 ES：需要複雜全文搜尋、已有 Elastic 投資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658368"/>
            <a:ext cx="4160520" cy="2084832"/>
          </a:xfrm>
          <a:prstGeom prst="roundRect">
            <a:avLst>
              <a:gd name="adj" fmla="val 438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1888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 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37176" y="768096"/>
            <a:ext cx="39044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過濾特定 service 的 ERROR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{service="payment-svc", env="prod"}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"ERROR"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解析 JSON + 過濾欄位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{service="api"}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status &gt;= 500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計算每分鐘錯誤率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sum(rate({service="api"} |= "ERROR" [1m]))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by (service)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用 trace_id 找關聯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{namespace="prod"}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`trace_id="abc-123-xyz"`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09160" y="2852928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09160" y="2907792"/>
            <a:ext cx="19202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64024" y="3423514"/>
            <a:ext cx="18105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Promtail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45736" y="3652114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(DaemonSet)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675120" y="3447288"/>
            <a:ext cx="384048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0" name="Text 38"/>
          <p:cNvSpPr/>
          <p:nvPr/>
        </p:nvSpPr>
        <p:spPr>
          <a:xfrm>
            <a:off x="6629400" y="329184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32320" y="2852928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132320" y="2907792"/>
            <a:ext cx="18288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7187184" y="3423514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168896" y="365211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index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S3 storage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Loki 的理念：只索引 Label（service, env, pod），log 正文存 S3 — 省錢但犧牲全文搜尋彈性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取樣策略：在完整性與成本之間取得平衡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2A1F00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典型系統的 Log 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9144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微服務 × 1000 req/s × avg 3 log lines × 500 bytes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11887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75 MB/s = 6.5 TB/天 = 195 TB/月 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91109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100% 記錄 Errors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1488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ERROR 都保留 — 不取樣，成本可接受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0545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N% 取樣 Success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274320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正常請求只記 10% — 統計上夠用，省 90% 成本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06324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9981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Head-based 取樣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3375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請求開始時決定：如果 trace 被取樣，所有 log 都保留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69417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Dynamic 取樣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93192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新型 trace_id 全保留，重複 pattern 降取樣率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保留政策 (ILM)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6012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0058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Hot (0-7天)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12618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儲存、快速查詢 | 最近發生的問題 | 最貴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161848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16642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Warm (7-30天)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19202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 儲存 | 本月事件 | 中等成本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27685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3225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Cold (30天以上)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25786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S3/GCS 物件儲存 | 合規/審計用 | 極低成本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971800"/>
            <a:ext cx="4160520" cy="1572768"/>
          </a:xfrm>
          <a:prstGeom prst="roundRect">
            <a:avLst>
              <a:gd name="adj" fmla="val 58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825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2825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 Bit sampling filter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37176" y="3081528"/>
            <a:ext cx="390448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grep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只保留 ERROR 和 WARN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Regex    level ^(ERROR|WARN)$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sampling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每 10 條 INFO 保留 1 條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     0.1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Condition  level INFO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 成本控制三原則：ERROR 100% 保留、INFO 取樣 10%、DEBUG 不進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查詢實戰：從混亂到洞察只需幾個指令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Query Examples (Kibana KQL / Loki LogQL)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Kibana KQL =====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找特定服務最近 1 小時的 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service:"payment-svc" AND level:ERROR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找特定用戶的所有操作（審計）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user_id:"user-789" AND @timestamp:[now-24h TO now]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找高延遲請求 (&gt;1000ms)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service:"api" AND duration_ms:&gt;1000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找特定 trace 的所有相關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trace_id:"abc-123-xyz"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Grafana LogQL (Loki) =====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統計每個服務的錯誤率 (per minute)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by(service)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rate({namespace="prod"} |= "ERROR" [1m])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從 JSON log 提取欄位並過濾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{service="order-svc"}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duration_ms &gt; 500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line_format "{{.user_id}} took {{.duration_ms}}ms"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7. 找最慢的 API endpoints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topk(10,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 by(path) (rate({service="api"}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json | duration_ms &gt; 0 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在 Grafana 裡可以從 Metrics 告警直接跳到 Logs（Explore），再跳到 Traces — 這就是可觀測性的魔力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Log-based 告警：讓 Log 不只是被動紀錄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118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告警三種模式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60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關鍵字告警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2161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出現 CRITICAL / OOM / panic → 立即告警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6184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頻率告警 (Rate Alert)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18745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1分鐘內 ERROR &gt; 50 條 → 代表事情不對勁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231136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276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缺失告警 (Absence Alert)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5328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健康檢查 log 5分鐘沒出現 → 服務可能掛了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90779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76148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76148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Kibana Alert Rule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2336" y="3017520"/>
            <a:ext cx="385876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Kibana Watcher (JSON)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index: k8s-logs-*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level:ERROR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count &gt; 100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time_window: 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schedule: every 1m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action: slack_webhook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Loki Ruler Alert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37176" y="795528"/>
            <a:ext cx="39044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prometheus-style alert from 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log-alerts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rules: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expr: |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sum(rate({namespace='prod'}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|= 'ERROR' 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/ sum(rate({namespace='prod'} 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&gt; 0.05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labels: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severity: critical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annotations: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summary: 'Error rate &gt;5%'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2944368"/>
            <a:ext cx="4160520" cy="1444752"/>
          </a:xfrm>
          <a:prstGeom prst="roundRect">
            <a:avLst>
              <a:gd name="adj" fmla="val 5063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980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從 Log 提取 Metrics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291840"/>
            <a:ext cx="38404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可以從 Log 即時計算 Metrics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不需要在 App 裡多加 Prometheus client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適合 Legacy App 快速補 Metrics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455371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5994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 告警比 Metric 告警更 context-rich — 告警訊息可以直接附上 log 內容，On-Call 一眼看到問題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工程最佳實踐：讓 Log 真正有價值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Log 的正確做法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統一輸出到 stdout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容器化環境的標準，K8s/Docker 自動處理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使用結構化 JSON 格式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機器可讀，Kibana/Loki 可自動解析欄位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每條 Log 帶 trace_id / correlation_id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串聯跨服務請求，一個 ID 追蹤所有相關 Log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包含必要 Context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user_id, service, version, env, duration_ms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Error Log 帶完整 Stack Trace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不要只記 message，要記 exception chain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設定合理的 Log Level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INFO+，DEBUG 只在需要時開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的錯誤做法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敏感資料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密碼、信用卡號、個人資料 — GDPR 違規！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DEBUG Log 留在 Production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效能問題 + 儲存成本爆炸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catch(e) { logger.error('error') }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context，無法除錯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6344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但不看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0060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收集了大量 Log 但沒有 Dashboard 或告警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 request 都 Log 全部欄位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0060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無取樣策略 → 儲存成本 ×10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66344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只記錯誤，不記成功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0060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無法分析正常流量 pattern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最重要的 Log 原則：每一條 Log 都要有讀的人 — 寫了沒人看的 Log 是浪費，告警和 Dashboard 才是目的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小結：從事件記錄到系統洞察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120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structlog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output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54480" y="1325880"/>
            <a:ext cx="320040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508760" y="1170432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96596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6596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2082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0253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collect+parse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37560" y="1325880"/>
            <a:ext cx="347472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291840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76472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776472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31336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13048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index+store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148072" y="1325880"/>
            <a:ext cx="347472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102352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586984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586984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41848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23560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958584" y="1325880"/>
            <a:ext cx="347472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6912864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397496" y="658368"/>
            <a:ext cx="160020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97496" y="713232"/>
            <a:ext cx="160020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52360" y="1276502"/>
            <a:ext cx="14904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434072" y="1505102"/>
            <a:ext cx="1527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resolve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結構化優先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格式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機器可讀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trace_id 必帶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包含足夠 context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不含敏感資料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5468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4612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收集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6440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環境標準: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 DaemonSet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自動收集 stdout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自動加 k8s metadata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 Loki 或 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3504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648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成本控制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4476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→ 100% 保留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→ 10% 取樣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→ 不進 Prod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Hot/Warm/Cold 分層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比 ES 省 90%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分散式追蹤：為什麼我們需要它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4/10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384048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問題：在分散式系統中，一個請求會經過 10 個以上的服務 — 每一跳都是潛在的故障點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8288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774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用戶請求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41732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41732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7218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5176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65176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70662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閘道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88620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88620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94106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認證服務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12064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17550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訂單服務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5508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40994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庫存服務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58952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8952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64438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353312" y="1581912"/>
            <a:ext cx="246888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2587752" y="1581912"/>
            <a:ext cx="246888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3822192" y="1581912"/>
            <a:ext cx="246888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5056632" y="1581912"/>
            <a:ext cx="246888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291072" y="1581912"/>
            <a:ext cx="246888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7525512" y="1581912"/>
            <a:ext cx="246888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274320" y="2212848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221284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沒有追蹤時：可以看到錯誤，但完全無法追蹤請求經過了哪些服務、哪一步出了問題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無法知道哪個服務造成延遲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172968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10128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錯誤傳播路徑不明確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71616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08776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跨服務的因果關係無法重建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74320" y="343814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48386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一個請求失敗了，但你不知道是哪個服務出了問題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分散式追蹤 = 為每個請求建立完整的旅程地圖，讓問題無所遁形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Trace、Span 與 Context 核心概念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49224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78992" y="6858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101498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一次請求的完整旅程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1289304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具有唯一的 traceId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跨越所有服務邊界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984248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039112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078992" y="20756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78992" y="240487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一個工作單元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679192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spanId + parentSpanId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開始/結束時間 + 標籤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374136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429000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🏷️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78992" y="346557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78992" y="3794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跨服務邊界傳遞的元資料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78992" y="4069080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隨 HTTP 標頭傳播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W3C Trace Context 標準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34840" y="594360"/>
            <a:ext cx="4434840" cy="4224528"/>
          </a:xfrm>
          <a:prstGeom prst="roundRect">
            <a:avLst>
              <a:gd name="adj" fmla="val 2165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65836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父子 Span 階層示意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17720" y="1024128"/>
            <a:ext cx="4160520" cy="365760"/>
          </a:xfrm>
          <a:prstGeom prst="roundRect">
            <a:avLst>
              <a:gd name="adj" fmla="val 15000"/>
            </a:avLst>
          </a:prstGeom>
          <a:solidFill>
            <a:srgbClr val="2D1F5E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1024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HTTP POST /checkout  (traceId: abc-123)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83480" y="1389888"/>
            <a:ext cx="9144" cy="22860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66360" y="1618488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57800" y="161848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認證服務驗證 Token  (parentId: root)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166360" y="2057400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57800" y="205740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訂單服務建立訂單  (parentId: root)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2404872"/>
            <a:ext cx="9144" cy="22860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23560" y="2633472"/>
            <a:ext cx="288036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15000" y="2633472"/>
            <a:ext cx="2697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DB INSERT orders  (parentId: order-span)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66360" y="3063240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06324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庫存服務扣減庫存  (parentId: root)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17720" y="3767328"/>
            <a:ext cx="4160520" cy="9144"/>
          </a:xfrm>
          <a:prstGeom prst="line">
            <a:avLst/>
          </a:prstGeom>
          <a:noFill/>
          <a:ln w="9525">
            <a:solidFill>
              <a:srgbClr val="30363D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617720" y="3822192"/>
            <a:ext cx="4160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時間軸 →    總耗時: 245ms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每個 Span 記錄開始時間、結束時間、狀態碼、標籤屬性，完整還原請求在各服務的執行細節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上下文傳遞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Trace Context 標準  ·  HTTP 標頭：traceparent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170432"/>
            <a:ext cx="8595360" cy="1005840"/>
          </a:xfrm>
          <a:prstGeom prst="roundRect">
            <a:avLst>
              <a:gd name="adj" fmla="val 909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02412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02412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 標頭格式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80160"/>
            <a:ext cx="83393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00-{traceId(32位元組十六進位)}-{parentSpanId(16位元組)}-{flags(01=取樣,00=不取樣)}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實際範例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00-4bf92f3577b34da6a3ce929d0e0e4736-00f067aa0ba902b7-01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2860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跨服務傳遞流程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33472"/>
            <a:ext cx="2560320" cy="1389888"/>
          </a:xfrm>
          <a:prstGeom prst="roundRect">
            <a:avLst>
              <a:gd name="adj" fmla="val 6579"/>
            </a:avLst>
          </a:prstGeom>
          <a:solidFill>
            <a:srgbClr val="1A1F2E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 A（呼叫方）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980944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建立根 Span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設定 traceparent 標頭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發送 HTTP 請求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34640" y="3282696"/>
            <a:ext cx="128016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788920" y="276148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請求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traceparent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60520" y="2633472"/>
            <a:ext cx="2560320" cy="1389888"/>
          </a:xfrm>
          <a:prstGeom prst="roundRect">
            <a:avLst>
              <a:gd name="adj" fmla="val 6579"/>
            </a:avLst>
          </a:prstGeom>
          <a:solidFill>
            <a:srgbClr val="1A2E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51960" y="26700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 B（被呼叫方）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43400" y="2980944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讀取 traceparent 標頭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解析 traceId + parentSpanId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建立子 Span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720840" y="3282696"/>
            <a:ext cx="109728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6675120" y="2761488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繼續傳遞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到服務 C...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74320" y="41605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 Context 格式（OTel Collector 可互相轉換）：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1C2128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B3 (Zipkin)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78308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1C2128"/>
          </a:solidFill>
          <a:ln w="9525">
            <a:solidFill>
              <a:srgbClr val="23863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8308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9184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1C2128"/>
          </a:solidFill>
          <a:ln w="9525">
            <a:solidFill>
              <a:srgbClr val="E362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X-Ray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73659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7823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traceparent 標頭必須在每個 HTTP/gRPC 呼叫中轉發 — 任何一層忘記轉發就會造成 Trace 斷鏈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單體式 vs 分散式架構的追蹤差異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單體式架構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分散式架構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042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" y="1106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1097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" y="1078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Process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7512" y="1271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所有程式碼在同一記憶體空間執行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1609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1673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1664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7512" y="1645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函式呼叫追蹤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7512" y="1837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直接攔截函式呼叫堆疊（call stack）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1762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24028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23113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21284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易於埋點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" y="240487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SDK 覆蓋整個應用程式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274320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7472" y="28072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7980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" y="277977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線性 Trace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67512" y="297180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請求路徑單一，Span 階層簡單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1042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28032" y="1106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1097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48072" y="1078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每個服務需獨立埋點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148072" y="1271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多語言、多框架，維護成本高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1609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8032" y="1673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28032" y="1664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48072" y="1645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非同步間隙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148072" y="1837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訊息佇列（Kafka/RabbitMQ）難以關聯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54880" y="21762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28032" y="224028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223113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48072" y="221284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HTTP/gRPC 邊界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148072" y="240487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必須靠 Context Propagation 串聯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754880" y="274320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8032" y="28072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28032" y="27980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148072" y="277977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時鐘偏移問題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148072" y="297180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不同機器時間不同步，Span 順序可能錯誤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分散式追蹤本質上比單體式複雜 10 倍 — 但 OpenTelemetry 大幅降低了實作門檻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OpenTelemetry：業界標準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2D1F5E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= 廠商中立的可觀測性標準   ·   CNCF 畢業專案   ·   三大支柱全部涵蓋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" y="1170432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0896" y="178308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埋點介面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在程式碼中建立 Span 的 API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18541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語言無關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Go / Java / JS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10896" y="258775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僅定義介面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548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不含實作邏輯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10896" y="299008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程式碼中的呼叫點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tracer.start_span()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13944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39440" y="1170432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3944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356006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67456" y="178308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的實作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處理 Span 生命週期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18541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批次處理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合併多個 Span 再傳送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67456" y="258775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取樣決策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43204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頭部取樣邏輯在此實作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67456" y="299008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204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導出器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43204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傳送到 Collector 或後端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09600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96000" y="1170432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9600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651662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224016" y="178308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接收遙測資料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38860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 OTLP / Jaeger / Zipkin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24016" y="218541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資料處理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38860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過濾、豐富化、轉換格式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224016" y="258775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8860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多目標導出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8860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同時送往多個後端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224016" y="299008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8860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解耦應用程式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38860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後端變更不需修改程式碼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74320" y="4480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涵蓋可觀測性三大支柱：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2918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918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Traces  請求追蹤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1206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1206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  指標監控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9494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494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  日誌記錄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架構解析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126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管線架構：接收器  →  處理器  →  導出器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2560320" cy="2423160"/>
          </a:xfrm>
          <a:prstGeom prst="roundRect">
            <a:avLst>
              <a:gd name="adj" fmla="val 3774"/>
            </a:avLst>
          </a:prstGeom>
          <a:ln w="12700">
            <a:solidFill>
              <a:srgbClr val="58A6F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32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接收器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20040" y="1170432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17043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(gRPC/HTTP)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1700784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" y="170078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231136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" y="223113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Zipkin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761488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04" y="276148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0" y="2221992"/>
            <a:ext cx="45720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3200400" y="1024128"/>
            <a:ext cx="2743200" cy="2423160"/>
          </a:xfrm>
          <a:prstGeom prst="roundRect">
            <a:avLst>
              <a:gd name="adj" fmla="val 3774"/>
            </a:avLst>
          </a:prstGeom>
          <a:ln w="12700">
            <a:solidFill>
              <a:srgbClr val="6E40C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29184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012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處理器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37560" y="1170432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92424" y="11704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批次處理 (batch)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37560" y="1700784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92424" y="17007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屬性豐富化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2231136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92424" y="223113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過濾/取樣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2761488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92424" y="276148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資源偵測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943600" y="2221992"/>
            <a:ext cx="45720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400800" y="1024128"/>
            <a:ext cx="2560320" cy="2423160"/>
          </a:xfrm>
          <a:prstGeom prst="roundRect">
            <a:avLst>
              <a:gd name="adj" fmla="val 3774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49224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052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導出器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537960" y="1170432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92824" y="117043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37960" y="1700784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92824" y="170078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Zipkin / OTLP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537960" y="2231136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92824" y="223113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537960" y="2761488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92824" y="276148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其他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1440" y="896112"/>
            <a:ext cx="8961120" cy="2670048"/>
          </a:xfrm>
          <a:prstGeom prst="roundRect">
            <a:avLst>
              <a:gd name="adj" fmla="val 3425"/>
            </a:avLst>
          </a:prstGeom>
          <a:ln w="12700">
            <a:solidFill>
              <a:srgbClr val="30363D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18288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3730752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5844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5844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otel-collector-config.yaml（概要）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840480"/>
            <a:ext cx="833932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receivers: {otlp: {protocols: {grpc: {endpoint: 0.0.0.0:4317}}}}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processors: {batch: {timeout: 1s, send_batch_size: 1024}}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exporters: {jaeger: {endpoint: jaeger:14250}, prometheus: {endpoint: 0.0.0.0:8889}}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 {pipelines: {traces: {receivers: [otlp], processors: [batch], exporters: [jaeger]}}}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Collector 讓應用程式與後端解耦 — 後端從 Jaeger 換成 Tempo 不需修改任何應用程式程式碼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Jaeger：分散式追蹤後端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127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由 Uber 開源，目前為 CNCF 畢業專案，是最廣泛使用的分散式追蹤後端之一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432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918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jaeger-agent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089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Sidecar / 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UDP port 6831/6832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60604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60604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66090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jaeger-collector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驗證、索引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儲存至後端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99262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jaeger-query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7433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搜尋 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 + gRPC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26948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26948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2434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UI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0605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視覺化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Gantt 時序圖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377440" y="1572768"/>
            <a:ext cx="22860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4709160" y="1572768"/>
            <a:ext cx="22860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7040880" y="1572768"/>
            <a:ext cx="22860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27432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儲存後端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3736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9222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20624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6110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Cassandra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67512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998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Badger (本地)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91840" y="2148840"/>
            <a:ext cx="9144" cy="109728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274320" y="2816352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10160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281635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依 service / operation / tag 搜尋 Trace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2816352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73168" y="281635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比較多個 Trace，找出效能退化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3346704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334670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服務相依圖（Service Graph）自動生成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63440" y="3346704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73168" y="334670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尾部取樣：Jaeger Collector 支援 remote sampling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5262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Jaeger UI 提供 Gantt 時序圖，可直觀看到每個 Span 的耗時佔比，快速定位瓶頸服務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取樣策略：頭部取樣 vs 尾部取樣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38912"/>
          </a:xfrm>
          <a:prstGeom prst="roundRect">
            <a:avLst>
              <a:gd name="adj" fmla="val 1666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問題：無法追蹤 100% 的請求 — 資料量太大、儲存成本太高、效能開銷過大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133856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13385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頭部取樣（Head-based Sampling）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133856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64608" y="113385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尾部取樣（Tail-based Sampling）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15727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" y="1636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627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" y="160934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在請求開始時決定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67512" y="180136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以固定機率立即判斷是否追蹤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09397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" y="215798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214884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" y="213055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實作簡單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7512" y="232257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內建支援，不需額外基礎設施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61518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67919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67004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65176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低開銷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84378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未選到的請求不產生 Span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13639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320040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319125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317296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可能漏掉偶發錯誤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36499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低機率錯誤可能被取樣率過濾掉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15727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28032" y="1636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28032" y="1627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48072" y="160934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完成後才決定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148072" y="180136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等待整個 Trace 結束再做判斷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209397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28032" y="215798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214884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148072" y="213055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保留所有錯誤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148072" y="232257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保留含錯誤的 Trace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54880" y="261518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28032" y="267919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28032" y="267004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148072" y="265176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需要暫存所有 Trace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148072" y="284378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需要大量記憶體緩衝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54880" y="313639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28032" y="320040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28032" y="319125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48072" y="317296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架構複雜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148072" y="336499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Tail Sampling 設定複雜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4048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機率取樣: 隨機取樣 X% 的請求（最常見）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172968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82696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速率限制: 每秒最多 N 個 Trace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71616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81344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規則取樣: 錯誤 = 100%，正常 = 1%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生產環境通常使用 1-10% 頭部取樣，搭配尾部取樣保留所有錯誤 Trace — 兼顧成本與可觀測性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OTel SDK 埋點實作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129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Span 建立（Python / FastAPI）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896112"/>
            <a:ext cx="4206240" cy="3310128"/>
          </a:xfrm>
          <a:prstGeom prst="roundRect">
            <a:avLst>
              <a:gd name="adj" fmla="val 276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OTel SDK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1005840"/>
            <a:ext cx="3950208" cy="3127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 import TracerProvider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opentelemetry.sdk.trace.export import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opentelemetry.exporter.otlp.proto.grpc.trace_exporter import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OTLPSpanExporter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初始化 TracerProvider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= TracerProvider()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provider.add_span_processor(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BatchSpanProcessor(OTLPSpanExporter())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trace.set_tracer_provider(provider)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取得 Tracer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建立手動 Span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tracer.start_as_current_span("處理訂單")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加入自訂屬性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span.set_attribute("order.id", order_id)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span.set_attribute("order.amount", amount)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process(order)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span.add_event("訂單處理完成")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594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自動埋點（不需修改業務程式碼）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896112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自動埋點（零侵入）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82896" y="1005840"/>
            <a:ext cx="385876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安裝自動埋點套件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opentelemetry-instrument-fastapi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opentelemetry-instrument-sqlalchemy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opentelemetry-instrument-requests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啟動時自動注入（不修改程式碼）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opentelemetry-instrument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--traces_exporter otlp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uvicorn app:main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54880" y="272491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自動埋點支援的框架與函式庫：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161B22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01752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FastAPI / Flask / Django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338328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161B22"/>
          </a:solidFill>
          <a:ln w="9525">
            <a:solidFill>
              <a:srgbClr val="E362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338328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SQLAlchemy / psycopg2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374904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161B22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74904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requests / httpx / aiohttp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411480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411480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Redis / Celery / Kafka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45262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自動埋點適合快速上手，手動埋點適合業務關鍵路徑 — 兩者可以混用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中的追蹤部署方式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130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DaemonSet 模式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每個節點部署一個 OTel Collector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502920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85800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161B22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45920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45920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92608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優點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應用程式發送到 localhost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92608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節點共享，資源效率高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2608" y="3127248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適合大型叢集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2608" y="3511296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缺點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92608" y="3749040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節點故障時該節點資料遺失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4023360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Collector 升級影響整節點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172968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64408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Sidecar 模式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82696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Pod 附帶一個 Collector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93008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3493008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75888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161B22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75888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36008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36008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282696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優點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82696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完整隔離，互不影響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82696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可針對 Pod 設定取樣策略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82696" y="32186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缺點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82696" y="345643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資源開銷大（每 Pod 多一個容器）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282696" y="373075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大量 Pod 時維護複雜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144768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36208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中央 Collector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54496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所有應用程式發送到統一部署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464808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464808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647688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161B22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47688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607808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07808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254496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優點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254496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最易管理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254496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統一設定與監控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254496" y="32186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缺點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254496" y="345643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單點故障風險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254496" y="373075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網路開銷稍高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254496" y="400507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流量大時需水平擴展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74320" y="4892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937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大多數團隊從 DaemonSet 開始，需要強隔離時才改用 Sidecar — 中央 Collector 適合小型叢集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 自動追蹤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131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Istio / Envoy：在 Proxy 層自動注入追蹤標頭 — 應用程式不需要 SDK 埋點即可獲得基本追蹤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43000"/>
            <a:ext cx="3200400" cy="1645920"/>
          </a:xfrm>
          <a:prstGeom prst="roundRect">
            <a:avLst>
              <a:gd name="adj" fmla="val 5556"/>
            </a:avLst>
          </a:prstGeom>
          <a:ln w="12700">
            <a:solidFill>
              <a:srgbClr val="58A6FF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74320" y="9966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9966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5760" y="1325880"/>
            <a:ext cx="1280160" cy="1234440"/>
          </a:xfrm>
          <a:prstGeom prst="roundRect">
            <a:avLst>
              <a:gd name="adj" fmla="val 5926"/>
            </a:avLst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3716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應用程式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(無 SDK)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28800" y="1325880"/>
            <a:ext cx="1417320" cy="1234440"/>
          </a:xfrm>
          <a:prstGeom prst="roundRect">
            <a:avLst>
              <a:gd name="adj" fmla="val 5926"/>
            </a:avLst>
          </a:prstGeom>
          <a:solidFill>
            <a:srgbClr val="2D1F5E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0" y="13716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(Sidecar)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45920" y="1947672"/>
            <a:ext cx="18288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383280" y="1947672"/>
            <a:ext cx="91440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3337560" y="1792224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注入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0" y="1143000"/>
            <a:ext cx="3200400" cy="1645920"/>
          </a:xfrm>
          <a:prstGeom prst="roundRect">
            <a:avLst>
              <a:gd name="adj" fmla="val 5556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89120" y="9966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07408" y="9966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B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80560" y="1325880"/>
            <a:ext cx="1417320" cy="1234440"/>
          </a:xfrm>
          <a:prstGeom prst="roundRect">
            <a:avLst>
              <a:gd name="adj" fmla="val 5926"/>
            </a:avLst>
          </a:prstGeom>
          <a:solidFill>
            <a:srgbClr val="2D1F5E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13716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(讀取標頭)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897880" y="1947672"/>
            <a:ext cx="18288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6080760" y="1325880"/>
            <a:ext cx="1280160" cy="1234440"/>
          </a:xfrm>
          <a:prstGeom prst="roundRect">
            <a:avLst>
              <a:gd name="adj" fmla="val 5926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80760" y="13716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應用程式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(無 SDK)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98080" y="1947672"/>
            <a:ext cx="91440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7452360" y="1792224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29443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Service Mesh 追蹤的重要限制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3291840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329184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應用程式仍需轉發 traceparent 等標頭，否則父子 Span 連結會斷掉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72160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372160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無法看到應用程式內部邏輯 — 只能看到服務間的 HTTP/gRPC 呼叫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4151376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4151376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資料庫查詢、快取呼叫等內部 Span 需要 SDK 才能追蹤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Service Mesh 追蹤是很好的起點，但最終仍需 OTel SDK 才能獲得完整的業務層追蹤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Trace、Log、Metrics 三者整合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132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2D1F5E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關鍵：將 traceId 和 spanId 注入每條日誌記錄 — 三個 Pillar 透過 Correlation ID 互相串聯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7432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指標監控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0040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看到 error_rate 或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突然飆升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點擊進入 Grafana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172968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64408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/ Jaeger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64408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追蹤分析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10128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找到問題時段的 Trace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看到哪個 Span 耗時異常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點擊查看關聯 Log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44768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4768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36208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6208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日誌查詢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81928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根據 traceId 直接查詢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該次請求所有服務的日誌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精確定位錯誤行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08960" y="2496312"/>
            <a:ext cx="64008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3063240" y="2340864"/>
            <a:ext cx="155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TraceID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關聯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080760" y="2496312"/>
            <a:ext cx="64008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6035040" y="2340864"/>
            <a:ext cx="155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TraceID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關聯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3730752"/>
            <a:ext cx="8595360" cy="530352"/>
          </a:xfrm>
          <a:prstGeom prst="roundRect">
            <a:avLst>
              <a:gd name="adj" fmla="val 1379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7307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工作流程：Prometheus 看到異常 → Grafana Explore 找 Trace → Tempo 顯示 Span 詳情 → 點擊 TraceID 跳至 Loki 查詢相關日誌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Correlation ID 貫穿三個 Pillar 是可觀測性的核心能力 — Grafana 的 Explore 頁面可直接在三個資料源間跳轉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追蹤的成本與效能影響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133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14800" cy="1481328"/>
          </a:xfrm>
          <a:prstGeom prst="roundRect">
            <a:avLst>
              <a:gd name="adj" fmla="val 617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6583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SDK 效能開銷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969264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CPU：約 1-3% 額外用於埋點與序列化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122529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記憶體：每個 Span 約 1-5KB（含屬性、事件）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1481328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網路：批次處理後到 Collector 的傳輸量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1737360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延遲：非同步導出，對請求延遲影響 &lt; 1ms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594360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6583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儲存成本試算（100% 取樣）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969264"/>
            <a:ext cx="4114800" cy="960120"/>
          </a:xfrm>
          <a:prstGeom prst="roundRect">
            <a:avLst>
              <a:gd name="adj" fmla="val 952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822960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822960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每日資料量估算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82896" y="1078992"/>
            <a:ext cx="385876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每天 100 萬個請求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每請求 10 個 Span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每 Span 2 KB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每天 20 GB Trace 資料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24028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288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🔴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0350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取樣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0896" y="2852928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 20 GB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548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成本最高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0896" y="3255264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完整可觀測性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每個請求都可查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10896" y="3657600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適合：測試環境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548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不建議生產環境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13944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39440" y="224028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3944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🟡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6006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取樣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67456" y="285292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3204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 2 GB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43204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成本降低 90%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67456" y="325526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3204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可接受覆蓋率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43204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大多數問題可查到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267456" y="365760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3204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適合：一般業務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43204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最常見的選擇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09600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96000" y="224028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9600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🟢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51662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取樣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224016" y="285292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860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 200 MB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38860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成本最低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224016" y="325526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860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僅做趨勢分析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38860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個別問題難以查到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224016" y="365760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860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搭配尾部取樣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38860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保留錯誤 Trace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取樣率設計原則：正常請求低取樣 + 錯誤/高延遲請求 100% 保留 = 最佳成本效益比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常見追蹤反模式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134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667512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💣  追蹤不取樣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960120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取樣率 + 高流量 = 儲存爆炸、成本暴增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4048" y="1435608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453896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正確做法：設定合理取樣率，搭配尾部取樣保留錯誤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667512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缺少 Context Propagation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18888" y="960120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任何一層（Message Queue、Async Job）忘記傳遞 traceparent 就會造成 Trace 斷鏈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18888" y="1435608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1453896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正確做法：所有服務邊界都必須轉發追蹤標頭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075688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2148840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🙈  只追蹤正常路徑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" y="2441448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只在 try 區塊埋點，catch/error 路徑沒有 Span — 錯誤發生時無法追蹤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84048" y="2916936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2935224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正確做法：在 Span 中記錄異常 span.record_exception(e)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2075688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18888" y="2148840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不與日誌關聯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18888" y="2441448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單獨使用只能看到時序，看不到詳細錯誤訊息，無法深入除錯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18888" y="2916936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0328" y="2935224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正確做法：日誌中注入 trace_id 和 span_id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557016"/>
            <a:ext cx="8595360" cy="1353312"/>
          </a:xfrm>
          <a:prstGeom prst="roundRect">
            <a:avLst>
              <a:gd name="adj" fmla="val 675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3630168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廠商鎖定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4048" y="3922776"/>
            <a:ext cx="8375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直接使用 Jaeger SDK 或 Zipkin SDK 埋點，未來換後端需要大幅修改程式碼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84048" y="4398264"/>
            <a:ext cx="8375904" cy="411480"/>
          </a:xfrm>
          <a:prstGeom prst="roundRect">
            <a:avLst>
              <a:gd name="adj" fmla="val 11111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" y="4416552"/>
            <a:ext cx="8193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正確做法：永遠使用 OTel API/SDK，後端透過 Collector 抽象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追蹤系統的價值來自於完整性和關聯性 — 避免這些反模式可以讓追蹤效益最大化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追蹤章節總結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追蹤  · 135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跨服務邊界追蹤請求路徑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 + Span + Context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W3C traceparent 標準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解決分散式除錯難題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2316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42316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49631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怎麼做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1460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OTel SDK 自動/手動埋點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OTel Collector 路由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1460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Jaeger / Tempo 後端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1460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K8s DaemonSet 部署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64515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取樣策略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頭部取樣：低開銷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6344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尾部取樣：保留所有錯誤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66344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生產：1-10% + 錯誤全保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66344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成本控制的必要手段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72084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72084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79399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1228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TraceID 注入每條日誌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1228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Grafana Tempo + Loki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1228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三個 Pillar 互相串聯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1228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告警 → Trace → Log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4462272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46227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下一章節 PART 10：SRE 實踐 — 將 Traces + Metrics + Logs 整合到 SLO/SLI 體系中</a:t>
            </a:r>
            <a:endParaRPr lang="en-US" sz="11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三大支柱整合：Grafana Stack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136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Grafana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統一可觀測性介面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4447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Prometheus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1783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（指標）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Loki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（日誌）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14447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Tempo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83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（追蹤）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6656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AlertManager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（告警）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03120" y="1719072"/>
            <a:ext cx="137160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2057400" y="156362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03120" y="2907792"/>
            <a:ext cx="1371600" cy="9144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2057400" y="275234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669280" y="1719072"/>
            <a:ext cx="109728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5623560" y="156362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TraceQL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280" y="2907792"/>
            <a:ext cx="1097280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5623560" y="275234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74320" y="365760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5760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整合流程：點擊指標異常  →  找到 Trace  →  查看關聯日誌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Grafana Stack = Prometheus（指標）+ Loki（日誌）+ Tempo（追蹤）+ Grafana（介面）— 開源、廠商中立、完整整合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 → 事故 → 事後檢討 完整流程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137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28600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告警觸發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4320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規則觸發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508760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09928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55648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709928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路由通知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55648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 → PagerDuty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990088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191256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191256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認領處理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36976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值班工程師接受通知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471416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672584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72584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調查問題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18304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Grafana Dashboard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952744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6153912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9632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53912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緩解問題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9632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Hotfix 或回滾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434072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7635240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635240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事後檢討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680960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48小時內無責備審查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720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2分鐘</a:t>
            </a:r>
            <a:endParaRPr lang="en-US" sz="3400" dirty="0"/>
          </a:p>
        </p:txBody>
      </p:sp>
      <p:sp>
        <p:nvSpPr>
          <p:cNvPr id="40" name="Text 38"/>
          <p:cNvSpPr/>
          <p:nvPr/>
        </p:nvSpPr>
        <p:spPr>
          <a:xfrm>
            <a:off x="45720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平均偵測時間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9184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5分鐘</a:t>
            </a:r>
            <a:endParaRPr lang="en-US" sz="3400" dirty="0"/>
          </a:p>
        </p:txBody>
      </p:sp>
      <p:sp>
        <p:nvSpPr>
          <p:cNvPr id="44" name="Text 42"/>
          <p:cNvSpPr/>
          <p:nvPr/>
        </p:nvSpPr>
        <p:spPr>
          <a:xfrm>
            <a:off x="329184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29184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平均認領時間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3504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12648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30分鐘</a:t>
            </a:r>
            <a:endParaRPr lang="en-US" sz="3400" dirty="0"/>
          </a:p>
        </p:txBody>
      </p:sp>
      <p:sp>
        <p:nvSpPr>
          <p:cNvPr id="48" name="Text 46"/>
          <p:cNvSpPr/>
          <p:nvPr/>
        </p:nvSpPr>
        <p:spPr>
          <a:xfrm>
            <a:off x="612648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2648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平均恢復時間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" y="278892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788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告警觸發  →  通知到達  →  認領開始  →  問題定位  →  緩解生效  →  事後檢討完成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每個告警應該有明確的負責人、操作手冊，若影響生產環境必須在 48 小時內完成事後檢討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SLI、SLO、SLA 定義與差異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SLI（服務層級指標）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實際測量值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範例：請求成功率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目前值：99.95%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延遲：180ms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由真實流量計算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SLO（服務層級目標）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內部目標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目標：≥ 99.9% 成功率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由工程團隊設定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必須比 SLA 更嚴格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驅動錯誤預算政策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600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SLA（服務層級協議）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對客戶的合約承諾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承諾：≥ 99.5% 成功率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與客戶共同協議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違反即財務賠償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必須比 SLO 更寬鬆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078224"/>
            <a:ext cx="8595360" cy="274320"/>
          </a:xfrm>
          <a:prstGeom prst="roundRect">
            <a:avLst>
              <a:gd name="adj" fmla="val 2333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07822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核心原則：SLO 必須比 SLA 更嚴格 | SLI=99.95% → SLO=99.9% → SLA=99.5%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74320" y="462686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725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是你的內部目標，SLA 是你對客戶的承諾，永遠讓 SLO &gt; SLA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錯誤預算：可靠性工程的指南針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139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錯誤預算 = 1 − SLO  →  99.9% SLO = 0.1% 預算 ≈ 每月約 43.8 分鐘停機時間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本月預算消耗（範例：已使用 68%）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298448"/>
            <a:ext cx="8595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298448"/>
            <a:ext cx="5844845" cy="237744"/>
          </a:xfrm>
          <a:prstGeom prst="roundRect">
            <a:avLst>
              <a:gd name="adj" fmla="val 19231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298448"/>
            <a:ext cx="5844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700784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73736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預算充足（&lt; 50% 已使用）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1737360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自由部署 · 大膽實驗 · 積極推出功能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304288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340864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預算告急（50–90% 已使用）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2340864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放慢發版速度 · 調查可靠性問題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907792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44368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預算耗盡（≥ 100% 已使用）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2944368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凍結部署 · 進入事故模式 · SRE+開發全力提升可靠性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錯誤預算是產品與 SRE 之間的共同契約——預算耗盡時，可靠性優先於速度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工程師的職責範疇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可用性與可靠性保障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 SLO、追蹤 SLI、維持服務正常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容量規劃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預測成長、在超載前提前擴容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6245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264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173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399032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效能與效率優化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591056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優化延遲、吞吐量、資源使用率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6245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264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173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399032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變更管理（安全部署）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591056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安全部署、Feature Flag、Canary 發布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3055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19456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18541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16712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監控與告警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35915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Dashboard、調整告警、減少噪音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13055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19456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18541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16712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緊急事故應變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35915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值班輪替、事故指揮、操作手冊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547872"/>
            <a:ext cx="8595360" cy="402336"/>
          </a:xfrm>
          <a:prstGeom prst="roundRect">
            <a:avLst>
              <a:gd name="adj" fmla="val 18182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54787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50% 原則：SRE 花在瑣事（Toil）上的時間應少於 50%，其餘時間用於工程改進工作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SRE 不只是維運——而是將軟體工程應用於可靠性問題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Toil（瑣事）：什麼是 Toil，為何重要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Toil：手動 · 重複性 · 可自動化 · 與規模成正比增長 · 缺乏持久價值的工作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04241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0424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Toil 範例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104241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0424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非 Toil（工程價值）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1463040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" y="15270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5179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" y="1499616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SSH 到每台伺服器部署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83664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94767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93852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920240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票單驅動的容量調整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304288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3682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3591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340864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每次都要從頭撰寫操作手冊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2724912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7472" y="27889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27797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7512" y="2761488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手動重啟崩潰的 Pod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3145536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472" y="320954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7472" y="320040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" y="3182112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在環境之間複製貼上設定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1463040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82312" y="15270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82312" y="15179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02352" y="1499616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CI/CD 流水線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09160" y="1883664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82312" y="194767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82312" y="193852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02352" y="1920240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編寫自動擴縮容器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2304288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82312" y="23682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23591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02352" y="2340864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一次寫好自我修復的操作手冊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09160" y="2724912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82312" y="27889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82312" y="27797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102352" y="2761488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用健康檢查實作自動重啟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709160" y="3145536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782312" y="320954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82312" y="320040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02352" y="3182112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Terraform 基礎設施即代碼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526280"/>
            <a:ext cx="8595360" cy="256032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目標：自動化消除 Toil，將 Toil 時間維持在 50% 以下</a:t>
            </a:r>
            <a:endParaRPr lang="en-US" sz="9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值班設計原則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告警應可操作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每個告警都需要明確的應對步驟，否則就是噪音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��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針對症狀告警，而非原因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告警「用戶體驗到延遲」，而非「CPU 使用率高」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7160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356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264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0817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每個告警都需要操作手冊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0020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任何值班人員都能按照步驟處理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7160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356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264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0817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減少告警疲勞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0020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誤報太多會讓工程師忽視所有告警，摧毀團隊文化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48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2128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037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18541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值班輪替必須可持續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37744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輪替週期不能讓人筋疲力竭，需要足夠的備援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148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2128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037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18541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主值班 + 備援值班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37744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雙人模式確保重大事故有足夠支援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告警設計的黃金標準：每個告警在深夜觸發時，值班人員都知道確切要做什麼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操作手冊撰寫指南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= 處理特定告警的逐步操作指南 — 讓任何值班人員都能獨立處理，不只是專家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115568"/>
            <a:ext cx="8595360" cy="3246120"/>
          </a:xfrm>
          <a:prstGeom prst="roundRect">
            <a:avLst>
              <a:gd name="adj" fmla="val 2817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9692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9692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25296"/>
            <a:ext cx="8339328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Runbook: 高錯誤率告警 (high-error-rate)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告警說明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服務：payment-service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條件：error_rate &gt; 1% 持續 5 分鐘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影響範圍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用戶：無法完成結帳流程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調查步驟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查看 Grafana Dashboard: payment-service overview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確認是否特定端點出錯: /api/checkout vs /api/refund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查看 Loki 日誌: {service="payment"} |= "ERROR"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追蹤相關 Trace: 點擊 Grafana 中的 Exemplar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緩解步驟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若最近有部署 → 立即回滾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若 DB 連線異常 → 重啟 connection pool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若 Stripe API 異常 → 啟用降級模式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升級流程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 分鐘內未緩解 → 通知 Tech Lead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- 30 分鐘內未緩解 → 啟動 P1 事故流程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好的 Runbook 讓最資淺的值班人員也能處理——寫完後請找同事測試是否真的能照步驟操作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無責備事後檢討（Blameless Postmortem）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核心原則：檢討系統，不責怪個人 — 個人在有缺陷的系統中做出了合理的決定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42416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0972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時間軸重建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35331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按時間順序記錄事件發展，確立清晰的因果關係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042416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10972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根本原因分析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27448" y="135331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使用五個為什麼（5 Whys）逐層追問，找到系統性根因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792224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18470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影響範圍評估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1031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量化影響：受影響用戶數、持續時間、營收損失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17720" y="1792224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27448" y="18470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行動項目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27448" y="21031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具體、可追蹤的改善措施，指定負責人和截止日期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633472"/>
            <a:ext cx="85953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67919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Whys 範例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2944368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為何服務中斷？→ DB 連線耗盡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3136392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為何耗盡？→ 連線未正確釋放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3328416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為何未釋放？→ 缺少 finally 區塊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3520440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為何缺少？→ 沒有 code review checklist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3712464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改善：建立 code review checklist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2519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2976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SRE 文化：事後檢討是學習機會，不是懲罰工具——公開分享讓整個組織受益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可觀測性成熟度模型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7607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7607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6217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 級（危險）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62179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沒有監控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0" y="62179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從客戶投訴才知道故障，完全被動應對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17043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117043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21615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級（警告）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121615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基本指標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121615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CPU、記憶體監控，手動查看告警，無自動通知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76479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176479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8105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級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86000" y="181051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結構化日誌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0" y="181051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結構化日誌 + 基本 Dashboard，可搜尋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235915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235915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40487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級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286000" y="240487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240487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Tracing + Correlation ID，可跨服務追蹤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295351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295351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99923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級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299923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管理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0" y="299923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基於 SLO 的告警 + 錯誤預算管理，面向用戶體驗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54787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354787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5935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級（成功）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286000" y="359359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完整可觀測性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359359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 OTel、自動修復、AIOps 異常偵測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41788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224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大多數團隊在第 2-3 級——目標是第 4 級（SLO 驅動）；第 5 級是長期目標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可觀測性成本控制策略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146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可觀測性並非免費：儲存、運算、網路都有成本 — 目標是 5-10% 基礎設施成本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60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1124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1115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" y="1097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日誌取樣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7512" y="1289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生產環境不記錄所有 DEBUG 日誌，動態調整 Log Level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060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82312" y="1124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2312" y="1115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02352" y="1097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指標基數限制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02352" y="1289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避免高基數標籤（如 user_id），會讓 Prometheus 記憶體爆炸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179222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472" y="185623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184708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182880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追蹤取樣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" y="202082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典型為 1-10% 取樣率，對高流量路徑降低取樣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09160" y="179222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82312" y="185623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184708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02352" y="182880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資料保留策略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102352" y="202082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熱資料 7 天、溫資料 30 天、冷資料 1 年歸檔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320040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004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原則：可觀測性成本應佔基礎設施成本的 5-10%——超出代表設計有問題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6576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720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天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45720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熱資料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29184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天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329184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溫資料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03504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12648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年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612648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冷資料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2686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725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高基數（high cardinality）是 Prometheus 最大的成本陷阱——永遠不要用 user_id 作為 label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常見可觀測性反模式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147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對所有事情告警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告警疲勞讓工程師開始忽視所有告警，包括真正重要的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無結構的日誌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Grep 地獄——靠 grep 搜尋純文字日誌無法擴展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990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630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538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3560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泛濫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2763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 100 個 Dashboard 但沒人知道要看哪個，也沒人維護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990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630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538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3560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追蹤不取樣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2763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收集所有 Trace 導致儲存費用爆炸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203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267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58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240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SLO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432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無法客觀衡量可靠性，無法做基於數據的決策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203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267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58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240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只在生產環境做可觀測性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432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問題在開發階段就應該被發現，為時已晚代價最高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657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可觀測性反模式是累積債務——每一個都讓下次事故的 MTTR 增加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完整生態系概覽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5836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65836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65836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48132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48132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48132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SDK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230428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230428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230428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SDK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12724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312724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" y="312724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SDK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0" y="978408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828800" y="1801368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828800" y="2624328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1828800" y="3447288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331720" y="658368"/>
            <a:ext cx="2286000" cy="3456432"/>
          </a:xfrm>
          <a:prstGeom prst="roundRect">
            <a:avLst>
              <a:gd name="adj" fmla="val 4800"/>
            </a:avLst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31720" y="7498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331720" y="126187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166420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 · 處理 · 轉發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423160" y="19385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/ Metrics / Logs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23160" y="221284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多後端輸出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423160" y="248716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採樣 · 過濾 · 轉換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17720" y="1280160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617720" y="2743200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5074920" y="658368"/>
            <a:ext cx="1828800" cy="1664208"/>
          </a:xfrm>
          <a:prstGeom prst="roundRect">
            <a:avLst>
              <a:gd name="adj" fmla="val 5495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16636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8464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166360" y="914400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66360" y="91440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66360" y="1353312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66360" y="135331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66360" y="1792224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792224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Tempo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74920" y="2414016"/>
            <a:ext cx="1828800" cy="1700784"/>
          </a:xfrm>
          <a:prstGeom prst="roundRect">
            <a:avLst>
              <a:gd name="adj" fmla="val 5376"/>
            </a:avLst>
          </a:prstGeom>
          <a:ln w="12700">
            <a:solidFill>
              <a:srgbClr val="D2992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66360" y="226771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84648" y="226771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166360" y="2651760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66360" y="265176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166360" y="3090672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66360" y="309067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Relic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166360" y="3529584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66360" y="3529584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Honeycomb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995160" y="658368"/>
            <a:ext cx="1920240" cy="3456432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7498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廠商可移植性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040880" y="1133856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切換後端無需修改應用程式碼——只需更換 Collector 輸出設定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OTel 是可觀測性的 USB 標準——一次埋點，切換任何後端，保護你的投資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可觀測性上線前檢查清單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149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指標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所有服務定義 RED 指標（Rate、Errors、Duration）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結構化日誌、含 Correlation ID、無敏感資料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41732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813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721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5389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4592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 已整合、取樣設定完成、Context Propagation 正常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41732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813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721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5389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4592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SLO 都有告警，每個告警都有 Runbook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24028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30428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9514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27685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46888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服務總覽 Dashboard、依賴關係圖、SLO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24028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30428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9514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27685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46888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值班輪替表已設定、升級策略已定義、事後檢討流程已建立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上線前清單不是形式——每一個缺失都是下次凌晨三點事故無法快速解決的原因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課程完結：Cloud Native 完整旅程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150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30352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恭喜完成 Cloud Native 完整課程！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9768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🖥️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單一伺服器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984248" y="1463040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112264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12264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57984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水平擴展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57984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多台伺服器+負載平衡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666744" y="1463040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794760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840480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40480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一致環境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349240" y="1463040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477256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77256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522976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22976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雲端原生原則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031736" y="1463040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7159752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59752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205472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205472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流水線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29768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5488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可靠性工程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1984248" y="2542032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2112264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12264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157984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57984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Prometheus+Grafana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66744" y="2542032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3794760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94760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3840480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840480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ELK+Loki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49240" y="2542032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5477256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77256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522976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522976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OTel+Jaeger+Tempo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031736" y="2542032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7159752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0F2A1A"/>
          </a:solidFill>
          <a:ln w="2286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59752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205472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完整可觀測性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205472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三大支柱統一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274320" y="309067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你現在具備了在真實世界部署與運維分散式系統的能力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28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8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150 張投影片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514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14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10 大主題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800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全端到 SRE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086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86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Cloud Native 就緒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下一步：Kubernetes · Service Mesh（Istio）· GitOps（Argo CD / Flux）· FinOps · Platform Engineering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2026-03-16T23:24:30Z</dcterms:created>
  <dcterms:modified xsi:type="dcterms:W3CDTF">2026-03-16T23:24:30Z</dcterms:modified>
</cp:coreProperties>
</file>