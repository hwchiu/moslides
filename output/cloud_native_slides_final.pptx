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274320" cy="2743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2179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COURSE  · 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系統部署實務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從單體部署到 Cloud Native 的完整演進之路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碩士課程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00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小時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9748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頁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0" y="274320"/>
            <a:ext cx="0" cy="448056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59436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91440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914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93208" y="685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97840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單機 → 三層架構 → 分散式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955280" y="90525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90525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低複雜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5448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8745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93208" y="1645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3208" y="19385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 / Session / DB Replica / Cache / MQ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55280" y="186537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86537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高複雜 🔺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251460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8346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8346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93208" y="26060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93208" y="28986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· Compose · Registry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955280" y="282549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5280" y="282549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複雜↓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63440" y="347472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0600" y="379476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93208" y="35661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+ DevOps + SRE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93208" y="385876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工程最佳實踐 · CI/CD · 可觀測性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955280" y="378561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55280" y="378561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工程紀律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1828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58A6FF">
                    <a:alpha val="2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914400" y="2560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課程大綱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完整演進之路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046720" y="91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50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61872"/>
            <a:ext cx="91440" cy="530352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1732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4173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3167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15179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1417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 → 三層架構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185623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1856232"/>
            <a:ext cx="91440" cy="530352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201168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01168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191109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211226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0" y="2011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/ Session / DB 擴展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45059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450592"/>
            <a:ext cx="91440" cy="530352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6060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6060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25054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4400" y="270662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2606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 / Registry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04495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044952"/>
            <a:ext cx="91440" cy="53035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320040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200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4400" y="309981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4400" y="330098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0" y="32004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應用設計原則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3931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639312"/>
            <a:ext cx="91440" cy="5303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" y="3794760"/>
            <a:ext cx="219456" cy="219456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4400" y="389534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整合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69280" y="3794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GitOps · 部署策略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42336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4233672"/>
            <a:ext cx="91440" cy="530352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4389120"/>
            <a:ext cx="219456" cy="219456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43891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14400" y="42885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14400" y="44897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閉環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6928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 · SRE · Post-mortem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起點：最簡單的部署架構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1/10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96012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03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HOST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188720"/>
            <a:ext cx="11430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43584"/>
            <a:ext cx="11430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20624" y="1687982"/>
            <a:ext cx="10332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02336" y="1916582"/>
            <a:ext cx="10698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572768" y="1709928"/>
            <a:ext cx="54864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1527048" y="155448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HTTP/80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94560" y="822960"/>
            <a:ext cx="6400800" cy="2103120"/>
          </a:xfrm>
          <a:prstGeom prst="roundRect">
            <a:avLst>
              <a:gd name="adj" fmla="val 4348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86000" y="6766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04288" y="6766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468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468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523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505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78808" y="1783080"/>
            <a:ext cx="512064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133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54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09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91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64808" y="1783080"/>
            <a:ext cx="512064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419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40880" y="1051560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040880" y="1106424"/>
            <a:ext cx="137160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95744" y="1812341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077456" y="2040941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194560" y="265176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同一台機器共享：CPU / RAM / Disk / Network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部署超簡單，一台搞定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幾分鐘內可完成部署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≈ Prod，除錯方便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log 在同一處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單點故障 (SPOF)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任一進程掛掉，整個服務停止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無法水平擴展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流量增加只能換更大的機器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HTTP Request 的完整旅程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233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瀏覽器輸入 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0312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15798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3969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解析 IP 位址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4048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9534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7705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57784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7784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63270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1441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31520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7006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5177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344168" y="1463040"/>
            <a:ext cx="694944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129844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Query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081528" y="1463040"/>
            <a:ext cx="694944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03580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:80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18888" y="1463040"/>
            <a:ext cx="694944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477316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 Pass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56248" y="1463040"/>
            <a:ext cx="694944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651052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280160" y="2606040"/>
            <a:ext cx="6035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1828800" y="24505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HTTP Response (JSON)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292608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035808"/>
            <a:ext cx="672998" cy="201168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55264"/>
            <a:ext cx="672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~5ms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38758" y="3035808"/>
            <a:ext cx="1009498" cy="2011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8758" y="3255264"/>
            <a:ext cx="10094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~20ms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048256" y="3035808"/>
            <a:ext cx="1261872" cy="201168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48256" y="3255264"/>
            <a:ext cx="1261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~40ms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310128" y="3035808"/>
            <a:ext cx="2103120" cy="20116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10128" y="32552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~80ms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413248" y="3035808"/>
            <a:ext cx="3364992" cy="2011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13248" y="3255264"/>
            <a:ext cx="3364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— 通常是瓶頸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~200ms+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74320" y="35478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593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在單機架構中，所有步驟共用同一組資源 — 任何一步過載，全部都跟著慢下來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第一步擴展：分離資料庫 Server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05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7160" y="137160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7160" y="1426464"/>
            <a:ext cx="731520" cy="3364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2024" y="1751990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73736" y="198059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029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868680" y="167335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6304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55448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app-server-01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82880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82880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88366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6537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+ Backend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+ FastAPI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1828800"/>
            <a:ext cx="82296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709160" y="167335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:5432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6928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E36209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76072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E362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7900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db-server-01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03504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08990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7161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 :5432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専用機器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資料獨立備份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機器可獨立 snapshot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可重啟不影響資料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分離職責，故障範圍縮小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網路延遲增加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同主機 IPC → 跨機器 TCP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仍然是單點故障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或 DB 任一掛掉，服務中斷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三層架構：前端 + 後端 + 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1097280" cy="128016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740664"/>
            <a:ext cx="10972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" y="1351483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35608" y="1463040"/>
            <a:ext cx="420624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1389888" y="1307592"/>
            <a:ext cx="5120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HTTP/443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2024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92024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97510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5681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server-01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538728" y="1508760"/>
            <a:ext cx="457200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349300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06908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06908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0565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87568" y="1508760"/>
            <a:ext cx="4572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564184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1792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27278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5449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92024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/ 反向代理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6908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業務邏輯 / API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資料持久化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職責分離，各自獨立擴展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前後端可以分別 Scale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技術棧靈活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各層可選用最適合的技術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部署順序問題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→ Backend → Frontend，順序錯誤就失敗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 repo 的版本必須匹配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三層架構的真實挑戰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💣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部署順序地雷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必須先啟動 DB，再啟動 Backend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再啟動 Frontend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順序錯一個 → 服務全掛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9204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前端 v2.1 依賴後端 API v3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後端 v3 依賴 DB Schema v5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任一版本不對齊 → 整個掛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1148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環境差異問題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開發: Mac OS + brew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正式: Ubuntu 20.04 + apt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⛔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89204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前提條件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9204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 儲存在本機 → 無法多機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本機快取 → 各機器資料不同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本機寫檔 → 資料只在一台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如何找出系統瓶頸？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🔍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74320" y="26060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找瓶頸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566160" y="68580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685800"/>
            <a:ext cx="73152" cy="658368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77724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60520" y="74066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飽和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60520" y="99669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請求越來越慢 | 工具: top, htop, Prometheus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46304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1463040"/>
            <a:ext cx="73152" cy="658368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55448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160520" y="151790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記憶體不足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60520" y="177393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OOM kills | 工具: free -m, memory_usage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224028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2240280"/>
            <a:ext cx="73152" cy="6583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233172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💿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160520" y="229514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磁碟 I/O 瓶頸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60520" y="255117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DB 查詢慢 | 工具: iostat, pg_stat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301752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017520"/>
            <a:ext cx="73152" cy="6583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310896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160520" y="307238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網路頻寬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60520" y="332841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大檔案傳輸慢 | 工具: iftop, netstat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66160" y="379476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6160" y="3794760"/>
            <a:ext cx="73152" cy="658368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388620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160520" y="384962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慢查詢 (最常見)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160520" y="410565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API P99 高 | 工具: EXPLAIN ANALYZE, slow_log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先量測再優化 — 沒有量測數據就動手，等於猜測。Profile first, optimize second.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何時需要開始思考 Scale？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70%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 5 分鐘以上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不是偶發 spike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&gt; 1s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29184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尾端延遲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使用者已感受到卡頓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&gt; 0.1%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12648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錯誤率超過閾值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或 timeout 增加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2727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42616"/>
            <a:ext cx="82296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常見錯誤：過早 Scale — 先從程式優化開始 (索引、快取、查詢)，不要一有問題就加機器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先做這些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加索引 (最快、最便宜)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引入 Redis 快取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優化 N+1 查詢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49884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CDN 靜態資源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再考慮 Scale Out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確認瓶頸真的是機器不足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應用必須先設計成 Stateless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 vs Scale Out：兩種擴展策略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Scale Up（垂直擴展）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106424"/>
            <a:ext cx="8229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1479499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" y="1708099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vCPU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258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96012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645920" y="1014984"/>
            <a:ext cx="10058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00784" y="1483157"/>
            <a:ext cx="8961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82496" y="1711757"/>
            <a:ext cx="932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vCPU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974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834640" y="822960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877824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1464869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71216" y="1693469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vCPU 💸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0" y="868680"/>
            <a:ext cx="320040" cy="1097280"/>
          </a:xfrm>
          <a:prstGeom prst="roundRect">
            <a:avLst>
              <a:gd name="adj" fmla="val 14286"/>
            </a:avLst>
          </a:prstGeom>
          <a:ln w="12700">
            <a:solidFill>
              <a:srgbClr val="F85149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096512" y="8046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不需改程式碼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直接升級機器規格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費用指數成長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高階機器貴、且仍是單點故障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747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751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物理上限存在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停機才能升級，有天花板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Scale Out（水平擴展）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37760" y="10058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005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217920" y="82296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3640" y="82296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10528" y="82296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60720" y="1024128"/>
            <a:ext cx="457200" cy="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6217920" y="137160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137160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10528" y="137160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760720" y="1572768"/>
            <a:ext cx="457200" cy="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6217920" y="192024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63640" y="192024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510528" y="192024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760720" y="2121408"/>
            <a:ext cx="457200" cy="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75488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2803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2803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14807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線性成本增長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14807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用小機器組成艦隊，彈性高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75488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無停機擴容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動態加減節點，應對流量高峰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前提：應用必須 Stateless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Session、本機快取、本機寫檔 → 都要重新設計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設計：Scale Out 的先決條件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Stateful — 無法 Scale Out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062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44168" y="1673352"/>
            <a:ext cx="3657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76479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76479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1965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834640" y="86868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34640" y="92354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89504" y="122529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834640" y="1691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174650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204825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87752" y="1298448"/>
            <a:ext cx="246888" cy="-13716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2587752" y="1417320"/>
            <a:ext cx="246888" cy="50292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" y="251460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找不到 Session → 被登出！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存在本機記憶體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必須用 Sticky Session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一台掛掉，使用者全部登出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Stateless — 可自由 Scale Out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90118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824728" y="1673352"/>
            <a:ext cx="3657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24535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24535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30021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78040" y="822960"/>
            <a:ext cx="1508760" cy="1600200"/>
          </a:xfrm>
          <a:prstGeom prst="roundRect">
            <a:avLst>
              <a:gd name="adj" fmla="val 606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269480" y="9601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0" y="9601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62088" y="9601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269480" y="14173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14173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62088" y="14173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068312" y="1353312"/>
            <a:ext cx="201168" cy="-14630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7068312" y="1435608"/>
            <a:ext cx="201168" cy="201168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7589520" y="256032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589520" y="261518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644384" y="298825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626096" y="321685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Store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29600" y="1371600"/>
            <a:ext cx="0" cy="1188720"/>
          </a:xfrm>
          <a:prstGeom prst="line">
            <a:avLst/>
          </a:prstGeom>
          <a:noFill/>
          <a:ln w="12700">
            <a:solidFill>
              <a:srgbClr val="6E40C9"/>
            </a:solidFill>
            <a:prstDash val="dash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75488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2803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14807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集中存入 Redis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75488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 Server 都能處理任意請求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可自由分配，Server 可隨時加減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85876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922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913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89534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其他需注意：本機快取、本機寫檔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408736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任何「狀態」都要外部化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小結：架構演進路線圖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單機部署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設定簡單，快速啟動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SPOF 單點故障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不可 Scale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2803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分離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資料與應用分開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獨立備份與優化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仍舊 2 個 SPOF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職責分離清楚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技術棧彈性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版本相依複雜化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82803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準備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必須 Stateless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準備好了嗎？→ Part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0" y="4828032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 2: Scale Out 的挑戰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Balancer：流量分發的核心元件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13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7724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77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77724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28016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801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28016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178308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178308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80160" y="95097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1280160" y="145389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280160" y="195681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554480" y="1005840"/>
            <a:ext cx="137160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554480" y="1060704"/>
            <a:ext cx="13716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9344" y="1719072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91056" y="1947672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Robin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Least Conn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37160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124712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24712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112264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12264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Hash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099816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99816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0" y="548640"/>
            <a:ext cx="1828800" cy="2578608"/>
          </a:xfrm>
          <a:prstGeom prst="roundRect">
            <a:avLst>
              <a:gd name="adj" fmla="val 5000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291840" y="402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10128" y="402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GROUP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337560" y="658368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337560" y="713232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3392424" y="1000719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374136" y="1229319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37560" y="1371600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37560" y="1426464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92424" y="1713951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374136" y="1942551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337560" y="2084832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337560" y="2139696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392424" y="2427183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74136" y="2655783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971800" y="950976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2971800" y="1664208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2971800" y="2377440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5577840" y="118872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577840" y="1243584"/>
            <a:ext cx="155448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5632704" y="1711757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614416" y="1940357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Primary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46320" y="950976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846320" y="1664208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846320" y="2377440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流量均勻分散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避免單一節點過載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高可用性 (HA)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一台掛掉，LB 自動排除，服務不中斷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同一使用者可能被派到不同 Server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本身也需要 HA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掛掉 → 整個服務掛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的陷阱：Session 狀態問題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Session 黏性問題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105156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63040" y="1051560"/>
            <a:ext cx="9144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55648" y="1051560"/>
            <a:ext cx="5852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371600" y="1325880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514600" y="96012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96012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A  💾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23160" y="1252728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2514600" y="173736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73736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23160" y="2029968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320040" y="2514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→ Server B → 找不到 Session → 被登出！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502920"/>
            <a:ext cx="0" cy="448056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三種解決方案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0058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0972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JWT Token（無狀態）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14081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Token存Client，Server無狀態 | 推薦 REST API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19659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0574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集中 Session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236829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Session集中存Redis，所有Server共用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292608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0175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Sticky Session（不推薦⚠️）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LB固定綁定IP | 失去Scale Out彈性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現代架構首選 JWT + Redis 的組合 — 讓 Server 真正 Stateless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資料庫的擴展：Read Replica 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15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2011680" cy="228600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6576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11480" y="9144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" y="91440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40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192024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920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" y="192024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1225296"/>
            <a:ext cx="71323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2286000" y="106984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331720" y="1956816"/>
            <a:ext cx="713232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286000" y="180136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73152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08960" y="786384"/>
            <a:ext cx="164592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163824" y="1444752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145536" y="1673352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Only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00600" y="1325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→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1554480"/>
            <a:ext cx="22860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5074920" y="594360"/>
            <a:ext cx="1920240" cy="2423160"/>
          </a:xfrm>
          <a:prstGeom prst="roundRect">
            <a:avLst>
              <a:gd name="adj" fmla="val 4762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1663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846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REPLICAS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212080" y="86868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04688" y="86868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2120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578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046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12080" y="196596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57800" y="19659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504688" y="196596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00600" y="109728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4800600" y="164592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4800600" y="219456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274320" y="29260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非同步複製 (async) — 可能有微小延遲 (Replication Lag)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讀取效能大幅提升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操作是 Read，Replica 分流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專注寫入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效能不受 Read 影響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資料可能落後 Primary 數毫秒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不解決 Write 瓶頸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高頻寫入仍然是 Primary 的問題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 Caching 策略：從外到內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A7F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CDN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61288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(JS/CSS/圖片)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天/週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63624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Cloudflare, CloudFront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65960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→ 不碰後端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68296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~60-80%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3944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3944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3944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56006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快取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67456" y="116128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204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回應快取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3204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秒/分鐘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67456" y="156362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儲存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6596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Redis, Memcached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6829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~30-50%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9600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600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9600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51662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In-Process 快取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24016" y="116128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860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超熱資料 (config/常數)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8860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秒級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224016" y="156362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不可跨 Server 共用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96596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需特別處理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236829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~10-20%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快取失效 (Cache Invalidation) 是分散式系統中最難的問題之一 — 想清楚 TTL 再設計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訊息佇列：非同步解耦的利器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同步呼叫鏈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69164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8424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1752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324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012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280160" y="1444752"/>
            <a:ext cx="36576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123444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06040" y="1444752"/>
            <a:ext cx="36576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56032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" y="1920240"/>
            <a:ext cx="4023360" cy="475488"/>
          </a:xfrm>
          <a:prstGeom prst="roundRect">
            <a:avLst>
              <a:gd name="adj" fmla="val 13462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192024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任一步驟慢 → 全部等待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任一步驟失敗 → 整個 Request 失敗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0040" y="248716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總延遲 = 所有步驟之和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2743200"/>
            <a:ext cx="914400" cy="201168"/>
          </a:xfrm>
          <a:prstGeom prst="rect">
            <a:avLst/>
          </a:prstGeom>
          <a:solidFill>
            <a:srgbClr val="238636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34440" y="2743200"/>
            <a:ext cx="1097280" cy="201168"/>
          </a:xfrm>
          <a:prstGeom prst="rect">
            <a:avLst/>
          </a:prstGeom>
          <a:solidFill>
            <a:srgbClr val="D29922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31720" y="2743200"/>
            <a:ext cx="1280160" cy="201168"/>
          </a:xfrm>
          <a:prstGeom prst="rect">
            <a:avLst/>
          </a:prstGeom>
          <a:solidFill>
            <a:srgbClr val="F85149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訊息佇列（非同步）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4632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90118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8289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Service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72200" y="1325880"/>
            <a:ext cx="5486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126480" y="1170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766560" y="91440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766560" y="969264"/>
            <a:ext cx="11887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821424" y="134233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803136" y="157093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RabbitMQ/Kafka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001000" y="11155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8229600" y="8686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22208" y="8686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01000" y="15727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8229600" y="13258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75320" y="13258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522208" y="13258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001000" y="20299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8229600" y="17830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7532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📊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522208" y="17830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743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訂單→通知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657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非同步寄信  ·  用戶無需等待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461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削峰填谷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3375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瞬間大量請求  ·  Queue緩衝消化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2179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93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服務解耦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093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各服務獨立Scale  ·  互不影響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完整分散式架構：你現在需要維運什麼？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9/10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864108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18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720" y="71323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68680" y="62179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62179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(1000+)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☁️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70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20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🛡️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13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554480" y="98755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45720" y="122529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68680" y="1133856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113385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1288" y="1133856"/>
            <a:ext cx="1499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(HA Pair)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149047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822960" y="154533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1F6FEB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4400" y="139903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1F6F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139903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×3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1440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0700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96596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1168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5856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554480" y="208483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822960" y="213969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914400" y="199339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" y="199339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×3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1440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0700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965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11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58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108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54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401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29768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4340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📋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9028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554480" y="267919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868680" y="2825496"/>
            <a:ext cx="12801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161288" y="2825496"/>
            <a:ext cx="950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(W)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240280" y="2944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replication →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06324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10896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35584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5196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9768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4456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44068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73328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126480" y="6400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你在維運的機器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217920" y="1005840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1005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CDN/WAF/LB ×3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21040" y="10058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6217920" y="1481328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1F6FE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55080" y="148132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Frontend+Backend ×6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21040" y="1481328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6217920" y="1956816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E3620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55080" y="195681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Primary+Replicas ×4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21040" y="1956816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6217920" y="2432304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55080" y="24323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Redis+RabbitMQ ×2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321040" y="2432304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6126480" y="294436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26480" y="2944368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台機器</a:t>
            </a:r>
            <a:endParaRPr lang="en-US" sz="2000" dirty="0"/>
          </a:p>
        </p:txBody>
      </p:sp>
      <p:sp>
        <p:nvSpPr>
          <p:cNvPr id="79" name="Shape 77"/>
          <p:cNvSpPr/>
          <p:nvPr/>
        </p:nvSpPr>
        <p:spPr>
          <a:xfrm>
            <a:off x="274320" y="340156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3447288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每台機器設定各不相同、環境飄移 — 部署靠手動 SSH，每次都是一場冒險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7132320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32320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626096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626096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設定漂移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8119872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119872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部署惡夢：維運複雜度爆炸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Dev: Mac + Python 3.9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Staging: Ubuntu + Python 3.8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Prod: CentOS + Python 3.6 (!!)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9496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15台機器逐一SSH更新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更新中失敗 → 版本不一致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需要停機維護窗口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每次部署都提心吊膽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設定管理混亂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DB密碼寫死在程式碼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各機器設定微妙不同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沒有版本控管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新人入職需一週搞懂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9204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🤯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39496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Dev/Prod 落差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3776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Dev本機 vs 15台Prod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3776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本機測試通過 → Prod爆炸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「It works on my machine」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除錯難度 ×10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小結：問題累積，需要新思維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20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347472"/>
          </a:xfrm>
          <a:prstGeom prst="roundRect">
            <a:avLst>
              <a:gd name="adj" fmla="val 13158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94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594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解決了什麼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5943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帶來的代價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6012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Load Balancer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834640" y="96012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流量分散、高可用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96012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1307592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307592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Redis Session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34640" y="130759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實現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130759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本身要 HA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655064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655064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Read Replica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165506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讀取效能提升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165506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002536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002536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Cache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34640" y="200253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效能大幅提升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2002536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快取失效複雜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350008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50008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Message Queue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235000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非同步解耦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60720" y="2350008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最終一致性問題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269748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69748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分散式架構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26974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高可用、可擴展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269748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維運 15+ 台機器！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0" y="621792"/>
            <a:ext cx="19202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6217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10/10 🔴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3200400"/>
            <a:ext cx="8595360" cy="731520"/>
          </a:xfrm>
          <a:prstGeom prst="roundRect">
            <a:avLst>
              <a:gd name="adj" fmla="val 10000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這樣下去不行了！15 台機器各自獨立設定 — 部署一次靠手動 SSH，版本飄移是常態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4041648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416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Part 3 預告：Container 技術如何把這一切簡化 — 統一打包、環境一致、秒級部署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是什麼？解決什麼問題？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21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005840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424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Dev (Mac)  —  Python 3.9 + brew Postgres 14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12984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brew install 所有依賴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810512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8470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Staging (Ubuntu 20.04)  —  Python 3.8 + apt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1031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套件版本與 Dev 不一致，偶爾出現神秘錯誤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15184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517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Prod (CentOS 7)  —  Python 3.6 (!!) + yum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系統內建 Python，幾乎無法升級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42900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4564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「在我這裡可以跑啊！」— 版本地獄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使用 Container 之後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960120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8138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8138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74336" y="1069848"/>
            <a:ext cx="157276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66560" y="1627632"/>
            <a:ext cx="45720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720840" y="14721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315200" y="960120"/>
            <a:ext cx="1417320" cy="164592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15200" y="1014984"/>
            <a:ext cx="141732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370064" y="1815998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51776" y="2044598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(不可變快照)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→ 任何主機都能執行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4632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Server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17220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Server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9808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006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54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554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Dev=Staging=Prod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722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270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秒級啟動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270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VM 分鐘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5438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986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版本控管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5986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= 可回滾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把「應用 + 所有依賴」打包成一個不可變的 Image — 在哪裡跑都一樣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vs Container：架構深度對比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Virtual Machine (VM)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67712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7712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67712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67712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67712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7712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🔲 Hypervisor (VMware/KVM)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分鐘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4592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4592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GB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718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強 (OS)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Container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800600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48272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48272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48272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48272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80060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061E18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Runtime (Docker)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060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秒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MB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45236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A1929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5236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輕量 (Process)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432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分鐘 → 秒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4747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啟動時間 VM→Container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6499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→ MB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336499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大小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9360" y="422452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82512" y="4242816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強→輕量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82512" y="4608576"/>
            <a:ext cx="24140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隔離程度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核心概念：Image → Container → Registry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4008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937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937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49808"/>
            <a:ext cx="20756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97480" y="1399032"/>
            <a:ext cx="82296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2651760" y="1243584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1188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1188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6674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4845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不可變快照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120640" y="1399032"/>
            <a:ext cx="7772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5074920" y="1243584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8932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8932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4418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2589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執行中的實例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(可多個)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98080" y="1399032"/>
            <a:ext cx="5943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7452360" y="1243584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push/pull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83880" y="713232"/>
            <a:ext cx="822960" cy="160020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83880" y="768096"/>
            <a:ext cx="82296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238744" y="1545336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0456" y="177393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Hub/ECR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4320" y="2578608"/>
            <a:ext cx="8595360" cy="320040"/>
          </a:xfrm>
          <a:prstGeom prst="roundRect">
            <a:avLst>
              <a:gd name="adj" fmla="val 17143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5786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常用 Docker 指令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294436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296265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myapp:v1.2.3 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296265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Dockerfile 建立 Image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31012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332841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-p 8080:8080 myapp:v1.2.3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332841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 Container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67588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369417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6941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查看執行中的 Container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404164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912" y="405993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&lt;container-id&gt;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43600" y="405993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 Container log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440740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442569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exec -it &lt;container-id&gt; bash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43600" y="442569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進入 Container 除錯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Compose：多容器應用一鍵啟動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4251960"/>
          </a:xfrm>
          <a:prstGeom prst="roundRect">
            <a:avLst>
              <a:gd name="adj" fmla="val 227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76732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nginx: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nginx:alpine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["80:80"]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[backend]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./backend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DB_URL: postgresql://db/app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pgdata:/var/lib/postgresql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pgdata: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07408" y="2487168"/>
            <a:ext cx="329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54880" y="658368"/>
            <a:ext cx="41148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846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383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00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0408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408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0957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774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834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383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00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0408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0408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0957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774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:6379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537960" y="1325880"/>
            <a:ext cx="457200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6492240" y="11704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733288" y="1901952"/>
            <a:ext cx="0" cy="402336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6903720" y="2880360"/>
            <a:ext cx="109728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858000" y="2724912"/>
            <a:ext cx="201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一個指令搞定：docker compose up -d — 開發環境從此告別手動啟動多個服務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Registry：Image 的倉庫與版本管理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程式碼變更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08760" y="1188720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46304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3172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8658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6829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myapp:v1.2.4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0" y="1188720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611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80560" y="658368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80560" y="713232"/>
            <a:ext cx="137160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35424" y="130027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17136" y="152887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Hub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ECR / GCR / Harbor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1188720"/>
            <a:ext cx="73152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897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766560" y="658368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766560" y="713232"/>
            <a:ext cx="21031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821424" y="1300277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03136" y="1528877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app-server-01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" y="23317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策略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:latest — 避免在 Production 使用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無法回溯，不知道是哪個版本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:v1.2.3 (Semantic Version) — 推薦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明確版本，隨時可回滾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:git-abc1234 (Commit Hash)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148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commit 對應一個不可變 Image，CI/CD 常用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:20240315-abc1234 (Date+Hash)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9204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時間戳+Hash，可讀性與唯一性兼具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永遠不要在 Prod 用 :latest — 你永遠不知道 latest 到底是哪個版本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化：從維運噩夢到一致部署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0" cy="285292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化之前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18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069848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865376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660904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60904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 10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56432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6432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RHEL 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74320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069848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3.7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865376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65376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660904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60904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456432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74320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1.14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69848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1.16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65376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65376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1.18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660904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456432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2.4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74320" y="196596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" y="19659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SSH 部署腳本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224028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1480" y="224028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每台主機設定各不同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251460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25146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「只有我知道怎麼重啟」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2971800"/>
            <a:ext cx="402336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29718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15+ 台 × N 個不同設定 = 維運地獄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Container 化之後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00600" y="868680"/>
            <a:ext cx="3977640" cy="2194560"/>
          </a:xfrm>
          <a:prstGeom prst="roundRect">
            <a:avLst>
              <a:gd name="adj" fmla="val 4167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892040" y="7223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10328" y="7223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ON ALL HOSTS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98348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98348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503834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nginx:1.25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02005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85800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85800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91286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backend:v2.1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689457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98348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98348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503834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postgres:16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02005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85800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685800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691286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redis:7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689457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754880" y="297180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 個 Container Image，全部環境一致 — Dev = Staging = Prod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74320" y="3401568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4320" y="3401568"/>
            <a:ext cx="8595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9/10  →  5/10  ↓  維運噩夢  →  標準化部署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2743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57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3657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= Staging = Prod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2461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3375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版本鎖定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33375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隨時可回滾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2179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093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快速部署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3093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pull + run，秒級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App：現代應用的設計原則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27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6692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是什麼？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Heroku 工程師總結的 12 條準則，讓應用程式能在 Cloud Native 環境中良好運作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→ many deploys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10896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868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dep declaration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5332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5332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in environment vars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DB/MQ/Cache as attached resources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0896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1868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1868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build → release → run stages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5332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5332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processes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Self-contained: export via port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0896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1868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1868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process model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94360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332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5332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startup, graceful shutdown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404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environment mirrors production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10896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1868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1868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as event streams (stdout)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94360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5332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5332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as one-off processes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這 12 條原則不是規定，是建議 — 但遵循它們能讓你的 App 在 Container/Cloud 環境中自然地運作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1-3：Codebase、Dependencies、Config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Repo = 一個應用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不要把多個應用混在同一個 repo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多個環境 = 同一份 code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分支策略：main/dev/feature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永遠對應 Prod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每個環境不同 branch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顯式宣告所有依賴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/ package.json / go.mod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不依賴 System-Level 套件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不能假設主機有 curl 或 zip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完美符合此條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即依賴清單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pip install 沒有版本號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設定放在環境變數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DB_URL, API_KEY, PORT...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os.getenv('DB_URL')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Kubernetes ConfigMap/Secret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設定寫死在程式碼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config.dev.py / config.prod.py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不進版本控管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Config 放環境變數是 12-Factor 最重要的一條 — 讓同一個 Image 在 dev/staging/prod 都能跑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4-6：Backing Services、Build/Release/Run、Processes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資料庫/MQ/Cache = 附加服務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= 第三方服務，同等對待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DB 只需換 URL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URL/credential 存取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localhost:5432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DB_URL env var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Build：原始碼 → 可執行包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Release：Build + Config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打上版本號，不可變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Run：執行特定 Release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三個階段嚴格分離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不可被修改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必須是 Stateless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無狀態 = 可隨時增減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這就是 Scale Out 的前提！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Session/State → 外部儲存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/ DB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本地檔案系統存 Session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JWT + Redis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Stateless Process (Factor 6) 是 Scale Out 的基石 — 沒有這條，水平擴展就是夢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7-9：Port Binding、Concurrency、Disposability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應用自帶 HTTP Server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Port 對外提供服務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不需要外部 Apache/Nginx 才能跑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Flask/FastAPI/Express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容器化天然符合此條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PORT=8080 環境變數控制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Process 類型 Scale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Process × N = Scale Out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Process = 非同步任務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不同類型可獨立 Scale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× 5, Worker × 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Deployment 完美支援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要能快速啟動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&lt; 10 秒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優雅關閉 (Graceful Shutdown)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 SIGTERM → 完成當前請求再關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也沒關係 — 快速重啟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K8s 完美搭配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Disposability 讓 Kubernetes 可以隨時 kill/restart 你的 Container — 不用怕，設計好就沒問題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10-12：Dev/Prod Parity、Logs、Admin 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環境要盡量接近 Prod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Dev 用 SQLite, Prod 用 Postgres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Docker Compose 模擬全部服務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 Dev → Deploy 週期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讓 Parity 變容易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輸出到 stdout/stderr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不要自己處理 Log 檔案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由平台收集 (FluentD, CloudWatch)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Log (JSON)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方便搜尋與分析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/ docker logs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一次性管理任務 = 獨立 Process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Migration: kubectl exec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Cleanup: 獨立 Job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App 一起打包進 Image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SSH 進 Prod 機器跑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Logs as streams (Factor 11) 讓 ELK Stack / CloudWatch 可以集中管理所有 Container 的 log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App 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669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5669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/ Docker 的支援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543800" y="56692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9326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326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0" y="9326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in repo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43800" y="9326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12527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2527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91840" y="12527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+ requirements.txt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43800" y="12527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15727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727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91840" y="15727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in docker-compose / K8s Secret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543800" y="15727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18928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8928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91840" y="18928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services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43800" y="18928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22128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2128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0" y="22128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tag → run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43800" y="22128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25328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5328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91840" y="25328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Container = Scale Out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43800" y="25328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28529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8529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0" y="28529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+ -p flag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43800" y="28529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31729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1729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91840" y="31729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×N / K8s replicas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43800" y="31729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930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91840" y="34930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快速啟動/關閉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43800" y="34930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74320" y="38130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8130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91840" y="38130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Image，環境一致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43800" y="38130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74320" y="41330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1330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291840" y="41330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logs / stdout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43800" y="41330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74320" y="44531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4531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3291840" y="44531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exec / K8s Job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43800" y="44531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不只解決了環境一致問題 — 它幾乎完美地支援了所有 12-Factor App 的原則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實戰：一個符合規範的 FastAPI Service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206240" cy="1280160"/>
          </a:xfrm>
          <a:prstGeom prst="roundRect">
            <a:avLst>
              <a:gd name="adj" fmla="val 714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9502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DB_URL = os.getenv('DATABASE_URL')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@app.get('/health')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health():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{'status': 'ok'}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2029968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    # Factor 2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# Factor 7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"main:app", "--port", "8080"]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916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916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02336" y="3172968"/>
            <a:ext cx="39502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postgresql://db/app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['8080:8080']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       # Factor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遵循了哪些 Factor？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2 — 依賴宣告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3 — Config 環境變數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737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6 — Stateless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9 — 快速啟動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311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4 — Backing Svc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7 — Port Binding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580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10 — Dev/Prod Parity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311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11 — Stdout Log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一個符合 12-Factor 的 App 天然就是 Container-ready — 這就是現代 Cloud Native 應用的標配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小結：設計優良的 Cloud Native 應用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不是規定，是智慧結晶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Heroku 從數百個應用中提煉的最佳實踐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每一條都解決了真實的工程痛點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學習重點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87452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194767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35000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— 它們互相強化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67004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 Dockerfile 管理依賴 (Factor 2)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用環境變數設定 (Factor 3)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318211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Stateless Process = Scale Out (Factor 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77072" y="19476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15468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322783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" y="363016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下一步：自動化這一切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020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docker build/push 只是起點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2062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自動部署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46227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Part 5: DevOps 與 CI/CD Pipeline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77072" y="32278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 Part 5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DevOps：打破開發與維運的高牆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開發團隊 (Dev)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快速開發新功能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頻繁合併代碼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下午 5 點 push code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「快點上線！」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feature/week  ·  功能開發速度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572000" y="502920"/>
            <a:ext cx="0" cy="4224528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4224528" y="210312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 THE WALL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0" y="118872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590288" y="118872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4114800" y="192024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590288" y="192024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5" name="Shape 23"/>
          <p:cNvSpPr/>
          <p:nvPr/>
        </p:nvSpPr>
        <p:spPr>
          <a:xfrm>
            <a:off x="4114800" y="265176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590288" y="265176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7" name="Shape 25"/>
          <p:cNvSpPr/>
          <p:nvPr/>
        </p:nvSpPr>
        <p:spPr>
          <a:xfrm>
            <a:off x="4846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維運團隊 (Ops)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37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穩定第一，不要動！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4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😰 週五 5 點不能部署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變更管理需要審批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「你們搞壞了 Prod！」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×3h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937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 ·  平均故障恢復時間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74320" y="38862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913632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DevOps 的核心目標：拆掉這道牆 — 讓開發、測試、部署、維運成為統一的連續流程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DevOps 不是職稱，是文化和實踐 — Dev 懂 Ops，Ops 懂 Dev，自動化一切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Pipeline：從 Commit 到 Production 全自動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🔨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379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8196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832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832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381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198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 test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834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0383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00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5836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6385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apply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183880" y="658368"/>
            <a:ext cx="868680" cy="13258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83880" y="713232"/>
            <a:ext cx="86868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38744" y="1347826"/>
            <a:ext cx="758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0456" y="1576426"/>
            <a:ext cx="795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481328" y="1463040"/>
            <a:ext cx="2743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14356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81528" y="1463040"/>
            <a:ext cx="2743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30358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681728" y="1463040"/>
            <a:ext cx="27432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46360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463040"/>
            <a:ext cx="27432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7" name="Text 35"/>
          <p:cNvSpPr/>
          <p:nvPr/>
        </p:nvSpPr>
        <p:spPr>
          <a:xfrm>
            <a:off x="62362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882128" y="1463040"/>
            <a:ext cx="27432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364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37160" y="566928"/>
            <a:ext cx="5120640" cy="1508760"/>
          </a:xfrm>
          <a:prstGeom prst="roundRect">
            <a:avLst>
              <a:gd name="adj" fmla="val 6061"/>
            </a:avLst>
          </a:prstGeom>
          <a:ln w="12700">
            <a:solidFill>
              <a:srgbClr val="58A6FF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860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Continuous Integration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566928"/>
            <a:ext cx="4114800" cy="1508760"/>
          </a:xfrm>
          <a:prstGeom prst="roundRect">
            <a:avLst>
              <a:gd name="adj" fmla="val 6061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98348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0176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— Continuous Delivery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74320" y="2468880"/>
            <a:ext cx="4389120" cy="2331720"/>
          </a:xfrm>
          <a:prstGeom prst="roundRect">
            <a:avLst>
              <a:gd name="adj" fmla="val 392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23225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4048" y="23225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02336" y="2578608"/>
            <a:ext cx="4133088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CI/CD Pipeline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myapp:$GITHUB_SHA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push registry/myapp:$GITHUB_SHA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kubectl set image deploy/api api=myapp:$GITHUB_SHA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3776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2920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10min</a:t>
            </a:r>
            <a:endParaRPr lang="en-US" sz="3400" dirty="0"/>
          </a:p>
        </p:txBody>
      </p:sp>
      <p:sp>
        <p:nvSpPr>
          <p:cNvPr id="52" name="Text 50"/>
          <p:cNvSpPr/>
          <p:nvPr/>
        </p:nvSpPr>
        <p:spPr>
          <a:xfrm>
            <a:off x="502920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時間目標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90372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99516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55" name="Text 53"/>
          <p:cNvSpPr/>
          <p:nvPr/>
        </p:nvSpPr>
        <p:spPr>
          <a:xfrm>
            <a:off x="699516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自動化測試覆蓋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93776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02920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50+</a:t>
            </a:r>
            <a:endParaRPr lang="en-US" sz="3400" dirty="0"/>
          </a:p>
        </p:txBody>
      </p:sp>
      <p:sp>
        <p:nvSpPr>
          <p:cNvPr id="58" name="Text 56"/>
          <p:cNvSpPr/>
          <p:nvPr/>
        </p:nvSpPr>
        <p:spPr>
          <a:xfrm>
            <a:off x="502920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每天部署次數 (Netflix)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0372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9516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1hr</a:t>
            </a:r>
            <a:endParaRPr lang="en-US" sz="3400" dirty="0"/>
          </a:p>
        </p:txBody>
      </p:sp>
      <p:sp>
        <p:nvSpPr>
          <p:cNvPr id="61" name="Text 59"/>
          <p:cNvSpPr/>
          <p:nvPr/>
        </p:nvSpPr>
        <p:spPr>
          <a:xfrm>
            <a:off x="699516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Commit→Prod 時間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GitOps：Git 作為唯一真相來源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核心原則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Git 是唯一真相來源 (Single Source of Truth)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所有變更通過 Pull Request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自動同步 — Git state = Cluster state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可審計、可回滾 — git revert 即回滾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508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Tekton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👨‍💻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1830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001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303520" y="1764792"/>
            <a:ext cx="0" cy="347472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49240" y="181965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1830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0001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9320" y="2578608"/>
            <a:ext cx="5029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5989320" y="2423160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53796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3796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59282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57453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 Operator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863840" y="2578608"/>
            <a:ext cx="41148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45552" y="242316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321040" y="2148840"/>
            <a:ext cx="731520" cy="82296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21040" y="2203704"/>
            <a:ext cx="7315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☸️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375904" y="2576779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57616" y="2805379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63840" y="3246120"/>
            <a:ext cx="822960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537960" y="2999232"/>
            <a:ext cx="0" cy="246888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6537960" y="3246120"/>
            <a:ext cx="1325880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  <a:tailEnd type="arrow"/>
          </a:ln>
        </p:spPr>
      </p:sp>
      <p:sp>
        <p:nvSpPr>
          <p:cNvPr id="47" name="Text 45"/>
          <p:cNvSpPr/>
          <p:nvPr/>
        </p:nvSpPr>
        <p:spPr>
          <a:xfrm>
            <a:off x="6565392" y="32918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 detect → auto-heal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GitOps 讓基礎設施變成 Code — 每次 Prod 變更都有 git commit 記錄，可審計可回滾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Flags：從部署中解放功能發布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傳統做法：部署 = 上線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每次部署都影響所有用戶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發現問題只能全量回滾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無法針對特定用戶測試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502920"/>
            <a:ext cx="0" cy="384048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Feature Flags：部署 ≠ 上線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987552"/>
            <a:ext cx="3977640" cy="1536192"/>
          </a:xfrm>
          <a:prstGeom prst="roundRect">
            <a:avLst>
              <a:gd name="adj" fmla="val 59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9204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928616" y="1097280"/>
            <a:ext cx="3721608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Flag 控制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feature_flags.is_enabled('new_checkout', user):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new_checkout_flow(user)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old_checkout_flow(user)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A/B Testing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722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438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Internal Beta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20040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273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部署 (Deploy)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5661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Code 放到 Prod Server — 但 Flag = OFF，用戶看不到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0" y="3246120"/>
            <a:ext cx="0" cy="1005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27355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發布 (Release)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54880" y="3566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Flag 切到 ON — 功能對用戶可見 (隨時可關)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Feature Flag 讓你做到 Continuous Deployment — 每天部署數十次，功能上線時機由 PM 決定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部署策略：Blue/Green vs Canary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🔵🟢 Blue/Green 部署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93268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1：部署新版本到 Green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100% 流量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4028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0% 流量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66420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2：LB 切換流量至 Green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1792224"/>
            <a:ext cx="54864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27432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4028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100%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24871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零停機時間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2761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回滾只需切 LB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30358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需要兩套環境 (成本)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2628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594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109728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097280"/>
            <a:ext cx="237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96128" y="1097280"/>
            <a:ext cx="585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32120" y="1572768"/>
            <a:ext cx="0" cy="32004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30368" y="1892808"/>
            <a:ext cx="301752" cy="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32120" y="1572768"/>
            <a:ext cx="0" cy="32004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1892808"/>
            <a:ext cx="896112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8006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006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8554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× 9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371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 流量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6294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6294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6842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× 1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659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流量 (Canary)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66560" y="2788920"/>
            <a:ext cx="1828800" cy="713232"/>
          </a:xfrm>
          <a:prstGeom prst="roundRect">
            <a:avLst>
              <a:gd name="adj" fmla="val 1282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66560" y="2843784"/>
            <a:ext cx="1828800" cy="328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3159801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803136" y="3388401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Rate &lt; 0.1%?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P99 Latency OK?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15200" y="2633472"/>
            <a:ext cx="0" cy="13716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3" name="Text 41"/>
          <p:cNvSpPr/>
          <p:nvPr/>
        </p:nvSpPr>
        <p:spPr>
          <a:xfrm>
            <a:off x="4800600" y="29260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自動增加 Canary 流量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812280" y="3566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自動回滾 Canary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46320" y="37033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小範圍驗證新版本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46320" y="39593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問題只影響少數用戶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Metrics：衡量 DevOps 成熟度的四個指標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Frequency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多次/天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每天~每週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每週~每月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6460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for Changes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Commit 到 Prod 的時間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1週~1月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8404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部署導致 Prod 問題的比率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5%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15%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15-45%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86460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6460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Restore — 恢復時間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93776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1天~1週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47091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DORA Research (2019): Elite 表現者比低表現者 — 部署快 208x，故障恢復快 2604x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持續測試金字塔：測試的層次與速度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60020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3677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E2E Tests (10%)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8653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模擬真實用戶 | 分鐘級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68296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Integration Tests (20%)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968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DB 整合 | 秒級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3090672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12724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Unit Tests (70%)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335584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| 隔離 | 毫秒級    jest, pytest, go test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26280" y="3749040"/>
            <a:ext cx="0" cy="-219456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4434840" y="1463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 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434840" y="3749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 ⚡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594360"/>
            <a:ext cx="393192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74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/ jest commands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65776" y="704088"/>
            <a:ext cx="367588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 Pipeline 測試順序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Unit Tests (fail fast)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tests/unit/ --tb=short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js: jest --testPathPattern=unit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Integration Tests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tests/integration/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--docker-compose=docker-compose.test.yml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E2E Tests (only on main)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tests/e2e/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--base-url=https://staging.myapp.com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Fail Fast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失敗立刻停止 Pipeline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測試隔離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Test 獨立，不依賴順序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179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Coverage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093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80%+，關鍵路徑 100%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小結：DevOps 讓軟體交付飛起來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是文化，CI/CD 是工具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打破 Dev/Ops 高牆，共同對交付品質負責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都能安全部署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938528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01168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414016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DORA Metrics 衡量進步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7340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個指標 — 部署頻率、Lead Time、失敗率、MTTR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900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Elite 表現者不是天生的 — 是 DevOps 文化建立的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77072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量化成果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282696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335584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758184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GitOps + CI/CD = 現代部署三劍客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078224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Container：環境一致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3342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GitOps：基礎設施即代碼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5902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CI/CD：自動化交付 → Part 6: 可觀測性與 SRE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77072" y="3355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整合視角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可觀測性三本柱：Metrics、Logs、Traces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數字型時序資料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記憶體, 請求數/秒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Prometheus + Grafana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告警規則：CPU &gt; 80% → 通知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「What 出了問題」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月 ~ 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JSON 格式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ELK Stack, Loki, CloudWatch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→ 集中收集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「Why 出了問題」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週 ~ 月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分散式請求鏈路追蹤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 貫穿所有服務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Jaeger, Zipkin, Tempo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「Where 出了問題」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天 ~ 週 (成本高)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三本柱缺一不可：Metrics 告訴你有問題，Logs 告訴你原因，Traces 告訴你在哪個服務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 / SLO / SLA：可靠性的三個層次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SLI — Service Level Indicator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實際量測的服務指標值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一個數字，代表服務現在的表現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可用性: 99.95%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延遲: 245ms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錯誤率: 0.03%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吞吐量: 1200 req/s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SLO — Service Level Objective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461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你設定的目標數字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75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 SLI 的目標值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 SLO: ≥ 99.9%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461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SLO: ≤ 500ms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SLO: ≤ 0.1%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461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0.1% = 43min/月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SLA — Service Level Agreement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對外承諾的法律協議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093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違反 → 賠償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EC2: 99.99% 可用性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賠償: Service Credit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179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&lt; SLA (保留緩衝)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179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「SLO 是內部目標，SLA 是外部承諾」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063240" y="1325880"/>
            <a:ext cx="16459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30723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by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6035040" y="1325880"/>
            <a:ext cx="16459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8" name="Text 46"/>
          <p:cNvSpPr/>
          <p:nvPr/>
        </p:nvSpPr>
        <p:spPr>
          <a:xfrm>
            <a:off x="60441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要比 SLA 嚴格 10x — SLA 是 99.9%，你的 SLO 應該是 99.99%，中間是 Error Budget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Budget：把停機時間變成決策工具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= 1 - SLO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= 99.9%  →  Error Budget = 0.1% = 43.8 分鐘/月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1907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Budget 充足 → 可以快速部署新功能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35915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35915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Budget 耗盡 → 停止功能部署，專注穩定性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127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Policy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4198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&gt; 50%：正常部署，可做風險部署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6667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25-50%：謹慎部署，加強測試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91363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&lt; 25%：凍結功能部署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年 Monthly Error Budget 消耗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87552"/>
            <a:ext cx="4069080" cy="0"/>
          </a:xfrm>
          <a:prstGeom prst="line">
            <a:avLst/>
          </a:prstGeom>
          <a:noFill/>
          <a:ln w="12700">
            <a:solidFill>
              <a:srgbClr val="F85149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7132320" y="8412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(100%)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237744" cy="5029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718304" y="26974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5084064" y="3040380"/>
            <a:ext cx="237744" cy="34290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047488" y="28575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5413248" y="3200400"/>
            <a:ext cx="237744" cy="182880"/>
          </a:xfrm>
          <a:prstGeom prst="roundRect">
            <a:avLst>
              <a:gd name="adj" fmla="val 15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1324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76672" y="30175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742432" y="2354580"/>
            <a:ext cx="237744" cy="102870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243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705856" y="2171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6071616" y="1965960"/>
            <a:ext cx="237744" cy="14173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7161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1783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400800" y="2971800"/>
            <a:ext cx="237744" cy="41148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64224" y="27889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6729984" y="3154680"/>
            <a:ext cx="237744" cy="228600"/>
          </a:xfrm>
          <a:prstGeom prst="roundRect">
            <a:avLst>
              <a:gd name="adj" fmla="val 12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693408" y="29718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7059168" y="3268980"/>
            <a:ext cx="237744" cy="114300"/>
          </a:xfrm>
          <a:prstGeom prst="roundRect">
            <a:avLst>
              <a:gd name="adj" fmla="val 24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022592" y="30861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7388352" y="2514600"/>
            <a:ext cx="237744" cy="8686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8835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351776" y="23317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7717536" y="1211580"/>
            <a:ext cx="237744" cy="217170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753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680960" y="1028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8046720" y="2743200"/>
            <a:ext cx="237744" cy="6400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4672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010144" y="25603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8375904" y="3108960"/>
            <a:ext cx="237744" cy="27432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7590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339328" y="2926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274320" y="3520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356616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10月份 Error Budget 耗盡！→ 立即凍結功能部署，SRE 介入穩定性改善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7132320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32320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凍結部署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626096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26096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行動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8119872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19872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讓 Dev 和 Ops 有共同語言 — 不是「穩定 vs 速度」，而是「剩多少 budget 可以花」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監控實戰：Prometheus + Grafana 組合拳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583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65836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63040" y="7955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2070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2070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12070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63040" y="13441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175564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75564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175564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463040" y="18928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03120" y="1371600"/>
            <a:ext cx="45720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2084832" y="111556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65176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65176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70662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68833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時序資料庫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15s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1344168"/>
            <a:ext cx="41148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66344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0001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視覺化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51760" y="233172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97480" y="2331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44368" y="233172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3280" y="2057400"/>
            <a:ext cx="0" cy="256032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206240" y="2743200"/>
            <a:ext cx="45720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187952" y="25146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800600" y="237744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3774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📱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93208" y="237744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09360" y="594360"/>
            <a:ext cx="256032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90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37376" y="704088"/>
            <a:ext cx="23042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status=~'5..'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}[5m]) /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P99 延遲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rate(http_duration_bucket[5m])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CPU 告警規則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container_cpu_usage &gt; 0.8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Critical: 錯誤率 &gt; 1%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10896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1868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Warning: P99 &gt; 500ms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Info: 部署完成通知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3520440"/>
            <a:ext cx="8595360" cy="932688"/>
          </a:xfrm>
          <a:prstGeom prst="roundRect">
            <a:avLst>
              <a:gd name="adj" fmla="val 980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3741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3741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 rule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630168"/>
            <a:ext cx="8339328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expr: rate(http_requests_total{status=~'5..'}[5m]) / rate(http_requests_total[5m]) &gt; 0.01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 { severity: critical 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 { summary: 'Error rate {{ $value | humanizePercentage }}' }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分散式追蹤：找出效能瓶頸在哪裡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50976" y="1033272"/>
            <a:ext cx="274320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0" name="Text 8"/>
          <p:cNvSpPr/>
          <p:nvPr/>
        </p:nvSpPr>
        <p:spPr>
          <a:xfrm>
            <a:off x="90525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/checkout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28016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7276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48256" y="1033272"/>
            <a:ext cx="274320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200253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37744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2316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97480" y="1298448"/>
            <a:ext cx="0" cy="292608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92024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596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1284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3580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56616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5876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480560" y="713232"/>
            <a:ext cx="4480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7132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ID: abc-123-xyz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43800" y="713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貫穿整個請求鏈路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1234440"/>
            <a:ext cx="3383280" cy="137160"/>
          </a:xfrm>
          <a:prstGeom prst="roundRect">
            <a:avLst>
              <a:gd name="adj" fmla="val 20000"/>
            </a:avLst>
          </a:prstGeom>
          <a:solidFill>
            <a:srgbClr val="1A2A40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123444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417320"/>
            <a:ext cx="3108960" cy="137160"/>
          </a:xfrm>
          <a:prstGeom prst="roundRect">
            <a:avLst>
              <a:gd name="adj" fmla="val 20000"/>
            </a:avLst>
          </a:prstGeom>
          <a:solidFill>
            <a:srgbClr val="1A2A1A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141732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1600200"/>
            <a:ext cx="2560320" cy="1371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160020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query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0" y="1783080"/>
            <a:ext cx="365760" cy="137160"/>
          </a:xfrm>
          <a:prstGeom prst="roundRect">
            <a:avLst>
              <a:gd name="adj" fmla="val 20000"/>
            </a:avLst>
          </a:prstGeom>
          <a:solidFill>
            <a:srgbClr val="1A1A2A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178308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321040" y="1965960"/>
            <a:ext cx="457200" cy="137160"/>
          </a:xfrm>
          <a:prstGeom prst="roundRect">
            <a:avLst>
              <a:gd name="adj" fmla="val 20000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0" y="196596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Email(async)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158191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DB query: 245ms — 瓶頸！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2176272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5760" y="202996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202996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(OpenTelemetry)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2336" y="2286000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@app.get('/checkout')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checkout(user_id: str):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tracer.start_as_current_span('checkout')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span.set_attribute('user.id', user_id)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 tracer.start_as_current_span('db.query'):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 = await db.fetch_cart(user_id)  # 自動記錄時間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result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沒有 Tracing 的分散式系統，除錯就像蒙眼猜謎 — OpenTelemetry 是現代標準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SRE：把維運當成軟體工程問題來解決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的核心工作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144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消除 Toil — 把重複手動工作自動化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SLI/SLO/Error Budget 管理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4825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Incident Response 與 On-Call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1518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Postmortem 文化 — Blameless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318211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18211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打造更可靠的系統架構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402336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93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 預算: &lt; 50% 工作時間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7764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 50% → SRE 幫你自動化，直到降到 50% 以下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9436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79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8952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960120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主要目標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穩定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3796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8952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可靠性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435608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1435608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SSH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3796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8952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全自動化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1911096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911096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故障處理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修完拉倒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3796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8952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 必須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386584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2386584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衡量方式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有沒有當機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3796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58952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SLO/Error Budget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的 SRE 手冊：「SRE 是把軟體工程師扔進維運問題 — 他們的反應是把一切自動化」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Postmortem：從故障中學習，而不是追責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Blameless Postmortem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不找兇手，找根本原因 (Root Cause)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704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描述事實，不指責個人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700784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700784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5-Why 根本原因分析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23113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系統性改善，而非懲罰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761488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76148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公開分享學習成果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3101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101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禁止: 「都是 XXX 的錯」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59436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Postmortem Template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91456" y="704088"/>
            <a:ext cx="395020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Incident Summary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Date: 2024-03-15 14:32 UTC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Duration: 47 minutes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Impact: 全球 23% 用戶無法登入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Severity: SEV-1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Timeline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- 14:32 Alert triggered: Error rate &gt; 5%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- 14:38 SRE on-call paged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- 14:45 Root cause identified: DB migration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- 15:19 Rollback completed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Root Cause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migration script 鎖住了 users table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導致所有登入請求 timeout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Action Items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加入 DB migration smoke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Migration 改在 Maintenance window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改善 Rollback SOP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課程總結：你現在已經了解真實世界的部署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SUMMARY  ·  50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2860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175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175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單機→拆分→三層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664208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37360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LB+Cache+MQ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99816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72968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172968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72968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一致環境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35424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08576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608576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08576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設計原則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71032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44184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044184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44184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0664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979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7979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7979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7979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581912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3017520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4453128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5888736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7324344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274320" y="2286000"/>
            <a:ext cx="8595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2331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核心洞察：複雜度是必然的 — 但可以被管理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274320" y="27157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+ 12-Factor + CI/CD + Observability = 現代 Cloud Native 工程師的工具箱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架構是演進的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8404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從單機到分散式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每一步都有原因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不要過度設計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5468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6440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是基石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26440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環境一致 + 版本管理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現代部署的最小單位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學會用好 Docker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3504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476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數字說話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4476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SLO/SLA/DORA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用指標驅動改善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不靠感覺做決策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2026-03-16T14:26:19Z</dcterms:created>
  <dcterms:modified xsi:type="dcterms:W3CDTF">2026-03-16T14:26:19Z</dcterms:modified>
</cp:coreProperties>
</file>