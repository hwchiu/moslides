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029200"/>
  <p:notesSz cx="50292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Three Pillars: Metrics, Logs, Traces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350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Metrics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" y="1179576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115568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time-series data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1316736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CPU%, Memory, Requests/sec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0896" y="1581912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Prometheus + Grafana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0896" y="1984248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rules: CPU &gt; 80% → Notify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0896" y="2386584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'What went wrong'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" y="2788920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Months to Years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3944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3944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3944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56006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Logs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67456" y="1179576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32048" y="1115568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event stream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32048" y="1316736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format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67456" y="1581912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3204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ELK Stack, Loki, CloudWatch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67456" y="1984248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204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 → Centralized collection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67456" y="2386584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3204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'Why it went wrong'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67456" y="2788920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3204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Weeks to Months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9600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9600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9600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51662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Traces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24016" y="1179576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8608" y="111556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request chain tracing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24016" y="1581912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860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ID spans all services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24016" y="1984248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8860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Jaeger, Zipkin, Tempo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24016" y="2386584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8860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'Where it went wrong'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24016" y="2788920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860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Days to Weeks (high cost)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All three pillars are essential: Metrics tell you something is wrong, Logs tell you why, Traces tell you which service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 / SLO / SLA: Three Levels of Reliability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ECE6DD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9436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SLI — Service Level Indicator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078992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15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measured service metric values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3898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representing current service performance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47088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Availability: 99.95%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304288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22576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Latency: 245ms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779776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98064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Rate: 0.03%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255264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27355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 1200 req/s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59436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ECE6DD"/>
          </a:solidFill>
          <a:ln w="19050">
            <a:solidFill>
              <a:srgbClr val="4A7F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59436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SLO — Service Level Objective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1078992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115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defined target numbers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13898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is the target value for SLI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46120" y="182880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1847088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SLO: ≥ 99.9%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2304288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322576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 SLO: ≤ 500ms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2779776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2798064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SLO: ≤ 0.1%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3255264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327355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Budget: 0.1% = 43min/mo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59436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ECE6DD"/>
          </a:solidFill>
          <a:ln w="19050">
            <a:solidFill>
              <a:srgbClr val="B889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59436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SLA — Service Level Agreement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17920" y="1078992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1115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External-facing legal agreement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13898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Violation → Compensation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182880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1847088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EC2: 99.99% Availability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17920" y="2304288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322576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Compensation: Service Credit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17920" y="2779776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2798064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&lt; SLA (keep buffer)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17920" y="3255264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327355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"SLO is the internal target, SLA is the external commitment"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063240" y="1325880"/>
            <a:ext cx="164592" cy="9144"/>
          </a:xfrm>
          <a:prstGeom prst="line">
            <a:avLst/>
          </a:prstGeom>
          <a:noFill/>
          <a:ln w="19050">
            <a:solidFill>
              <a:srgbClr val="8A8078"/>
            </a:solidFill>
            <a:prstDash val="solid"/>
            <a:tailEnd type="arrow"/>
          </a:ln>
        </p:spPr>
      </p:sp>
      <p:sp>
        <p:nvSpPr>
          <p:cNvPr id="46" name="Text 44"/>
          <p:cNvSpPr/>
          <p:nvPr/>
        </p:nvSpPr>
        <p:spPr>
          <a:xfrm>
            <a:off x="3072384" y="1207008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6035040" y="1325880"/>
            <a:ext cx="164592" cy="9144"/>
          </a:xfrm>
          <a:prstGeom prst="line">
            <a:avLst/>
          </a:prstGeom>
          <a:noFill/>
          <a:ln w="19050">
            <a:solidFill>
              <a:srgbClr val="8A8078"/>
            </a:solidFill>
            <a:prstDash val="solid"/>
            <a:tailEnd type="arrow"/>
          </a:ln>
        </p:spPr>
      </p:sp>
      <p:sp>
        <p:nvSpPr>
          <p:cNvPr id="48" name="Text 46"/>
          <p:cNvSpPr/>
          <p:nvPr/>
        </p:nvSpPr>
        <p:spPr>
          <a:xfrm>
            <a:off x="6044184" y="1207008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SLO should be 10x stricter than SLA — if SLA is 99.9%, your SLO should be 99.99%, the gap is your Error Budget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Budget: Turning Downtime into a Decision Tool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217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 = 1 - SLO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078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= 99.9%  →  Error Budget = 0.1% = 43.8 min/month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E5F0E9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1907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Budget Sufficient → Deploy new features rapidly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8ECEC"/>
          </a:solidFill>
          <a:ln w="19050">
            <a:solidFill>
              <a:srgbClr val="C460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5915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Budget Exhausted → Freeze feature deploys, focus on stability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1272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 Policy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4198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&gt; 50%: Normal deploys, risky deploys allowed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66674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25-50%: Deploy cautiously, increase testing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9136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&lt; 25%: Freeze feature deployments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0" y="594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Monthly Error Budget Consumption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987552"/>
            <a:ext cx="4069080" cy="9144"/>
          </a:xfrm>
          <a:prstGeom prst="line">
            <a:avLst/>
          </a:prstGeom>
          <a:noFill/>
          <a:ln w="12700">
            <a:solidFill>
              <a:srgbClr val="C4605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132320" y="84124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Limit (100%)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754880" y="2880360"/>
            <a:ext cx="237744" cy="502920"/>
          </a:xfrm>
          <a:prstGeom prst="roundRect">
            <a:avLst>
              <a:gd name="adj" fmla="val 11538"/>
            </a:avLst>
          </a:prstGeom>
          <a:solidFill>
            <a:srgbClr val="C4605B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401568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18304" y="2697480"/>
            <a:ext cx="310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5084064" y="3040380"/>
            <a:ext cx="237744" cy="342900"/>
          </a:xfrm>
          <a:prstGeom prst="roundRect">
            <a:avLst>
              <a:gd name="adj" fmla="val 11538"/>
            </a:avLst>
          </a:prstGeom>
          <a:solidFill>
            <a:srgbClr val="4A9968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401568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047488" y="2857500"/>
            <a:ext cx="310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5413248" y="3200400"/>
            <a:ext cx="237744" cy="182880"/>
          </a:xfrm>
          <a:prstGeom prst="roundRect">
            <a:avLst>
              <a:gd name="adj" fmla="val 15000"/>
            </a:avLst>
          </a:prstGeom>
          <a:solidFill>
            <a:srgbClr val="4A9968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13248" y="3401568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376672" y="3017520"/>
            <a:ext cx="310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5742432" y="2354580"/>
            <a:ext cx="237744" cy="1028700"/>
          </a:xfrm>
          <a:prstGeom prst="roundRect">
            <a:avLst>
              <a:gd name="adj" fmla="val 11538"/>
            </a:avLst>
          </a:prstGeom>
          <a:solidFill>
            <a:srgbClr val="B8892C"/>
          </a:solidFill>
          <a:ln w="6350">
            <a:solidFill>
              <a:srgbClr val="B889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401568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705856" y="2171700"/>
            <a:ext cx="310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6071616" y="1965960"/>
            <a:ext cx="237744" cy="1417320"/>
          </a:xfrm>
          <a:prstGeom prst="roundRect">
            <a:avLst>
              <a:gd name="adj" fmla="val 11538"/>
            </a:avLst>
          </a:prstGeom>
          <a:solidFill>
            <a:srgbClr val="C4605B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1616" y="3401568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035040" y="1783080"/>
            <a:ext cx="310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6400800" y="2971800"/>
            <a:ext cx="237744" cy="411480"/>
          </a:xfrm>
          <a:prstGeom prst="roundRect">
            <a:avLst>
              <a:gd name="adj" fmla="val 11538"/>
            </a:avLst>
          </a:prstGeom>
          <a:solidFill>
            <a:srgbClr val="4A9968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401568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364224" y="2788920"/>
            <a:ext cx="310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729984" y="3154680"/>
            <a:ext cx="237744" cy="228600"/>
          </a:xfrm>
          <a:prstGeom prst="roundRect">
            <a:avLst>
              <a:gd name="adj" fmla="val 12000"/>
            </a:avLst>
          </a:prstGeom>
          <a:solidFill>
            <a:srgbClr val="4A9968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9984" y="3401568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693408" y="2971800"/>
            <a:ext cx="310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7059168" y="3268980"/>
            <a:ext cx="237744" cy="114300"/>
          </a:xfrm>
          <a:prstGeom prst="roundRect">
            <a:avLst>
              <a:gd name="adj" fmla="val 24000"/>
            </a:avLst>
          </a:prstGeom>
          <a:solidFill>
            <a:srgbClr val="4A9968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59168" y="3401568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022592" y="3086100"/>
            <a:ext cx="310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7388352" y="2514600"/>
            <a:ext cx="237744" cy="868680"/>
          </a:xfrm>
          <a:prstGeom prst="roundRect">
            <a:avLst>
              <a:gd name="adj" fmla="val 11538"/>
            </a:avLst>
          </a:prstGeom>
          <a:solidFill>
            <a:srgbClr val="B8892C"/>
          </a:solidFill>
          <a:ln w="6350">
            <a:solidFill>
              <a:srgbClr val="B889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88352" y="3401568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351776" y="2331720"/>
            <a:ext cx="310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7717536" y="1211580"/>
            <a:ext cx="237744" cy="2171700"/>
          </a:xfrm>
          <a:prstGeom prst="roundRect">
            <a:avLst>
              <a:gd name="adj" fmla="val 11538"/>
            </a:avLst>
          </a:prstGeom>
          <a:solidFill>
            <a:srgbClr val="C4605B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17536" y="3401568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680960" y="1028700"/>
            <a:ext cx="310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8046720" y="2743200"/>
            <a:ext cx="237744" cy="640080"/>
          </a:xfrm>
          <a:prstGeom prst="roundRect">
            <a:avLst>
              <a:gd name="adj" fmla="val 11538"/>
            </a:avLst>
          </a:prstGeom>
          <a:solidFill>
            <a:srgbClr val="B8892C"/>
          </a:solidFill>
          <a:ln w="6350">
            <a:solidFill>
              <a:srgbClr val="B8892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46720" y="3401568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8010144" y="2560320"/>
            <a:ext cx="310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8375904" y="3108960"/>
            <a:ext cx="237744" cy="274320"/>
          </a:xfrm>
          <a:prstGeom prst="roundRect">
            <a:avLst>
              <a:gd name="adj" fmla="val 11538"/>
            </a:avLst>
          </a:prstGeom>
          <a:solidFill>
            <a:srgbClr val="4A9968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75904" y="3401568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8339328" y="2926080"/>
            <a:ext cx="310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274320" y="35204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356616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October Error Budget exhausted! → Immediately freeze feature deploys, SRE intervenes for stability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132320" y="3593592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32320" y="362102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Deploys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626096" y="3593592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26096" y="362102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Action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8119872" y="3593592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19872" y="362102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Error Budget gives Dev and Ops a shared language — not 'stability vs speed', but 'how much budget is left to spend'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in Practice: Prometheus + Grafana Combo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58368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658368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63040" y="7955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:8080/metrics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20700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07008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1207008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api-02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63040" y="13441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:8080/metrics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175564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755648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1755648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api-03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63040" y="18928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:8080/metrics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103120" y="1371600"/>
            <a:ext cx="45720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2084832" y="111556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651760" y="621792"/>
            <a:ext cx="1463040" cy="1389888"/>
          </a:xfrm>
          <a:prstGeom prst="roundRect">
            <a:avLst>
              <a:gd name="adj" fmla="val 6579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51760" y="676656"/>
            <a:ext cx="1463040" cy="639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706624" y="1344534"/>
            <a:ext cx="13533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88336" y="1573134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Time-Series DB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15s scrape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206240" y="1344168"/>
            <a:ext cx="411480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4663440" y="621792"/>
            <a:ext cx="1463040" cy="1389888"/>
          </a:xfrm>
          <a:prstGeom prst="roundRect">
            <a:avLst>
              <a:gd name="adj" fmla="val 6579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63440" y="676656"/>
            <a:ext cx="1463040" cy="639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718304" y="1344534"/>
            <a:ext cx="13533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00016" y="1573134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51760" y="2331720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233172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44368" y="2331720"/>
            <a:ext cx="1133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83280" y="2057400"/>
            <a:ext cx="9144" cy="256032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4206240" y="2743200"/>
            <a:ext cx="457200" cy="9144"/>
          </a:xfrm>
          <a:prstGeom prst="line">
            <a:avLst/>
          </a:prstGeom>
          <a:noFill/>
          <a:ln w="19050">
            <a:solidFill>
              <a:srgbClr val="B8892C"/>
            </a:solidFill>
            <a:prstDash val="solid"/>
            <a:tailEnd type="arrow"/>
          </a:ln>
        </p:spPr>
      </p:sp>
      <p:sp>
        <p:nvSpPr>
          <p:cNvPr id="34" name="Text 32"/>
          <p:cNvSpPr/>
          <p:nvPr/>
        </p:nvSpPr>
        <p:spPr>
          <a:xfrm>
            <a:off x="4187952" y="251460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00600" y="2377440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37744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📱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93208" y="2377440"/>
            <a:ext cx="1133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09360" y="594360"/>
            <a:ext cx="2560320" cy="2148840"/>
          </a:xfrm>
          <a:prstGeom prst="roundRect">
            <a:avLst>
              <a:gd name="adj" fmla="val 4255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00800" y="44805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19088" y="44805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PromQL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37376" y="704088"/>
            <a:ext cx="2304288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HTTP Error Rate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rate(http_requests_total{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status=~'5..'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}[5m]) /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rate(http_requests_total[5m])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P99 Latency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histogram_quantile(0.99,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rate(http_duration_bucket[5m])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CPU Alert Rule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container_cpu_usage &gt; 0.8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294436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2944368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Critical: Error Rate &gt; 1%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108960" y="294436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18688" y="2944368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Warning: P99 &gt; 500ms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43600" y="294436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53328" y="2944368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Info: Deployment Completed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3520440"/>
            <a:ext cx="8595360" cy="932688"/>
          </a:xfrm>
          <a:prstGeom prst="roundRect">
            <a:avLst>
              <a:gd name="adj" fmla="val 9804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65760" y="337413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337413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 rule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02336" y="3630168"/>
            <a:ext cx="83393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alert: HighErrorRate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expr: rate(http_requests_total{status=~'5..'}[5m]) / rate(http_requests_total[5m]) &gt; 0.01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for: 2m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labels: { severity: critical 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annotations: { summary: 'Error rate {{ $value | humanizePercentage }}' }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Tracing: Finding Performance Bottlenecks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713232"/>
            <a:ext cx="713232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9088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13232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7132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50976" y="1033272"/>
            <a:ext cx="274320" cy="9144"/>
          </a:xfrm>
          <a:prstGeom prst="line">
            <a:avLst/>
          </a:prstGeom>
          <a:noFill/>
          <a:ln w="19050">
            <a:solidFill>
              <a:srgbClr val="5B8DB8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813816" y="85953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5B8D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" y="8595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8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/checkout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280160" y="713232"/>
            <a:ext cx="713232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713232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72768" y="7132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48256" y="1033272"/>
            <a:ext cx="274320" cy="9144"/>
          </a:xfrm>
          <a:prstGeom prst="line">
            <a:avLst/>
          </a:prstGeom>
          <a:noFill/>
          <a:ln w="19050">
            <a:solidFill>
              <a:srgbClr val="5A9B6E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911096" y="85953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5A9B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11096" y="8595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9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377440" y="713232"/>
            <a:ext cx="713232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713232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70048" y="7132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97480" y="1298448"/>
            <a:ext cx="9144" cy="292608"/>
          </a:xfrm>
          <a:prstGeom prst="line">
            <a:avLst/>
          </a:prstGeom>
          <a:noFill/>
          <a:ln w="19050">
            <a:solidFill>
              <a:srgbClr val="5A9B6E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920240" y="1600200"/>
            <a:ext cx="713232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65960" y="16002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🗄️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12848" y="160020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0" y="1600200"/>
            <a:ext cx="713232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8920" y="16002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35808" y="160020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566160" y="1600200"/>
            <a:ext cx="713232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16002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📧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58768" y="160020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80560" y="713232"/>
            <a:ext cx="4480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7132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 ID: abc-123-xyz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43800" y="71323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the entire request chain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03520" y="1234440"/>
            <a:ext cx="3383280" cy="137160"/>
          </a:xfrm>
          <a:prstGeom prst="roundRect">
            <a:avLst>
              <a:gd name="adj" fmla="val 20000"/>
            </a:avLst>
          </a:prstGeom>
          <a:solidFill>
            <a:srgbClr val="1A2A40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1234440"/>
            <a:ext cx="777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440680" y="1417320"/>
            <a:ext cx="3108960" cy="137160"/>
          </a:xfrm>
          <a:prstGeom prst="roundRect">
            <a:avLst>
              <a:gd name="adj" fmla="val 20000"/>
            </a:avLst>
          </a:prstGeom>
          <a:solidFill>
            <a:srgbClr val="1A2A1A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0" y="1417320"/>
            <a:ext cx="777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86400" y="1600200"/>
            <a:ext cx="2560320" cy="1371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0" y="1600200"/>
            <a:ext cx="777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query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486400" y="1783080"/>
            <a:ext cx="365760" cy="137160"/>
          </a:xfrm>
          <a:prstGeom prst="roundRect">
            <a:avLst>
              <a:gd name="adj" fmla="val 20000"/>
            </a:avLst>
          </a:prstGeom>
          <a:solidFill>
            <a:srgbClr val="1A1A2A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0" y="1783080"/>
            <a:ext cx="777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321040" y="1965960"/>
            <a:ext cx="457200" cy="137160"/>
          </a:xfrm>
          <a:prstGeom prst="roundRect">
            <a:avLst>
              <a:gd name="adj" fmla="val 20000"/>
            </a:avLst>
          </a:prstGeom>
          <a:solidFill>
            <a:srgbClr val="F3EDE0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0" y="1965960"/>
            <a:ext cx="777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Email(async)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138160" y="158191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DB query: 245ms — Bottleneck!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2176272"/>
            <a:ext cx="8595360" cy="1389888"/>
          </a:xfrm>
          <a:prstGeom prst="roundRect">
            <a:avLst>
              <a:gd name="adj" fmla="val 6579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5760" y="202996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202996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(OpenTelemetry)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02336" y="2286000"/>
            <a:ext cx="8339328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opentelemetry import trace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tracer = trace.get_tracer(__name__)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@app.get('/checkout')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checkout(user_id: str):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tracer.start_as_current_span('checkout') as span: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span.set_attribute('user.id', user_id)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tracer.start_as_current_span('db.query'):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 = await db.fetch_cart(user_id)  # Auto-records duration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result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4320" y="45720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Debugging a distributed system without tracing is like solving a puzzle blindfolded — OpenTelemetry is the modern standard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SRE: Treating Operations as a Software Engineering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SRE Responsibilities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1440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Eliminate Toil — Automate repetitive manual work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481328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8132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SLI/SLO/Error Budget Management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048256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48256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Incident Response &amp; On-Call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615184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1518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Postmortem Culture — Blameless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182112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8211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Build more reliable system architectures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930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 Budget: &lt; 50% of work time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7764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50% → SRE automates until it drops below 50%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594360"/>
            <a:ext cx="4206240" cy="347472"/>
          </a:xfrm>
          <a:prstGeom prst="roundRect">
            <a:avLst>
              <a:gd name="adj" fmla="val 15789"/>
            </a:avLst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5943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5943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SysAdmin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7960" y="5943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89520" y="5943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960120"/>
            <a:ext cx="4206240" cy="420624"/>
          </a:xfrm>
          <a:prstGeom prst="roundRect">
            <a:avLst>
              <a:gd name="adj" fmla="val 8696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960120"/>
            <a:ext cx="685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960120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37960" y="960120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89520" y="960120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1435608"/>
            <a:ext cx="4206240" cy="420624"/>
          </a:xfrm>
          <a:prstGeom prst="roundRect">
            <a:avLst>
              <a:gd name="adj" fmla="val 8696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1435608"/>
            <a:ext cx="685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1435608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SSH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37960" y="1435608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589520" y="1435608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1911096"/>
            <a:ext cx="4206240" cy="420624"/>
          </a:xfrm>
          <a:prstGeom prst="roundRect">
            <a:avLst>
              <a:gd name="adj" fmla="val 8696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1911096"/>
            <a:ext cx="685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Handling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0" y="1911096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&amp; Forget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537960" y="1911096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589520" y="1911096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Postmortem Required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386584"/>
            <a:ext cx="4206240" cy="420624"/>
          </a:xfrm>
          <a:prstGeom prst="roundRect">
            <a:avLst>
              <a:gd name="adj" fmla="val 8696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2386584"/>
            <a:ext cx="685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0" y="2386584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Uptime/Downtime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537960" y="2386584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Frequency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589520" y="2386584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SLO/Error Budget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Google SRE Handbook: 'SRE is what happens when you ask a software engineer to design an operations team — they automate everything'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Blameless Postmortem: Learning from Failures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Blameless Postmortem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root cause, not someone to blame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E5F0E9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7043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Describe facts, don't blame individuals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700784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E5F0E9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0078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5-Why root cause analysis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231136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E5F0E9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3113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Systemic improvement, not punishment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761488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E5F0E9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6148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Share learnings openly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310128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F8ECEC"/>
          </a:solidFill>
          <a:ln w="19050">
            <a:solidFill>
              <a:srgbClr val="C460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31012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Forbidden: 'It was all XXX's fault'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594360"/>
            <a:ext cx="4206240" cy="4160520"/>
          </a:xfrm>
          <a:prstGeom prst="roundRect">
            <a:avLst>
              <a:gd name="adj" fmla="val 2198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44805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44805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Postmortem Template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91456" y="704088"/>
            <a:ext cx="395020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Incident Summary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Date: 2024-03-15 14:32 UTC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Duration: 47 minutes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Impact: 23% of global users unable to log in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Severity: SEV-1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Timeline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- 14:32 Alert triggered: Error rate &gt; 5%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- 14:38 SRE on-call paged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- 14:45 Root cause identified: DB migration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- 15:19 Rollback completed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Root Cause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migration script locked the users table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causing all login requests to timeout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Action Items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Add DB migration smoke test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Schedule migrations during maintenance window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Improve rollback SOP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Summary: You Now Understand Real-World Deployment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SUMMARY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28600" y="594360"/>
            <a:ext cx="1298448" cy="1572768"/>
          </a:xfrm>
          <a:prstGeom prst="roundRect">
            <a:avLst>
              <a:gd name="adj" fmla="val 7042"/>
            </a:avLst>
          </a:prstGeom>
          <a:solidFill>
            <a:srgbClr val="F5F1EB"/>
          </a:solidFill>
          <a:ln w="19050">
            <a:solidFill>
              <a:srgbClr val="5B8D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621792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1752" y="85039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1752" y="13716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Deploy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" y="161848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Single→Split→3-Tier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64208" y="594360"/>
            <a:ext cx="1298448" cy="1572768"/>
          </a:xfrm>
          <a:prstGeom prst="roundRect">
            <a:avLst>
              <a:gd name="adj" fmla="val 7042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621792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37360" y="85039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37360" y="13716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161848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LB+Cache+MQ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099816" y="594360"/>
            <a:ext cx="1298448" cy="1572768"/>
          </a:xfrm>
          <a:prstGeom prst="roundRect">
            <a:avLst>
              <a:gd name="adj" fmla="val 7042"/>
            </a:avLst>
          </a:prstGeom>
          <a:solidFill>
            <a:srgbClr val="F5F1EB"/>
          </a:solidFill>
          <a:ln w="19050">
            <a:solidFill>
              <a:srgbClr val="4A9B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2968" y="621792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72968" y="85039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72968" y="13716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72968" y="161848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Env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35424" y="594360"/>
            <a:ext cx="1298448" cy="1572768"/>
          </a:xfrm>
          <a:prstGeom prst="roundRect">
            <a:avLst>
              <a:gd name="adj" fmla="val 7042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08576" y="621792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08576" y="85039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608576" y="13716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12-Factor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08576" y="161848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971032" y="594360"/>
            <a:ext cx="1298448" cy="1572768"/>
          </a:xfrm>
          <a:prstGeom prst="roundRect">
            <a:avLst>
              <a:gd name="adj" fmla="val 7042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44184" y="621792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44184" y="85039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044184" y="13716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44184" y="161848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406640" y="594360"/>
            <a:ext cx="1298448" cy="1572768"/>
          </a:xfrm>
          <a:prstGeom prst="roundRect">
            <a:avLst>
              <a:gd name="adj" fmla="val 7042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79792" y="621792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79792" y="85039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479792" y="13716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79792" y="161848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581912" y="1371600"/>
            <a:ext cx="64008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3017520" y="1371600"/>
            <a:ext cx="64008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4453128" y="1371600"/>
            <a:ext cx="64008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5888736" y="1371600"/>
            <a:ext cx="64008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7324344" y="1371600"/>
            <a:ext cx="64008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274320" y="2286000"/>
            <a:ext cx="8595360" cy="868680"/>
          </a:xfrm>
          <a:prstGeom prst="roundRect">
            <a:avLst>
              <a:gd name="adj" fmla="val 10526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2331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Core Insight: Complexity is inevitable — but it can be managed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74320" y="27157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+ 12-Factor + CI/CD + Observability = The Modern Cloud Native Engineer's Toolkit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273552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5F1EB"/>
          </a:solidFill>
          <a:ln w="19050">
            <a:solidFill>
              <a:srgbClr val="5B8D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333756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Architecture Evolves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84048" y="3675888"/>
            <a:ext cx="2432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monolith to distributed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has a reason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over-engineer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154680" y="3273552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5F1EB"/>
          </a:solidFill>
          <a:ln w="19050">
            <a:solidFill>
              <a:srgbClr val="4A9B8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64408" y="333756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Containers Are the Foundation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264408" y="3675888"/>
            <a:ext cx="2432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environments + Versioning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unit of modern deployment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Docker well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035040" y="3273552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44768" y="333756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Let Data Decide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144768" y="3675888"/>
            <a:ext cx="2432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SLO/SLA/DORA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improvement with metrics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rely on gut feelings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2026-04-03T16:24:51Z</dcterms:created>
  <dcterms:modified xsi:type="dcterms:W3CDTF">2026-04-03T16:24:51Z</dcterms:modified>
</cp:coreProperties>
</file>