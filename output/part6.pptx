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029200"/>
  <p:notesSz cx="50292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可觀測性三本柱：Metrics、Logs、Traces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43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3FB95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8288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0350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Metrics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10896" y="1179576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數字型時序資料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7548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CPU%, 記憶體, 請求數/秒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10896" y="1581912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548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工具: Prometheus + Grafana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0896" y="1984248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告警規則：CPU &gt; 80% → 通知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10896" y="2386584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適合: 「What 出了問題」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10896" y="2788920"/>
            <a:ext cx="109728" cy="109728"/>
          </a:xfrm>
          <a:prstGeom prst="ellipse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保留週期: 月 ~ 年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13944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D2992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13944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3944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356006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Logs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267456" y="1179576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32048" y="1115568"/>
            <a:ext cx="248107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文字事件流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432048" y="1316736"/>
            <a:ext cx="24810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結構化 JSON 格式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267456" y="1581912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3204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工具: ELK Stack, Loki, CloudWatch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67456" y="1984248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3204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stdout → 集中收集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3267456" y="2386584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43204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適合: 「Why 出了問題」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267456" y="2788920"/>
            <a:ext cx="109728" cy="109728"/>
          </a:xfrm>
          <a:prstGeom prst="ellipse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43204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保留週期: 週 ~ 月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096000" y="566928"/>
            <a:ext cx="2865120" cy="4050792"/>
          </a:xfrm>
          <a:prstGeom prst="roundRect">
            <a:avLst>
              <a:gd name="adj" fmla="val 3191"/>
            </a:avLst>
          </a:prstGeom>
          <a:solidFill>
            <a:srgbClr val="161B22"/>
          </a:solidFill>
          <a:ln w="15240">
            <a:solidFill>
              <a:srgbClr val="6E40C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96000" y="566928"/>
            <a:ext cx="2865120" cy="475488"/>
          </a:xfrm>
          <a:prstGeom prst="rect">
            <a:avLst/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96000" y="58521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🔗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6516624" y="566928"/>
            <a:ext cx="2407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Traces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24016" y="1179576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88608" y="1115568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分散式請求鏈路追蹤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224016" y="1581912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88608" y="1517904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ID 貫穿所有服務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224016" y="1984248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88608" y="1920240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工具: Jaeger, Zipkin, Tempo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224016" y="2386584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388608" y="2322576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適合: 「Where 出了問題」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224016" y="2788920"/>
            <a:ext cx="109728" cy="109728"/>
          </a:xfrm>
          <a:prstGeom prst="ellipse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88608" y="2724912"/>
            <a:ext cx="24810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保留週期: 天 ~ 週 (成本高)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三本柱缺一不可：Metrics 告訴你有問題，Logs 告訴你原因，Traces 告訴你在哪個服務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 / SLO / SLA：可靠性的三個層次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44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2743200" cy="438912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594360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 SLI — Service Level Indicator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74320" y="1078992"/>
            <a:ext cx="274320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11556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實際量測的服務指標值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138988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一個數字，代表服務現在的表現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" y="1828800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847088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可用性: 99.95%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2304288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322576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延遲: 245ms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2779776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2798064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錯誤率: 0.03%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4320" y="3255264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3273552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吞吐量: 1200 req/s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46120" y="594360"/>
            <a:ext cx="2743200" cy="438912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594360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SLO — Service Level Objective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46120" y="1078992"/>
            <a:ext cx="274320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37560" y="111556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你設定的目標數字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337560" y="138988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是 SLI 的目標值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46120" y="1828800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83280" y="1847088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可用性 SLO: ≥ 99.9%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246120" y="2304288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3280" y="2322576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 延遲 SLO: ≤ 500ms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46120" y="2779776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83280" y="2798064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錯誤率 SLO: ≤ 0.1%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246120" y="3255264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3280" y="3273552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Budget: 0.1% = 43min/月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17920" y="594360"/>
            <a:ext cx="2743200" cy="438912"/>
          </a:xfrm>
          <a:prstGeom prst="roundRect">
            <a:avLst>
              <a:gd name="adj" fmla="val 16667"/>
            </a:avLst>
          </a:prstGeom>
          <a:solidFill>
            <a:srgbClr val="1C2128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09360" y="594360"/>
            <a:ext cx="2606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SLA — Service Level Agreement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217920" y="1078992"/>
            <a:ext cx="2743200" cy="713232"/>
          </a:xfrm>
          <a:prstGeom prst="roundRect">
            <a:avLst>
              <a:gd name="adj" fmla="val 1025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09360" y="111556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對外承諾的法律協議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09360" y="1389888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違反 → 賠償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217920" y="1828800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55080" y="1847088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EC2: 99.99% 可用性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217920" y="2304288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55080" y="2322576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賠償: Service Credit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217920" y="2779776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55080" y="2798064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&lt; SLA (保留緩衝)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217920" y="3255264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355080" y="3273552"/>
            <a:ext cx="2468880" cy="374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「SLO 是內部目標，SLA 是外部承諾」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063240" y="1325880"/>
            <a:ext cx="164592" cy="9144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46" name="Text 44"/>
          <p:cNvSpPr/>
          <p:nvPr/>
        </p:nvSpPr>
        <p:spPr>
          <a:xfrm>
            <a:off x="3072384" y="1207008"/>
            <a:ext cx="164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by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6035040" y="1325880"/>
            <a:ext cx="164592" cy="9144"/>
          </a:xfrm>
          <a:prstGeom prst="line">
            <a:avLst/>
          </a:prstGeom>
          <a:noFill/>
          <a:ln w="19050">
            <a:solidFill>
              <a:srgbClr val="8B949E"/>
            </a:solidFill>
            <a:prstDash val="solid"/>
            <a:tailEnd type="arrow"/>
          </a:ln>
        </p:spPr>
      </p:sp>
      <p:sp>
        <p:nvSpPr>
          <p:cNvPr id="48" name="Text 46"/>
          <p:cNvSpPr/>
          <p:nvPr/>
        </p:nvSpPr>
        <p:spPr>
          <a:xfrm>
            <a:off x="6044184" y="1207008"/>
            <a:ext cx="1645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</a:t>
            </a:r>
            <a:endParaRPr lang="en-US" sz="650" dirty="0"/>
          </a:p>
        </p:txBody>
      </p:sp>
      <p:sp>
        <p:nvSpPr>
          <p:cNvPr id="49" name="Shape 47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SLO 要比 SLA 嚴格 10x — SLA 是 99.9%，你的 SLO 應該是 99.99%，中間是 Error Budget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Budget：把停機時間變成決策工具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45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74320" y="594360"/>
            <a:ext cx="4023360" cy="1005840"/>
          </a:xfrm>
          <a:prstGeom prst="roundRect">
            <a:avLst>
              <a:gd name="adj" fmla="val 9091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621792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 = 1 - SLO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10789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 = 99.9%  →  Error Budget = 0.1% = 43.8 分鐘/月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719072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0F2A1A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719072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Budget 充足 → 可以快速部署新功能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359152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2A0F0F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359152"/>
            <a:ext cx="3749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Budget 耗盡 → 停止功能部署，專注穩定性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3090672"/>
            <a:ext cx="4023360" cy="1234440"/>
          </a:xfrm>
          <a:prstGeom prst="roundRect">
            <a:avLst>
              <a:gd name="adj" fmla="val 7407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312724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Budget Policy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" y="3419856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 &gt; 50%：正常部署，可做風險部署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1480" y="3666744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 25-50%：謹慎部署，加強測試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11480" y="3913632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 &lt; 25%：凍結功能部署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754880" y="59436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 年 Monthly Error Budget 消耗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987552"/>
            <a:ext cx="4069080" cy="9144"/>
          </a:xfrm>
          <a:prstGeom prst="line">
            <a:avLst/>
          </a:prstGeom>
          <a:noFill/>
          <a:ln w="12700">
            <a:solidFill>
              <a:srgbClr val="F85149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7132320" y="841248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Limit (100%)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754880" y="2880360"/>
            <a:ext cx="237744" cy="502920"/>
          </a:xfrm>
          <a:prstGeom prst="roundRect">
            <a:avLst>
              <a:gd name="adj" fmla="val 11538"/>
            </a:avLst>
          </a:prstGeom>
          <a:solidFill>
            <a:srgbClr val="F85149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4718304" y="269748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5084064" y="3040380"/>
            <a:ext cx="237744" cy="342900"/>
          </a:xfrm>
          <a:prstGeom prst="roundRect">
            <a:avLst>
              <a:gd name="adj" fmla="val 11538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84064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5047488" y="28575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5413248" y="3200400"/>
            <a:ext cx="237744" cy="182880"/>
          </a:xfrm>
          <a:prstGeom prst="roundRect">
            <a:avLst>
              <a:gd name="adj" fmla="val 15000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13248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5376672" y="301752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5742432" y="2354580"/>
            <a:ext cx="237744" cy="1028700"/>
          </a:xfrm>
          <a:prstGeom prst="roundRect">
            <a:avLst>
              <a:gd name="adj" fmla="val 11538"/>
            </a:avLst>
          </a:prstGeom>
          <a:solidFill>
            <a:srgbClr val="D29922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742432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5705856" y="21717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6071616" y="1965960"/>
            <a:ext cx="237744" cy="1417320"/>
          </a:xfrm>
          <a:prstGeom prst="roundRect">
            <a:avLst>
              <a:gd name="adj" fmla="val 11538"/>
            </a:avLst>
          </a:prstGeom>
          <a:solidFill>
            <a:srgbClr val="F85149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071616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035040" y="178308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6400800" y="2971800"/>
            <a:ext cx="237744" cy="411480"/>
          </a:xfrm>
          <a:prstGeom prst="roundRect">
            <a:avLst>
              <a:gd name="adj" fmla="val 11538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0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364224" y="278892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6729984" y="3154680"/>
            <a:ext cx="237744" cy="228600"/>
          </a:xfrm>
          <a:prstGeom prst="roundRect">
            <a:avLst>
              <a:gd name="adj" fmla="val 12000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729984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693408" y="29718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7059168" y="3268980"/>
            <a:ext cx="237744" cy="114300"/>
          </a:xfrm>
          <a:prstGeom prst="roundRect">
            <a:avLst>
              <a:gd name="adj" fmla="val 24000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059168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7022592" y="30861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</a:t>
            </a:r>
            <a:endParaRPr lang="en-US" sz="650" dirty="0"/>
          </a:p>
        </p:txBody>
      </p:sp>
      <p:sp>
        <p:nvSpPr>
          <p:cNvPr id="45" name="Shape 43"/>
          <p:cNvSpPr/>
          <p:nvPr/>
        </p:nvSpPr>
        <p:spPr>
          <a:xfrm>
            <a:off x="7388352" y="2514600"/>
            <a:ext cx="237744" cy="868680"/>
          </a:xfrm>
          <a:prstGeom prst="roundRect">
            <a:avLst>
              <a:gd name="adj" fmla="val 11538"/>
            </a:avLst>
          </a:prstGeom>
          <a:solidFill>
            <a:srgbClr val="D29922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88352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7351776" y="233172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7717536" y="1211580"/>
            <a:ext cx="237744" cy="2171700"/>
          </a:xfrm>
          <a:prstGeom prst="roundRect">
            <a:avLst>
              <a:gd name="adj" fmla="val 11538"/>
            </a:avLst>
          </a:prstGeom>
          <a:solidFill>
            <a:srgbClr val="F85149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17536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7680960" y="102870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</a:t>
            </a:r>
            <a:endParaRPr lang="en-US" sz="650" dirty="0"/>
          </a:p>
        </p:txBody>
      </p:sp>
      <p:sp>
        <p:nvSpPr>
          <p:cNvPr id="51" name="Shape 49"/>
          <p:cNvSpPr/>
          <p:nvPr/>
        </p:nvSpPr>
        <p:spPr>
          <a:xfrm>
            <a:off x="8046720" y="2743200"/>
            <a:ext cx="237744" cy="640080"/>
          </a:xfrm>
          <a:prstGeom prst="roundRect">
            <a:avLst>
              <a:gd name="adj" fmla="val 11538"/>
            </a:avLst>
          </a:prstGeom>
          <a:solidFill>
            <a:srgbClr val="D29922"/>
          </a:solidFill>
          <a:ln w="6350">
            <a:solidFill>
              <a:srgbClr val="D29922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046720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8010144" y="256032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</a:t>
            </a:r>
            <a:endParaRPr lang="en-US" sz="650" dirty="0"/>
          </a:p>
        </p:txBody>
      </p:sp>
      <p:sp>
        <p:nvSpPr>
          <p:cNvPr id="54" name="Shape 52"/>
          <p:cNvSpPr/>
          <p:nvPr/>
        </p:nvSpPr>
        <p:spPr>
          <a:xfrm>
            <a:off x="8375904" y="3108960"/>
            <a:ext cx="237744" cy="274320"/>
          </a:xfrm>
          <a:prstGeom prst="roundRect">
            <a:avLst>
              <a:gd name="adj" fmla="val 11538"/>
            </a:avLst>
          </a:prstGeom>
          <a:solidFill>
            <a:srgbClr val="3FB950"/>
          </a:solidFill>
          <a:ln w="6350">
            <a:solidFill>
              <a:srgbClr val="3FB95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375904" y="3401568"/>
            <a:ext cx="23774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8339328" y="2926080"/>
            <a:ext cx="3108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274320" y="352044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2A0F0F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3566160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  10月份 Error Budget 耗盡！→ 立即凍結功能部署，SRE 介入穩定性改善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7132320" y="3593592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32320" y="362102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凍結部署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626096" y="3593592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626096" y="362102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 行動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8119872" y="3593592"/>
            <a:ext cx="1097280" cy="228600"/>
          </a:xfrm>
          <a:prstGeom prst="roundRect">
            <a:avLst>
              <a:gd name="adj" fmla="val 16000"/>
            </a:avLst>
          </a:prstGeom>
          <a:solidFill>
            <a:srgbClr val="3D1515"/>
          </a:solidFill>
          <a:ln w="6350">
            <a:solidFill>
              <a:srgbClr val="F85149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119872" y="3621024"/>
            <a:ext cx="1097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Error Budget 讓 Dev 和 Ops 有共同語言 — 不是「穩定 vs 速度」，而是「剩多少 budget 可以花」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監控實戰：Prometheus + Grafana 組合拳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46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65760" y="658368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65836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658368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463040" y="79552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:8080/metrics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65760" y="1207008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20700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" y="1207008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api-02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463040" y="134416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:8080/metrics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65760" y="1755648"/>
            <a:ext cx="1051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755648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1755648"/>
            <a:ext cx="72237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api-03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463040" y="1892808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:8080/metrics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103120" y="1371600"/>
            <a:ext cx="457200" cy="9144"/>
          </a:xfrm>
          <a:prstGeom prst="line">
            <a:avLst/>
          </a:prstGeom>
          <a:noFill/>
          <a:ln w="19050">
            <a:solidFill>
              <a:srgbClr val="3FB950"/>
            </a:solidFill>
            <a:prstDash val="solid"/>
            <a:tailEnd type="arrow"/>
          </a:ln>
        </p:spPr>
      </p:sp>
      <p:sp>
        <p:nvSpPr>
          <p:cNvPr id="19" name="Text 17"/>
          <p:cNvSpPr/>
          <p:nvPr/>
        </p:nvSpPr>
        <p:spPr>
          <a:xfrm>
            <a:off x="2084832" y="1115568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15s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651760" y="621792"/>
            <a:ext cx="1463040" cy="1389888"/>
          </a:xfrm>
          <a:prstGeom prst="roundRect">
            <a:avLst>
              <a:gd name="adj" fmla="val 6579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2651760" y="676656"/>
            <a:ext cx="1463040" cy="639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2706624" y="1344534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688336" y="1573134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時序資料庫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15s scrape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206240" y="1344168"/>
            <a:ext cx="411480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4663440" y="621792"/>
            <a:ext cx="1463040" cy="1389888"/>
          </a:xfrm>
          <a:prstGeom prst="roundRect">
            <a:avLst>
              <a:gd name="adj" fmla="val 6579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663440" y="676656"/>
            <a:ext cx="1463040" cy="6393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📈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4718304" y="1344534"/>
            <a:ext cx="1353312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700016" y="1573134"/>
            <a:ext cx="138988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視覺化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Dashboard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2651760" y="2331720"/>
            <a:ext cx="14630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97480" y="233172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🔔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944368" y="2331720"/>
            <a:ext cx="11338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3383280" y="2057400"/>
            <a:ext cx="9144" cy="256032"/>
          </a:xfrm>
          <a:prstGeom prst="line">
            <a:avLst/>
          </a:prstGeom>
          <a:noFill/>
          <a:ln w="19050">
            <a:solidFill>
              <a:srgbClr val="F85149"/>
            </a:solidFill>
            <a:prstDash val="solid"/>
            <a:tailEnd type="arrow"/>
          </a:ln>
        </p:spPr>
      </p:sp>
      <p:sp>
        <p:nvSpPr>
          <p:cNvPr id="33" name="Shape 31"/>
          <p:cNvSpPr/>
          <p:nvPr/>
        </p:nvSpPr>
        <p:spPr>
          <a:xfrm>
            <a:off x="4206240" y="2743200"/>
            <a:ext cx="457200" cy="9144"/>
          </a:xfrm>
          <a:prstGeom prst="line">
            <a:avLst/>
          </a:prstGeom>
          <a:noFill/>
          <a:ln w="19050">
            <a:solidFill>
              <a:srgbClr val="D29922"/>
            </a:solidFill>
            <a:prstDash val="solid"/>
            <a:tailEnd type="arrow"/>
          </a:ln>
        </p:spPr>
      </p:sp>
      <p:sp>
        <p:nvSpPr>
          <p:cNvPr id="34" name="Text 32"/>
          <p:cNvSpPr/>
          <p:nvPr/>
        </p:nvSpPr>
        <p:spPr>
          <a:xfrm>
            <a:off x="4187952" y="251460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notify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800600" y="2377440"/>
            <a:ext cx="146304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46320" y="237744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📱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093208" y="2377440"/>
            <a:ext cx="11338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PagerDuty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309360" y="594360"/>
            <a:ext cx="2560320" cy="2148840"/>
          </a:xfrm>
          <a:prstGeom prst="roundRect">
            <a:avLst>
              <a:gd name="adj" fmla="val 4255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40080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41908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PromQL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437376" y="704088"/>
            <a:ext cx="2304288" cy="1965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HTTP 錯誤率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rate(http_requests_total{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status=~'5..'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}[5m]) /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rate(http_requests_total[5m])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P99 延遲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histogram_quantile(0.99,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rate(http_duration_bucket[5m])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CPU 告警規則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container_cpu_usage &gt; 0.8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74320" y="2944368"/>
            <a:ext cx="26517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84048" y="2944368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Critical: 錯誤率 &gt; 1%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108960" y="2944368"/>
            <a:ext cx="26517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18688" y="2944368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Warning: P99 &gt; 500ms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43600" y="2944368"/>
            <a:ext cx="26517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53328" y="2944368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Info: 部署完成通知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74320" y="3520440"/>
            <a:ext cx="8595360" cy="932688"/>
          </a:xfrm>
          <a:prstGeom prst="roundRect">
            <a:avLst>
              <a:gd name="adj" fmla="val 9804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365760" y="337413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4048" y="337413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 rule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02336" y="3630168"/>
            <a:ext cx="8339328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alert: HighErrorRate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expr: rate(http_requests_total{status=~'5..'}[5m]) / rate(http_requests_total[5m]) &gt; 0.01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for: 2m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labels: { severity: critical }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annotations: { summary: 'Error rate {{ $value | humanizePercentage }}' }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6E40C9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分散式追蹤：找出效能瓶頸在哪裡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47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82880" y="713232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8B949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" y="71323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75488" y="713232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950976" y="1033272"/>
            <a:ext cx="274320" cy="9144"/>
          </a:xfrm>
          <a:prstGeom prst="line">
            <a:avLst/>
          </a:prstGeom>
          <a:noFill/>
          <a:ln w="19050">
            <a:solidFill>
              <a:srgbClr val="1F6FEB"/>
            </a:solidFill>
            <a:prstDash val="solid"/>
            <a:tailEnd type="arrow"/>
          </a:ln>
        </p:spPr>
      </p:sp>
      <p:sp>
        <p:nvSpPr>
          <p:cNvPr id="10" name="Text 8"/>
          <p:cNvSpPr/>
          <p:nvPr/>
        </p:nvSpPr>
        <p:spPr>
          <a:xfrm>
            <a:off x="905256" y="877824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F6F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/checkout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280160" y="713232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25880" y="71323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🌐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572768" y="713232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048256" y="1033272"/>
            <a:ext cx="274320" cy="9144"/>
          </a:xfrm>
          <a:prstGeom prst="line">
            <a:avLst/>
          </a:prstGeom>
          <a:noFill/>
          <a:ln w="19050">
            <a:solidFill>
              <a:srgbClr val="238636"/>
            </a:solidFill>
            <a:prstDash val="solid"/>
            <a:tailEnd type="arrow"/>
          </a:ln>
        </p:spPr>
      </p:sp>
      <p:sp>
        <p:nvSpPr>
          <p:cNvPr id="15" name="Text 13"/>
          <p:cNvSpPr/>
          <p:nvPr/>
        </p:nvSpPr>
        <p:spPr>
          <a:xfrm>
            <a:off x="2002536" y="877824"/>
            <a:ext cx="3657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2386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proxy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377440" y="713232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23160" y="713232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⚙️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670048" y="713232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697480" y="1298448"/>
            <a:ext cx="9144" cy="292608"/>
          </a:xfrm>
          <a:prstGeom prst="line">
            <a:avLst/>
          </a:prstGeom>
          <a:noFill/>
          <a:ln w="19050">
            <a:solidFill>
              <a:srgbClr val="238636"/>
            </a:solidFill>
            <a:prstDash val="solid"/>
            <a:tailEnd type="arrow"/>
          </a:ln>
        </p:spPr>
      </p:sp>
      <p:sp>
        <p:nvSpPr>
          <p:cNvPr id="20" name="Shape 18"/>
          <p:cNvSpPr/>
          <p:nvPr/>
        </p:nvSpPr>
        <p:spPr>
          <a:xfrm>
            <a:off x="1920240" y="1600200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965960" y="16002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🗄️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212848" y="16002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743200" y="1600200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88920" y="16002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⚡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035808" y="16002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566160" y="1600200"/>
            <a:ext cx="713232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11880" y="1600200"/>
            <a:ext cx="237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📧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858768" y="1600200"/>
            <a:ext cx="3840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480560" y="713232"/>
            <a:ext cx="4480560" cy="347472"/>
          </a:xfrm>
          <a:prstGeom prst="roundRect">
            <a:avLst>
              <a:gd name="adj" fmla="val 15789"/>
            </a:avLst>
          </a:prstGeom>
          <a:solidFill>
            <a:srgbClr val="161B22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17720" y="71323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E40C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 ID: abc-123-xyz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543800" y="713232"/>
            <a:ext cx="1280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貫穿整個請求鏈路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303520" y="1234440"/>
            <a:ext cx="3383280" cy="137160"/>
          </a:xfrm>
          <a:prstGeom prst="roundRect">
            <a:avLst>
              <a:gd name="adj" fmla="val 20000"/>
            </a:avLst>
          </a:prstGeom>
          <a:solidFill>
            <a:srgbClr val="1A2A40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80560" y="123444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5440680" y="1417320"/>
            <a:ext cx="3108960" cy="137160"/>
          </a:xfrm>
          <a:prstGeom prst="roundRect">
            <a:avLst>
              <a:gd name="adj" fmla="val 20000"/>
            </a:avLst>
          </a:prstGeom>
          <a:solidFill>
            <a:srgbClr val="1A2A1A"/>
          </a:solidFill>
          <a:ln w="12700">
            <a:solidFill>
              <a:srgbClr val="23863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80560" y="141732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486400" y="1600200"/>
            <a:ext cx="2560320" cy="137160"/>
          </a:xfrm>
          <a:prstGeom prst="roundRect">
            <a:avLst>
              <a:gd name="adj" fmla="val 20000"/>
            </a:avLst>
          </a:prstGeom>
          <a:solidFill>
            <a:srgbClr val="2A0F0F"/>
          </a:solidFill>
          <a:ln w="12700">
            <a:solidFill>
              <a:srgbClr val="E3620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80560" y="160020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query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86400" y="1783080"/>
            <a:ext cx="365760" cy="137160"/>
          </a:xfrm>
          <a:prstGeom prst="roundRect">
            <a:avLst>
              <a:gd name="adj" fmla="val 20000"/>
            </a:avLst>
          </a:prstGeom>
          <a:solidFill>
            <a:srgbClr val="1A1A2A"/>
          </a:solidFill>
          <a:ln w="12700">
            <a:solidFill>
              <a:srgbClr val="6E40C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80560" y="178308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8321040" y="1965960"/>
            <a:ext cx="457200" cy="137160"/>
          </a:xfrm>
          <a:prstGeom prst="roundRect">
            <a:avLst>
              <a:gd name="adj" fmla="val 20000"/>
            </a:avLst>
          </a:prstGeom>
          <a:solidFill>
            <a:srgbClr val="2A1F00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480560" y="1965960"/>
            <a:ext cx="7772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Email(async)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8138160" y="1581912"/>
            <a:ext cx="822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DB query: 245ms — 瓶頸！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74320" y="2176272"/>
            <a:ext cx="8595360" cy="1389888"/>
          </a:xfrm>
          <a:prstGeom prst="roundRect">
            <a:avLst>
              <a:gd name="adj" fmla="val 6579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365760" y="2029968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84048" y="2029968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(OpenTelemetry)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02336" y="2286000"/>
            <a:ext cx="8339328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opentelemetry import trace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tracer = trace.get_tracer(__name__)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@app.get('/checkout')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def checkout(user_id: str):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with tracer.start_as_current_span('checkout') as span: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span.set_attribute('user.id', user_id)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 tracer.start_as_current_span('db.query'):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result = await db.fetch_cart(user_id)  # 自動記錄時間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result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74320" y="4572000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" y="46177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沒有 Tracing 的分散式系統，除錯就像蒙眼猜謎 — OpenTelemetry 是現代標準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SRE：把維運當成軟體工程問題來解決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48 / 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5943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 的核心工作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74320" y="914400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914400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消除 Toil — 把重複手動工作自動化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4320" y="1481328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481328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SLI/SLO/Error Budget 管理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048256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048256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🚨 Incident Response 與 On-Call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74320" y="2615184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615184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Postmortem 文化 — Blameless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74320" y="3182112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11480" y="3182112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E4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打造更可靠的系統架構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74320" y="3429000"/>
            <a:ext cx="4023360" cy="804672"/>
          </a:xfrm>
          <a:prstGeom prst="roundRect">
            <a:avLst>
              <a:gd name="adj" fmla="val 11364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3493008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Toil 預算: &lt; 50% 工作時間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11480" y="3776472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 50% → SRE 幫你自動化，直到降到 50% 以下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663440" y="594360"/>
            <a:ext cx="4206240" cy="347472"/>
          </a:xfrm>
          <a:prstGeom prst="roundRect">
            <a:avLst>
              <a:gd name="adj" fmla="val 15789"/>
            </a:avLst>
          </a:prstGeom>
          <a:solidFill>
            <a:srgbClr val="1C2128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59436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0" y="59436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SysAdmin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37960" y="59436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589520" y="594360"/>
            <a:ext cx="914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960120"/>
            <a:ext cx="4206240" cy="420624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09160" y="960120"/>
            <a:ext cx="685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主要目標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486400" y="960120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穩定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537960" y="960120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速度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589520" y="960120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可靠性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663440" y="1435608"/>
            <a:ext cx="4206240" cy="420624"/>
          </a:xfrm>
          <a:prstGeom prst="roundRect">
            <a:avLst>
              <a:gd name="adj" fmla="val 8696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09160" y="1435608"/>
            <a:ext cx="685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自動化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0" y="14356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手動 SSH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537960" y="14356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589520" y="1435608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全自動化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663440" y="1911096"/>
            <a:ext cx="4206240" cy="420624"/>
          </a:xfrm>
          <a:prstGeom prst="roundRect">
            <a:avLst>
              <a:gd name="adj" fmla="val 8696"/>
            </a:avLst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09160" y="1911096"/>
            <a:ext cx="685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故障處理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486400" y="1911096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修完拉倒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537960" y="1911096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不一定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589520" y="1911096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Postmortem 必須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386584"/>
            <a:ext cx="4206240" cy="420624"/>
          </a:xfrm>
          <a:prstGeom prst="roundRect">
            <a:avLst>
              <a:gd name="adj" fmla="val 8696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09160" y="2386584"/>
            <a:ext cx="6858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衡量方式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486400" y="2386584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有沒有當機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537960" y="2386584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部署頻率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589520" y="2386584"/>
            <a:ext cx="9601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SLO/Error Budget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74320" y="4645152"/>
            <a:ext cx="8595360" cy="384048"/>
          </a:xfrm>
          <a:prstGeom prst="roundRect">
            <a:avLst>
              <a:gd name="adj" fmla="val 14286"/>
            </a:avLst>
          </a:prstGeom>
          <a:solidFill>
            <a:srgbClr val="0A1929"/>
          </a:solidFill>
          <a:ln w="9525">
            <a:solidFill>
              <a:srgbClr val="58A6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469087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Google 的 SRE 手冊：「SRE 是把軟體工程師扔進維運問題 — 他們的反應是把一切自動化」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D29922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Postmortem：從故障中學習，而不是追責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  ·  49 / 50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274320" y="5943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🚫 Blameless Postmortem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868680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不找兇手，找根本原因 (Root Cause)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1170432"/>
            <a:ext cx="4023360" cy="438912"/>
          </a:xfrm>
          <a:prstGeom prst="roundRect">
            <a:avLst>
              <a:gd name="adj" fmla="val 16667"/>
            </a:avLst>
          </a:prstGeom>
          <a:solidFill>
            <a:srgbClr val="0F2A1A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" y="1170432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描述事實，不指責個人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1700784"/>
            <a:ext cx="4023360" cy="438912"/>
          </a:xfrm>
          <a:prstGeom prst="roundRect">
            <a:avLst>
              <a:gd name="adj" fmla="val 16667"/>
            </a:avLst>
          </a:prstGeom>
          <a:solidFill>
            <a:srgbClr val="0F2A1A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700784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5-Why 根本原因分析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4320" y="2231136"/>
            <a:ext cx="4023360" cy="438912"/>
          </a:xfrm>
          <a:prstGeom prst="roundRect">
            <a:avLst>
              <a:gd name="adj" fmla="val 16667"/>
            </a:avLst>
          </a:prstGeom>
          <a:solidFill>
            <a:srgbClr val="0F2A1A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231136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系統性改善，而非懲罰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74320" y="2761488"/>
            <a:ext cx="4023360" cy="438912"/>
          </a:xfrm>
          <a:prstGeom prst="roundRect">
            <a:avLst>
              <a:gd name="adj" fmla="val 16667"/>
            </a:avLst>
          </a:prstGeom>
          <a:solidFill>
            <a:srgbClr val="0F2A1A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2761488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公開分享學習成果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3310128"/>
            <a:ext cx="4023360" cy="475488"/>
          </a:xfrm>
          <a:prstGeom prst="roundRect">
            <a:avLst>
              <a:gd name="adj" fmla="val 15385"/>
            </a:avLst>
          </a:prstGeom>
          <a:solidFill>
            <a:srgbClr val="2A0F0F"/>
          </a:solidFill>
          <a:ln w="19050">
            <a:solidFill>
              <a:srgbClr val="F851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310128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禁止: 「都是 XXX 的錯」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63440" y="594360"/>
            <a:ext cx="4206240" cy="4160520"/>
          </a:xfrm>
          <a:prstGeom prst="roundRect">
            <a:avLst>
              <a:gd name="adj" fmla="val 2198"/>
            </a:avLst>
          </a:prstGeom>
          <a:solidFill>
            <a:srgbClr val="0D1117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27000" dist="50800" dir="2700000">
              <a:srgbClr val="000000">
                <a:alpha val="5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448056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C2128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73168" y="448056"/>
            <a:ext cx="87782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Postmortem Template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91456" y="704088"/>
            <a:ext cx="3950208" cy="3977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Incident Summary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Date: 2024-03-15 14:32 UTC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Duration: 47 minutes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Impact: 全球 23% 用戶無法登入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Severity: SEV-1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Timeline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- 14:32 Alert triggered: Error rate &gt; 5%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- 14:38 SRE on-call paged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- 14:45 Root cause identified: DB migration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- 15:19 Rollback completed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Root Cause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 migration script 鎖住了 users table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導致所有登入請求 timeout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Action Items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] 加入 DB migration smoke test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] Migration 改在 Maintenance window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] 改善 Rollback SOP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61B22"/>
          </a:solidFill>
          <a:ln w="6350">
            <a:solidFill>
              <a:srgbClr val="30363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82296"/>
            <a:ext cx="45720" cy="310896"/>
          </a:xfrm>
          <a:prstGeom prst="rect">
            <a:avLst/>
          </a:prstGeom>
          <a:solidFill>
            <a:srgbClr val="58A6FF"/>
          </a:solidFill>
          <a:ln w="12700">
            <a:solidFill>
              <a:srgbClr val="58A6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0"/>
            <a:ext cx="5943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課程總結：你現在已經了解真實世界的部署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132320" y="0"/>
            <a:ext cx="1920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SUMMARY  ·  50 / 50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228600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1752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1752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🖥️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01752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傳統部署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1752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單機→拆分→三層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664208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6E40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37360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737360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737360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Out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737360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LB+Cache+MQ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099816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172968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172968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🐳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172968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172968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一致環境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535424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08576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608576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608576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12-Factor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08576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設計原則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971032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44184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044184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044184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044184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406640" y="594360"/>
            <a:ext cx="1298448" cy="1572768"/>
          </a:xfrm>
          <a:prstGeom prst="roundRect">
            <a:avLst>
              <a:gd name="adj" fmla="val 7042"/>
            </a:avLst>
          </a:prstGeom>
          <a:solidFill>
            <a:srgbClr val="161B22"/>
          </a:solidFill>
          <a:ln w="19050">
            <a:solidFill>
              <a:srgbClr val="D299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79792" y="621792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479792" y="850392"/>
            <a:ext cx="1143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7479792" y="1371600"/>
            <a:ext cx="1143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可觀測性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79792" y="1618488"/>
            <a:ext cx="1143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SRE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581912" y="1371600"/>
            <a:ext cx="64008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7" name="Shape 35"/>
          <p:cNvSpPr/>
          <p:nvPr/>
        </p:nvSpPr>
        <p:spPr>
          <a:xfrm>
            <a:off x="3017520" y="1371600"/>
            <a:ext cx="64008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>
            <a:off x="4453128" y="1371600"/>
            <a:ext cx="64008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39" name="Shape 37"/>
          <p:cNvSpPr/>
          <p:nvPr/>
        </p:nvSpPr>
        <p:spPr>
          <a:xfrm>
            <a:off x="5888736" y="1371600"/>
            <a:ext cx="64008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>
            <a:off x="7324344" y="1371600"/>
            <a:ext cx="64008" cy="9144"/>
          </a:xfrm>
          <a:prstGeom prst="line">
            <a:avLst/>
          </a:prstGeom>
          <a:noFill/>
          <a:ln w="19050">
            <a:solidFill>
              <a:srgbClr val="58A6FF"/>
            </a:solidFill>
            <a:prstDash val="solid"/>
            <a:tailEnd type="arrow"/>
          </a:ln>
        </p:spPr>
      </p:sp>
      <p:sp>
        <p:nvSpPr>
          <p:cNvPr id="41" name="Shape 39"/>
          <p:cNvSpPr/>
          <p:nvPr/>
        </p:nvSpPr>
        <p:spPr>
          <a:xfrm>
            <a:off x="274320" y="2286000"/>
            <a:ext cx="8595360" cy="868680"/>
          </a:xfrm>
          <a:prstGeom prst="roundRect">
            <a:avLst>
              <a:gd name="adj" fmla="val 10526"/>
            </a:avLst>
          </a:prstGeom>
          <a:solidFill>
            <a:srgbClr val="161B22"/>
          </a:solidFill>
          <a:ln w="19050">
            <a:solidFill>
              <a:srgbClr val="58A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4320" y="233172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核心洞察：複雜度是必然的 — 但可以被管理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274320" y="2715768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+ 12-Factor + CI/CD + Observability = 現代 Cloud Native 工程師的工具箱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74320" y="3273552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1F6F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84048" y="3337560"/>
            <a:ext cx="2432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🏗️ 架構是演進的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384048" y="3675888"/>
            <a:ext cx="243230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從單機到分散式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每一步都有原因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不要過度設計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154680" y="3273552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0D8A6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264408" y="3337560"/>
            <a:ext cx="2432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8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🐳 Container 是基石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264408" y="3675888"/>
            <a:ext cx="243230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環境一致 + 版本管理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現代部署的最小單位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學會用好 Docker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35040" y="3273552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9050">
            <a:solidFill>
              <a:srgbClr val="3FB95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44768" y="3337560"/>
            <a:ext cx="24323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數字說話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144768" y="3675888"/>
            <a:ext cx="243230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SLO/SLA/DORA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用指標驅動改善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不靠感覺做決策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2026-03-16T23:24:31Z</dcterms:created>
  <dcterms:modified xsi:type="dcterms:W3CDTF">2026-03-16T23:24:31Z</dcterms:modified>
</cp:coreProperties>
</file>