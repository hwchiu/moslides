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vs Monitoring: Beyond Just Charts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30352"/>
            <a:ext cx="9144" cy="3310128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Traditional 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332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to look for in advance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2161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Dashboards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08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knows WHAT is broken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6916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CPU, slow responses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956816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84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answer unknown questions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1671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Helpless against novel failures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32304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59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alert thresholds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6426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CPU &gt; 80%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Observability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332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internal system state from external outputs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481328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08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/ Why / Where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16916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956816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984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answer any question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21671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first-time incidents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432304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459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and queryable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26426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pre-built dashboards needed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401568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015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tells you WHEN things break. Observability tells you WHY.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41148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Three Pillars of Observability: Metrics (what is broken) + Logs (why) + Traces (which service) — all three are essential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Overview: What Metrics, Logs, Traces Each Solve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9786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time-series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60020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now?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002536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CPU%, Req/s, Error Rate, P99 Latency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" y="2404872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Alerting, capacity planning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" y="280720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Months to years (low cost)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" y="320954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Prometheus, Grafana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944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3944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3944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6006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Logs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67456" y="119786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204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event stream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7456" y="160020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204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7456" y="200253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details, error stack traces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7456" y="240487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204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Debugging, auditing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67456" y="280720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Days to months (high cost)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67456" y="320954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204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ELK, Loki, Fluentd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9600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9600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9600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51662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Traces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24016" y="119786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860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request path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24016" y="160020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860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slow?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24016" y="200253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860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service, which function, how long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24016" y="240487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860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Perf analysis, dependency tracking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24016" y="280720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860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Days to weeks (highest cost)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24016" y="320954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860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Jaeger, Tempo, Zipkin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Cost perspective: Metrics are cheapest (numbers), Logs are moderate (text), Traces are most expensive (every Span must be stored)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vs Distributed: Why Observability Becomes Critical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30352"/>
            <a:ext cx="9144" cy="3931920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66928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Monolith: Simple Debugging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10058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06070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52144" y="1481328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33856" y="17099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Process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app.log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87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 / console.log()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16936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169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gdb / pdb local debugging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3840480" cy="347472"/>
          </a:xfrm>
          <a:prstGeom prst="roundRect">
            <a:avLst>
              <a:gd name="adj" fmla="val 15789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64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problem is in this process — just search here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Distributed: Debugging Nightmare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91440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91440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0" y="914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07808" y="91440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auth-svc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14630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4630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47488" y="146304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order-svc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14630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4630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27648" y="146304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payment-svc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15200" y="14630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60920" y="14630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07808" y="146304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inventory-svc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0116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011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47488" y="201168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email-svc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20116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2011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27648" y="201168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0" y="20116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2011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607808" y="201168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290779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295351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User says checkout is slow! Which service? Which function? Without tracing, you have to check logs on every service...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132320" y="298094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0083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to find issue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626096" y="298094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26096" y="30083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unfindable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74320" y="43434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389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distributed systems, a single request may touch 10+ services — without Traces, you have no idea where the bottleneck 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Numbers Tell You System Health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3/10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288036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297680" cy="804672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21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= Numeric Time-Series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8961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(timestamp, metric_name, labels, value)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4813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 is running in production — but how do you know it's healthy?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28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📈 http_requests_total: 15,847 req (counter)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677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api_response_p99_ms: 245ms (gauge)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066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http_error_rate: 0.03% (gauge)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process_memory_bytes: 512MB (gauge)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3016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3016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Metrics, it's like driving without a dashboard — no speed, fuel, or engine status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68580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749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http_requests_total (rate/s)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66360" y="2651760"/>
            <a:ext cx="411480" cy="438912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468880"/>
            <a:ext cx="411480" cy="621792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25896" y="2286000"/>
            <a:ext cx="411480" cy="804672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5664" y="1828800"/>
            <a:ext cx="411480" cy="1261872"/>
          </a:xfrm>
          <a:prstGeom prst="rect">
            <a:avLst/>
          </a:prstGeom>
          <a:solidFill>
            <a:srgbClr val="B8892C">
              <a:alpha val="60000"/>
            </a:srgbClr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85432" y="1280160"/>
            <a:ext cx="411480" cy="1810512"/>
          </a:xfrm>
          <a:prstGeom prst="rect">
            <a:avLst/>
          </a:prstGeom>
          <a:solidFill>
            <a:srgbClr val="C4605B">
              <a:alpha val="60000"/>
            </a:srgbClr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2011680"/>
            <a:ext cx="411480" cy="1078992"/>
          </a:xfrm>
          <a:prstGeom prst="rect">
            <a:avLst/>
          </a:prstGeom>
          <a:solidFill>
            <a:srgbClr val="B8892C">
              <a:alpha val="60000"/>
            </a:srgbClr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44968" y="2423160"/>
            <a:ext cx="411480" cy="667512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74736" y="2633472"/>
            <a:ext cx="256032" cy="457200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127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9144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37760" y="3456432"/>
            <a:ext cx="1207008" cy="749808"/>
          </a:xfrm>
          <a:prstGeom prst="roundRect">
            <a:avLst>
              <a:gd name="adj" fmla="val 8537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Time-Series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92624" y="37033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91072" y="3456432"/>
            <a:ext cx="1207008" cy="749808"/>
          </a:xfrm>
          <a:prstGeom prst="roundRect">
            <a:avLst>
              <a:gd name="adj" fmla="val 8537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Labels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45936" y="37033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env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region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44384" y="3456432"/>
            <a:ext cx="1207008" cy="749808"/>
          </a:xfrm>
          <a:prstGeom prst="roundRect">
            <a:avLst>
              <a:gd name="adj" fmla="val 853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99248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Efficient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99248" y="37033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= small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storage cost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49884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44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Metrics are not Logs — Metrics only store numbers, extremely low cost, suitable for long-term retention (1+ years is no problem)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 Data Types: Counter, Gauge, Histogram,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Counter — Only Goes 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Total requests, total errors, bytes transferred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133856"/>
            <a:ext cx="3657600" cy="292608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http_requests_total{method='GET',status='200'}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Counter alone is meaningless — use rate() to compute per-second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32004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304288"/>
            <a:ext cx="9144" cy="155448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148840"/>
            <a:ext cx="32004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2148840"/>
            <a:ext cx="9144" cy="155448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993392"/>
            <a:ext cx="32004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1993392"/>
            <a:ext cx="9144" cy="14630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1847088"/>
            <a:ext cx="32004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1847088"/>
            <a:ext cx="9144" cy="128016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5943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658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Gauge — Goes Up and Down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914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Active connections, memory usage, queue depth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1133856"/>
            <a:ext cx="3657600" cy="292608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133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process_resident_memory_bytes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0" y="1481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value directly — no rate() needed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029968"/>
            <a:ext cx="228600" cy="14630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2029968"/>
            <a:ext cx="228600" cy="2377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1993392"/>
            <a:ext cx="228600" cy="27432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3560" y="1993392"/>
            <a:ext cx="228600" cy="219456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2057400"/>
            <a:ext cx="228600" cy="155448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057400"/>
            <a:ext cx="228600" cy="246888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76148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16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Histogram — Bucketed Distribution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0723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Request latency and response size distribution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291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Buckets: _le=0.1, _le=0.5, _le=1.0, _le=+Inf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4930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histogram_quantile(0.99, ...) to compute P99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7307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quantile computation — most flexible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76148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816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Summary — Client-Side Quantiles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30723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When precise quantiles needed, low data volume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3291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outputs P50, P90, P99 quantiles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34930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Cannot aggregate across instances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0" y="37307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Histogram in most cases; Summary is rarely used now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vs Pull: Fundamental Collection Mode Differences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30352"/>
            <a:ext cx="9144" cy="4434840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Pull Mode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:8080/metrics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1732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0992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:8080/metrics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6148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:8080/metrics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1417320"/>
            <a:ext cx="9144" cy="347472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920240" y="1417320"/>
            <a:ext cx="9144" cy="347472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971800" y="1417320"/>
            <a:ext cx="9144" cy="347472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57200" y="1783080"/>
            <a:ext cx="2560320" cy="804672"/>
          </a:xfrm>
          <a:prstGeom prst="roundRect">
            <a:avLst>
              <a:gd name="adj" fmla="val 11364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1837944"/>
            <a:ext cx="2560320" cy="370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" y="2201509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" y="2430109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Actively scrapes every 15s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724912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249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Collector controls scrape timing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63824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638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Detects service down immediately (scrape fails)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02736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027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Services must expose HTTP /metrics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041648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416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Short-lived batch jobs may be missed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621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Push Mode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3892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0644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9904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5916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49240" y="1417320"/>
            <a:ext cx="9144" cy="384048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6309360" y="1417320"/>
            <a:ext cx="9144" cy="384048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7269480" y="1417320"/>
            <a:ext cx="9144" cy="384048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5577840" y="1828800"/>
            <a:ext cx="2103120" cy="804672"/>
          </a:xfrm>
          <a:prstGeom prst="roundRect">
            <a:avLst>
              <a:gd name="adj" fmla="val 11364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77840" y="1883664"/>
            <a:ext cx="2103120" cy="370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632704" y="2247229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14416" y="2475829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StatsD / CloudWatch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OTLP Receiver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2724912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27249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Ideal for short-lived Batch/Cron Jobs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3163824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31638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Can traverse NAT and firewalls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3602736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36027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Collector becomes the traffic sink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4041648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40416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Hard to detect when a service is down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Kubernetes, Pull (Prometheus) is the go-to — K8s service discovery lets Prometheus automatically find all Pods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Architecture Deep Dive: Pull Mode in 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713232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68096"/>
            <a:ext cx="1554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426464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655064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" y="21214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/metrics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http_req_total 1024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http_duration_sum 5.2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0" y="1463040"/>
            <a:ext cx="73152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883664" y="1289304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3664" y="128930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15s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651760" y="713232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768096"/>
            <a:ext cx="2011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06624" y="1426464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88336" y="1655064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Evaluator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64008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800600" y="128930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893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0" y="713232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768096"/>
            <a:ext cx="137160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41264" y="1046074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22976" y="127467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11880" y="2148840"/>
            <a:ext cx="9144" cy="411480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2651760" y="26060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51760" y="2660904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706624" y="2962656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88336" y="3191256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Slack/PagerDuty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3044952"/>
            <a:ext cx="64008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800600" y="287121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712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86400" y="260604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2660904"/>
            <a:ext cx="13716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41264" y="2962656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22976" y="319125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PagerDuty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310128"/>
            <a:ext cx="8595360" cy="1554480"/>
          </a:xfrm>
          <a:prstGeom prst="roundRect">
            <a:avLst>
              <a:gd name="adj" fmla="val 5882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1638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1638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prometheus.yml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2336" y="3419856"/>
            <a:ext cx="83393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scrape_interval: 15s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evaluation_interval: 15s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'api-service'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targets: ['api-01:8080', 'api-02:8080']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'kubernetes-pods'  # K8s auto service discovery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kubernetes_sd_configs: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role: pod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relabel_configs: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source_labels: [__meta_kubernetes_pod_annotation_prometheus_io_scrape]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action: keep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regex: true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Prometheus: Auto Service Discovery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572000" cy="4114800"/>
          </a:xfrm>
          <a:prstGeom prst="roundRect">
            <a:avLst>
              <a:gd name="adj" fmla="val 2222"/>
            </a:avLst>
          </a:prstGeom>
          <a:ln w="12700">
            <a:solidFill>
              <a:srgbClr val="4A9B8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B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9144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69264"/>
            <a:ext cx="18288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7784" y="1413662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api-pod-1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9496" y="164226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prometheus.io/scrape: true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prometheus.io/port: 8080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9144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969264"/>
            <a:ext cx="18288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9464" y="1413662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api-pod-2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51176" y="164226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annotation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029968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084832"/>
            <a:ext cx="18288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" y="2529230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(Deployment)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" y="2757830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watches K8s API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224028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02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98648" y="2240280"/>
            <a:ext cx="1362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API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2624328"/>
            <a:ext cx="20116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203704" y="2450592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03704" y="2450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pods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417320" y="1463040"/>
            <a:ext cx="9144" cy="566928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5303520" y="6583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Auto-Discovery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1005840"/>
            <a:ext cx="3520440" cy="502920"/>
          </a:xfrm>
          <a:prstGeom prst="roundRect">
            <a:avLst>
              <a:gd name="adj" fmla="val 1272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10058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New Pod starts → automatically added to monitoring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1572768"/>
            <a:ext cx="3520440" cy="502920"/>
          </a:xfrm>
          <a:prstGeom prst="roundRect">
            <a:avLst>
              <a:gd name="adj" fmla="val 1272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15727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Pod deleted → automatically removed, no stale targets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57800" y="2139696"/>
            <a:ext cx="3520440" cy="502920"/>
          </a:xfrm>
          <a:prstGeom prst="roundRect">
            <a:avLst>
              <a:gd name="adj" fmla="val 1272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213969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Scale out ×10 → Prometheus discovers all automatically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57800" y="2706624"/>
            <a:ext cx="3520440" cy="502920"/>
          </a:xfrm>
          <a:prstGeom prst="roundRect">
            <a:avLst>
              <a:gd name="adj" fmla="val 1272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70662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0️⃣ No manual edits to prometheus.yml needed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57800" y="30175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49240" y="287121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67528" y="287121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annotation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85816" y="3127248"/>
            <a:ext cx="326440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annotation to Pod spec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prometheus.io/scrape: 'true'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prometheus.io/path: '/metrics'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prometheus.io/port: '8080'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Prometheus auto-discovers all Pods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this annotation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Mode in Practice: StatsD, Pushgateway, OTLP Collector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3986784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StatsD (UDP Push)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fire-and-forget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for application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library is extremely simple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statsd.increment('orders.created')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High-frequency counters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DogStatsD supports Tags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" y="319125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2724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Graphite / Prometheus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39440" y="566928"/>
            <a:ext cx="2865120" cy="3986784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204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Prometheus relay station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204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Batch Job / Cron Job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done → push → Prometheus scrapes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Not suitable for long-running services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automatic TTL cleanup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67456" y="319125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2048" y="312724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K8s Job completion metrics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96000" y="566928"/>
            <a:ext cx="2865120" cy="3986784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Collector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unified pipeline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Metrics/Logs/Traces simultaneously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Receivers: OTLP, Prometheus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Exporters: Prometheus, Jaeger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Sidecar or DaemonSet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24016" y="3191256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8608" y="312724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standard — recommended adoption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StatsD UDP is the lightest push mode — even if the collector is down, the app is unaffected; ideal for critical hot paths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PromQL: Prometheus Query Language in Practice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24528"/>
          </a:xfrm>
          <a:prstGeom prst="roundRect">
            <a:avLst>
              <a:gd name="adj" fmla="val 216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 Examples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04088"/>
            <a:ext cx="8339328" cy="4041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Counter Rate — HTTP requests per second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rate(http_requests_total[5m])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Error rate grouped by status code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by(status) (rate(http_requests_total[5m]))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P99 Latency — most common SLO metric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rate(http_request_duration_seconds_bucket[5m])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Error rate (5xx / total)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sum(rate(http_requests_total{status=~'5..'}[5m]))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sum(rate(http_requests_total[5m])) * 100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Recording Rule — pre-compute complex queries (in prometheus.yml)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record: job:http_error_rate:ratio5m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expr: |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sum(rate(http_requests_total{status=~'5..'}[5m]))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sum(rate(http_requests_total[5m]))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Aggregate across K8s Pods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by(namespace, deployment) 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rate(http_requests_total[5m])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49194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Recording Rules are a performance key — pre-compute complex PromQL and store the result; Grafana queries become 10x faster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Methodologies: USE, RED, Four Golden Signals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2697480" cy="4224528"/>
          </a:xfrm>
          <a:prstGeom prst="roundRect">
            <a:avLst>
              <a:gd name="adj" fmla="val 3390"/>
            </a:avLst>
          </a:prstGeom>
          <a:solidFill>
            <a:srgbClr val="F5F1EB"/>
          </a:solidFill>
          <a:ln w="15240">
            <a:solidFill>
              <a:srgbClr val="C48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8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USE 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Infrastructure resources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133856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521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Utilization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3533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75%, Disk: 60%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847088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6537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Saturation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66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saturation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Average, Queue depth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560320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Errors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7977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IO errors, NIC drops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42245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Is this resource overloaded?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594360"/>
            <a:ext cx="2697480" cy="4224528"/>
          </a:xfrm>
          <a:prstGeom prst="roundRect">
            <a:avLst>
              <a:gd name="adj" fmla="val 3390"/>
            </a:avLst>
          </a:prstGeom>
          <a:solidFill>
            <a:srgbClr val="F5F1EB"/>
          </a:solidFill>
          <a:ln w="15240">
            <a:solidFill>
              <a:srgbClr val="5A9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658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RED Method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91440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Microservice APIs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4408" y="1133856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1521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13533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 second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req/s, RPC/s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64408" y="1847088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86537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Errors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2066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5xx%, failed RPC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64408" y="2560320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57860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Duration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77977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distribution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P50/P95/P99 latency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46120" y="42245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How is this service performing?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594360"/>
            <a:ext cx="2743200" cy="4224528"/>
          </a:xfrm>
          <a:prstGeom prst="roundRect">
            <a:avLst>
              <a:gd name="adj" fmla="val 3333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658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Four Golden Signals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9144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SRE Book — Most important to users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4768" y="1133856"/>
            <a:ext cx="252374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152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1353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request vs bad request latency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44768" y="1847088"/>
            <a:ext cx="252374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8653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0665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demand in req/s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44768" y="2560320"/>
            <a:ext cx="252374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25786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27797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request ratio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44768" y="3273552"/>
            <a:ext cx="252374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34930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saturation (most constrained resource)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26480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is the user experience?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9194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Start new services with the RED method — Rate + Errors + Duration, three metrics that reveal 80% of problems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Design: Let the Data Speak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Principles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05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One Dashboard = one service/system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813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Top: RED/Golden Signals (user impact)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5681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Middle: Resource usage (USE Method)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32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Bottom: Downstream dependency 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077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Use Variables: env, datacenter, pod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0156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Cramming all metrics into one Dashboard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time range selector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685800"/>
            <a:ext cx="4160520" cy="347472"/>
          </a:xfrm>
          <a:prstGeom prst="roundRect">
            <a:avLst>
              <a:gd name="adj" fmla="val 13158"/>
            </a:avLst>
          </a:prstGeom>
          <a:solidFill>
            <a:srgbClr val="ECE6DD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6858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api | ENV: prod | Last: 6h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1078992"/>
            <a:ext cx="1280160" cy="566928"/>
          </a:xfrm>
          <a:prstGeom prst="roundRect">
            <a:avLst>
              <a:gd name="adj" fmla="val 11290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97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1,234 req/s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1389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08192" y="1078992"/>
            <a:ext cx="1280160" cy="566928"/>
          </a:xfrm>
          <a:prstGeom prst="roundRect">
            <a:avLst>
              <a:gd name="adj" fmla="val 11290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1097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53912" y="1389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07224" y="1078992"/>
            <a:ext cx="1280160" cy="566928"/>
          </a:xfrm>
          <a:prstGeom prst="roundRect">
            <a:avLst>
              <a:gd name="adj" fmla="val 11290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1097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245ms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52944" y="1389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755648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82880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Rate over time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880360"/>
            <a:ext cx="2011680" cy="896112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39712" y="2880360"/>
            <a:ext cx="2011680" cy="896112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3840480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913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Latency | Redis Hit Rate | MQ Queue Depth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Design: The Art of Avoiding Alert Fatigue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Cause-Based Alerts (Not Recommended)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80%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20700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CPU doesn't always affect users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356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&gt; 70%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161848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just be cache — perfectly normal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2880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470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IOPS &gt; 1000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02996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during peak business hours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Symptom-Based Alerts (Recommended)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815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&gt; 1% for 2 minutes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26440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being affected right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93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&gt; 2000ms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67588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experiencing slowness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88620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04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burn rate too high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408736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is being depleted fast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594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Severity Levels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9144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9326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P1 CRITICAL — Wake up On-Call immediately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1161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affected right now | Respond within 5 min | Phone call + PagerDuty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157276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3EDE0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591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P2 WARNING — Handle during business hours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18196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affect users | Fix today | Slack notification is fine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231136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2494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P3 INFO — Scheduled resolution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24780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issue | Fix this week | Track via ticket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401568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4381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Every alert must have: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36576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Runbook link  2. A clear owner  3. A defined response SLA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Alert fatigue is the SRE's worst enemy — review alerts weekly; disable or downgrade alerts nobody acts 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AlertManager: Intelligent Routing &amp; Alert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68096"/>
            <a:ext cx="137160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9184" y="1117397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" y="1345997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Sends alerts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124712"/>
            <a:ext cx="45720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645920" y="95097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509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40280" y="713232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40280" y="768096"/>
            <a:ext cx="164592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95144" y="1117397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76856" y="1345997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Engine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17520" y="1554480"/>
            <a:ext cx="9144" cy="411480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97280" y="202996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0299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89888" y="2029968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#oncall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88920" y="202996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0299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81528" y="2029968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 only)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202996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20299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73168" y="2029968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(P3 only)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1984248"/>
            <a:ext cx="594360" cy="320040"/>
          </a:xfrm>
          <a:prstGeom prst="line">
            <a:avLst/>
          </a:prstGeom>
          <a:noFill/>
          <a:ln w="12700">
            <a:solidFill>
              <a:srgbClr val="C4605B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063240" y="1984248"/>
            <a:ext cx="457200" cy="320040"/>
          </a:xfrm>
          <a:prstGeom prst="line">
            <a:avLst/>
          </a:prstGeom>
          <a:noFill/>
          <a:ln w="12700">
            <a:solidFill>
              <a:srgbClr val="C4605B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274320" y="2834640"/>
            <a:ext cx="4389120" cy="2084832"/>
          </a:xfrm>
          <a:prstGeom prst="roundRect">
            <a:avLst>
              <a:gd name="adj" fmla="val 4386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6883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6883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alertmanager.yml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336" y="2944368"/>
            <a:ext cx="4133088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receiver: 'slack-default'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group_wait: 30s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group_interval: 5m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repeat_interval: 4h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match: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severity: critical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receiver: 'pagerduty'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match: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severity: warning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receiver: 'slack-warning'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'pagerduty'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pagerduty_configs: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service_key: '&lt;key&gt;'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685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96012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8B6A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9875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🔕 Inhibition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74920" y="1216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is down → suppress API alerts to avoid duplicate notifications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37760" y="1618488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Silence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7492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specific alerts during maintenance windows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37760" y="2276856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304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Grouping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74920" y="2532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multiple alerts from the same service into one notification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2935224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Repeat Interval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74920" y="31912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every minute — set 4h repeat interval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Inhibition rules can drastically reduce alert noise — if the datacenter is down, no need to notify every individual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Summary: The Complete Pipeline from Collection to Alerting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50876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324051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552651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client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Metrics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37360" y="1371600"/>
            <a:ext cx="45720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691640" y="11978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197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0" y="658368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713232"/>
            <a:ext cx="150876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40864" y="1324051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22576" y="1552651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 /metrics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0" y="1371600"/>
            <a:ext cx="45720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794760" y="11978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197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389120" y="658368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0" y="713232"/>
            <a:ext cx="150876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43984" y="1324051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25696" y="1552651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43600" y="1371600"/>
            <a:ext cx="45720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897880" y="11978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97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92240" y="658368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713232"/>
            <a:ext cx="132588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47104" y="1324051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28816" y="1552651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AlertManager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Rules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63840" y="1371600"/>
            <a:ext cx="45720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7818120" y="11978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1197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412480" y="658368"/>
            <a:ext cx="640080" cy="1280160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2480" y="713232"/>
            <a:ext cx="64008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467344" y="1324051"/>
            <a:ext cx="530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49056" y="1552651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On-Call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2176272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226771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Choose the Right Metric Type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" y="2633472"/>
            <a:ext cx="243230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→ rate()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→ use directly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→ P99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average latency!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54680" y="2176272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64408" y="226771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Pull &gt; Push in K8s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64408" y="2633472"/>
            <a:ext cx="243230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K8s SD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 all Pods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Jobs use Pushgateway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→ OTLP Collector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2176272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226771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Alerts Must Be Meaningful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44768" y="2633472"/>
            <a:ext cx="243230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Symptom-based first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needs a Runbook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alert volume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alert fatigue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2026-04-03T16:24:52Z</dcterms:created>
  <dcterms:modified xsi:type="dcterms:W3CDTF">2026-04-03T16:24:52Z</dcterms:modified>
</cp:coreProperties>
</file>