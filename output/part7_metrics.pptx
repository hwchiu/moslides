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9144000" cy="5029200"/>
  <p:notesSz cx="50292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61B22"/>
          </a:solidFill>
          <a:ln w="6350">
            <a:solidFill>
              <a:srgbClr val="30363D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82296"/>
            <a:ext cx="45720" cy="310896"/>
          </a:xfrm>
          <a:prstGeom prst="rect">
            <a:avLst/>
          </a:prstGeom>
          <a:solidFill>
            <a:srgbClr val="58A6FF"/>
          </a:solidFill>
          <a:ln w="12700">
            <a:solidFill>
              <a:srgbClr val="58A6F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64592" y="0"/>
            <a:ext cx="5943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可觀測性 vs 監控：不只是看圖表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7132320" y="0"/>
            <a:ext cx="19202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7 METRICS  · 91 / 150</a:t>
            </a:r>
            <a:endParaRPr lang="en-US" sz="850" dirty="0"/>
          </a:p>
        </p:txBody>
      </p:sp>
      <p:sp>
        <p:nvSpPr>
          <p:cNvPr id="6" name="Shape 4"/>
          <p:cNvSpPr/>
          <p:nvPr/>
        </p:nvSpPr>
        <p:spPr>
          <a:xfrm>
            <a:off x="4572000" y="530352"/>
            <a:ext cx="0" cy="3310128"/>
          </a:xfrm>
          <a:prstGeom prst="line">
            <a:avLst/>
          </a:prstGeom>
          <a:noFill/>
          <a:ln w="6350">
            <a:solidFill>
              <a:srgbClr val="30363D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74320" y="566928"/>
            <a:ext cx="4023360" cy="365760"/>
          </a:xfrm>
          <a:prstGeom prst="roundRect">
            <a:avLst>
              <a:gd name="adj" fmla="val 20000"/>
            </a:avLst>
          </a:prstGeom>
          <a:solidFill>
            <a:srgbClr val="2A0F0F"/>
          </a:solidFill>
          <a:ln w="12700">
            <a:solidFill>
              <a:srgbClr val="F8514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84048" y="566928"/>
            <a:ext cx="3840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851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📊 傳統監控 (Monitoring)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274320" y="1005840"/>
            <a:ext cx="4023360" cy="411480"/>
          </a:xfrm>
          <a:prstGeom prst="roundRect">
            <a:avLst>
              <a:gd name="adj" fmla="val 13333"/>
            </a:avLst>
          </a:prstGeom>
          <a:solidFill>
            <a:srgbClr val="161B22"/>
          </a:solidFill>
          <a:ln w="10160">
            <a:solidFill>
              <a:srgbClr val="8B949E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57200" y="1033272"/>
            <a:ext cx="36576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你事先知道要看什麼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457200" y="1216152"/>
            <a:ext cx="365760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預設 Dashboard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274320" y="1481328"/>
            <a:ext cx="4023360" cy="411480"/>
          </a:xfrm>
          <a:prstGeom prst="roundRect">
            <a:avLst>
              <a:gd name="adj" fmla="val 13333"/>
            </a:avLst>
          </a:prstGeom>
          <a:solidFill>
            <a:srgbClr val="161B22"/>
          </a:solidFill>
          <a:ln w="10160">
            <a:solidFill>
              <a:srgbClr val="8B949E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7200" y="1508760"/>
            <a:ext cx="36576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只知道 What 壞了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457200" y="1691640"/>
            <a:ext cx="365760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CPU高、回應慢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274320" y="1956816"/>
            <a:ext cx="4023360" cy="411480"/>
          </a:xfrm>
          <a:prstGeom prst="roundRect">
            <a:avLst>
              <a:gd name="adj" fmla="val 13333"/>
            </a:avLst>
          </a:prstGeom>
          <a:solidFill>
            <a:srgbClr val="161B22"/>
          </a:solidFill>
          <a:ln w="10160">
            <a:solidFill>
              <a:srgbClr val="8B949E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57200" y="1984248"/>
            <a:ext cx="36576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無法回答未知問題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457200" y="2167128"/>
            <a:ext cx="365760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遇到新型故障束手無策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274320" y="2432304"/>
            <a:ext cx="4023360" cy="411480"/>
          </a:xfrm>
          <a:prstGeom prst="roundRect">
            <a:avLst>
              <a:gd name="adj" fmla="val 13333"/>
            </a:avLst>
          </a:prstGeom>
          <a:solidFill>
            <a:srgbClr val="161B22"/>
          </a:solidFill>
          <a:ln w="10160">
            <a:solidFill>
              <a:srgbClr val="8B949E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7200" y="2459736"/>
            <a:ext cx="36576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靜態告警閾值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457200" y="2642616"/>
            <a:ext cx="365760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CPU&gt;80% 就告警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4754880" y="566928"/>
            <a:ext cx="4023360" cy="365760"/>
          </a:xfrm>
          <a:prstGeom prst="roundRect">
            <a:avLst>
              <a:gd name="adj" fmla="val 20000"/>
            </a:avLst>
          </a:prstGeom>
          <a:solidFill>
            <a:srgbClr val="0F2A1A"/>
          </a:solidFill>
          <a:ln w="12700">
            <a:solidFill>
              <a:srgbClr val="3FB95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4864608" y="566928"/>
            <a:ext cx="3840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🔍 可觀測性 (Observability)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4754880" y="1005840"/>
            <a:ext cx="4023360" cy="411480"/>
          </a:xfrm>
          <a:prstGeom prst="roundRect">
            <a:avLst>
              <a:gd name="adj" fmla="val 13333"/>
            </a:avLst>
          </a:prstGeom>
          <a:solidFill>
            <a:srgbClr val="161B22"/>
          </a:solidFill>
          <a:ln w="10160">
            <a:solidFill>
              <a:srgbClr val="3FB95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4937760" y="1033272"/>
            <a:ext cx="36576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能從外部推導系統內部狀態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4754880" y="1481328"/>
            <a:ext cx="4023360" cy="411480"/>
          </a:xfrm>
          <a:prstGeom prst="roundRect">
            <a:avLst>
              <a:gd name="adj" fmla="val 13333"/>
            </a:avLst>
          </a:prstGeom>
          <a:solidFill>
            <a:srgbClr val="161B22"/>
          </a:solidFill>
          <a:ln w="10160">
            <a:solidFill>
              <a:srgbClr val="3FB95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4937760" y="1508760"/>
            <a:ext cx="36576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知道 What/Why/Where</a:t>
            </a:r>
            <a:endParaRPr lang="en-US" sz="1050" dirty="0"/>
          </a:p>
        </p:txBody>
      </p:sp>
      <p:sp>
        <p:nvSpPr>
          <p:cNvPr id="27" name="Text 25"/>
          <p:cNvSpPr/>
          <p:nvPr/>
        </p:nvSpPr>
        <p:spPr>
          <a:xfrm>
            <a:off x="4937760" y="1691640"/>
            <a:ext cx="365760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三本柱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4754880" y="1956816"/>
            <a:ext cx="4023360" cy="411480"/>
          </a:xfrm>
          <a:prstGeom prst="roundRect">
            <a:avLst>
              <a:gd name="adj" fmla="val 13333"/>
            </a:avLst>
          </a:prstGeom>
          <a:solidFill>
            <a:srgbClr val="161B22"/>
          </a:solidFill>
          <a:ln w="10160">
            <a:solidFill>
              <a:srgbClr val="3FB95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937760" y="1984248"/>
            <a:ext cx="36576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可回答任意問題</a:t>
            </a:r>
            <a:endParaRPr lang="en-US" sz="1050" dirty="0"/>
          </a:p>
        </p:txBody>
      </p:sp>
      <p:sp>
        <p:nvSpPr>
          <p:cNvPr id="30" name="Text 28"/>
          <p:cNvSpPr/>
          <p:nvPr/>
        </p:nvSpPr>
        <p:spPr>
          <a:xfrm>
            <a:off x="4937760" y="2167128"/>
            <a:ext cx="365760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即使是第一次發生的問題</a:t>
            </a:r>
            <a:endParaRPr lang="en-US" sz="900" dirty="0"/>
          </a:p>
        </p:txBody>
      </p:sp>
      <p:sp>
        <p:nvSpPr>
          <p:cNvPr id="31" name="Shape 29"/>
          <p:cNvSpPr/>
          <p:nvPr/>
        </p:nvSpPr>
        <p:spPr>
          <a:xfrm>
            <a:off x="4754880" y="2432304"/>
            <a:ext cx="4023360" cy="411480"/>
          </a:xfrm>
          <a:prstGeom prst="roundRect">
            <a:avLst>
              <a:gd name="adj" fmla="val 13333"/>
            </a:avLst>
          </a:prstGeom>
          <a:solidFill>
            <a:srgbClr val="161B22"/>
          </a:solidFill>
          <a:ln w="10160">
            <a:solidFill>
              <a:srgbClr val="3FB950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937760" y="2459736"/>
            <a:ext cx="36576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動態、可查詢</a:t>
            </a:r>
            <a:endParaRPr lang="en-US" sz="1050" dirty="0"/>
          </a:p>
        </p:txBody>
      </p:sp>
      <p:sp>
        <p:nvSpPr>
          <p:cNvPr id="33" name="Text 31"/>
          <p:cNvSpPr/>
          <p:nvPr/>
        </p:nvSpPr>
        <p:spPr>
          <a:xfrm>
            <a:off x="4937760" y="2642616"/>
            <a:ext cx="365760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不需要預設 Dashboard</a:t>
            </a:r>
            <a:endParaRPr lang="en-US" sz="900" dirty="0"/>
          </a:p>
        </p:txBody>
      </p:sp>
      <p:sp>
        <p:nvSpPr>
          <p:cNvPr id="34" name="Shape 32"/>
          <p:cNvSpPr/>
          <p:nvPr/>
        </p:nvSpPr>
        <p:spPr>
          <a:xfrm>
            <a:off x="274320" y="3401568"/>
            <a:ext cx="8595360" cy="594360"/>
          </a:xfrm>
          <a:prstGeom prst="roundRect">
            <a:avLst>
              <a:gd name="adj" fmla="val 12308"/>
            </a:avLst>
          </a:prstGeom>
          <a:solidFill>
            <a:srgbClr val="161B22"/>
          </a:solidFill>
          <a:ln w="12700">
            <a:solidFill>
              <a:srgbClr val="58A6FF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365760" y="3401568"/>
            <a:ext cx="84124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i="1" dirty="0">
                <a:solidFill>
                  <a:srgbClr val="58A6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Monitoring tells you WHEN things break. Observability tells you WHY.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274320" y="4114800"/>
            <a:ext cx="8595360" cy="384048"/>
          </a:xfrm>
          <a:prstGeom prst="roundRect">
            <a:avLst>
              <a:gd name="adj" fmla="val 14286"/>
            </a:avLst>
          </a:prstGeom>
          <a:solidFill>
            <a:srgbClr val="0A1929"/>
          </a:solidFill>
          <a:ln w="9525">
            <a:solidFill>
              <a:srgbClr val="58A6FF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457200" y="4160520"/>
            <a:ext cx="8229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💡  可觀測性的三本柱：Metrics（什麼出問題）+ Logs（為什麼）+ Traces（在哪個服務）— 缺一不可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61B22"/>
          </a:solidFill>
          <a:ln w="6350">
            <a:solidFill>
              <a:srgbClr val="30363D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82296"/>
            <a:ext cx="45720" cy="310896"/>
          </a:xfrm>
          <a:prstGeom prst="rect">
            <a:avLst/>
          </a:prstGeom>
          <a:solidFill>
            <a:srgbClr val="58A6FF"/>
          </a:solidFill>
          <a:ln w="12700">
            <a:solidFill>
              <a:srgbClr val="58A6F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64592" y="0"/>
            <a:ext cx="5943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三本柱總覽：Metrics、Logs、Traces 各自解決什麼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7132320" y="0"/>
            <a:ext cx="19202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7 METRICS  · 92 / 150</a:t>
            </a:r>
            <a:endParaRPr lang="en-US" sz="850" dirty="0"/>
          </a:p>
        </p:txBody>
      </p:sp>
      <p:sp>
        <p:nvSpPr>
          <p:cNvPr id="6" name="Shape 4"/>
          <p:cNvSpPr/>
          <p:nvPr/>
        </p:nvSpPr>
        <p:spPr>
          <a:xfrm>
            <a:off x="182880" y="585216"/>
            <a:ext cx="2865120" cy="4005072"/>
          </a:xfrm>
          <a:prstGeom prst="roundRect">
            <a:avLst>
              <a:gd name="adj" fmla="val 3191"/>
            </a:avLst>
          </a:prstGeom>
          <a:solidFill>
            <a:srgbClr val="161B22"/>
          </a:solidFill>
          <a:ln w="15240">
            <a:solidFill>
              <a:srgbClr val="3FB95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82880" y="585216"/>
            <a:ext cx="2865120" cy="475488"/>
          </a:xfrm>
          <a:prstGeom prst="rect">
            <a:avLst/>
          </a:prstGeom>
          <a:solidFill>
            <a:srgbClr val="1C2128"/>
          </a:solidFill>
          <a:ln w="12700">
            <a:solidFill>
              <a:srgbClr val="30363D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82880" y="603504"/>
            <a:ext cx="43891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📈</a:t>
            </a:r>
            <a:endParaRPr lang="en-US" sz="2200" dirty="0"/>
          </a:p>
        </p:txBody>
      </p:sp>
      <p:sp>
        <p:nvSpPr>
          <p:cNvPr id="9" name="Text 7"/>
          <p:cNvSpPr/>
          <p:nvPr/>
        </p:nvSpPr>
        <p:spPr>
          <a:xfrm>
            <a:off x="603504" y="585216"/>
            <a:ext cx="240792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📊 Metrics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310896" y="1197864"/>
            <a:ext cx="109728" cy="109728"/>
          </a:xfrm>
          <a:prstGeom prst="ellipse">
            <a:avLst/>
          </a:prstGeom>
          <a:solidFill>
            <a:srgbClr val="3FB950"/>
          </a:solidFill>
          <a:ln w="12700">
            <a:solidFill>
              <a:srgbClr val="3FB95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75488" y="1133856"/>
            <a:ext cx="248107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數值型時序資料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310896" y="1600200"/>
            <a:ext cx="109728" cy="109728"/>
          </a:xfrm>
          <a:prstGeom prst="ellipse">
            <a:avLst/>
          </a:prstGeom>
          <a:solidFill>
            <a:srgbClr val="3FB950"/>
          </a:solidFill>
          <a:ln w="12700">
            <a:solidFill>
              <a:srgbClr val="3FB95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75488" y="1536192"/>
            <a:ext cx="248107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is happening now?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310896" y="2002536"/>
            <a:ext cx="109728" cy="109728"/>
          </a:xfrm>
          <a:prstGeom prst="ellipse">
            <a:avLst/>
          </a:prstGeom>
          <a:solidFill>
            <a:srgbClr val="3FB950"/>
          </a:solidFill>
          <a:ln w="12700">
            <a:solidFill>
              <a:srgbClr val="3FB95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75488" y="1938528"/>
            <a:ext cx="248107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CPU%, Req/s, 錯誤率, P99延遲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310896" y="2404872"/>
            <a:ext cx="109728" cy="109728"/>
          </a:xfrm>
          <a:prstGeom prst="ellipse">
            <a:avLst/>
          </a:prstGeom>
          <a:solidFill>
            <a:srgbClr val="3FB950"/>
          </a:solidFill>
          <a:ln w="12700">
            <a:solidFill>
              <a:srgbClr val="3FB95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75488" y="2340864"/>
            <a:ext cx="248107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適合：告警、容量規劃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310896" y="2807208"/>
            <a:ext cx="109728" cy="109728"/>
          </a:xfrm>
          <a:prstGeom prst="ellipse">
            <a:avLst/>
          </a:prstGeom>
          <a:solidFill>
            <a:srgbClr val="3FB950"/>
          </a:solidFill>
          <a:ln w="12700">
            <a:solidFill>
              <a:srgbClr val="3FB95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75488" y="2743200"/>
            <a:ext cx="248107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保留：月到年（低成本）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310896" y="3209544"/>
            <a:ext cx="109728" cy="109728"/>
          </a:xfrm>
          <a:prstGeom prst="ellipse">
            <a:avLst/>
          </a:prstGeom>
          <a:solidFill>
            <a:srgbClr val="3FB950"/>
          </a:solidFill>
          <a:ln w="12700">
            <a:solidFill>
              <a:srgbClr val="3FB950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75488" y="3145536"/>
            <a:ext cx="248107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工具：Prometheus, Grafana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3139440" y="585216"/>
            <a:ext cx="2865120" cy="4005072"/>
          </a:xfrm>
          <a:prstGeom prst="roundRect">
            <a:avLst>
              <a:gd name="adj" fmla="val 3191"/>
            </a:avLst>
          </a:prstGeom>
          <a:solidFill>
            <a:srgbClr val="161B22"/>
          </a:solidFill>
          <a:ln w="15240">
            <a:solidFill>
              <a:srgbClr val="D29922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3139440" y="585216"/>
            <a:ext cx="2865120" cy="475488"/>
          </a:xfrm>
          <a:prstGeom prst="rect">
            <a:avLst/>
          </a:prstGeom>
          <a:solidFill>
            <a:srgbClr val="1C2128"/>
          </a:solidFill>
          <a:ln w="12700">
            <a:solidFill>
              <a:srgbClr val="30363D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139440" y="603504"/>
            <a:ext cx="43891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📝</a:t>
            </a:r>
            <a:endParaRPr lang="en-US" sz="2200" dirty="0"/>
          </a:p>
        </p:txBody>
      </p:sp>
      <p:sp>
        <p:nvSpPr>
          <p:cNvPr id="25" name="Text 23"/>
          <p:cNvSpPr/>
          <p:nvPr/>
        </p:nvSpPr>
        <p:spPr>
          <a:xfrm>
            <a:off x="3560064" y="585216"/>
            <a:ext cx="240792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D299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📋 Logs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3267456" y="1197864"/>
            <a:ext cx="109728" cy="109728"/>
          </a:xfrm>
          <a:prstGeom prst="ellipse">
            <a:avLst/>
          </a:prstGeom>
          <a:solidFill>
            <a:srgbClr val="D29922"/>
          </a:solidFill>
          <a:ln w="12700">
            <a:solidFill>
              <a:srgbClr val="D29922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432048" y="1133856"/>
            <a:ext cx="248107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文字事件流</a:t>
            </a:r>
            <a:endParaRPr lang="en-US" sz="1050" dirty="0"/>
          </a:p>
        </p:txBody>
      </p:sp>
      <p:sp>
        <p:nvSpPr>
          <p:cNvPr id="28" name="Shape 26"/>
          <p:cNvSpPr/>
          <p:nvPr/>
        </p:nvSpPr>
        <p:spPr>
          <a:xfrm>
            <a:off x="3267456" y="1600200"/>
            <a:ext cx="109728" cy="109728"/>
          </a:xfrm>
          <a:prstGeom prst="ellipse">
            <a:avLst/>
          </a:prstGeom>
          <a:solidFill>
            <a:srgbClr val="D29922"/>
          </a:solidFill>
          <a:ln w="12700">
            <a:solidFill>
              <a:srgbClr val="D29922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432048" y="1536192"/>
            <a:ext cx="248107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did it happen?</a:t>
            </a:r>
            <a:endParaRPr lang="en-US" sz="1050" dirty="0"/>
          </a:p>
        </p:txBody>
      </p:sp>
      <p:sp>
        <p:nvSpPr>
          <p:cNvPr id="30" name="Shape 28"/>
          <p:cNvSpPr/>
          <p:nvPr/>
        </p:nvSpPr>
        <p:spPr>
          <a:xfrm>
            <a:off x="3267456" y="2002536"/>
            <a:ext cx="109728" cy="109728"/>
          </a:xfrm>
          <a:prstGeom prst="ellipse">
            <a:avLst/>
          </a:prstGeom>
          <a:solidFill>
            <a:srgbClr val="D29922"/>
          </a:solidFill>
          <a:ln w="12700">
            <a:solidFill>
              <a:srgbClr val="D29922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432048" y="1938528"/>
            <a:ext cx="248107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請求詳細記錄、錯誤堆疊</a:t>
            </a:r>
            <a:endParaRPr lang="en-US" sz="1050" dirty="0"/>
          </a:p>
        </p:txBody>
      </p:sp>
      <p:sp>
        <p:nvSpPr>
          <p:cNvPr id="32" name="Shape 30"/>
          <p:cNvSpPr/>
          <p:nvPr/>
        </p:nvSpPr>
        <p:spPr>
          <a:xfrm>
            <a:off x="3267456" y="2404872"/>
            <a:ext cx="109728" cy="109728"/>
          </a:xfrm>
          <a:prstGeom prst="ellipse">
            <a:avLst/>
          </a:prstGeom>
          <a:solidFill>
            <a:srgbClr val="D29922"/>
          </a:solidFill>
          <a:ln w="12700">
            <a:solidFill>
              <a:srgbClr val="D29922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432048" y="2340864"/>
            <a:ext cx="248107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適合：除錯、審計</a:t>
            </a:r>
            <a:endParaRPr lang="en-US" sz="1050" dirty="0"/>
          </a:p>
        </p:txBody>
      </p:sp>
      <p:sp>
        <p:nvSpPr>
          <p:cNvPr id="34" name="Shape 32"/>
          <p:cNvSpPr/>
          <p:nvPr/>
        </p:nvSpPr>
        <p:spPr>
          <a:xfrm>
            <a:off x="3267456" y="2807208"/>
            <a:ext cx="109728" cy="109728"/>
          </a:xfrm>
          <a:prstGeom prst="ellipse">
            <a:avLst/>
          </a:prstGeom>
          <a:solidFill>
            <a:srgbClr val="D29922"/>
          </a:solidFill>
          <a:ln w="12700">
            <a:solidFill>
              <a:srgbClr val="D29922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3432048" y="2743200"/>
            <a:ext cx="248107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保留：天到月（高成本）</a:t>
            </a:r>
            <a:endParaRPr lang="en-US" sz="1050" dirty="0"/>
          </a:p>
        </p:txBody>
      </p:sp>
      <p:sp>
        <p:nvSpPr>
          <p:cNvPr id="36" name="Shape 34"/>
          <p:cNvSpPr/>
          <p:nvPr/>
        </p:nvSpPr>
        <p:spPr>
          <a:xfrm>
            <a:off x="3267456" y="3209544"/>
            <a:ext cx="109728" cy="109728"/>
          </a:xfrm>
          <a:prstGeom prst="ellipse">
            <a:avLst/>
          </a:prstGeom>
          <a:solidFill>
            <a:srgbClr val="D29922"/>
          </a:solidFill>
          <a:ln w="12700">
            <a:solidFill>
              <a:srgbClr val="D29922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432048" y="3145536"/>
            <a:ext cx="248107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工具：ELK, Loki, Fluentd</a:t>
            </a:r>
            <a:endParaRPr lang="en-US" sz="1050" dirty="0"/>
          </a:p>
        </p:txBody>
      </p:sp>
      <p:sp>
        <p:nvSpPr>
          <p:cNvPr id="38" name="Shape 36"/>
          <p:cNvSpPr/>
          <p:nvPr/>
        </p:nvSpPr>
        <p:spPr>
          <a:xfrm>
            <a:off x="6096000" y="585216"/>
            <a:ext cx="2865120" cy="4005072"/>
          </a:xfrm>
          <a:prstGeom prst="roundRect">
            <a:avLst>
              <a:gd name="adj" fmla="val 3191"/>
            </a:avLst>
          </a:prstGeom>
          <a:solidFill>
            <a:srgbClr val="161B22"/>
          </a:solidFill>
          <a:ln w="15240">
            <a:solidFill>
              <a:srgbClr val="6E40C9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6096000" y="585216"/>
            <a:ext cx="2865120" cy="475488"/>
          </a:xfrm>
          <a:prstGeom prst="rect">
            <a:avLst/>
          </a:prstGeom>
          <a:solidFill>
            <a:srgbClr val="1C2128"/>
          </a:solidFill>
          <a:ln w="12700">
            <a:solidFill>
              <a:srgbClr val="30363D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6096000" y="603504"/>
            <a:ext cx="43891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🔗</a:t>
            </a:r>
            <a:endParaRPr lang="en-US" sz="2200" dirty="0"/>
          </a:p>
        </p:txBody>
      </p:sp>
      <p:sp>
        <p:nvSpPr>
          <p:cNvPr id="41" name="Text 39"/>
          <p:cNvSpPr/>
          <p:nvPr/>
        </p:nvSpPr>
        <p:spPr>
          <a:xfrm>
            <a:off x="6516624" y="585216"/>
            <a:ext cx="240792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E40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🔍 Traces</a:t>
            </a:r>
            <a:endParaRPr lang="en-US" sz="1200" dirty="0"/>
          </a:p>
        </p:txBody>
      </p:sp>
      <p:sp>
        <p:nvSpPr>
          <p:cNvPr id="42" name="Shape 40"/>
          <p:cNvSpPr/>
          <p:nvPr/>
        </p:nvSpPr>
        <p:spPr>
          <a:xfrm>
            <a:off x="6224016" y="1197864"/>
            <a:ext cx="109728" cy="109728"/>
          </a:xfrm>
          <a:prstGeom prst="ellipse">
            <a:avLst/>
          </a:prstGeom>
          <a:solidFill>
            <a:srgbClr val="6E40C9"/>
          </a:solidFill>
          <a:ln w="12700">
            <a:solidFill>
              <a:srgbClr val="6E40C9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6388608" y="1133856"/>
            <a:ext cx="248107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分散式請求鏈路</a:t>
            </a:r>
            <a:endParaRPr lang="en-US" sz="1050" dirty="0"/>
          </a:p>
        </p:txBody>
      </p:sp>
      <p:sp>
        <p:nvSpPr>
          <p:cNvPr id="44" name="Shape 42"/>
          <p:cNvSpPr/>
          <p:nvPr/>
        </p:nvSpPr>
        <p:spPr>
          <a:xfrm>
            <a:off x="6224016" y="1600200"/>
            <a:ext cx="109728" cy="109728"/>
          </a:xfrm>
          <a:prstGeom prst="ellipse">
            <a:avLst/>
          </a:prstGeom>
          <a:solidFill>
            <a:srgbClr val="6E40C9"/>
          </a:solidFill>
          <a:ln w="12700">
            <a:solidFill>
              <a:srgbClr val="6E40C9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6388608" y="1536192"/>
            <a:ext cx="248107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is it slow?</a:t>
            </a:r>
            <a:endParaRPr lang="en-US" sz="1050" dirty="0"/>
          </a:p>
        </p:txBody>
      </p:sp>
      <p:sp>
        <p:nvSpPr>
          <p:cNvPr id="46" name="Shape 44"/>
          <p:cNvSpPr/>
          <p:nvPr/>
        </p:nvSpPr>
        <p:spPr>
          <a:xfrm>
            <a:off x="6224016" y="2002536"/>
            <a:ext cx="109728" cy="109728"/>
          </a:xfrm>
          <a:prstGeom prst="ellipse">
            <a:avLst/>
          </a:prstGeom>
          <a:solidFill>
            <a:srgbClr val="6E40C9"/>
          </a:solidFill>
          <a:ln w="12700">
            <a:solidFill>
              <a:srgbClr val="6E40C9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6388608" y="1938528"/>
            <a:ext cx="248107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哪個服務、哪個函式、耗時多少</a:t>
            </a:r>
            <a:endParaRPr lang="en-US" sz="1050" dirty="0"/>
          </a:p>
        </p:txBody>
      </p:sp>
      <p:sp>
        <p:nvSpPr>
          <p:cNvPr id="48" name="Shape 46"/>
          <p:cNvSpPr/>
          <p:nvPr/>
        </p:nvSpPr>
        <p:spPr>
          <a:xfrm>
            <a:off x="6224016" y="2404872"/>
            <a:ext cx="109728" cy="109728"/>
          </a:xfrm>
          <a:prstGeom prst="ellipse">
            <a:avLst/>
          </a:prstGeom>
          <a:solidFill>
            <a:srgbClr val="6E40C9"/>
          </a:solidFill>
          <a:ln w="12700">
            <a:solidFill>
              <a:srgbClr val="6E40C9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6388608" y="2340864"/>
            <a:ext cx="248107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適合：效能分析、依賴追蹤</a:t>
            </a:r>
            <a:endParaRPr lang="en-US" sz="1050" dirty="0"/>
          </a:p>
        </p:txBody>
      </p:sp>
      <p:sp>
        <p:nvSpPr>
          <p:cNvPr id="50" name="Shape 48"/>
          <p:cNvSpPr/>
          <p:nvPr/>
        </p:nvSpPr>
        <p:spPr>
          <a:xfrm>
            <a:off x="6224016" y="2807208"/>
            <a:ext cx="109728" cy="109728"/>
          </a:xfrm>
          <a:prstGeom prst="ellipse">
            <a:avLst/>
          </a:prstGeom>
          <a:solidFill>
            <a:srgbClr val="6E40C9"/>
          </a:solidFill>
          <a:ln w="12700">
            <a:solidFill>
              <a:srgbClr val="6E40C9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6388608" y="2743200"/>
            <a:ext cx="248107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保留：天到週（最高成本）</a:t>
            </a:r>
            <a:endParaRPr lang="en-US" sz="1050" dirty="0"/>
          </a:p>
        </p:txBody>
      </p:sp>
      <p:sp>
        <p:nvSpPr>
          <p:cNvPr id="52" name="Shape 50"/>
          <p:cNvSpPr/>
          <p:nvPr/>
        </p:nvSpPr>
        <p:spPr>
          <a:xfrm>
            <a:off x="6224016" y="3209544"/>
            <a:ext cx="109728" cy="109728"/>
          </a:xfrm>
          <a:prstGeom prst="ellipse">
            <a:avLst/>
          </a:prstGeom>
          <a:solidFill>
            <a:srgbClr val="6E40C9"/>
          </a:solidFill>
          <a:ln w="12700">
            <a:solidFill>
              <a:srgbClr val="6E40C9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6388608" y="3145536"/>
            <a:ext cx="248107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工具：Jaeger, Tempo, Zipkin</a:t>
            </a:r>
            <a:endParaRPr lang="en-US" sz="1050" dirty="0"/>
          </a:p>
        </p:txBody>
      </p:sp>
      <p:sp>
        <p:nvSpPr>
          <p:cNvPr id="54" name="Shape 52"/>
          <p:cNvSpPr/>
          <p:nvPr/>
        </p:nvSpPr>
        <p:spPr>
          <a:xfrm>
            <a:off x="274320" y="4645152"/>
            <a:ext cx="8595360" cy="384048"/>
          </a:xfrm>
          <a:prstGeom prst="roundRect">
            <a:avLst>
              <a:gd name="adj" fmla="val 14286"/>
            </a:avLst>
          </a:prstGeom>
          <a:solidFill>
            <a:srgbClr val="0A1929"/>
          </a:solidFill>
          <a:ln w="9525">
            <a:solidFill>
              <a:srgbClr val="58A6FF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457200" y="4690872"/>
            <a:ext cx="8229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💡  從成本角度：Metrics 最便宜（數字），Logs 中等（文字），Traces 最貴（每個 Span 都要儲存）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61B22"/>
          </a:solidFill>
          <a:ln w="6350">
            <a:solidFill>
              <a:srgbClr val="30363D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82296"/>
            <a:ext cx="45720" cy="310896"/>
          </a:xfrm>
          <a:prstGeom prst="rect">
            <a:avLst/>
          </a:prstGeom>
          <a:solidFill>
            <a:srgbClr val="F85149"/>
          </a:solidFill>
          <a:ln w="12700">
            <a:solidFill>
              <a:srgbClr val="F85149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64592" y="0"/>
            <a:ext cx="5943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單體 vs 分散式：為什麼可觀測性變得關鍵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7132320" y="0"/>
            <a:ext cx="19202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7 METRICS  · 93 / 150</a:t>
            </a:r>
            <a:endParaRPr lang="en-US" sz="850" dirty="0"/>
          </a:p>
        </p:txBody>
      </p:sp>
      <p:sp>
        <p:nvSpPr>
          <p:cNvPr id="6" name="Shape 4"/>
          <p:cNvSpPr/>
          <p:nvPr/>
        </p:nvSpPr>
        <p:spPr>
          <a:xfrm>
            <a:off x="4572000" y="530352"/>
            <a:ext cx="0" cy="3931920"/>
          </a:xfrm>
          <a:prstGeom prst="line">
            <a:avLst/>
          </a:prstGeom>
          <a:noFill/>
          <a:ln w="6350">
            <a:solidFill>
              <a:srgbClr val="30363D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74320" y="566928"/>
            <a:ext cx="3840480" cy="365760"/>
          </a:xfrm>
          <a:prstGeom prst="roundRect">
            <a:avLst>
              <a:gd name="adj" fmla="val 20000"/>
            </a:avLst>
          </a:prstGeom>
          <a:solidFill>
            <a:srgbClr val="0F2A1A"/>
          </a:solidFill>
          <a:ln w="12700">
            <a:solidFill>
              <a:srgbClr val="3FB95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84048" y="566928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🖥️ 單體服務：簡單偵錯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1097280" y="1005840"/>
            <a:ext cx="2011680" cy="914400"/>
          </a:xfrm>
          <a:prstGeom prst="roundRect">
            <a:avLst>
              <a:gd name="adj" fmla="val 10000"/>
            </a:avLst>
          </a:prstGeom>
          <a:solidFill>
            <a:srgbClr val="161B22"/>
          </a:solidFill>
          <a:ln w="19050">
            <a:solidFill>
              <a:srgbClr val="238636"/>
            </a:solidFill>
            <a:prstDash val="solid"/>
          </a:ln>
          <a:effectLst>
            <a:outerShdw sx="100000" sy="100000" kx="0" ky="0" algn="bl" rotWithShape="0" blurRad="76200" dist="25400" dir="2700000">
              <a:srgbClr val="000000">
                <a:alpha val="30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1097280" y="1060704"/>
            <a:ext cx="201168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⚙️</a:t>
            </a:r>
            <a:endParaRPr lang="en-US" sz="2200" dirty="0"/>
          </a:p>
        </p:txBody>
      </p:sp>
      <p:sp>
        <p:nvSpPr>
          <p:cNvPr id="11" name="Text 9"/>
          <p:cNvSpPr/>
          <p:nvPr/>
        </p:nvSpPr>
        <p:spPr>
          <a:xfrm>
            <a:off x="1152144" y="1481328"/>
            <a:ext cx="1901952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Monolith App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1133856" y="1709928"/>
            <a:ext cx="1938528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一個 Process</a:t>
            </a:r>
            <a:endParaRPr lang="en-US" sz="800" dirty="0"/>
          </a:p>
        </p:txBody>
      </p:sp>
      <p:sp>
        <p:nvSpPr>
          <p:cNvPr id="13" name="Shape 11"/>
          <p:cNvSpPr/>
          <p:nvPr/>
        </p:nvSpPr>
        <p:spPr>
          <a:xfrm>
            <a:off x="274320" y="2057400"/>
            <a:ext cx="3840480" cy="365760"/>
          </a:xfrm>
          <a:prstGeom prst="roundRect">
            <a:avLst>
              <a:gd name="adj" fmla="val 15000"/>
            </a:avLst>
          </a:prstGeom>
          <a:solidFill>
            <a:srgbClr val="161B22"/>
          </a:solidFill>
          <a:ln w="10160">
            <a:solidFill>
              <a:srgbClr val="3FB95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57200" y="2057400"/>
            <a:ext cx="3474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tail -f app.log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274320" y="2487168"/>
            <a:ext cx="3840480" cy="365760"/>
          </a:xfrm>
          <a:prstGeom prst="roundRect">
            <a:avLst>
              <a:gd name="adj" fmla="val 15000"/>
            </a:avLst>
          </a:prstGeom>
          <a:solidFill>
            <a:srgbClr val="161B22"/>
          </a:solidFill>
          <a:ln w="10160">
            <a:solidFill>
              <a:srgbClr val="3FB95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57200" y="2487168"/>
            <a:ext cx="3474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print() / console.log()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274320" y="2916936"/>
            <a:ext cx="3840480" cy="365760"/>
          </a:xfrm>
          <a:prstGeom prst="roundRect">
            <a:avLst>
              <a:gd name="adj" fmla="val 15000"/>
            </a:avLst>
          </a:prstGeom>
          <a:solidFill>
            <a:srgbClr val="161B22"/>
          </a:solidFill>
          <a:ln w="10160">
            <a:solidFill>
              <a:srgbClr val="3FB95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57200" y="2916936"/>
            <a:ext cx="3474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gdb / pdb 本地除錯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274320" y="3364992"/>
            <a:ext cx="3840480" cy="347472"/>
          </a:xfrm>
          <a:prstGeom prst="roundRect">
            <a:avLst>
              <a:gd name="adj" fmla="val 15789"/>
            </a:avLst>
          </a:prstGeom>
          <a:solidFill>
            <a:srgbClr val="0F2A1A"/>
          </a:solidFill>
          <a:ln w="10160">
            <a:solidFill>
              <a:srgbClr val="3FB95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11480" y="3364992"/>
            <a:ext cx="35661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問題出在這個 process，直接找就好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4663440" y="566928"/>
            <a:ext cx="4023360" cy="365760"/>
          </a:xfrm>
          <a:prstGeom prst="roundRect">
            <a:avLst>
              <a:gd name="adj" fmla="val 20000"/>
            </a:avLst>
          </a:prstGeom>
          <a:solidFill>
            <a:srgbClr val="2A0F0F"/>
          </a:solidFill>
          <a:ln w="12700">
            <a:solidFill>
              <a:srgbClr val="F85149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4773168" y="566928"/>
            <a:ext cx="3840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851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🕸️ 分散式：除錯地獄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4754880" y="914400"/>
            <a:ext cx="1188720" cy="347472"/>
          </a:xfrm>
          <a:prstGeom prst="roundRect">
            <a:avLst>
              <a:gd name="adj" fmla="val 15789"/>
            </a:avLst>
          </a:prstGeom>
          <a:solidFill>
            <a:srgbClr val="161B22"/>
          </a:solidFill>
          <a:ln w="12700">
            <a:solidFill>
              <a:srgbClr val="1F6FEB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4800600" y="914400"/>
            <a:ext cx="23774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00000"/>
                </a:solidFill>
              </a:rPr>
              <a:t>⚙️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5047488" y="914400"/>
            <a:ext cx="85953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nginx</a:t>
            </a:r>
            <a:endParaRPr lang="en-US" sz="950" dirty="0"/>
          </a:p>
        </p:txBody>
      </p:sp>
      <p:sp>
        <p:nvSpPr>
          <p:cNvPr id="26" name="Shape 24"/>
          <p:cNvSpPr/>
          <p:nvPr/>
        </p:nvSpPr>
        <p:spPr>
          <a:xfrm>
            <a:off x="6035040" y="914400"/>
            <a:ext cx="1188720" cy="347472"/>
          </a:xfrm>
          <a:prstGeom prst="roundRect">
            <a:avLst>
              <a:gd name="adj" fmla="val 15789"/>
            </a:avLst>
          </a:prstGeom>
          <a:solidFill>
            <a:srgbClr val="161B22"/>
          </a:solidFill>
          <a:ln w="12700">
            <a:solidFill>
              <a:srgbClr val="58A6FF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080760" y="914400"/>
            <a:ext cx="23774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00000"/>
                </a:solidFill>
              </a:rPr>
              <a:t>⚙️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6327648" y="914400"/>
            <a:ext cx="85953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api-gw</a:t>
            </a:r>
            <a:endParaRPr lang="en-US" sz="950" dirty="0"/>
          </a:p>
        </p:txBody>
      </p:sp>
      <p:sp>
        <p:nvSpPr>
          <p:cNvPr id="29" name="Shape 27"/>
          <p:cNvSpPr/>
          <p:nvPr/>
        </p:nvSpPr>
        <p:spPr>
          <a:xfrm>
            <a:off x="7315200" y="914400"/>
            <a:ext cx="1188720" cy="347472"/>
          </a:xfrm>
          <a:prstGeom prst="roundRect">
            <a:avLst>
              <a:gd name="adj" fmla="val 15789"/>
            </a:avLst>
          </a:prstGeom>
          <a:solidFill>
            <a:srgbClr val="161B22"/>
          </a:solidFill>
          <a:ln w="12700">
            <a:solidFill>
              <a:srgbClr val="6E40C9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360920" y="914400"/>
            <a:ext cx="23774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00000"/>
                </a:solidFill>
              </a:rPr>
              <a:t>⚙️</a:t>
            </a:r>
            <a:endParaRPr lang="en-US" sz="1200" dirty="0"/>
          </a:p>
        </p:txBody>
      </p:sp>
      <p:sp>
        <p:nvSpPr>
          <p:cNvPr id="31" name="Text 29"/>
          <p:cNvSpPr/>
          <p:nvPr/>
        </p:nvSpPr>
        <p:spPr>
          <a:xfrm>
            <a:off x="7607808" y="914400"/>
            <a:ext cx="85953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auth-svc</a:t>
            </a:r>
            <a:endParaRPr lang="en-US" sz="950" dirty="0"/>
          </a:p>
        </p:txBody>
      </p:sp>
      <p:sp>
        <p:nvSpPr>
          <p:cNvPr id="32" name="Shape 30"/>
          <p:cNvSpPr/>
          <p:nvPr/>
        </p:nvSpPr>
        <p:spPr>
          <a:xfrm>
            <a:off x="4754880" y="1463040"/>
            <a:ext cx="1188720" cy="347472"/>
          </a:xfrm>
          <a:prstGeom prst="roundRect">
            <a:avLst>
              <a:gd name="adj" fmla="val 15789"/>
            </a:avLst>
          </a:prstGeom>
          <a:solidFill>
            <a:srgbClr val="161B22"/>
          </a:solidFill>
          <a:ln w="12700">
            <a:solidFill>
              <a:srgbClr val="238636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4800600" y="1463040"/>
            <a:ext cx="23774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00000"/>
                </a:solidFill>
              </a:rPr>
              <a:t>⚙️</a:t>
            </a:r>
            <a:endParaRPr lang="en-US" sz="1200" dirty="0"/>
          </a:p>
        </p:txBody>
      </p:sp>
      <p:sp>
        <p:nvSpPr>
          <p:cNvPr id="34" name="Text 32"/>
          <p:cNvSpPr/>
          <p:nvPr/>
        </p:nvSpPr>
        <p:spPr>
          <a:xfrm>
            <a:off x="5047488" y="1463040"/>
            <a:ext cx="85953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order-svc</a:t>
            </a:r>
            <a:endParaRPr lang="en-US" sz="950" dirty="0"/>
          </a:p>
        </p:txBody>
      </p:sp>
      <p:sp>
        <p:nvSpPr>
          <p:cNvPr id="35" name="Shape 33"/>
          <p:cNvSpPr/>
          <p:nvPr/>
        </p:nvSpPr>
        <p:spPr>
          <a:xfrm>
            <a:off x="6035040" y="1463040"/>
            <a:ext cx="1188720" cy="347472"/>
          </a:xfrm>
          <a:prstGeom prst="roundRect">
            <a:avLst>
              <a:gd name="adj" fmla="val 15789"/>
            </a:avLst>
          </a:prstGeom>
          <a:solidFill>
            <a:srgbClr val="161B22"/>
          </a:solidFill>
          <a:ln w="12700">
            <a:solidFill>
              <a:srgbClr val="D29922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6080760" y="1463040"/>
            <a:ext cx="23774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00000"/>
                </a:solidFill>
              </a:rPr>
              <a:t>⚙️</a:t>
            </a:r>
            <a:endParaRPr lang="en-US" sz="1200" dirty="0"/>
          </a:p>
        </p:txBody>
      </p:sp>
      <p:sp>
        <p:nvSpPr>
          <p:cNvPr id="37" name="Text 35"/>
          <p:cNvSpPr/>
          <p:nvPr/>
        </p:nvSpPr>
        <p:spPr>
          <a:xfrm>
            <a:off x="6327648" y="1463040"/>
            <a:ext cx="85953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payment-svc</a:t>
            </a:r>
            <a:endParaRPr lang="en-US" sz="950" dirty="0"/>
          </a:p>
        </p:txBody>
      </p:sp>
      <p:sp>
        <p:nvSpPr>
          <p:cNvPr id="38" name="Shape 36"/>
          <p:cNvSpPr/>
          <p:nvPr/>
        </p:nvSpPr>
        <p:spPr>
          <a:xfrm>
            <a:off x="7315200" y="1463040"/>
            <a:ext cx="1188720" cy="347472"/>
          </a:xfrm>
          <a:prstGeom prst="roundRect">
            <a:avLst>
              <a:gd name="adj" fmla="val 15789"/>
            </a:avLst>
          </a:prstGeom>
          <a:solidFill>
            <a:srgbClr val="161B22"/>
          </a:solidFill>
          <a:ln w="12700">
            <a:solidFill>
              <a:srgbClr val="0D8A6C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7360920" y="1463040"/>
            <a:ext cx="23774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00000"/>
                </a:solidFill>
              </a:rPr>
              <a:t>⚙️</a:t>
            </a:r>
            <a:endParaRPr lang="en-US" sz="1200" dirty="0"/>
          </a:p>
        </p:txBody>
      </p:sp>
      <p:sp>
        <p:nvSpPr>
          <p:cNvPr id="40" name="Text 38"/>
          <p:cNvSpPr/>
          <p:nvPr/>
        </p:nvSpPr>
        <p:spPr>
          <a:xfrm>
            <a:off x="7607808" y="1463040"/>
            <a:ext cx="85953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inventory-svc</a:t>
            </a:r>
            <a:endParaRPr lang="en-US" sz="950" dirty="0"/>
          </a:p>
        </p:txBody>
      </p:sp>
      <p:sp>
        <p:nvSpPr>
          <p:cNvPr id="41" name="Shape 39"/>
          <p:cNvSpPr/>
          <p:nvPr/>
        </p:nvSpPr>
        <p:spPr>
          <a:xfrm>
            <a:off x="4754880" y="2011680"/>
            <a:ext cx="1188720" cy="347472"/>
          </a:xfrm>
          <a:prstGeom prst="roundRect">
            <a:avLst>
              <a:gd name="adj" fmla="val 15789"/>
            </a:avLst>
          </a:prstGeom>
          <a:solidFill>
            <a:srgbClr val="161B22"/>
          </a:solidFill>
          <a:ln w="12700">
            <a:solidFill>
              <a:srgbClr val="8B949E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4800600" y="2011680"/>
            <a:ext cx="23774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00000"/>
                </a:solidFill>
              </a:rPr>
              <a:t>⚙️</a:t>
            </a:r>
            <a:endParaRPr lang="en-US" sz="1200" dirty="0"/>
          </a:p>
        </p:txBody>
      </p:sp>
      <p:sp>
        <p:nvSpPr>
          <p:cNvPr id="43" name="Text 41"/>
          <p:cNvSpPr/>
          <p:nvPr/>
        </p:nvSpPr>
        <p:spPr>
          <a:xfrm>
            <a:off x="5047488" y="2011680"/>
            <a:ext cx="85953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email-svc</a:t>
            </a:r>
            <a:endParaRPr lang="en-US" sz="950" dirty="0"/>
          </a:p>
        </p:txBody>
      </p:sp>
      <p:sp>
        <p:nvSpPr>
          <p:cNvPr id="44" name="Shape 42"/>
          <p:cNvSpPr/>
          <p:nvPr/>
        </p:nvSpPr>
        <p:spPr>
          <a:xfrm>
            <a:off x="6035040" y="2011680"/>
            <a:ext cx="1188720" cy="347472"/>
          </a:xfrm>
          <a:prstGeom prst="roundRect">
            <a:avLst>
              <a:gd name="adj" fmla="val 15789"/>
            </a:avLst>
          </a:prstGeom>
          <a:solidFill>
            <a:srgbClr val="161B22"/>
          </a:solidFill>
          <a:ln w="12700">
            <a:solidFill>
              <a:srgbClr val="E36209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6080760" y="2011680"/>
            <a:ext cx="23774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00000"/>
                </a:solidFill>
              </a:rPr>
              <a:t>⚙️</a:t>
            </a:r>
            <a:endParaRPr lang="en-US" sz="1200" dirty="0"/>
          </a:p>
        </p:txBody>
      </p:sp>
      <p:sp>
        <p:nvSpPr>
          <p:cNvPr id="46" name="Text 44"/>
          <p:cNvSpPr/>
          <p:nvPr/>
        </p:nvSpPr>
        <p:spPr>
          <a:xfrm>
            <a:off x="6327648" y="2011680"/>
            <a:ext cx="85953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db</a:t>
            </a:r>
            <a:endParaRPr lang="en-US" sz="950" dirty="0"/>
          </a:p>
        </p:txBody>
      </p:sp>
      <p:sp>
        <p:nvSpPr>
          <p:cNvPr id="47" name="Shape 45"/>
          <p:cNvSpPr/>
          <p:nvPr/>
        </p:nvSpPr>
        <p:spPr>
          <a:xfrm>
            <a:off x="7315200" y="2011680"/>
            <a:ext cx="1188720" cy="347472"/>
          </a:xfrm>
          <a:prstGeom prst="roundRect">
            <a:avLst>
              <a:gd name="adj" fmla="val 15789"/>
            </a:avLst>
          </a:prstGeom>
          <a:solidFill>
            <a:srgbClr val="161B22"/>
          </a:solidFill>
          <a:ln w="12700">
            <a:solidFill>
              <a:srgbClr val="F85149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7360920" y="2011680"/>
            <a:ext cx="23774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00000"/>
                </a:solidFill>
              </a:rPr>
              <a:t>⚙️</a:t>
            </a:r>
            <a:endParaRPr lang="en-US" sz="1200" dirty="0"/>
          </a:p>
        </p:txBody>
      </p:sp>
      <p:sp>
        <p:nvSpPr>
          <p:cNvPr id="49" name="Text 47"/>
          <p:cNvSpPr/>
          <p:nvPr/>
        </p:nvSpPr>
        <p:spPr>
          <a:xfrm>
            <a:off x="7607808" y="2011680"/>
            <a:ext cx="85953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redis</a:t>
            </a:r>
            <a:endParaRPr lang="en-US" sz="950" dirty="0"/>
          </a:p>
        </p:txBody>
      </p:sp>
      <p:sp>
        <p:nvSpPr>
          <p:cNvPr id="50" name="Shape 48"/>
          <p:cNvSpPr/>
          <p:nvPr/>
        </p:nvSpPr>
        <p:spPr>
          <a:xfrm>
            <a:off x="274320" y="2907792"/>
            <a:ext cx="8595360" cy="384048"/>
          </a:xfrm>
          <a:prstGeom prst="roundRect">
            <a:avLst>
              <a:gd name="adj" fmla="val 14286"/>
            </a:avLst>
          </a:prstGeom>
          <a:solidFill>
            <a:srgbClr val="2A0F0F"/>
          </a:solidFill>
          <a:ln w="12700">
            <a:solidFill>
              <a:srgbClr val="F85149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457200" y="2953512"/>
            <a:ext cx="66751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851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🔥  User說結帳很慢！是哪個服務？哪個函式？沒有 Tracing 只能每個服務慢慢查 log...</a:t>
            </a:r>
            <a:endParaRPr lang="en-US" sz="1050" dirty="0"/>
          </a:p>
        </p:txBody>
      </p:sp>
      <p:sp>
        <p:nvSpPr>
          <p:cNvPr id="52" name="Shape 50"/>
          <p:cNvSpPr/>
          <p:nvPr/>
        </p:nvSpPr>
        <p:spPr>
          <a:xfrm>
            <a:off x="7132320" y="2980944"/>
            <a:ext cx="1097280" cy="228600"/>
          </a:xfrm>
          <a:prstGeom prst="roundRect">
            <a:avLst>
              <a:gd name="adj" fmla="val 16000"/>
            </a:avLst>
          </a:prstGeom>
          <a:solidFill>
            <a:srgbClr val="3D1515"/>
          </a:solidFill>
          <a:ln w="6350">
            <a:solidFill>
              <a:srgbClr val="F85149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7132320" y="3008376"/>
            <a:ext cx="109728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F851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15分鐘找問題</a:t>
            </a:r>
            <a:endParaRPr lang="en-US" sz="750" dirty="0"/>
          </a:p>
        </p:txBody>
      </p:sp>
      <p:sp>
        <p:nvSpPr>
          <p:cNvPr id="54" name="Shape 52"/>
          <p:cNvSpPr/>
          <p:nvPr/>
        </p:nvSpPr>
        <p:spPr>
          <a:xfrm>
            <a:off x="7626096" y="2980944"/>
            <a:ext cx="1097280" cy="228600"/>
          </a:xfrm>
          <a:prstGeom prst="roundRect">
            <a:avLst>
              <a:gd name="adj" fmla="val 16000"/>
            </a:avLst>
          </a:prstGeom>
          <a:solidFill>
            <a:srgbClr val="3D1515"/>
          </a:solidFill>
          <a:ln w="6350">
            <a:solidFill>
              <a:srgbClr val="F85149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7626096" y="3008376"/>
            <a:ext cx="109728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F851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有時找不到</a:t>
            </a:r>
            <a:endParaRPr lang="en-US" sz="750" dirty="0"/>
          </a:p>
        </p:txBody>
      </p:sp>
      <p:sp>
        <p:nvSpPr>
          <p:cNvPr id="56" name="Shape 54"/>
          <p:cNvSpPr/>
          <p:nvPr/>
        </p:nvSpPr>
        <p:spPr>
          <a:xfrm>
            <a:off x="274320" y="4343400"/>
            <a:ext cx="8595360" cy="384048"/>
          </a:xfrm>
          <a:prstGeom prst="roundRect">
            <a:avLst>
              <a:gd name="adj" fmla="val 14286"/>
            </a:avLst>
          </a:prstGeom>
          <a:solidFill>
            <a:srgbClr val="0A1929"/>
          </a:solidFill>
          <a:ln w="9525">
            <a:solidFill>
              <a:srgbClr val="58A6FF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457200" y="4389120"/>
            <a:ext cx="8229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💡  分散式系統中一個請求可能觸碰 10+ 個服務 — 沒有 Traces，你根本不知道慢在哪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61B22"/>
          </a:solidFill>
          <a:ln w="6350">
            <a:solidFill>
              <a:srgbClr val="30363D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82296"/>
            <a:ext cx="45720" cy="310896"/>
          </a:xfrm>
          <a:prstGeom prst="rect">
            <a:avLst/>
          </a:prstGeom>
          <a:solidFill>
            <a:srgbClr val="3FB950"/>
          </a:solidFill>
          <a:ln w="12700">
            <a:solidFill>
              <a:srgbClr val="3FB950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64592" y="0"/>
            <a:ext cx="5943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Metrics：數字告訴你系統的健康狀態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6172200" y="9144"/>
            <a:ext cx="960120" cy="137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複雜度  3/10</a:t>
            </a:r>
            <a:endParaRPr lang="en-US" sz="750" dirty="0"/>
          </a:p>
        </p:txBody>
      </p:sp>
      <p:sp>
        <p:nvSpPr>
          <p:cNvPr id="6" name="Shape 4"/>
          <p:cNvSpPr/>
          <p:nvPr/>
        </p:nvSpPr>
        <p:spPr>
          <a:xfrm>
            <a:off x="6172200" y="109728"/>
            <a:ext cx="960120" cy="82296"/>
          </a:xfrm>
          <a:prstGeom prst="rect">
            <a:avLst/>
          </a:prstGeom>
          <a:solidFill>
            <a:srgbClr val="252D38"/>
          </a:solidFill>
          <a:ln w="12700">
            <a:solidFill>
              <a:srgbClr val="252D38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172200" y="109728"/>
            <a:ext cx="288036" cy="82296"/>
          </a:xfrm>
          <a:prstGeom prst="rect">
            <a:avLst/>
          </a:prstGeom>
          <a:solidFill>
            <a:srgbClr val="3FB950"/>
          </a:solidFill>
          <a:ln w="12700">
            <a:solidFill>
              <a:srgbClr val="3FB95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132320" y="0"/>
            <a:ext cx="19202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7 METRICS  · 94 / 150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274320" y="594360"/>
            <a:ext cx="4297680" cy="804672"/>
          </a:xfrm>
          <a:prstGeom prst="roundRect">
            <a:avLst>
              <a:gd name="adj" fmla="val 9091"/>
            </a:avLst>
          </a:prstGeom>
          <a:solidFill>
            <a:srgbClr val="161B22"/>
          </a:solidFill>
          <a:ln w="12700">
            <a:solidFill>
              <a:srgbClr val="3FB95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65760" y="621792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Metrics = 時間序列數字資料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365760" y="896112"/>
            <a:ext cx="4114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(timestamp, metric_name, labels, value)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274320" y="1481328"/>
            <a:ext cx="4297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Production 服務在跑，但你怎麼知道它健康嗎？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365760" y="1828800"/>
            <a:ext cx="3931920" cy="384048"/>
          </a:xfrm>
          <a:prstGeom prst="roundRect">
            <a:avLst>
              <a:gd name="adj" fmla="val 14286"/>
            </a:avLst>
          </a:prstGeom>
          <a:solidFill>
            <a:srgbClr val="161B22"/>
          </a:solidFill>
          <a:ln w="9525">
            <a:solidFill>
              <a:srgbClr val="30363D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1828800"/>
            <a:ext cx="36576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📈 http_requests_total: 15,847 req (counter)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365760" y="2267712"/>
            <a:ext cx="3931920" cy="384048"/>
          </a:xfrm>
          <a:prstGeom prst="roundRect">
            <a:avLst>
              <a:gd name="adj" fmla="val 14286"/>
            </a:avLst>
          </a:prstGeom>
          <a:solidFill>
            <a:srgbClr val="161B22"/>
          </a:solidFill>
          <a:ln w="9525">
            <a:solidFill>
              <a:srgbClr val="30363D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02920" y="2267712"/>
            <a:ext cx="36576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⚡ api_response_p99_ms: 245ms (gauge)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65760" y="2706624"/>
            <a:ext cx="3931920" cy="384048"/>
          </a:xfrm>
          <a:prstGeom prst="roundRect">
            <a:avLst>
              <a:gd name="adj" fmla="val 14286"/>
            </a:avLst>
          </a:prstGeom>
          <a:solidFill>
            <a:srgbClr val="161B22"/>
          </a:solidFill>
          <a:ln w="9525">
            <a:solidFill>
              <a:srgbClr val="30363D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02920" y="2706624"/>
            <a:ext cx="36576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❌ http_error_rate: 0.03% (gauge)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365760" y="3145536"/>
            <a:ext cx="3931920" cy="384048"/>
          </a:xfrm>
          <a:prstGeom prst="roundRect">
            <a:avLst>
              <a:gd name="adj" fmla="val 14286"/>
            </a:avLst>
          </a:prstGeom>
          <a:solidFill>
            <a:srgbClr val="161B22"/>
          </a:solidFill>
          <a:ln w="9525">
            <a:solidFill>
              <a:srgbClr val="30363D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02920" y="3145536"/>
            <a:ext cx="36576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💾 process_memory_bytes: 512MB (gauge)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274320" y="3630168"/>
            <a:ext cx="4297680" cy="566928"/>
          </a:xfrm>
          <a:prstGeom prst="roundRect">
            <a:avLst>
              <a:gd name="adj" fmla="val 12903"/>
            </a:avLst>
          </a:prstGeom>
          <a:solidFill>
            <a:srgbClr val="2A0F0F"/>
          </a:solidFill>
          <a:ln w="12700">
            <a:solidFill>
              <a:srgbClr val="F85149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411480" y="3630168"/>
            <a:ext cx="406908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851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❌ 沒有 Metrics 就像開車沒有儀表板 — 不知道速度、油量、引擎狀態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5029200" y="685800"/>
            <a:ext cx="3840480" cy="2606040"/>
          </a:xfrm>
          <a:prstGeom prst="roundRect">
            <a:avLst>
              <a:gd name="adj" fmla="val 2807"/>
            </a:avLst>
          </a:prstGeom>
          <a:solidFill>
            <a:srgbClr val="161B22"/>
          </a:solidFill>
          <a:ln w="12700">
            <a:solidFill>
              <a:srgbClr val="30363D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120640" y="749808"/>
            <a:ext cx="36576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http_requests_total (rate/s)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5166360" y="2651760"/>
            <a:ext cx="411480" cy="438912"/>
          </a:xfrm>
          <a:prstGeom prst="rect">
            <a:avLst/>
          </a:prstGeom>
          <a:solidFill>
            <a:srgbClr val="3FB950">
              <a:alpha val="60000"/>
            </a:srgbClr>
          </a:solidFill>
          <a:ln w="12700">
            <a:solidFill>
              <a:srgbClr val="3FB95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596128" y="2468880"/>
            <a:ext cx="411480" cy="621792"/>
          </a:xfrm>
          <a:prstGeom prst="rect">
            <a:avLst/>
          </a:prstGeom>
          <a:solidFill>
            <a:srgbClr val="3FB950">
              <a:alpha val="60000"/>
            </a:srgbClr>
          </a:solidFill>
          <a:ln w="12700">
            <a:solidFill>
              <a:srgbClr val="3FB95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6025896" y="2286000"/>
            <a:ext cx="411480" cy="804672"/>
          </a:xfrm>
          <a:prstGeom prst="rect">
            <a:avLst/>
          </a:prstGeom>
          <a:solidFill>
            <a:srgbClr val="3FB950">
              <a:alpha val="60000"/>
            </a:srgbClr>
          </a:solidFill>
          <a:ln w="12700">
            <a:solidFill>
              <a:srgbClr val="3FB95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6455664" y="1828800"/>
            <a:ext cx="411480" cy="1261872"/>
          </a:xfrm>
          <a:prstGeom prst="rect">
            <a:avLst/>
          </a:prstGeom>
          <a:solidFill>
            <a:srgbClr val="D29922">
              <a:alpha val="60000"/>
            </a:srgbClr>
          </a:solidFill>
          <a:ln w="12700">
            <a:solidFill>
              <a:srgbClr val="D29922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6885432" y="1280160"/>
            <a:ext cx="411480" cy="1810512"/>
          </a:xfrm>
          <a:prstGeom prst="rect">
            <a:avLst/>
          </a:prstGeom>
          <a:solidFill>
            <a:srgbClr val="F85149">
              <a:alpha val="60000"/>
            </a:srgbClr>
          </a:solidFill>
          <a:ln w="12700">
            <a:solidFill>
              <a:srgbClr val="F85149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7315200" y="2011680"/>
            <a:ext cx="411480" cy="1078992"/>
          </a:xfrm>
          <a:prstGeom prst="rect">
            <a:avLst/>
          </a:prstGeom>
          <a:solidFill>
            <a:srgbClr val="D29922">
              <a:alpha val="60000"/>
            </a:srgbClr>
          </a:solidFill>
          <a:ln w="12700">
            <a:solidFill>
              <a:srgbClr val="D29922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7744968" y="2423160"/>
            <a:ext cx="411480" cy="667512"/>
          </a:xfrm>
          <a:prstGeom prst="rect">
            <a:avLst/>
          </a:prstGeom>
          <a:solidFill>
            <a:srgbClr val="3FB950">
              <a:alpha val="60000"/>
            </a:srgbClr>
          </a:solidFill>
          <a:ln w="12700">
            <a:solidFill>
              <a:srgbClr val="3FB95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8174736" y="2633472"/>
            <a:ext cx="256032" cy="457200"/>
          </a:xfrm>
          <a:prstGeom prst="rect">
            <a:avLst/>
          </a:prstGeom>
          <a:solidFill>
            <a:srgbClr val="3FB950">
              <a:alpha val="60000"/>
            </a:srgbClr>
          </a:solidFill>
          <a:ln w="12700">
            <a:solidFill>
              <a:srgbClr val="3FB95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5120640" y="3127248"/>
            <a:ext cx="365760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 →</a:t>
            </a:r>
            <a:endParaRPr lang="en-US" sz="800" dirty="0"/>
          </a:p>
        </p:txBody>
      </p:sp>
      <p:sp>
        <p:nvSpPr>
          <p:cNvPr id="34" name="Text 32"/>
          <p:cNvSpPr/>
          <p:nvPr/>
        </p:nvSpPr>
        <p:spPr>
          <a:xfrm>
            <a:off x="5029200" y="914400"/>
            <a:ext cx="4572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req/s</a:t>
            </a:r>
            <a:endParaRPr lang="en-US" sz="800" dirty="0"/>
          </a:p>
        </p:txBody>
      </p:sp>
      <p:sp>
        <p:nvSpPr>
          <p:cNvPr id="35" name="Shape 33"/>
          <p:cNvSpPr/>
          <p:nvPr/>
        </p:nvSpPr>
        <p:spPr>
          <a:xfrm>
            <a:off x="4937760" y="3456432"/>
            <a:ext cx="1207008" cy="749808"/>
          </a:xfrm>
          <a:prstGeom prst="roundRect">
            <a:avLst>
              <a:gd name="adj" fmla="val 8537"/>
            </a:avLst>
          </a:prstGeom>
          <a:solidFill>
            <a:srgbClr val="161B22"/>
          </a:solidFill>
          <a:ln w="10160">
            <a:solidFill>
              <a:srgbClr val="58A6FF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4992624" y="3474720"/>
            <a:ext cx="10972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58A6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⏱️ 時序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4992624" y="3703320"/>
            <a:ext cx="109728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按時間排列</a:t>
            </a:r>
            <a:endParaRPr lang="en-US" sz="850" dirty="0"/>
          </a:p>
          <a:p>
            <a:pPr algn="ctr" indent="0" marL="0">
              <a:buNone/>
            </a:pPr>
            <a:r>
              <a:rPr lang="en-US" sz="8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可計算趨勢</a:t>
            </a:r>
            <a:endParaRPr lang="en-US" sz="850" dirty="0"/>
          </a:p>
        </p:txBody>
      </p:sp>
      <p:sp>
        <p:nvSpPr>
          <p:cNvPr id="38" name="Shape 36"/>
          <p:cNvSpPr/>
          <p:nvPr/>
        </p:nvSpPr>
        <p:spPr>
          <a:xfrm>
            <a:off x="6291072" y="3456432"/>
            <a:ext cx="1207008" cy="749808"/>
          </a:xfrm>
          <a:prstGeom prst="roundRect">
            <a:avLst>
              <a:gd name="adj" fmla="val 8537"/>
            </a:avLst>
          </a:prstGeom>
          <a:solidFill>
            <a:srgbClr val="161B22"/>
          </a:solidFill>
          <a:ln w="10160">
            <a:solidFill>
              <a:srgbClr val="58A6FF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345936" y="3474720"/>
            <a:ext cx="10972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58A6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🏷️ 標籤</a:t>
            </a:r>
            <a:endParaRPr lang="en-US" sz="1000" dirty="0"/>
          </a:p>
        </p:txBody>
      </p:sp>
      <p:sp>
        <p:nvSpPr>
          <p:cNvPr id="40" name="Text 38"/>
          <p:cNvSpPr/>
          <p:nvPr/>
        </p:nvSpPr>
        <p:spPr>
          <a:xfrm>
            <a:off x="6345936" y="3703320"/>
            <a:ext cx="109728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service, env</a:t>
            </a:r>
            <a:endParaRPr lang="en-US" sz="850" dirty="0"/>
          </a:p>
          <a:p>
            <a:pPr algn="ctr" indent="0" marL="0">
              <a:buNone/>
            </a:pPr>
            <a:r>
              <a:rPr lang="en-US" sz="8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version, region</a:t>
            </a:r>
            <a:endParaRPr lang="en-US" sz="850" dirty="0"/>
          </a:p>
        </p:txBody>
      </p:sp>
      <p:sp>
        <p:nvSpPr>
          <p:cNvPr id="41" name="Shape 39"/>
          <p:cNvSpPr/>
          <p:nvPr/>
        </p:nvSpPr>
        <p:spPr>
          <a:xfrm>
            <a:off x="7644384" y="3456432"/>
            <a:ext cx="1207008" cy="749808"/>
          </a:xfrm>
          <a:prstGeom prst="roundRect">
            <a:avLst>
              <a:gd name="adj" fmla="val 8537"/>
            </a:avLst>
          </a:prstGeom>
          <a:solidFill>
            <a:srgbClr val="161B22"/>
          </a:solidFill>
          <a:ln w="10160">
            <a:solidFill>
              <a:srgbClr val="3FB950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7699248" y="3474720"/>
            <a:ext cx="10972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💡 高效</a:t>
            </a:r>
            <a:endParaRPr lang="en-US" sz="1000" dirty="0"/>
          </a:p>
        </p:txBody>
      </p:sp>
      <p:sp>
        <p:nvSpPr>
          <p:cNvPr id="43" name="Text 41"/>
          <p:cNvSpPr/>
          <p:nvPr/>
        </p:nvSpPr>
        <p:spPr>
          <a:xfrm>
            <a:off x="7699248" y="3703320"/>
            <a:ext cx="109728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數字 = 小</a:t>
            </a:r>
            <a:endParaRPr lang="en-US" sz="850" dirty="0"/>
          </a:p>
          <a:p>
            <a:pPr algn="ctr" indent="0" marL="0">
              <a:buNone/>
            </a:pPr>
            <a:r>
              <a:rPr lang="en-US" sz="8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保存成本低</a:t>
            </a:r>
            <a:endParaRPr lang="en-US" sz="850" dirty="0"/>
          </a:p>
        </p:txBody>
      </p:sp>
      <p:sp>
        <p:nvSpPr>
          <p:cNvPr id="44" name="Shape 42"/>
          <p:cNvSpPr/>
          <p:nvPr/>
        </p:nvSpPr>
        <p:spPr>
          <a:xfrm>
            <a:off x="274320" y="4498848"/>
            <a:ext cx="8595360" cy="384048"/>
          </a:xfrm>
          <a:prstGeom prst="roundRect">
            <a:avLst>
              <a:gd name="adj" fmla="val 14286"/>
            </a:avLst>
          </a:prstGeom>
          <a:solidFill>
            <a:srgbClr val="0A1929"/>
          </a:solidFill>
          <a:ln w="9525">
            <a:solidFill>
              <a:srgbClr val="58A6FF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457200" y="4544568"/>
            <a:ext cx="8229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💡  Metrics 不是 Logs — Metrics 只存數字，成本極低，適合長期保留（1年以上都沒問題）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61B22"/>
          </a:solidFill>
          <a:ln w="6350">
            <a:solidFill>
              <a:srgbClr val="30363D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82296"/>
            <a:ext cx="45720" cy="310896"/>
          </a:xfrm>
          <a:prstGeom prst="rect">
            <a:avLst/>
          </a:prstGeom>
          <a:solidFill>
            <a:srgbClr val="3FB950"/>
          </a:solidFill>
          <a:ln w="12700">
            <a:solidFill>
              <a:srgbClr val="3FB950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64592" y="0"/>
            <a:ext cx="5943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四種 Metric 資料類型：Counter、Gauge、Histogram、Summary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7132320" y="0"/>
            <a:ext cx="19202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7 METRICS  · 95 / 150</a:t>
            </a:r>
            <a:endParaRPr lang="en-US" sz="850" dirty="0"/>
          </a:p>
        </p:txBody>
      </p:sp>
      <p:sp>
        <p:nvSpPr>
          <p:cNvPr id="6" name="Shape 4"/>
          <p:cNvSpPr/>
          <p:nvPr/>
        </p:nvSpPr>
        <p:spPr>
          <a:xfrm>
            <a:off x="274320" y="594360"/>
            <a:ext cx="4114800" cy="2011680"/>
          </a:xfrm>
          <a:prstGeom prst="roundRect">
            <a:avLst>
              <a:gd name="adj" fmla="val 4545"/>
            </a:avLst>
          </a:prstGeom>
          <a:solidFill>
            <a:srgbClr val="161B22"/>
          </a:solidFill>
          <a:ln w="15240">
            <a:solidFill>
              <a:srgbClr val="3FB95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57200" y="658368"/>
            <a:ext cx="37490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① Counter — 只增不減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57200" y="914400"/>
            <a:ext cx="37490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適用：請求總數、錯誤總數、位元組數</a:t>
            </a:r>
            <a:endParaRPr lang="en-US" sz="950" dirty="0"/>
          </a:p>
        </p:txBody>
      </p:sp>
      <p:sp>
        <p:nvSpPr>
          <p:cNvPr id="9" name="Shape 7"/>
          <p:cNvSpPr/>
          <p:nvPr/>
        </p:nvSpPr>
        <p:spPr>
          <a:xfrm>
            <a:off x="411480" y="1133856"/>
            <a:ext cx="3657600" cy="292608"/>
          </a:xfrm>
          <a:prstGeom prst="roundRect">
            <a:avLst>
              <a:gd name="adj" fmla="val 15625"/>
            </a:avLst>
          </a:prstGeom>
          <a:solidFill>
            <a:srgbClr val="0D1117"/>
          </a:solidFill>
          <a:ln w="6350">
            <a:solidFill>
              <a:srgbClr val="30363D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02920" y="1133856"/>
            <a:ext cx="34747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http_requests_total{method='GET',status='200'}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457200" y="1481328"/>
            <a:ext cx="3657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D299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⚠️ Counter 本身無意義，用 rate() 換算每秒速率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502920" y="2304288"/>
            <a:ext cx="320040" cy="0"/>
          </a:xfrm>
          <a:prstGeom prst="line">
            <a:avLst/>
          </a:prstGeom>
          <a:noFill/>
          <a:ln w="19050">
            <a:solidFill>
              <a:srgbClr val="3FB95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822960" y="2304288"/>
            <a:ext cx="0" cy="-155448"/>
          </a:xfrm>
          <a:prstGeom prst="line">
            <a:avLst/>
          </a:prstGeom>
          <a:noFill/>
          <a:ln w="19050">
            <a:solidFill>
              <a:srgbClr val="3FB95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822960" y="2148840"/>
            <a:ext cx="320040" cy="0"/>
          </a:xfrm>
          <a:prstGeom prst="line">
            <a:avLst/>
          </a:prstGeom>
          <a:noFill/>
          <a:ln w="19050">
            <a:solidFill>
              <a:srgbClr val="3FB950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143000" y="2148840"/>
            <a:ext cx="0" cy="-155448"/>
          </a:xfrm>
          <a:prstGeom prst="line">
            <a:avLst/>
          </a:prstGeom>
          <a:noFill/>
          <a:ln w="19050">
            <a:solidFill>
              <a:srgbClr val="3FB95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143000" y="1993392"/>
            <a:ext cx="320040" cy="0"/>
          </a:xfrm>
          <a:prstGeom prst="line">
            <a:avLst/>
          </a:prstGeom>
          <a:noFill/>
          <a:ln w="19050">
            <a:solidFill>
              <a:srgbClr val="3FB950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463040" y="1993392"/>
            <a:ext cx="0" cy="-146304"/>
          </a:xfrm>
          <a:prstGeom prst="line">
            <a:avLst/>
          </a:prstGeom>
          <a:noFill/>
          <a:ln w="19050">
            <a:solidFill>
              <a:srgbClr val="3FB950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463040" y="1847088"/>
            <a:ext cx="320040" cy="0"/>
          </a:xfrm>
          <a:prstGeom prst="line">
            <a:avLst/>
          </a:prstGeom>
          <a:noFill/>
          <a:ln w="19050">
            <a:solidFill>
              <a:srgbClr val="3FB95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1783080" y="1847088"/>
            <a:ext cx="0" cy="-128016"/>
          </a:xfrm>
          <a:prstGeom prst="line">
            <a:avLst/>
          </a:prstGeom>
          <a:noFill/>
          <a:ln w="19050">
            <a:solidFill>
              <a:srgbClr val="3FB95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754880" y="594360"/>
            <a:ext cx="4114800" cy="2011680"/>
          </a:xfrm>
          <a:prstGeom prst="roundRect">
            <a:avLst>
              <a:gd name="adj" fmla="val 4545"/>
            </a:avLst>
          </a:prstGeom>
          <a:solidFill>
            <a:srgbClr val="161B22"/>
          </a:solidFill>
          <a:ln w="15240">
            <a:solidFill>
              <a:srgbClr val="58A6FF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937760" y="658368"/>
            <a:ext cx="37490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8A6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② Gauge — 可升可降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4937760" y="914400"/>
            <a:ext cx="37490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適用：當前連線數、記憶體用量、Queue深度</a:t>
            </a:r>
            <a:endParaRPr lang="en-US" sz="950" dirty="0"/>
          </a:p>
        </p:txBody>
      </p:sp>
      <p:sp>
        <p:nvSpPr>
          <p:cNvPr id="23" name="Shape 21"/>
          <p:cNvSpPr/>
          <p:nvPr/>
        </p:nvSpPr>
        <p:spPr>
          <a:xfrm>
            <a:off x="4892040" y="1133856"/>
            <a:ext cx="3657600" cy="292608"/>
          </a:xfrm>
          <a:prstGeom prst="roundRect">
            <a:avLst>
              <a:gd name="adj" fmla="val 15625"/>
            </a:avLst>
          </a:prstGeom>
          <a:solidFill>
            <a:srgbClr val="0D1117"/>
          </a:solidFill>
          <a:ln w="6350">
            <a:solidFill>
              <a:srgbClr val="30363D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4983480" y="1133856"/>
            <a:ext cx="34747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process_resident_memory_bytes</a:t>
            </a:r>
            <a:endParaRPr lang="en-US" sz="850" dirty="0"/>
          </a:p>
        </p:txBody>
      </p:sp>
      <p:sp>
        <p:nvSpPr>
          <p:cNvPr id="25" name="Text 23"/>
          <p:cNvSpPr/>
          <p:nvPr/>
        </p:nvSpPr>
        <p:spPr>
          <a:xfrm>
            <a:off x="4937760" y="1481328"/>
            <a:ext cx="3657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直接使用數值，不需要 rate()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4937760" y="2176272"/>
            <a:ext cx="228600" cy="-146304"/>
          </a:xfrm>
          <a:prstGeom prst="line">
            <a:avLst/>
          </a:prstGeom>
          <a:noFill/>
          <a:ln w="19050">
            <a:solidFill>
              <a:srgbClr val="58A6FF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5166360" y="2029968"/>
            <a:ext cx="228600" cy="237744"/>
          </a:xfrm>
          <a:prstGeom prst="line">
            <a:avLst/>
          </a:prstGeom>
          <a:noFill/>
          <a:ln w="19050">
            <a:solidFill>
              <a:srgbClr val="58A6FF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5394960" y="2267712"/>
            <a:ext cx="228600" cy="-274320"/>
          </a:xfrm>
          <a:prstGeom prst="line">
            <a:avLst/>
          </a:prstGeom>
          <a:noFill/>
          <a:ln w="19050">
            <a:solidFill>
              <a:srgbClr val="58A6FF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623560" y="1993392"/>
            <a:ext cx="228600" cy="219456"/>
          </a:xfrm>
          <a:prstGeom prst="line">
            <a:avLst/>
          </a:prstGeom>
          <a:noFill/>
          <a:ln w="19050">
            <a:solidFill>
              <a:srgbClr val="58A6FF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5852160" y="2212848"/>
            <a:ext cx="228600" cy="-155448"/>
          </a:xfrm>
          <a:prstGeom prst="line">
            <a:avLst/>
          </a:prstGeom>
          <a:noFill/>
          <a:ln w="19050">
            <a:solidFill>
              <a:srgbClr val="58A6FF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6080760" y="2057400"/>
            <a:ext cx="228600" cy="246888"/>
          </a:xfrm>
          <a:prstGeom prst="line">
            <a:avLst/>
          </a:prstGeom>
          <a:noFill/>
          <a:ln w="19050">
            <a:solidFill>
              <a:srgbClr val="58A6FF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274320" y="2761488"/>
            <a:ext cx="4114800" cy="2011680"/>
          </a:xfrm>
          <a:prstGeom prst="roundRect">
            <a:avLst>
              <a:gd name="adj" fmla="val 4545"/>
            </a:avLst>
          </a:prstGeom>
          <a:solidFill>
            <a:srgbClr val="161B22"/>
          </a:solidFill>
          <a:ln w="15240">
            <a:solidFill>
              <a:srgbClr val="D29922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457200" y="2816352"/>
            <a:ext cx="37490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D299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③ Histogram — 分桶分布</a:t>
            </a:r>
            <a:endParaRPr lang="en-US" sz="1200" dirty="0"/>
          </a:p>
        </p:txBody>
      </p:sp>
      <p:sp>
        <p:nvSpPr>
          <p:cNvPr id="34" name="Text 32"/>
          <p:cNvSpPr/>
          <p:nvPr/>
        </p:nvSpPr>
        <p:spPr>
          <a:xfrm>
            <a:off x="457200" y="3072384"/>
            <a:ext cx="37490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適用：請求延遲、回應大小的分布</a:t>
            </a:r>
            <a:endParaRPr lang="en-US" sz="950" dirty="0"/>
          </a:p>
        </p:txBody>
      </p:sp>
      <p:sp>
        <p:nvSpPr>
          <p:cNvPr id="35" name="Text 33"/>
          <p:cNvSpPr/>
          <p:nvPr/>
        </p:nvSpPr>
        <p:spPr>
          <a:xfrm>
            <a:off x="457200" y="3291840"/>
            <a:ext cx="37490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桶 (Bucket): _le=0.1, _le=0.5, _le=1.0, _le=+Inf</a:t>
            </a:r>
            <a:endParaRPr lang="en-US" sz="900" dirty="0"/>
          </a:p>
        </p:txBody>
      </p:sp>
      <p:sp>
        <p:nvSpPr>
          <p:cNvPr id="36" name="Text 34"/>
          <p:cNvSpPr/>
          <p:nvPr/>
        </p:nvSpPr>
        <p:spPr>
          <a:xfrm>
            <a:off x="457200" y="3493008"/>
            <a:ext cx="37490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用 histogram_quantile(0.99, ...) 計算 P99</a:t>
            </a:r>
            <a:endParaRPr lang="en-US" sz="900" dirty="0"/>
          </a:p>
        </p:txBody>
      </p:sp>
      <p:sp>
        <p:nvSpPr>
          <p:cNvPr id="37" name="Text 35"/>
          <p:cNvSpPr/>
          <p:nvPr/>
        </p:nvSpPr>
        <p:spPr>
          <a:xfrm>
            <a:off x="457200" y="3730752"/>
            <a:ext cx="37490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Server 端計算分位數，最靈活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4754880" y="2761488"/>
            <a:ext cx="4114800" cy="2011680"/>
          </a:xfrm>
          <a:prstGeom prst="roundRect">
            <a:avLst>
              <a:gd name="adj" fmla="val 4545"/>
            </a:avLst>
          </a:prstGeom>
          <a:solidFill>
            <a:srgbClr val="161B22"/>
          </a:solidFill>
          <a:ln w="15240">
            <a:solidFill>
              <a:srgbClr val="6E40C9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4937760" y="2816352"/>
            <a:ext cx="37490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E40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④ Summary — 客戶端分位數</a:t>
            </a:r>
            <a:endParaRPr lang="en-US" sz="1200" dirty="0"/>
          </a:p>
        </p:txBody>
      </p:sp>
      <p:sp>
        <p:nvSpPr>
          <p:cNvPr id="40" name="Text 38"/>
          <p:cNvSpPr/>
          <p:nvPr/>
        </p:nvSpPr>
        <p:spPr>
          <a:xfrm>
            <a:off x="4937760" y="3072384"/>
            <a:ext cx="37490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適用：需要精確分位數，資料量小</a:t>
            </a:r>
            <a:endParaRPr lang="en-US" sz="950" dirty="0"/>
          </a:p>
        </p:txBody>
      </p:sp>
      <p:sp>
        <p:nvSpPr>
          <p:cNvPr id="41" name="Text 39"/>
          <p:cNvSpPr/>
          <p:nvPr/>
        </p:nvSpPr>
        <p:spPr>
          <a:xfrm>
            <a:off x="4937760" y="3291840"/>
            <a:ext cx="37490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直接輸出 P50、P90、P99 分位數</a:t>
            </a:r>
            <a:endParaRPr lang="en-US" sz="900" dirty="0"/>
          </a:p>
        </p:txBody>
      </p:sp>
      <p:sp>
        <p:nvSpPr>
          <p:cNvPr id="42" name="Text 40"/>
          <p:cNvSpPr/>
          <p:nvPr/>
        </p:nvSpPr>
        <p:spPr>
          <a:xfrm>
            <a:off x="4937760" y="3493008"/>
            <a:ext cx="37490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851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⚠️ 無法跨 instance 聚合</a:t>
            </a:r>
            <a:endParaRPr lang="en-US" sz="900" dirty="0"/>
          </a:p>
        </p:txBody>
      </p:sp>
      <p:sp>
        <p:nvSpPr>
          <p:cNvPr id="43" name="Text 41"/>
          <p:cNvSpPr/>
          <p:nvPr/>
        </p:nvSpPr>
        <p:spPr>
          <a:xfrm>
            <a:off x="4937760" y="3730752"/>
            <a:ext cx="37490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多數情況用 Histogram，Summary 漸少用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61B22"/>
          </a:solidFill>
          <a:ln w="6350">
            <a:solidFill>
              <a:srgbClr val="30363D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82296"/>
            <a:ext cx="45720" cy="310896"/>
          </a:xfrm>
          <a:prstGeom prst="rect">
            <a:avLst/>
          </a:prstGeom>
          <a:solidFill>
            <a:srgbClr val="58A6FF"/>
          </a:solidFill>
          <a:ln w="12700">
            <a:solidFill>
              <a:srgbClr val="58A6F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64592" y="0"/>
            <a:ext cx="5943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Push vs Pull：收集模式的根本差異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7132320" y="0"/>
            <a:ext cx="19202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7 METRICS  · 96 / 150</a:t>
            </a:r>
            <a:endParaRPr lang="en-US" sz="850" dirty="0"/>
          </a:p>
        </p:txBody>
      </p:sp>
      <p:sp>
        <p:nvSpPr>
          <p:cNvPr id="6" name="Shape 4"/>
          <p:cNvSpPr/>
          <p:nvPr/>
        </p:nvSpPr>
        <p:spPr>
          <a:xfrm>
            <a:off x="4572000" y="530352"/>
            <a:ext cx="0" cy="4434840"/>
          </a:xfrm>
          <a:prstGeom prst="line">
            <a:avLst/>
          </a:prstGeom>
          <a:noFill/>
          <a:ln w="6350">
            <a:solidFill>
              <a:srgbClr val="30363D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65760" y="621792"/>
            <a:ext cx="38404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8A6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⬇️ Pull Mode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365760" y="914400"/>
            <a:ext cx="1005840" cy="347472"/>
          </a:xfrm>
          <a:prstGeom prst="roundRect">
            <a:avLst>
              <a:gd name="adj" fmla="val 15789"/>
            </a:avLst>
          </a:prstGeom>
          <a:solidFill>
            <a:srgbClr val="161B22"/>
          </a:solidFill>
          <a:ln w="12700">
            <a:solidFill>
              <a:srgbClr val="238636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11480" y="914400"/>
            <a:ext cx="23774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00000"/>
                </a:solidFill>
              </a:rPr>
              <a:t>⚙️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658368" y="914400"/>
            <a:ext cx="6766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Service A</a:t>
            </a:r>
            <a:endParaRPr lang="en-US" sz="950" dirty="0"/>
          </a:p>
          <a:p>
            <a:pPr indent="0" marL="0">
              <a:buNone/>
            </a:pPr>
            <a:r>
              <a:rPr lang="en-US" sz="9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:8080/metrics</a:t>
            </a:r>
            <a:endParaRPr lang="en-US" sz="950" dirty="0"/>
          </a:p>
        </p:txBody>
      </p:sp>
      <p:sp>
        <p:nvSpPr>
          <p:cNvPr id="11" name="Shape 9"/>
          <p:cNvSpPr/>
          <p:nvPr/>
        </p:nvSpPr>
        <p:spPr>
          <a:xfrm>
            <a:off x="1417320" y="914400"/>
            <a:ext cx="1005840" cy="347472"/>
          </a:xfrm>
          <a:prstGeom prst="roundRect">
            <a:avLst>
              <a:gd name="adj" fmla="val 15789"/>
            </a:avLst>
          </a:prstGeom>
          <a:solidFill>
            <a:srgbClr val="161B22"/>
          </a:solidFill>
          <a:ln w="12700">
            <a:solidFill>
              <a:srgbClr val="238636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463040" y="914400"/>
            <a:ext cx="23774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00000"/>
                </a:solidFill>
              </a:rPr>
              <a:t>⚙️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1709928" y="914400"/>
            <a:ext cx="6766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Service B</a:t>
            </a:r>
            <a:endParaRPr lang="en-US" sz="950" dirty="0"/>
          </a:p>
          <a:p>
            <a:pPr indent="0" marL="0">
              <a:buNone/>
            </a:pPr>
            <a:r>
              <a:rPr lang="en-US" sz="9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:8080/metrics</a:t>
            </a:r>
            <a:endParaRPr lang="en-US" sz="950" dirty="0"/>
          </a:p>
        </p:txBody>
      </p:sp>
      <p:sp>
        <p:nvSpPr>
          <p:cNvPr id="14" name="Shape 12"/>
          <p:cNvSpPr/>
          <p:nvPr/>
        </p:nvSpPr>
        <p:spPr>
          <a:xfrm>
            <a:off x="2468880" y="914400"/>
            <a:ext cx="1005840" cy="347472"/>
          </a:xfrm>
          <a:prstGeom prst="roundRect">
            <a:avLst>
              <a:gd name="adj" fmla="val 15789"/>
            </a:avLst>
          </a:prstGeom>
          <a:solidFill>
            <a:srgbClr val="161B22"/>
          </a:solidFill>
          <a:ln w="12700">
            <a:solidFill>
              <a:srgbClr val="238636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2514600" y="914400"/>
            <a:ext cx="23774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00000"/>
                </a:solidFill>
              </a:rPr>
              <a:t>⚙️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2761488" y="914400"/>
            <a:ext cx="6766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Service C</a:t>
            </a:r>
            <a:endParaRPr lang="en-US" sz="950" dirty="0"/>
          </a:p>
          <a:p>
            <a:pPr indent="0" marL="0">
              <a:buNone/>
            </a:pPr>
            <a:r>
              <a:rPr lang="en-US" sz="9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:8080/metrics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868680" y="1417320"/>
            <a:ext cx="0" cy="347472"/>
          </a:xfrm>
          <a:prstGeom prst="line">
            <a:avLst/>
          </a:prstGeom>
          <a:noFill/>
          <a:ln w="19050">
            <a:solidFill>
              <a:srgbClr val="3FB950"/>
            </a:solidFill>
            <a:prstDash val="solid"/>
            <a:tailEnd type="arrow"/>
          </a:ln>
        </p:spPr>
      </p:sp>
      <p:sp>
        <p:nvSpPr>
          <p:cNvPr id="18" name="Shape 16"/>
          <p:cNvSpPr/>
          <p:nvPr/>
        </p:nvSpPr>
        <p:spPr>
          <a:xfrm>
            <a:off x="1920240" y="1417320"/>
            <a:ext cx="0" cy="347472"/>
          </a:xfrm>
          <a:prstGeom prst="line">
            <a:avLst/>
          </a:prstGeom>
          <a:noFill/>
          <a:ln w="19050">
            <a:solidFill>
              <a:srgbClr val="3FB950"/>
            </a:solidFill>
            <a:prstDash val="solid"/>
            <a:tailEnd type="arrow"/>
          </a:ln>
        </p:spPr>
      </p:sp>
      <p:sp>
        <p:nvSpPr>
          <p:cNvPr id="19" name="Shape 17"/>
          <p:cNvSpPr/>
          <p:nvPr/>
        </p:nvSpPr>
        <p:spPr>
          <a:xfrm>
            <a:off x="2971800" y="1417320"/>
            <a:ext cx="0" cy="347472"/>
          </a:xfrm>
          <a:prstGeom prst="line">
            <a:avLst/>
          </a:prstGeom>
          <a:noFill/>
          <a:ln w="19050">
            <a:solidFill>
              <a:srgbClr val="3FB950"/>
            </a:solidFill>
            <a:prstDash val="solid"/>
            <a:tailEnd type="arrow"/>
          </a:ln>
        </p:spPr>
      </p:sp>
      <p:sp>
        <p:nvSpPr>
          <p:cNvPr id="20" name="Shape 18"/>
          <p:cNvSpPr/>
          <p:nvPr/>
        </p:nvSpPr>
        <p:spPr>
          <a:xfrm>
            <a:off x="457200" y="1783080"/>
            <a:ext cx="2560320" cy="804672"/>
          </a:xfrm>
          <a:prstGeom prst="roundRect">
            <a:avLst>
              <a:gd name="adj" fmla="val 11364"/>
            </a:avLst>
          </a:prstGeom>
          <a:solidFill>
            <a:srgbClr val="161B22"/>
          </a:solidFill>
          <a:ln w="19050">
            <a:solidFill>
              <a:srgbClr val="58A6FF"/>
            </a:solidFill>
            <a:prstDash val="solid"/>
          </a:ln>
          <a:effectLst>
            <a:outerShdw sx="100000" sy="100000" kx="0" ky="0" algn="bl" rotWithShape="0" blurRad="76200" dist="25400" dir="2700000">
              <a:srgbClr val="000000">
                <a:alpha val="30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457200" y="1837944"/>
            <a:ext cx="2560320" cy="370149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📊</a:t>
            </a:r>
            <a:endParaRPr lang="en-US" sz="2200" dirty="0"/>
          </a:p>
        </p:txBody>
      </p:sp>
      <p:sp>
        <p:nvSpPr>
          <p:cNvPr id="22" name="Text 20"/>
          <p:cNvSpPr/>
          <p:nvPr/>
        </p:nvSpPr>
        <p:spPr>
          <a:xfrm>
            <a:off x="512064" y="2201509"/>
            <a:ext cx="2450592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Prometheus</a:t>
            </a:r>
            <a:endParaRPr lang="en-US" sz="1050" dirty="0"/>
          </a:p>
        </p:txBody>
      </p:sp>
      <p:sp>
        <p:nvSpPr>
          <p:cNvPr id="23" name="Text 21"/>
          <p:cNvSpPr/>
          <p:nvPr/>
        </p:nvSpPr>
        <p:spPr>
          <a:xfrm>
            <a:off x="493776" y="2430109"/>
            <a:ext cx="2487168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每 15 秒主動 scrape</a:t>
            </a:r>
            <a:endParaRPr lang="en-US" sz="800" dirty="0"/>
          </a:p>
        </p:txBody>
      </p:sp>
      <p:sp>
        <p:nvSpPr>
          <p:cNvPr id="24" name="Shape 22"/>
          <p:cNvSpPr/>
          <p:nvPr/>
        </p:nvSpPr>
        <p:spPr>
          <a:xfrm>
            <a:off x="365760" y="2724912"/>
            <a:ext cx="3657600" cy="384048"/>
          </a:xfrm>
          <a:prstGeom prst="roundRect">
            <a:avLst>
              <a:gd name="adj" fmla="val 14286"/>
            </a:avLst>
          </a:prstGeom>
          <a:solidFill>
            <a:srgbClr val="161B22"/>
          </a:solidFill>
          <a:ln w="10160">
            <a:solidFill>
              <a:srgbClr val="3FB950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502920" y="2724912"/>
            <a:ext cx="33832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Collector控制抓取時機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365760" y="3163824"/>
            <a:ext cx="3657600" cy="384048"/>
          </a:xfrm>
          <a:prstGeom prst="roundRect">
            <a:avLst>
              <a:gd name="adj" fmla="val 14286"/>
            </a:avLst>
          </a:prstGeom>
          <a:solidFill>
            <a:srgbClr val="161B22"/>
          </a:solidFill>
          <a:ln w="10160">
            <a:solidFill>
              <a:srgbClr val="3FB95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02920" y="3163824"/>
            <a:ext cx="33832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服務掛了立刻發現 (scrape失敗)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365760" y="3602736"/>
            <a:ext cx="3657600" cy="384048"/>
          </a:xfrm>
          <a:prstGeom prst="roundRect">
            <a:avLst>
              <a:gd name="adj" fmla="val 14286"/>
            </a:avLst>
          </a:prstGeom>
          <a:solidFill>
            <a:srgbClr val="161B22"/>
          </a:solidFill>
          <a:ln w="10160">
            <a:solidFill>
              <a:srgbClr val="D29922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02920" y="3602736"/>
            <a:ext cx="33832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⚠️ 服務必須暴露 HTTP /metrics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365760" y="4041648"/>
            <a:ext cx="3657600" cy="384048"/>
          </a:xfrm>
          <a:prstGeom prst="roundRect">
            <a:avLst>
              <a:gd name="adj" fmla="val 14286"/>
            </a:avLst>
          </a:prstGeom>
          <a:solidFill>
            <a:srgbClr val="161B22"/>
          </a:solidFill>
          <a:ln w="10160">
            <a:solidFill>
              <a:srgbClr val="D29922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502920" y="4041648"/>
            <a:ext cx="33832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⚠️ 短暫 Batch Job 會錯過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4846320" y="621792"/>
            <a:ext cx="38404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299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⬆️ Push Mode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4846320" y="914400"/>
            <a:ext cx="1005840" cy="347472"/>
          </a:xfrm>
          <a:prstGeom prst="roundRect">
            <a:avLst>
              <a:gd name="adj" fmla="val 15789"/>
            </a:avLst>
          </a:prstGeom>
          <a:solidFill>
            <a:srgbClr val="161B22"/>
          </a:solidFill>
          <a:ln w="12700">
            <a:solidFill>
              <a:srgbClr val="238636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4892040" y="914400"/>
            <a:ext cx="23774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00000"/>
                </a:solidFill>
              </a:rPr>
              <a:t>⚙️</a:t>
            </a:r>
            <a:endParaRPr lang="en-US" sz="1200" dirty="0"/>
          </a:p>
        </p:txBody>
      </p:sp>
      <p:sp>
        <p:nvSpPr>
          <p:cNvPr id="35" name="Text 33"/>
          <p:cNvSpPr/>
          <p:nvPr/>
        </p:nvSpPr>
        <p:spPr>
          <a:xfrm>
            <a:off x="5138928" y="914400"/>
            <a:ext cx="6766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Service A</a:t>
            </a:r>
            <a:endParaRPr lang="en-US" sz="950" dirty="0"/>
          </a:p>
        </p:txBody>
      </p:sp>
      <p:sp>
        <p:nvSpPr>
          <p:cNvPr id="36" name="Shape 34"/>
          <p:cNvSpPr/>
          <p:nvPr/>
        </p:nvSpPr>
        <p:spPr>
          <a:xfrm>
            <a:off x="5806440" y="914400"/>
            <a:ext cx="1005840" cy="347472"/>
          </a:xfrm>
          <a:prstGeom prst="roundRect">
            <a:avLst>
              <a:gd name="adj" fmla="val 15789"/>
            </a:avLst>
          </a:prstGeom>
          <a:solidFill>
            <a:srgbClr val="161B22"/>
          </a:solidFill>
          <a:ln w="12700">
            <a:solidFill>
              <a:srgbClr val="238636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852160" y="914400"/>
            <a:ext cx="23774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00000"/>
                </a:solidFill>
              </a:rPr>
              <a:t>⚙️</a:t>
            </a:r>
            <a:endParaRPr lang="en-US" sz="1200" dirty="0"/>
          </a:p>
        </p:txBody>
      </p:sp>
      <p:sp>
        <p:nvSpPr>
          <p:cNvPr id="38" name="Text 36"/>
          <p:cNvSpPr/>
          <p:nvPr/>
        </p:nvSpPr>
        <p:spPr>
          <a:xfrm>
            <a:off x="6099048" y="914400"/>
            <a:ext cx="6766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Service B</a:t>
            </a:r>
            <a:endParaRPr lang="en-US" sz="950" dirty="0"/>
          </a:p>
        </p:txBody>
      </p:sp>
      <p:sp>
        <p:nvSpPr>
          <p:cNvPr id="39" name="Shape 37"/>
          <p:cNvSpPr/>
          <p:nvPr/>
        </p:nvSpPr>
        <p:spPr>
          <a:xfrm>
            <a:off x="6766560" y="914400"/>
            <a:ext cx="1005840" cy="347472"/>
          </a:xfrm>
          <a:prstGeom prst="roundRect">
            <a:avLst>
              <a:gd name="adj" fmla="val 15789"/>
            </a:avLst>
          </a:prstGeom>
          <a:solidFill>
            <a:srgbClr val="161B22"/>
          </a:solidFill>
          <a:ln w="12700">
            <a:solidFill>
              <a:srgbClr val="238636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6812280" y="914400"/>
            <a:ext cx="23774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00000"/>
                </a:solidFill>
              </a:rPr>
              <a:t>⚙️</a:t>
            </a:r>
            <a:endParaRPr lang="en-US" sz="1200" dirty="0"/>
          </a:p>
        </p:txBody>
      </p:sp>
      <p:sp>
        <p:nvSpPr>
          <p:cNvPr id="41" name="Text 39"/>
          <p:cNvSpPr/>
          <p:nvPr/>
        </p:nvSpPr>
        <p:spPr>
          <a:xfrm>
            <a:off x="7059168" y="914400"/>
            <a:ext cx="6766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Service C</a:t>
            </a:r>
            <a:endParaRPr lang="en-US" sz="950" dirty="0"/>
          </a:p>
        </p:txBody>
      </p:sp>
      <p:sp>
        <p:nvSpPr>
          <p:cNvPr id="42" name="Shape 40"/>
          <p:cNvSpPr/>
          <p:nvPr/>
        </p:nvSpPr>
        <p:spPr>
          <a:xfrm>
            <a:off x="5349240" y="1417320"/>
            <a:ext cx="0" cy="384048"/>
          </a:xfrm>
          <a:prstGeom prst="line">
            <a:avLst/>
          </a:prstGeom>
          <a:noFill/>
          <a:ln w="19050">
            <a:solidFill>
              <a:srgbClr val="D29922"/>
            </a:solidFill>
            <a:prstDash val="solid"/>
            <a:tailEnd type="arrow"/>
          </a:ln>
        </p:spPr>
      </p:sp>
      <p:sp>
        <p:nvSpPr>
          <p:cNvPr id="43" name="Shape 41"/>
          <p:cNvSpPr/>
          <p:nvPr/>
        </p:nvSpPr>
        <p:spPr>
          <a:xfrm>
            <a:off x="6309360" y="1417320"/>
            <a:ext cx="0" cy="384048"/>
          </a:xfrm>
          <a:prstGeom prst="line">
            <a:avLst/>
          </a:prstGeom>
          <a:noFill/>
          <a:ln w="19050">
            <a:solidFill>
              <a:srgbClr val="D29922"/>
            </a:solidFill>
            <a:prstDash val="solid"/>
            <a:tailEnd type="arrow"/>
          </a:ln>
        </p:spPr>
      </p:sp>
      <p:sp>
        <p:nvSpPr>
          <p:cNvPr id="44" name="Shape 42"/>
          <p:cNvSpPr/>
          <p:nvPr/>
        </p:nvSpPr>
        <p:spPr>
          <a:xfrm>
            <a:off x="7269480" y="1417320"/>
            <a:ext cx="0" cy="384048"/>
          </a:xfrm>
          <a:prstGeom prst="line">
            <a:avLst/>
          </a:prstGeom>
          <a:noFill/>
          <a:ln w="19050">
            <a:solidFill>
              <a:srgbClr val="D29922"/>
            </a:solidFill>
            <a:prstDash val="solid"/>
            <a:tailEnd type="arrow"/>
          </a:ln>
        </p:spPr>
      </p:sp>
      <p:sp>
        <p:nvSpPr>
          <p:cNvPr id="45" name="Shape 43"/>
          <p:cNvSpPr/>
          <p:nvPr/>
        </p:nvSpPr>
        <p:spPr>
          <a:xfrm>
            <a:off x="5577840" y="1828800"/>
            <a:ext cx="2103120" cy="804672"/>
          </a:xfrm>
          <a:prstGeom prst="roundRect">
            <a:avLst>
              <a:gd name="adj" fmla="val 11364"/>
            </a:avLst>
          </a:prstGeom>
          <a:solidFill>
            <a:srgbClr val="161B22"/>
          </a:solidFill>
          <a:ln w="19050">
            <a:solidFill>
              <a:srgbClr val="D29922"/>
            </a:solidFill>
            <a:prstDash val="solid"/>
          </a:ln>
          <a:effectLst>
            <a:outerShdw sx="100000" sy="100000" kx="0" ky="0" algn="bl" rotWithShape="0" blurRad="76200" dist="25400" dir="2700000">
              <a:srgbClr val="000000">
                <a:alpha val="30000"/>
              </a:srgbClr>
            </a:outerShdw>
          </a:effectLst>
        </p:spPr>
      </p:sp>
      <p:sp>
        <p:nvSpPr>
          <p:cNvPr id="46" name="Text 44"/>
          <p:cNvSpPr/>
          <p:nvPr/>
        </p:nvSpPr>
        <p:spPr>
          <a:xfrm>
            <a:off x="5577840" y="1883664"/>
            <a:ext cx="2103120" cy="370149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🎯</a:t>
            </a:r>
            <a:endParaRPr lang="en-US" sz="2200" dirty="0"/>
          </a:p>
        </p:txBody>
      </p:sp>
      <p:sp>
        <p:nvSpPr>
          <p:cNvPr id="47" name="Text 45"/>
          <p:cNvSpPr/>
          <p:nvPr/>
        </p:nvSpPr>
        <p:spPr>
          <a:xfrm>
            <a:off x="5632704" y="2247229"/>
            <a:ext cx="1993392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Collector</a:t>
            </a:r>
            <a:endParaRPr lang="en-US" sz="1050" dirty="0"/>
          </a:p>
        </p:txBody>
      </p:sp>
      <p:sp>
        <p:nvSpPr>
          <p:cNvPr id="48" name="Text 46"/>
          <p:cNvSpPr/>
          <p:nvPr/>
        </p:nvSpPr>
        <p:spPr>
          <a:xfrm>
            <a:off x="5614416" y="2475829"/>
            <a:ext cx="2029968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StatsD / CloudWatch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 OTLP Receiver</a:t>
            </a:r>
            <a:endParaRPr lang="en-US" sz="800" dirty="0"/>
          </a:p>
        </p:txBody>
      </p:sp>
      <p:sp>
        <p:nvSpPr>
          <p:cNvPr id="49" name="Shape 47"/>
          <p:cNvSpPr/>
          <p:nvPr/>
        </p:nvSpPr>
        <p:spPr>
          <a:xfrm>
            <a:off x="4846320" y="2724912"/>
            <a:ext cx="3657600" cy="384048"/>
          </a:xfrm>
          <a:prstGeom prst="roundRect">
            <a:avLst>
              <a:gd name="adj" fmla="val 14286"/>
            </a:avLst>
          </a:prstGeom>
          <a:solidFill>
            <a:srgbClr val="161B22"/>
          </a:solidFill>
          <a:ln w="10160">
            <a:solidFill>
              <a:srgbClr val="3FB950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4983480" y="2724912"/>
            <a:ext cx="33832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適合短暫 Batch/Cron Job</a:t>
            </a:r>
            <a:endParaRPr lang="en-US" sz="1000" dirty="0"/>
          </a:p>
        </p:txBody>
      </p:sp>
      <p:sp>
        <p:nvSpPr>
          <p:cNvPr id="51" name="Shape 49"/>
          <p:cNvSpPr/>
          <p:nvPr/>
        </p:nvSpPr>
        <p:spPr>
          <a:xfrm>
            <a:off x="4846320" y="3163824"/>
            <a:ext cx="3657600" cy="384048"/>
          </a:xfrm>
          <a:prstGeom prst="roundRect">
            <a:avLst>
              <a:gd name="adj" fmla="val 14286"/>
            </a:avLst>
          </a:prstGeom>
          <a:solidFill>
            <a:srgbClr val="161B22"/>
          </a:solidFill>
          <a:ln w="10160">
            <a:solidFill>
              <a:srgbClr val="3FB950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4983480" y="3163824"/>
            <a:ext cx="33832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可穿越 NAT、Firewall</a:t>
            </a:r>
            <a:endParaRPr lang="en-US" sz="1000" dirty="0"/>
          </a:p>
        </p:txBody>
      </p:sp>
      <p:sp>
        <p:nvSpPr>
          <p:cNvPr id="53" name="Shape 51"/>
          <p:cNvSpPr/>
          <p:nvPr/>
        </p:nvSpPr>
        <p:spPr>
          <a:xfrm>
            <a:off x="4846320" y="3602736"/>
            <a:ext cx="3657600" cy="384048"/>
          </a:xfrm>
          <a:prstGeom prst="roundRect">
            <a:avLst>
              <a:gd name="adj" fmla="val 14286"/>
            </a:avLst>
          </a:prstGeom>
          <a:solidFill>
            <a:srgbClr val="161B22"/>
          </a:solidFill>
          <a:ln w="10160">
            <a:solidFill>
              <a:srgbClr val="D29922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4983480" y="3602736"/>
            <a:ext cx="33832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⚠️ Collector成為流量接收端</a:t>
            </a:r>
            <a:endParaRPr lang="en-US" sz="1000" dirty="0"/>
          </a:p>
        </p:txBody>
      </p:sp>
      <p:sp>
        <p:nvSpPr>
          <p:cNvPr id="55" name="Shape 53"/>
          <p:cNvSpPr/>
          <p:nvPr/>
        </p:nvSpPr>
        <p:spPr>
          <a:xfrm>
            <a:off x="4846320" y="4041648"/>
            <a:ext cx="3657600" cy="384048"/>
          </a:xfrm>
          <a:prstGeom prst="roundRect">
            <a:avLst>
              <a:gd name="adj" fmla="val 14286"/>
            </a:avLst>
          </a:prstGeom>
          <a:solidFill>
            <a:srgbClr val="161B22"/>
          </a:solidFill>
          <a:ln w="10160">
            <a:solidFill>
              <a:srgbClr val="D29922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4983480" y="4041648"/>
            <a:ext cx="33832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⚠️ 服務掛了難以偵測</a:t>
            </a:r>
            <a:endParaRPr lang="en-US" sz="1000" dirty="0"/>
          </a:p>
        </p:txBody>
      </p:sp>
      <p:sp>
        <p:nvSpPr>
          <p:cNvPr id="57" name="Shape 55"/>
          <p:cNvSpPr/>
          <p:nvPr/>
        </p:nvSpPr>
        <p:spPr>
          <a:xfrm>
            <a:off x="274320" y="4663440"/>
            <a:ext cx="8595360" cy="384048"/>
          </a:xfrm>
          <a:prstGeom prst="roundRect">
            <a:avLst>
              <a:gd name="adj" fmla="val 14286"/>
            </a:avLst>
          </a:prstGeom>
          <a:solidFill>
            <a:srgbClr val="0A1929"/>
          </a:solidFill>
          <a:ln w="9525">
            <a:solidFill>
              <a:srgbClr val="58A6FF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457200" y="4709160"/>
            <a:ext cx="8229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💡  Kubernetes 環境首選 Pull (Prometheus) — 因為 K8s 的服務發現讓 Prometheus 自動找到所有 Pod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61B22"/>
          </a:solidFill>
          <a:ln w="6350">
            <a:solidFill>
              <a:srgbClr val="30363D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82296"/>
            <a:ext cx="45720" cy="310896"/>
          </a:xfrm>
          <a:prstGeom prst="rect">
            <a:avLst/>
          </a:prstGeom>
          <a:solidFill>
            <a:srgbClr val="3FB950"/>
          </a:solidFill>
          <a:ln w="12700">
            <a:solidFill>
              <a:srgbClr val="3FB950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64592" y="0"/>
            <a:ext cx="5943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Prometheus 架構深度解析：Pull Mode 實作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7132320" y="0"/>
            <a:ext cx="19202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7 METRICS  · 97 / 150</a:t>
            </a:r>
            <a:endParaRPr lang="en-US" sz="850" dirty="0"/>
          </a:p>
        </p:txBody>
      </p:sp>
      <p:sp>
        <p:nvSpPr>
          <p:cNvPr id="6" name="Shape 4"/>
          <p:cNvSpPr/>
          <p:nvPr/>
        </p:nvSpPr>
        <p:spPr>
          <a:xfrm>
            <a:off x="182880" y="713232"/>
            <a:ext cx="1554480" cy="1371600"/>
          </a:xfrm>
          <a:prstGeom prst="roundRect">
            <a:avLst>
              <a:gd name="adj" fmla="val 6667"/>
            </a:avLst>
          </a:prstGeom>
          <a:solidFill>
            <a:srgbClr val="161B22"/>
          </a:solidFill>
          <a:ln w="19050">
            <a:solidFill>
              <a:srgbClr val="238636"/>
            </a:solidFill>
            <a:prstDash val="solid"/>
          </a:ln>
          <a:effectLst>
            <a:outerShdw sx="100000" sy="100000" kx="0" ky="0" algn="bl" rotWithShape="0" blurRad="76200" dist="25400" dir="2700000">
              <a:srgbClr val="000000">
                <a:alpha val="30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182880" y="768096"/>
            <a:ext cx="1554480" cy="6309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⚙️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237744" y="1426464"/>
            <a:ext cx="1444752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 Service</a:t>
            </a: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219456" y="1655064"/>
            <a:ext cx="1481328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:8080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/metrics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182880" y="2121408"/>
            <a:ext cx="1554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GET /metrics</a:t>
            </a:r>
            <a:endParaRPr lang="en-US" sz="750" dirty="0"/>
          </a:p>
          <a:p>
            <a:pPr indent="0" marL="0">
              <a:buNone/>
            </a:pPr>
            <a:r>
              <a:rPr lang="en-US" sz="75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http_req_total 1024</a:t>
            </a:r>
            <a:endParaRPr lang="en-US" sz="750" dirty="0"/>
          </a:p>
          <a:p>
            <a:pPr indent="0" marL="0">
              <a:buNone/>
            </a:pPr>
            <a:r>
              <a:rPr lang="en-US" sz="75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http_duration_sum 5.2</a:t>
            </a:r>
            <a:endParaRPr lang="en-US" sz="750" dirty="0"/>
          </a:p>
        </p:txBody>
      </p:sp>
      <p:sp>
        <p:nvSpPr>
          <p:cNvPr id="11" name="Shape 9"/>
          <p:cNvSpPr/>
          <p:nvPr/>
        </p:nvSpPr>
        <p:spPr>
          <a:xfrm>
            <a:off x="1828800" y="1463040"/>
            <a:ext cx="731520" cy="0"/>
          </a:xfrm>
          <a:prstGeom prst="line">
            <a:avLst/>
          </a:prstGeom>
          <a:noFill/>
          <a:ln w="19050">
            <a:solidFill>
              <a:srgbClr val="3FB950"/>
            </a:solidFill>
            <a:prstDash val="solid"/>
            <a:tailEnd type="arrow"/>
          </a:ln>
        </p:spPr>
      </p:sp>
      <p:sp>
        <p:nvSpPr>
          <p:cNvPr id="12" name="Text 10"/>
          <p:cNvSpPr/>
          <p:nvPr/>
        </p:nvSpPr>
        <p:spPr>
          <a:xfrm>
            <a:off x="1783080" y="1307592"/>
            <a:ext cx="82296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3FB95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scrape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3FB95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every 15s</a:t>
            </a:r>
            <a:endParaRPr lang="en-US" sz="800" dirty="0"/>
          </a:p>
        </p:txBody>
      </p:sp>
      <p:sp>
        <p:nvSpPr>
          <p:cNvPr id="13" name="Shape 11"/>
          <p:cNvSpPr/>
          <p:nvPr/>
        </p:nvSpPr>
        <p:spPr>
          <a:xfrm>
            <a:off x="2651760" y="713232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61B22"/>
          </a:solidFill>
          <a:ln w="19050">
            <a:solidFill>
              <a:srgbClr val="3FB950"/>
            </a:solidFill>
            <a:prstDash val="solid"/>
          </a:ln>
          <a:effectLst>
            <a:outerShdw sx="100000" sy="100000" kx="0" ky="0" algn="bl" rotWithShape="0" blurRad="76200" dist="25400" dir="2700000">
              <a:srgbClr val="000000">
                <a:alpha val="30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2651760" y="768096"/>
            <a:ext cx="2011680" cy="6309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📊</a:t>
            </a:r>
            <a:endParaRPr lang="en-US" sz="2200" dirty="0"/>
          </a:p>
        </p:txBody>
      </p:sp>
      <p:sp>
        <p:nvSpPr>
          <p:cNvPr id="15" name="Text 13"/>
          <p:cNvSpPr/>
          <p:nvPr/>
        </p:nvSpPr>
        <p:spPr>
          <a:xfrm>
            <a:off x="2706624" y="1426464"/>
            <a:ext cx="1901952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Prometheus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Server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2688336" y="1655064"/>
            <a:ext cx="1938528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TSDB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+ Evaluator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4754880" y="1463040"/>
            <a:ext cx="640080" cy="0"/>
          </a:xfrm>
          <a:prstGeom prst="line">
            <a:avLst/>
          </a:prstGeom>
          <a:noFill/>
          <a:ln w="19050">
            <a:solidFill>
              <a:srgbClr val="58A6FF"/>
            </a:solidFill>
            <a:prstDash val="solid"/>
            <a:tailEnd type="arrow"/>
          </a:ln>
        </p:spPr>
      </p:sp>
      <p:sp>
        <p:nvSpPr>
          <p:cNvPr id="18" name="Text 16"/>
          <p:cNvSpPr/>
          <p:nvPr/>
        </p:nvSpPr>
        <p:spPr>
          <a:xfrm>
            <a:off x="4709160" y="1307592"/>
            <a:ext cx="7315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8A6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query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58A6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PromQL</a:t>
            </a:r>
            <a:endParaRPr lang="en-US" sz="800" dirty="0"/>
          </a:p>
        </p:txBody>
      </p:sp>
      <p:sp>
        <p:nvSpPr>
          <p:cNvPr id="19" name="Shape 17"/>
          <p:cNvSpPr/>
          <p:nvPr/>
        </p:nvSpPr>
        <p:spPr>
          <a:xfrm>
            <a:off x="5486400" y="713232"/>
            <a:ext cx="1371600" cy="640080"/>
          </a:xfrm>
          <a:prstGeom prst="roundRect">
            <a:avLst>
              <a:gd name="adj" fmla="val 14286"/>
            </a:avLst>
          </a:prstGeom>
          <a:solidFill>
            <a:srgbClr val="161B22"/>
          </a:solidFill>
          <a:ln w="19050">
            <a:solidFill>
              <a:srgbClr val="58A6FF"/>
            </a:solidFill>
            <a:prstDash val="solid"/>
          </a:ln>
          <a:effectLst>
            <a:outerShdw sx="100000" sy="100000" kx="0" ky="0" algn="bl" rotWithShape="0" blurRad="76200" dist="25400" dir="2700000">
              <a:srgbClr val="000000">
                <a:alpha val="30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486400" y="768096"/>
            <a:ext cx="1371600" cy="294437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📈</a:t>
            </a:r>
            <a:endParaRPr lang="en-US" sz="2200" dirty="0"/>
          </a:p>
        </p:txBody>
      </p:sp>
      <p:sp>
        <p:nvSpPr>
          <p:cNvPr id="21" name="Text 19"/>
          <p:cNvSpPr/>
          <p:nvPr/>
        </p:nvSpPr>
        <p:spPr>
          <a:xfrm>
            <a:off x="5541264" y="1046074"/>
            <a:ext cx="1261872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Grafana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5522976" y="1274674"/>
            <a:ext cx="1298448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Dashboard</a:t>
            </a:r>
            <a:endParaRPr lang="en-US" sz="800" dirty="0"/>
          </a:p>
        </p:txBody>
      </p:sp>
      <p:sp>
        <p:nvSpPr>
          <p:cNvPr id="23" name="Shape 21"/>
          <p:cNvSpPr/>
          <p:nvPr/>
        </p:nvSpPr>
        <p:spPr>
          <a:xfrm>
            <a:off x="3611880" y="2148840"/>
            <a:ext cx="0" cy="411480"/>
          </a:xfrm>
          <a:prstGeom prst="line">
            <a:avLst/>
          </a:prstGeom>
          <a:noFill/>
          <a:ln w="19050">
            <a:solidFill>
              <a:srgbClr val="F85149"/>
            </a:solidFill>
            <a:prstDash val="solid"/>
            <a:tailEnd type="arrow"/>
          </a:ln>
        </p:spPr>
      </p:sp>
      <p:sp>
        <p:nvSpPr>
          <p:cNvPr id="24" name="Shape 22"/>
          <p:cNvSpPr/>
          <p:nvPr/>
        </p:nvSpPr>
        <p:spPr>
          <a:xfrm>
            <a:off x="2651760" y="2606040"/>
            <a:ext cx="2011680" cy="685800"/>
          </a:xfrm>
          <a:prstGeom prst="roundRect">
            <a:avLst>
              <a:gd name="adj" fmla="val 13333"/>
            </a:avLst>
          </a:prstGeom>
          <a:solidFill>
            <a:srgbClr val="161B22"/>
          </a:solidFill>
          <a:ln w="19050">
            <a:solidFill>
              <a:srgbClr val="F85149"/>
            </a:solidFill>
            <a:prstDash val="solid"/>
          </a:ln>
          <a:effectLst>
            <a:outerShdw sx="100000" sy="100000" kx="0" ky="0" algn="bl" rotWithShape="0" blurRad="76200" dist="25400" dir="2700000">
              <a:srgbClr val="000000">
                <a:alpha val="30000"/>
              </a:srgbClr>
            </a:outerShdw>
          </a:effectLst>
        </p:spPr>
      </p:sp>
      <p:sp>
        <p:nvSpPr>
          <p:cNvPr id="25" name="Text 23"/>
          <p:cNvSpPr/>
          <p:nvPr/>
        </p:nvSpPr>
        <p:spPr>
          <a:xfrm>
            <a:off x="2651760" y="2660904"/>
            <a:ext cx="2011680" cy="3154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🔔</a:t>
            </a:r>
            <a:endParaRPr lang="en-US" sz="2200" dirty="0"/>
          </a:p>
        </p:txBody>
      </p:sp>
      <p:sp>
        <p:nvSpPr>
          <p:cNvPr id="26" name="Text 24"/>
          <p:cNvSpPr/>
          <p:nvPr/>
        </p:nvSpPr>
        <p:spPr>
          <a:xfrm>
            <a:off x="2706624" y="2962656"/>
            <a:ext cx="1901952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AlertManager</a:t>
            </a:r>
            <a:endParaRPr lang="en-US" sz="1050" dirty="0"/>
          </a:p>
        </p:txBody>
      </p:sp>
      <p:sp>
        <p:nvSpPr>
          <p:cNvPr id="27" name="Text 25"/>
          <p:cNvSpPr/>
          <p:nvPr/>
        </p:nvSpPr>
        <p:spPr>
          <a:xfrm>
            <a:off x="2688336" y="3191256"/>
            <a:ext cx="1938528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Slack/PagerDuty</a:t>
            </a:r>
            <a:endParaRPr lang="en-US" sz="800" dirty="0"/>
          </a:p>
        </p:txBody>
      </p:sp>
      <p:sp>
        <p:nvSpPr>
          <p:cNvPr id="28" name="Shape 26"/>
          <p:cNvSpPr/>
          <p:nvPr/>
        </p:nvSpPr>
        <p:spPr>
          <a:xfrm>
            <a:off x="4754880" y="3044952"/>
            <a:ext cx="640080" cy="0"/>
          </a:xfrm>
          <a:prstGeom prst="line">
            <a:avLst/>
          </a:prstGeom>
          <a:noFill/>
          <a:ln w="19050">
            <a:solidFill>
              <a:srgbClr val="F85149"/>
            </a:solidFill>
            <a:prstDash val="solid"/>
            <a:tailEnd type="arrow"/>
          </a:ln>
        </p:spPr>
      </p:sp>
      <p:sp>
        <p:nvSpPr>
          <p:cNvPr id="29" name="Text 27"/>
          <p:cNvSpPr/>
          <p:nvPr/>
        </p:nvSpPr>
        <p:spPr>
          <a:xfrm>
            <a:off x="4709160" y="2889504"/>
            <a:ext cx="7315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8514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notify</a:t>
            </a:r>
            <a:endParaRPr lang="en-US" sz="800" dirty="0"/>
          </a:p>
        </p:txBody>
      </p:sp>
      <p:sp>
        <p:nvSpPr>
          <p:cNvPr id="30" name="Shape 28"/>
          <p:cNvSpPr/>
          <p:nvPr/>
        </p:nvSpPr>
        <p:spPr>
          <a:xfrm>
            <a:off x="5486400" y="2606040"/>
            <a:ext cx="1371600" cy="685800"/>
          </a:xfrm>
          <a:prstGeom prst="roundRect">
            <a:avLst>
              <a:gd name="adj" fmla="val 13333"/>
            </a:avLst>
          </a:prstGeom>
          <a:solidFill>
            <a:srgbClr val="161B22"/>
          </a:solidFill>
          <a:ln w="19050">
            <a:solidFill>
              <a:srgbClr val="D29922"/>
            </a:solidFill>
            <a:prstDash val="solid"/>
          </a:ln>
          <a:effectLst>
            <a:outerShdw sx="100000" sy="100000" kx="0" ky="0" algn="bl" rotWithShape="0" blurRad="76200" dist="25400" dir="2700000">
              <a:srgbClr val="000000">
                <a:alpha val="30000"/>
              </a:srgbClr>
            </a:outerShdw>
          </a:effectLst>
        </p:spPr>
      </p:sp>
      <p:sp>
        <p:nvSpPr>
          <p:cNvPr id="31" name="Text 29"/>
          <p:cNvSpPr/>
          <p:nvPr/>
        </p:nvSpPr>
        <p:spPr>
          <a:xfrm>
            <a:off x="5486400" y="2660904"/>
            <a:ext cx="1371600" cy="3154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📱</a:t>
            </a:r>
            <a:endParaRPr lang="en-US" sz="2200" dirty="0"/>
          </a:p>
        </p:txBody>
      </p:sp>
      <p:sp>
        <p:nvSpPr>
          <p:cNvPr id="32" name="Text 30"/>
          <p:cNvSpPr/>
          <p:nvPr/>
        </p:nvSpPr>
        <p:spPr>
          <a:xfrm>
            <a:off x="5541264" y="2962656"/>
            <a:ext cx="1261872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On-Call</a:t>
            </a:r>
            <a:endParaRPr lang="en-US" sz="1050" dirty="0"/>
          </a:p>
        </p:txBody>
      </p:sp>
      <p:sp>
        <p:nvSpPr>
          <p:cNvPr id="33" name="Text 31"/>
          <p:cNvSpPr/>
          <p:nvPr/>
        </p:nvSpPr>
        <p:spPr>
          <a:xfrm>
            <a:off x="5522976" y="3191256"/>
            <a:ext cx="1298448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PagerDuty</a:t>
            </a:r>
            <a:endParaRPr lang="en-US" sz="800" dirty="0"/>
          </a:p>
        </p:txBody>
      </p:sp>
      <p:sp>
        <p:nvSpPr>
          <p:cNvPr id="34" name="Shape 32"/>
          <p:cNvSpPr/>
          <p:nvPr/>
        </p:nvSpPr>
        <p:spPr>
          <a:xfrm>
            <a:off x="274320" y="3310128"/>
            <a:ext cx="8595360" cy="1554480"/>
          </a:xfrm>
          <a:prstGeom prst="roundRect">
            <a:avLst>
              <a:gd name="adj" fmla="val 5882"/>
            </a:avLst>
          </a:prstGeom>
          <a:solidFill>
            <a:srgbClr val="0D1117"/>
          </a:solidFill>
          <a:ln w="12700">
            <a:solidFill>
              <a:srgbClr val="30363D"/>
            </a:solidFill>
            <a:prstDash val="solid"/>
          </a:ln>
          <a:effectLst>
            <a:outerShdw sx="100000" sy="100000" kx="0" ky="0" algn="bl" rotWithShape="0" blurRad="127000" dist="50800" dir="2700000">
              <a:srgbClr val="000000">
                <a:alpha val="50000"/>
              </a:srgbClr>
            </a:outerShdw>
          </a:effectLst>
        </p:spPr>
      </p:sp>
      <p:sp>
        <p:nvSpPr>
          <p:cNvPr id="35" name="Shape 33"/>
          <p:cNvSpPr/>
          <p:nvPr/>
        </p:nvSpPr>
        <p:spPr>
          <a:xfrm>
            <a:off x="365760" y="3163824"/>
            <a:ext cx="914400" cy="182880"/>
          </a:xfrm>
          <a:prstGeom prst="roundRect">
            <a:avLst>
              <a:gd name="adj" fmla="val 20000"/>
            </a:avLst>
          </a:prstGeom>
          <a:solidFill>
            <a:srgbClr val="1C2128"/>
          </a:solidFill>
          <a:ln w="6350">
            <a:solidFill>
              <a:srgbClr val="30363D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84048" y="3163824"/>
            <a:ext cx="877824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prometheus.yml</a:t>
            </a:r>
            <a:endParaRPr lang="en-US" sz="800" dirty="0"/>
          </a:p>
        </p:txBody>
      </p:sp>
      <p:sp>
        <p:nvSpPr>
          <p:cNvPr id="37" name="Text 35"/>
          <p:cNvSpPr/>
          <p:nvPr/>
        </p:nvSpPr>
        <p:spPr>
          <a:xfrm>
            <a:off x="402336" y="3419856"/>
            <a:ext cx="8339328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global: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scrape_interval: 15s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evaluation_interval: 15s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scrape_configs: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- job_name: 'api-service'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static_configs: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- targets: ['api-01:8080', 'api-02:8080']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- job_name: 'kubernetes-pods'  # K8s 自動服務發現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kubernetes_sd_configs: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- role: pod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relabel_configs: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- source_labels: [__meta_kubernetes_pod_annotation_prometheus_io_scrape]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action: keep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regex: true</a:t>
            </a:r>
            <a:endParaRPr lang="en-US" sz="9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61B22"/>
          </a:solidFill>
          <a:ln w="6350">
            <a:solidFill>
              <a:srgbClr val="30363D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82296"/>
            <a:ext cx="45720" cy="310896"/>
          </a:xfrm>
          <a:prstGeom prst="rect">
            <a:avLst/>
          </a:prstGeom>
          <a:solidFill>
            <a:srgbClr val="0D8A6C"/>
          </a:solidFill>
          <a:ln w="12700">
            <a:solidFill>
              <a:srgbClr val="0D8A6C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64592" y="0"/>
            <a:ext cx="5943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Kubernetes + Prometheus：自動服務發現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7132320" y="0"/>
            <a:ext cx="19202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7 METRICS  · 98 / 150</a:t>
            </a:r>
            <a:endParaRPr lang="en-US" sz="850" dirty="0"/>
          </a:p>
        </p:txBody>
      </p:sp>
      <p:sp>
        <p:nvSpPr>
          <p:cNvPr id="6" name="Shape 4"/>
          <p:cNvSpPr/>
          <p:nvPr/>
        </p:nvSpPr>
        <p:spPr>
          <a:xfrm>
            <a:off x="274320" y="594360"/>
            <a:ext cx="4572000" cy="4114800"/>
          </a:xfrm>
          <a:prstGeom prst="roundRect">
            <a:avLst>
              <a:gd name="adj" fmla="val 2222"/>
            </a:avLst>
          </a:prstGeom>
          <a:ln w="12700">
            <a:solidFill>
              <a:srgbClr val="0D8A6C"/>
            </a:solidFill>
            <a:prstDash val="dash"/>
          </a:ln>
        </p:spPr>
      </p:sp>
      <p:sp>
        <p:nvSpPr>
          <p:cNvPr id="7" name="Shape 5"/>
          <p:cNvSpPr/>
          <p:nvPr/>
        </p:nvSpPr>
        <p:spPr>
          <a:xfrm>
            <a:off x="365760" y="448056"/>
            <a:ext cx="914400" cy="182880"/>
          </a:xfrm>
          <a:prstGeom prst="roundRect">
            <a:avLst>
              <a:gd name="adj" fmla="val 20000"/>
            </a:avLst>
          </a:prstGeom>
          <a:solidFill>
            <a:srgbClr val="0D1117"/>
          </a:solidFill>
          <a:ln w="6350">
            <a:solidFill>
              <a:srgbClr val="0D8A6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84048" y="448056"/>
            <a:ext cx="877824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0D8A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Kubernetes Cluster</a:t>
            </a:r>
            <a:endParaRPr lang="en-US" sz="750" dirty="0"/>
          </a:p>
        </p:txBody>
      </p:sp>
      <p:sp>
        <p:nvSpPr>
          <p:cNvPr id="9" name="Shape 7"/>
          <p:cNvSpPr/>
          <p:nvPr/>
        </p:nvSpPr>
        <p:spPr>
          <a:xfrm>
            <a:off x="502920" y="914400"/>
            <a:ext cx="1828800" cy="960120"/>
          </a:xfrm>
          <a:prstGeom prst="roundRect">
            <a:avLst>
              <a:gd name="adj" fmla="val 9524"/>
            </a:avLst>
          </a:prstGeom>
          <a:solidFill>
            <a:srgbClr val="161B22"/>
          </a:solidFill>
          <a:ln w="19050">
            <a:solidFill>
              <a:srgbClr val="238636"/>
            </a:solidFill>
            <a:prstDash val="solid"/>
          </a:ln>
          <a:effectLst>
            <a:outerShdw sx="100000" sy="100000" kx="0" ky="0" algn="bl" rotWithShape="0" blurRad="76200" dist="25400" dir="2700000">
              <a:srgbClr val="000000">
                <a:alpha val="30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502920" y="969264"/>
            <a:ext cx="1828800" cy="44165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⚙️</a:t>
            </a:r>
            <a:endParaRPr lang="en-US" sz="2200" dirty="0"/>
          </a:p>
        </p:txBody>
      </p:sp>
      <p:sp>
        <p:nvSpPr>
          <p:cNvPr id="11" name="Text 9"/>
          <p:cNvSpPr/>
          <p:nvPr/>
        </p:nvSpPr>
        <p:spPr>
          <a:xfrm>
            <a:off x="557784" y="1413662"/>
            <a:ext cx="1719072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api-pod-1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539496" y="1642262"/>
            <a:ext cx="1755648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annotation: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prometheus.io/scrape: true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prometheus.io/port: 8080</a:t>
            </a:r>
            <a:endParaRPr lang="en-US" sz="800" dirty="0"/>
          </a:p>
        </p:txBody>
      </p:sp>
      <p:sp>
        <p:nvSpPr>
          <p:cNvPr id="13" name="Shape 11"/>
          <p:cNvSpPr/>
          <p:nvPr/>
        </p:nvSpPr>
        <p:spPr>
          <a:xfrm>
            <a:off x="2514600" y="914400"/>
            <a:ext cx="1828800" cy="960120"/>
          </a:xfrm>
          <a:prstGeom prst="roundRect">
            <a:avLst>
              <a:gd name="adj" fmla="val 9524"/>
            </a:avLst>
          </a:prstGeom>
          <a:solidFill>
            <a:srgbClr val="161B22"/>
          </a:solidFill>
          <a:ln w="19050">
            <a:solidFill>
              <a:srgbClr val="238636"/>
            </a:solidFill>
            <a:prstDash val="solid"/>
          </a:ln>
          <a:effectLst>
            <a:outerShdw sx="100000" sy="100000" kx="0" ky="0" algn="bl" rotWithShape="0" blurRad="76200" dist="25400" dir="2700000">
              <a:srgbClr val="000000">
                <a:alpha val="30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2514600" y="969264"/>
            <a:ext cx="1828800" cy="44165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⚙️</a:t>
            </a:r>
            <a:endParaRPr lang="en-US" sz="2200" dirty="0"/>
          </a:p>
        </p:txBody>
      </p:sp>
      <p:sp>
        <p:nvSpPr>
          <p:cNvPr id="15" name="Text 13"/>
          <p:cNvSpPr/>
          <p:nvPr/>
        </p:nvSpPr>
        <p:spPr>
          <a:xfrm>
            <a:off x="2569464" y="1413662"/>
            <a:ext cx="1719072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api-pod-2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2551176" y="1642262"/>
            <a:ext cx="1755648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same annotation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502920" y="2029968"/>
            <a:ext cx="1828800" cy="960120"/>
          </a:xfrm>
          <a:prstGeom prst="roundRect">
            <a:avLst>
              <a:gd name="adj" fmla="val 9524"/>
            </a:avLst>
          </a:prstGeom>
          <a:solidFill>
            <a:srgbClr val="161B22"/>
          </a:solidFill>
          <a:ln w="19050">
            <a:solidFill>
              <a:srgbClr val="3FB950"/>
            </a:solidFill>
            <a:prstDash val="solid"/>
          </a:ln>
          <a:effectLst>
            <a:outerShdw sx="100000" sy="100000" kx="0" ky="0" algn="bl" rotWithShape="0" blurRad="76200" dist="25400" dir="2700000">
              <a:srgbClr val="000000">
                <a:alpha val="3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502920" y="2084832"/>
            <a:ext cx="1828800" cy="44165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📊</a:t>
            </a:r>
            <a:endParaRPr lang="en-US" sz="2200" dirty="0"/>
          </a:p>
        </p:txBody>
      </p:sp>
      <p:sp>
        <p:nvSpPr>
          <p:cNvPr id="19" name="Text 17"/>
          <p:cNvSpPr/>
          <p:nvPr/>
        </p:nvSpPr>
        <p:spPr>
          <a:xfrm>
            <a:off x="557784" y="2529230"/>
            <a:ext cx="1719072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Prometheus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(Deployment)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539496" y="2757830"/>
            <a:ext cx="1755648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watches K8s API</a:t>
            </a:r>
            <a:endParaRPr lang="en-US" sz="800" dirty="0"/>
          </a:p>
        </p:txBody>
      </p:sp>
      <p:sp>
        <p:nvSpPr>
          <p:cNvPr id="21" name="Shape 19"/>
          <p:cNvSpPr/>
          <p:nvPr/>
        </p:nvSpPr>
        <p:spPr>
          <a:xfrm>
            <a:off x="2606040" y="2240280"/>
            <a:ext cx="1691640" cy="347472"/>
          </a:xfrm>
          <a:prstGeom prst="roundRect">
            <a:avLst>
              <a:gd name="adj" fmla="val 15789"/>
            </a:avLst>
          </a:prstGeom>
          <a:solidFill>
            <a:srgbClr val="161B22"/>
          </a:solidFill>
          <a:ln w="12700">
            <a:solidFill>
              <a:srgbClr val="58A6FF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2651760" y="2240280"/>
            <a:ext cx="23774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00000"/>
                </a:solidFill>
              </a:rPr>
              <a:t>⚙️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2898648" y="2240280"/>
            <a:ext cx="13624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K8s API</a:t>
            </a:r>
            <a:endParaRPr lang="en-US" sz="950" dirty="0"/>
          </a:p>
          <a:p>
            <a:pPr indent="0" marL="0">
              <a:buNone/>
            </a:pPr>
            <a:r>
              <a:rPr lang="en-US" sz="9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Server</a:t>
            </a:r>
            <a:endParaRPr lang="en-US" sz="950" dirty="0"/>
          </a:p>
        </p:txBody>
      </p:sp>
      <p:sp>
        <p:nvSpPr>
          <p:cNvPr id="24" name="Shape 22"/>
          <p:cNvSpPr/>
          <p:nvPr/>
        </p:nvSpPr>
        <p:spPr>
          <a:xfrm>
            <a:off x="2377440" y="2624328"/>
            <a:ext cx="201168" cy="0"/>
          </a:xfrm>
          <a:prstGeom prst="line">
            <a:avLst/>
          </a:prstGeom>
          <a:noFill/>
          <a:ln w="19050">
            <a:solidFill>
              <a:srgbClr val="58A6FF"/>
            </a:solidFill>
            <a:prstDash val="solid"/>
            <a:tailEnd type="arrow"/>
          </a:ln>
        </p:spPr>
      </p:sp>
      <p:sp>
        <p:nvSpPr>
          <p:cNvPr id="25" name="Text 23"/>
          <p:cNvSpPr/>
          <p:nvPr/>
        </p:nvSpPr>
        <p:spPr>
          <a:xfrm>
            <a:off x="2331720" y="2468880"/>
            <a:ext cx="292608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8A6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list pods</a:t>
            </a:r>
            <a:endParaRPr lang="en-US" sz="800" dirty="0"/>
          </a:p>
        </p:txBody>
      </p:sp>
      <p:sp>
        <p:nvSpPr>
          <p:cNvPr id="26" name="Shape 24"/>
          <p:cNvSpPr/>
          <p:nvPr/>
        </p:nvSpPr>
        <p:spPr>
          <a:xfrm>
            <a:off x="1417320" y="2029968"/>
            <a:ext cx="0" cy="-566928"/>
          </a:xfrm>
          <a:prstGeom prst="line">
            <a:avLst/>
          </a:prstGeom>
          <a:noFill/>
          <a:ln w="19050">
            <a:solidFill>
              <a:srgbClr val="3FB950"/>
            </a:solidFill>
            <a:prstDash val="solid"/>
            <a:tailEnd type="arrow"/>
          </a:ln>
        </p:spPr>
      </p:sp>
      <p:sp>
        <p:nvSpPr>
          <p:cNvPr id="27" name="Text 25"/>
          <p:cNvSpPr/>
          <p:nvPr/>
        </p:nvSpPr>
        <p:spPr>
          <a:xfrm>
            <a:off x="5303520" y="658368"/>
            <a:ext cx="3520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自動發現的好處</a:t>
            </a:r>
            <a:endParaRPr lang="en-US" sz="1200" dirty="0"/>
          </a:p>
        </p:txBody>
      </p:sp>
      <p:sp>
        <p:nvSpPr>
          <p:cNvPr id="28" name="Shape 26"/>
          <p:cNvSpPr/>
          <p:nvPr/>
        </p:nvSpPr>
        <p:spPr>
          <a:xfrm>
            <a:off x="5257800" y="1005840"/>
            <a:ext cx="3520440" cy="502920"/>
          </a:xfrm>
          <a:prstGeom prst="roundRect">
            <a:avLst>
              <a:gd name="adj" fmla="val 12727"/>
            </a:avLst>
          </a:prstGeom>
          <a:solidFill>
            <a:srgbClr val="161B22"/>
          </a:solidFill>
          <a:ln w="10160">
            <a:solidFill>
              <a:srgbClr val="3FB95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394960" y="1005840"/>
            <a:ext cx="32461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🔄 新 Pod 啟動 → 自動加入監控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5257800" y="1572768"/>
            <a:ext cx="3520440" cy="502920"/>
          </a:xfrm>
          <a:prstGeom prst="roundRect">
            <a:avLst>
              <a:gd name="adj" fmla="val 12727"/>
            </a:avLst>
          </a:prstGeom>
          <a:solidFill>
            <a:srgbClr val="161B22"/>
          </a:solidFill>
          <a:ln w="10160">
            <a:solidFill>
              <a:srgbClr val="3FB95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5394960" y="1572768"/>
            <a:ext cx="32461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🗑️ Pod 刪除 → 自動移除，不留殘餘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5257800" y="2139696"/>
            <a:ext cx="3520440" cy="502920"/>
          </a:xfrm>
          <a:prstGeom prst="roundRect">
            <a:avLst>
              <a:gd name="adj" fmla="val 12727"/>
            </a:avLst>
          </a:prstGeom>
          <a:solidFill>
            <a:srgbClr val="161B22"/>
          </a:solidFill>
          <a:ln w="10160">
            <a:solidFill>
              <a:srgbClr val="3FB95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5394960" y="2139696"/>
            <a:ext cx="32461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📈 Scale Out ×10 → Prometheus 自動找到全部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5257800" y="2706624"/>
            <a:ext cx="3520440" cy="502920"/>
          </a:xfrm>
          <a:prstGeom prst="roundRect">
            <a:avLst>
              <a:gd name="adj" fmla="val 12727"/>
            </a:avLst>
          </a:prstGeom>
          <a:solidFill>
            <a:srgbClr val="161B22"/>
          </a:solidFill>
          <a:ln w="10160">
            <a:solidFill>
              <a:srgbClr val="3FB950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394960" y="2706624"/>
            <a:ext cx="32461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0️⃣ 不需要人工修改 prometheus.yml</a:t>
            </a:r>
            <a:endParaRPr lang="en-US" sz="1000" dirty="0"/>
          </a:p>
        </p:txBody>
      </p:sp>
      <p:sp>
        <p:nvSpPr>
          <p:cNvPr id="36" name="Shape 34"/>
          <p:cNvSpPr/>
          <p:nvPr/>
        </p:nvSpPr>
        <p:spPr>
          <a:xfrm>
            <a:off x="5257800" y="3017520"/>
            <a:ext cx="3520440" cy="1691640"/>
          </a:xfrm>
          <a:prstGeom prst="roundRect">
            <a:avLst>
              <a:gd name="adj" fmla="val 5405"/>
            </a:avLst>
          </a:prstGeom>
          <a:solidFill>
            <a:srgbClr val="0D1117"/>
          </a:solidFill>
          <a:ln w="12700">
            <a:solidFill>
              <a:srgbClr val="30363D"/>
            </a:solidFill>
            <a:prstDash val="solid"/>
          </a:ln>
          <a:effectLst>
            <a:outerShdw sx="100000" sy="100000" kx="0" ky="0" algn="bl" rotWithShape="0" blurRad="127000" dist="50800" dir="2700000">
              <a:srgbClr val="000000">
                <a:alpha val="50000"/>
              </a:srgbClr>
            </a:outerShdw>
          </a:effectLst>
        </p:spPr>
      </p:sp>
      <p:sp>
        <p:nvSpPr>
          <p:cNvPr id="37" name="Shape 35"/>
          <p:cNvSpPr/>
          <p:nvPr/>
        </p:nvSpPr>
        <p:spPr>
          <a:xfrm>
            <a:off x="5349240" y="2871216"/>
            <a:ext cx="914400" cy="182880"/>
          </a:xfrm>
          <a:prstGeom prst="roundRect">
            <a:avLst>
              <a:gd name="adj" fmla="val 20000"/>
            </a:avLst>
          </a:prstGeom>
          <a:solidFill>
            <a:srgbClr val="1C2128"/>
          </a:solidFill>
          <a:ln w="6350">
            <a:solidFill>
              <a:srgbClr val="30363D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5367528" y="2871216"/>
            <a:ext cx="877824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pod annotation</a:t>
            </a:r>
            <a:endParaRPr lang="en-US" sz="800" dirty="0"/>
          </a:p>
        </p:txBody>
      </p:sp>
      <p:sp>
        <p:nvSpPr>
          <p:cNvPr id="39" name="Text 37"/>
          <p:cNvSpPr/>
          <p:nvPr/>
        </p:nvSpPr>
        <p:spPr>
          <a:xfrm>
            <a:off x="5385816" y="3127248"/>
            <a:ext cx="3264408" cy="1508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在 Pod spec 加上 annotation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metadata: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annotations: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prometheus.io/scrape: 'true'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prometheus.io/path: '/metrics'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prometheus.io/port: '8080'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Prometheus 自動偵測所有帶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這個 annotation 的 Pod</a:t>
            </a:r>
            <a:endParaRPr lang="en-US" sz="9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61B22"/>
          </a:solidFill>
          <a:ln w="6350">
            <a:solidFill>
              <a:srgbClr val="30363D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82296"/>
            <a:ext cx="45720" cy="310896"/>
          </a:xfrm>
          <a:prstGeom prst="rect">
            <a:avLst/>
          </a:prstGeom>
          <a:solidFill>
            <a:srgbClr val="D29922"/>
          </a:solidFill>
          <a:ln w="12700">
            <a:solidFill>
              <a:srgbClr val="D29922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64592" y="0"/>
            <a:ext cx="5943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Push Mode 實戰：StatsD、Pushgateway、OTLP Collector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7132320" y="0"/>
            <a:ext cx="19202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7 METRICS  · 99 / 150</a:t>
            </a:r>
            <a:endParaRPr lang="en-US" sz="850" dirty="0"/>
          </a:p>
        </p:txBody>
      </p:sp>
      <p:sp>
        <p:nvSpPr>
          <p:cNvPr id="6" name="Shape 4"/>
          <p:cNvSpPr/>
          <p:nvPr/>
        </p:nvSpPr>
        <p:spPr>
          <a:xfrm>
            <a:off x="182880" y="566928"/>
            <a:ext cx="2865120" cy="3986784"/>
          </a:xfrm>
          <a:prstGeom prst="roundRect">
            <a:avLst>
              <a:gd name="adj" fmla="val 3191"/>
            </a:avLst>
          </a:prstGeom>
          <a:solidFill>
            <a:srgbClr val="161B22"/>
          </a:solidFill>
          <a:ln w="15240">
            <a:solidFill>
              <a:srgbClr val="D29922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82880" y="566928"/>
            <a:ext cx="2865120" cy="475488"/>
          </a:xfrm>
          <a:prstGeom prst="rect">
            <a:avLst/>
          </a:prstGeom>
          <a:solidFill>
            <a:srgbClr val="1C2128"/>
          </a:solidFill>
          <a:ln w="12700">
            <a:solidFill>
              <a:srgbClr val="30363D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82880" y="585216"/>
            <a:ext cx="43891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📡</a:t>
            </a:r>
            <a:endParaRPr lang="en-US" sz="2200" dirty="0"/>
          </a:p>
        </p:txBody>
      </p:sp>
      <p:sp>
        <p:nvSpPr>
          <p:cNvPr id="9" name="Text 7"/>
          <p:cNvSpPr/>
          <p:nvPr/>
        </p:nvSpPr>
        <p:spPr>
          <a:xfrm>
            <a:off x="603504" y="566928"/>
            <a:ext cx="240792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D299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StatsD (UDP Push)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310896" y="1179576"/>
            <a:ext cx="109728" cy="109728"/>
          </a:xfrm>
          <a:prstGeom prst="ellipse">
            <a:avLst/>
          </a:prstGeom>
          <a:solidFill>
            <a:srgbClr val="D29922"/>
          </a:solidFill>
          <a:ln w="12700">
            <a:solidFill>
              <a:srgbClr val="D29922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75488" y="1115568"/>
            <a:ext cx="2481072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UDP fire-and-forget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475488" y="1316736"/>
            <a:ext cx="2481072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不阻塞 application</a:t>
            </a:r>
            <a:endParaRPr lang="en-US" sz="850" dirty="0"/>
          </a:p>
        </p:txBody>
      </p:sp>
      <p:sp>
        <p:nvSpPr>
          <p:cNvPr id="13" name="Shape 11"/>
          <p:cNvSpPr/>
          <p:nvPr/>
        </p:nvSpPr>
        <p:spPr>
          <a:xfrm>
            <a:off x="310896" y="1581912"/>
            <a:ext cx="109728" cy="109728"/>
          </a:xfrm>
          <a:prstGeom prst="ellipse">
            <a:avLst/>
          </a:prstGeom>
          <a:solidFill>
            <a:srgbClr val="D29922"/>
          </a:solidFill>
          <a:ln w="12700">
            <a:solidFill>
              <a:srgbClr val="D29922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75488" y="1517904"/>
            <a:ext cx="248107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Client library 極簡單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310896" y="1984248"/>
            <a:ext cx="109728" cy="109728"/>
          </a:xfrm>
          <a:prstGeom prst="ellipse">
            <a:avLst/>
          </a:prstGeom>
          <a:solidFill>
            <a:srgbClr val="D29922"/>
          </a:solidFill>
          <a:ln w="12700">
            <a:solidFill>
              <a:srgbClr val="D29922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75488" y="1920240"/>
            <a:ext cx="248107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statsd.increment('orders.created')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310896" y="2386584"/>
            <a:ext cx="109728" cy="109728"/>
          </a:xfrm>
          <a:prstGeom prst="ellipse">
            <a:avLst/>
          </a:prstGeom>
          <a:solidFill>
            <a:srgbClr val="D29922"/>
          </a:solidFill>
          <a:ln w="12700">
            <a:solidFill>
              <a:srgbClr val="D29922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75488" y="2322576"/>
            <a:ext cx="248107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適合：高頻計數器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310896" y="2788920"/>
            <a:ext cx="109728" cy="109728"/>
          </a:xfrm>
          <a:prstGeom prst="ellipse">
            <a:avLst/>
          </a:prstGeom>
          <a:solidFill>
            <a:srgbClr val="D29922"/>
          </a:solidFill>
          <a:ln w="12700">
            <a:solidFill>
              <a:srgbClr val="D29922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75488" y="2724912"/>
            <a:ext cx="248107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DogStatsD 支援 Tags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310896" y="3191256"/>
            <a:ext cx="109728" cy="109728"/>
          </a:xfrm>
          <a:prstGeom prst="ellipse">
            <a:avLst/>
          </a:prstGeom>
          <a:solidFill>
            <a:srgbClr val="D29922"/>
          </a:solidFill>
          <a:ln w="12700">
            <a:solidFill>
              <a:srgbClr val="D29922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475488" y="3127248"/>
            <a:ext cx="248107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Backend: Graphite / Prometheus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3139440" y="566928"/>
            <a:ext cx="2865120" cy="3986784"/>
          </a:xfrm>
          <a:prstGeom prst="roundRect">
            <a:avLst>
              <a:gd name="adj" fmla="val 3191"/>
            </a:avLst>
          </a:prstGeom>
          <a:solidFill>
            <a:srgbClr val="161B22"/>
          </a:solidFill>
          <a:ln w="15240">
            <a:solidFill>
              <a:srgbClr val="58A6FF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139440" y="566928"/>
            <a:ext cx="2865120" cy="475488"/>
          </a:xfrm>
          <a:prstGeom prst="rect">
            <a:avLst/>
          </a:prstGeom>
          <a:solidFill>
            <a:srgbClr val="1C2128"/>
          </a:solidFill>
          <a:ln w="12700">
            <a:solidFill>
              <a:srgbClr val="30363D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139440" y="585216"/>
            <a:ext cx="43891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🔄</a:t>
            </a:r>
            <a:endParaRPr lang="en-US" sz="2200" dirty="0"/>
          </a:p>
        </p:txBody>
      </p:sp>
      <p:sp>
        <p:nvSpPr>
          <p:cNvPr id="26" name="Text 24"/>
          <p:cNvSpPr/>
          <p:nvPr/>
        </p:nvSpPr>
        <p:spPr>
          <a:xfrm>
            <a:off x="3560064" y="566928"/>
            <a:ext cx="240792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8A6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Pushgateway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3267456" y="1179576"/>
            <a:ext cx="109728" cy="109728"/>
          </a:xfrm>
          <a:prstGeom prst="ellipse">
            <a:avLst/>
          </a:prstGeom>
          <a:solidFill>
            <a:srgbClr val="58A6FF"/>
          </a:solidFill>
          <a:ln w="12700">
            <a:solidFill>
              <a:srgbClr val="58A6FF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3432048" y="1115568"/>
            <a:ext cx="248107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Prometheus 官方中繼站</a:t>
            </a:r>
            <a:endParaRPr lang="en-US" sz="1050" dirty="0"/>
          </a:p>
        </p:txBody>
      </p:sp>
      <p:sp>
        <p:nvSpPr>
          <p:cNvPr id="29" name="Shape 27"/>
          <p:cNvSpPr/>
          <p:nvPr/>
        </p:nvSpPr>
        <p:spPr>
          <a:xfrm>
            <a:off x="3267456" y="1581912"/>
            <a:ext cx="109728" cy="109728"/>
          </a:xfrm>
          <a:prstGeom prst="ellipse">
            <a:avLst/>
          </a:prstGeom>
          <a:solidFill>
            <a:srgbClr val="58A6FF"/>
          </a:solidFill>
          <a:ln w="12700">
            <a:solidFill>
              <a:srgbClr val="58A6FF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432048" y="1517904"/>
            <a:ext cx="248107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用途：Batch Job / Cron Job</a:t>
            </a:r>
            <a:endParaRPr lang="en-US" sz="1050" dirty="0"/>
          </a:p>
        </p:txBody>
      </p:sp>
      <p:sp>
        <p:nvSpPr>
          <p:cNvPr id="31" name="Shape 29"/>
          <p:cNvSpPr/>
          <p:nvPr/>
        </p:nvSpPr>
        <p:spPr>
          <a:xfrm>
            <a:off x="3267456" y="1984248"/>
            <a:ext cx="109728" cy="109728"/>
          </a:xfrm>
          <a:prstGeom prst="ellipse">
            <a:avLst/>
          </a:prstGeom>
          <a:solidFill>
            <a:srgbClr val="58A6FF"/>
          </a:solidFill>
          <a:ln w="12700">
            <a:solidFill>
              <a:srgbClr val="58A6FF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432048" y="1920240"/>
            <a:ext cx="248107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Job 完成 → push → Prometheus scrape</a:t>
            </a:r>
            <a:endParaRPr lang="en-US" sz="1050" dirty="0"/>
          </a:p>
        </p:txBody>
      </p:sp>
      <p:sp>
        <p:nvSpPr>
          <p:cNvPr id="33" name="Shape 31"/>
          <p:cNvSpPr/>
          <p:nvPr/>
        </p:nvSpPr>
        <p:spPr>
          <a:xfrm>
            <a:off x="3267456" y="2386584"/>
            <a:ext cx="109728" cy="109728"/>
          </a:xfrm>
          <a:prstGeom prst="ellipse">
            <a:avLst/>
          </a:prstGeom>
          <a:solidFill>
            <a:srgbClr val="58A6FF"/>
          </a:solidFill>
          <a:ln w="12700">
            <a:solidFill>
              <a:srgbClr val="58A6FF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432048" y="2322576"/>
            <a:ext cx="248107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注意：不適合長期服務</a:t>
            </a:r>
            <a:endParaRPr lang="en-US" sz="1050" dirty="0"/>
          </a:p>
        </p:txBody>
      </p:sp>
      <p:sp>
        <p:nvSpPr>
          <p:cNvPr id="35" name="Shape 33"/>
          <p:cNvSpPr/>
          <p:nvPr/>
        </p:nvSpPr>
        <p:spPr>
          <a:xfrm>
            <a:off x="3267456" y="2788920"/>
            <a:ext cx="109728" cy="109728"/>
          </a:xfrm>
          <a:prstGeom prst="ellipse">
            <a:avLst/>
          </a:prstGeom>
          <a:solidFill>
            <a:srgbClr val="58A6FF"/>
          </a:solidFill>
          <a:ln w="12700">
            <a:solidFill>
              <a:srgbClr val="58A6FF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432048" y="2724912"/>
            <a:ext cx="248107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注意：不自動 TTL 清除</a:t>
            </a:r>
            <a:endParaRPr lang="en-US" sz="1050" dirty="0"/>
          </a:p>
        </p:txBody>
      </p:sp>
      <p:sp>
        <p:nvSpPr>
          <p:cNvPr id="37" name="Shape 35"/>
          <p:cNvSpPr/>
          <p:nvPr/>
        </p:nvSpPr>
        <p:spPr>
          <a:xfrm>
            <a:off x="3267456" y="3191256"/>
            <a:ext cx="109728" cy="109728"/>
          </a:xfrm>
          <a:prstGeom prst="ellipse">
            <a:avLst/>
          </a:prstGeom>
          <a:solidFill>
            <a:srgbClr val="58A6FF"/>
          </a:solidFill>
          <a:ln w="12700">
            <a:solidFill>
              <a:srgbClr val="58A6FF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3432048" y="3127248"/>
            <a:ext cx="248107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K8s Job 完成 metrics 保存</a:t>
            </a:r>
            <a:endParaRPr lang="en-US" sz="1050" dirty="0"/>
          </a:p>
        </p:txBody>
      </p:sp>
      <p:sp>
        <p:nvSpPr>
          <p:cNvPr id="39" name="Shape 37"/>
          <p:cNvSpPr/>
          <p:nvPr/>
        </p:nvSpPr>
        <p:spPr>
          <a:xfrm>
            <a:off x="6096000" y="566928"/>
            <a:ext cx="2865120" cy="3986784"/>
          </a:xfrm>
          <a:prstGeom prst="roundRect">
            <a:avLst>
              <a:gd name="adj" fmla="val 3191"/>
            </a:avLst>
          </a:prstGeom>
          <a:solidFill>
            <a:srgbClr val="161B22"/>
          </a:solidFill>
          <a:ln w="15240">
            <a:solidFill>
              <a:srgbClr val="0D8A6C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6096000" y="566928"/>
            <a:ext cx="2865120" cy="475488"/>
          </a:xfrm>
          <a:prstGeom prst="rect">
            <a:avLst/>
          </a:prstGeom>
          <a:solidFill>
            <a:srgbClr val="1C2128"/>
          </a:solidFill>
          <a:ln w="12700">
            <a:solidFill>
              <a:srgbClr val="30363D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6096000" y="585216"/>
            <a:ext cx="43891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🏗️</a:t>
            </a:r>
            <a:endParaRPr lang="en-US" sz="2200" dirty="0"/>
          </a:p>
        </p:txBody>
      </p:sp>
      <p:sp>
        <p:nvSpPr>
          <p:cNvPr id="42" name="Text 40"/>
          <p:cNvSpPr/>
          <p:nvPr/>
        </p:nvSpPr>
        <p:spPr>
          <a:xfrm>
            <a:off x="6516624" y="566928"/>
            <a:ext cx="240792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D8A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OTLP Collector</a:t>
            </a:r>
            <a:endParaRPr lang="en-US" sz="1200" dirty="0"/>
          </a:p>
        </p:txBody>
      </p:sp>
      <p:sp>
        <p:nvSpPr>
          <p:cNvPr id="43" name="Shape 41"/>
          <p:cNvSpPr/>
          <p:nvPr/>
        </p:nvSpPr>
        <p:spPr>
          <a:xfrm>
            <a:off x="6224016" y="1179576"/>
            <a:ext cx="109728" cy="109728"/>
          </a:xfrm>
          <a:prstGeom prst="ellipse">
            <a:avLst/>
          </a:prstGeom>
          <a:solidFill>
            <a:srgbClr val="0D8A6C"/>
          </a:solidFill>
          <a:ln w="12700">
            <a:solidFill>
              <a:srgbClr val="0D8A6C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6388608" y="1115568"/>
            <a:ext cx="248107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OpenTelemetry 統一 Pipeline</a:t>
            </a:r>
            <a:endParaRPr lang="en-US" sz="1050" dirty="0"/>
          </a:p>
        </p:txBody>
      </p:sp>
      <p:sp>
        <p:nvSpPr>
          <p:cNvPr id="45" name="Shape 43"/>
          <p:cNvSpPr/>
          <p:nvPr/>
        </p:nvSpPr>
        <p:spPr>
          <a:xfrm>
            <a:off x="6224016" y="1581912"/>
            <a:ext cx="109728" cy="109728"/>
          </a:xfrm>
          <a:prstGeom prst="ellipse">
            <a:avLst/>
          </a:prstGeom>
          <a:solidFill>
            <a:srgbClr val="0D8A6C"/>
          </a:solidFill>
          <a:ln w="12700">
            <a:solidFill>
              <a:srgbClr val="0D8A6C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6388608" y="1517904"/>
            <a:ext cx="248107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同時接收 Metrics/Logs/Traces</a:t>
            </a:r>
            <a:endParaRPr lang="en-US" sz="1050" dirty="0"/>
          </a:p>
        </p:txBody>
      </p:sp>
      <p:sp>
        <p:nvSpPr>
          <p:cNvPr id="47" name="Shape 45"/>
          <p:cNvSpPr/>
          <p:nvPr/>
        </p:nvSpPr>
        <p:spPr>
          <a:xfrm>
            <a:off x="6224016" y="1984248"/>
            <a:ext cx="109728" cy="109728"/>
          </a:xfrm>
          <a:prstGeom prst="ellipse">
            <a:avLst/>
          </a:prstGeom>
          <a:solidFill>
            <a:srgbClr val="0D8A6C"/>
          </a:solidFill>
          <a:ln w="12700">
            <a:solidFill>
              <a:srgbClr val="0D8A6C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6388608" y="1920240"/>
            <a:ext cx="248107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多個 Receiver：OTLP, Prometheus</a:t>
            </a:r>
            <a:endParaRPr lang="en-US" sz="1050" dirty="0"/>
          </a:p>
        </p:txBody>
      </p:sp>
      <p:sp>
        <p:nvSpPr>
          <p:cNvPr id="49" name="Shape 47"/>
          <p:cNvSpPr/>
          <p:nvPr/>
        </p:nvSpPr>
        <p:spPr>
          <a:xfrm>
            <a:off x="6224016" y="2386584"/>
            <a:ext cx="109728" cy="109728"/>
          </a:xfrm>
          <a:prstGeom prst="ellipse">
            <a:avLst/>
          </a:prstGeom>
          <a:solidFill>
            <a:srgbClr val="0D8A6C"/>
          </a:solidFill>
          <a:ln w="12700">
            <a:solidFill>
              <a:srgbClr val="0D8A6C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6388608" y="2322576"/>
            <a:ext cx="248107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多個 Exporter：Prometheus, Jaeger</a:t>
            </a:r>
            <a:endParaRPr lang="en-US" sz="1050" dirty="0"/>
          </a:p>
        </p:txBody>
      </p:sp>
      <p:sp>
        <p:nvSpPr>
          <p:cNvPr id="51" name="Shape 49"/>
          <p:cNvSpPr/>
          <p:nvPr/>
        </p:nvSpPr>
        <p:spPr>
          <a:xfrm>
            <a:off x="6224016" y="2788920"/>
            <a:ext cx="109728" cy="109728"/>
          </a:xfrm>
          <a:prstGeom prst="ellipse">
            <a:avLst/>
          </a:prstGeom>
          <a:solidFill>
            <a:srgbClr val="0D8A6C"/>
          </a:solidFill>
          <a:ln w="12700">
            <a:solidFill>
              <a:srgbClr val="0D8A6C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6388608" y="2724912"/>
            <a:ext cx="248107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Sidecar 或 DaemonSet 部署</a:t>
            </a:r>
            <a:endParaRPr lang="en-US" sz="1050" dirty="0"/>
          </a:p>
        </p:txBody>
      </p:sp>
      <p:sp>
        <p:nvSpPr>
          <p:cNvPr id="53" name="Shape 51"/>
          <p:cNvSpPr/>
          <p:nvPr/>
        </p:nvSpPr>
        <p:spPr>
          <a:xfrm>
            <a:off x="6224016" y="3191256"/>
            <a:ext cx="109728" cy="109728"/>
          </a:xfrm>
          <a:prstGeom prst="ellipse">
            <a:avLst/>
          </a:prstGeom>
          <a:solidFill>
            <a:srgbClr val="0D8A6C"/>
          </a:solidFill>
          <a:ln w="12700">
            <a:solidFill>
              <a:srgbClr val="0D8A6C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6388608" y="3127248"/>
            <a:ext cx="248107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未來標準，推薦採用</a:t>
            </a:r>
            <a:endParaRPr lang="en-US" sz="1050" dirty="0"/>
          </a:p>
        </p:txBody>
      </p:sp>
      <p:sp>
        <p:nvSpPr>
          <p:cNvPr id="55" name="Shape 53"/>
          <p:cNvSpPr/>
          <p:nvPr/>
        </p:nvSpPr>
        <p:spPr>
          <a:xfrm>
            <a:off x="274320" y="4645152"/>
            <a:ext cx="8595360" cy="384048"/>
          </a:xfrm>
          <a:prstGeom prst="roundRect">
            <a:avLst>
              <a:gd name="adj" fmla="val 14286"/>
            </a:avLst>
          </a:prstGeom>
          <a:solidFill>
            <a:srgbClr val="0A1929"/>
          </a:solidFill>
          <a:ln w="9525">
            <a:solidFill>
              <a:srgbClr val="58A6FF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457200" y="4690872"/>
            <a:ext cx="8229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💡  StatsD UDP 是最輕量的 push — 即使 collector 掛了也不影響 app，適合不能 block 的關鍵路徑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61B22"/>
          </a:solidFill>
          <a:ln w="6350">
            <a:solidFill>
              <a:srgbClr val="30363D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82296"/>
            <a:ext cx="45720" cy="310896"/>
          </a:xfrm>
          <a:prstGeom prst="rect">
            <a:avLst/>
          </a:prstGeom>
          <a:solidFill>
            <a:srgbClr val="58A6FF"/>
          </a:solidFill>
          <a:ln w="12700">
            <a:solidFill>
              <a:srgbClr val="58A6F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64592" y="0"/>
            <a:ext cx="5943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PromQL：Prometheus 查詢語言實戰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7132320" y="0"/>
            <a:ext cx="19202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7 METRICS  · 100 / 150</a:t>
            </a:r>
            <a:endParaRPr lang="en-US" sz="850" dirty="0"/>
          </a:p>
        </p:txBody>
      </p:sp>
      <p:sp>
        <p:nvSpPr>
          <p:cNvPr id="6" name="Shape 4"/>
          <p:cNvSpPr/>
          <p:nvPr/>
        </p:nvSpPr>
        <p:spPr>
          <a:xfrm>
            <a:off x="274320" y="594360"/>
            <a:ext cx="8595360" cy="4224528"/>
          </a:xfrm>
          <a:prstGeom prst="roundRect">
            <a:avLst>
              <a:gd name="adj" fmla="val 2165"/>
            </a:avLst>
          </a:prstGeom>
          <a:solidFill>
            <a:srgbClr val="0D1117"/>
          </a:solidFill>
          <a:ln w="12700">
            <a:solidFill>
              <a:srgbClr val="30363D"/>
            </a:solidFill>
            <a:prstDash val="solid"/>
          </a:ln>
          <a:effectLst>
            <a:outerShdw sx="100000" sy="100000" kx="0" ky="0" algn="bl" rotWithShape="0" blurRad="127000" dist="50800" dir="2700000">
              <a:srgbClr val="000000">
                <a:alpha val="5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365760" y="448056"/>
            <a:ext cx="914400" cy="182880"/>
          </a:xfrm>
          <a:prstGeom prst="roundRect">
            <a:avLst>
              <a:gd name="adj" fmla="val 20000"/>
            </a:avLst>
          </a:prstGeom>
          <a:solidFill>
            <a:srgbClr val="1C2128"/>
          </a:solidFill>
          <a:ln w="6350">
            <a:solidFill>
              <a:srgbClr val="30363D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84048" y="448056"/>
            <a:ext cx="877824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PromQL Examples</a:t>
            </a:r>
            <a:endParaRPr lang="en-US" sz="800" dirty="0"/>
          </a:p>
        </p:txBody>
      </p:sp>
      <p:sp>
        <p:nvSpPr>
          <p:cNvPr id="9" name="Text 7"/>
          <p:cNvSpPr/>
          <p:nvPr/>
        </p:nvSpPr>
        <p:spPr>
          <a:xfrm>
            <a:off x="402336" y="704088"/>
            <a:ext cx="8339328" cy="40416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1. Counter Rate — 每秒 HTTP 請求數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rate(http_requests_total[5m])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2. 按 status 碼分組的錯誤率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sum by(status) (rate(http_requests_total[5m]))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3. P99 延遲 — 最常用的 SLO 指標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histogram_quantile(0.99,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rate(http_request_duration_seconds_bucket[5m])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4. 錯誤率 (5xx / total)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sum(rate(http_requests_total{status=~'5..'}[5m]))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/ sum(rate(http_requests_total[5m])) * 100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5. Recording Rule — 預計算複雜查詢（放 prometheus.yml）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record: job:http_error_rate:ratio5m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expr: |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sum(rate(http_requests_total{status=~'5..'}[5m]))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/ sum(rate(http_requests_total[5m]))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6. 跨 K8s Pod 聚合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sum by(namespace, deployment) (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rate(http_requests_total[5m])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endParaRPr lang="en-US" sz="950" dirty="0"/>
          </a:p>
        </p:txBody>
      </p:sp>
      <p:sp>
        <p:nvSpPr>
          <p:cNvPr id="10" name="Shape 8"/>
          <p:cNvSpPr/>
          <p:nvPr/>
        </p:nvSpPr>
        <p:spPr>
          <a:xfrm>
            <a:off x="274320" y="4919472"/>
            <a:ext cx="8595360" cy="384048"/>
          </a:xfrm>
          <a:prstGeom prst="roundRect">
            <a:avLst>
              <a:gd name="adj" fmla="val 14286"/>
            </a:avLst>
          </a:prstGeom>
          <a:solidFill>
            <a:srgbClr val="0A1929"/>
          </a:solidFill>
          <a:ln w="9525">
            <a:solidFill>
              <a:srgbClr val="58A6FF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" y="4965192"/>
            <a:ext cx="8229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💡  Recording Rules 是效能關鍵 — 把複雜 PromQL 預計算儲存，Grafana 查詢快 10 倍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61B22"/>
          </a:solidFill>
          <a:ln w="6350">
            <a:solidFill>
              <a:srgbClr val="30363D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82296"/>
            <a:ext cx="45720" cy="310896"/>
          </a:xfrm>
          <a:prstGeom prst="rect">
            <a:avLst/>
          </a:prstGeom>
          <a:solidFill>
            <a:srgbClr val="3FB950"/>
          </a:solidFill>
          <a:ln w="12700">
            <a:solidFill>
              <a:srgbClr val="3FB950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64592" y="0"/>
            <a:ext cx="5943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監控方法論：USE、RED、四個黃金信號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7132320" y="0"/>
            <a:ext cx="19202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7 METRICS  · 101 / 150</a:t>
            </a:r>
            <a:endParaRPr lang="en-US" sz="850" dirty="0"/>
          </a:p>
        </p:txBody>
      </p:sp>
      <p:sp>
        <p:nvSpPr>
          <p:cNvPr id="6" name="Shape 4"/>
          <p:cNvSpPr/>
          <p:nvPr/>
        </p:nvSpPr>
        <p:spPr>
          <a:xfrm>
            <a:off x="274320" y="594360"/>
            <a:ext cx="2697480" cy="4224528"/>
          </a:xfrm>
          <a:prstGeom prst="roundRect">
            <a:avLst>
              <a:gd name="adj" fmla="val 3390"/>
            </a:avLst>
          </a:prstGeom>
          <a:solidFill>
            <a:srgbClr val="161B22"/>
          </a:solidFill>
          <a:ln w="15240">
            <a:solidFill>
              <a:srgbClr val="E36209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65760" y="658368"/>
            <a:ext cx="2514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362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🔧 USE Method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365760" y="914400"/>
            <a:ext cx="25146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適用：基礎設施資源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84048" y="1133856"/>
            <a:ext cx="2478024" cy="640080"/>
          </a:xfrm>
          <a:prstGeom prst="roundRect">
            <a:avLst>
              <a:gd name="adj" fmla="val 10000"/>
            </a:avLst>
          </a:prstGeom>
          <a:solidFill>
            <a:srgbClr val="1C2128"/>
          </a:solidFill>
          <a:ln w="6350">
            <a:solidFill>
              <a:srgbClr val="30363D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57200" y="1152144"/>
            <a:ext cx="23317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 — Utilization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457200" y="1353312"/>
            <a:ext cx="23317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資源使用率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CPU: 75%, Disk: 60%</a:t>
            </a:r>
            <a:endParaRPr lang="en-US" sz="850" dirty="0"/>
          </a:p>
        </p:txBody>
      </p:sp>
      <p:sp>
        <p:nvSpPr>
          <p:cNvPr id="12" name="Shape 10"/>
          <p:cNvSpPr/>
          <p:nvPr/>
        </p:nvSpPr>
        <p:spPr>
          <a:xfrm>
            <a:off x="384048" y="1847088"/>
            <a:ext cx="2478024" cy="640080"/>
          </a:xfrm>
          <a:prstGeom prst="roundRect">
            <a:avLst>
              <a:gd name="adj" fmla="val 10000"/>
            </a:avLst>
          </a:prstGeom>
          <a:solidFill>
            <a:srgbClr val="1C2128"/>
          </a:solidFill>
          <a:ln w="6350">
            <a:solidFill>
              <a:srgbClr val="30363D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7200" y="1865376"/>
            <a:ext cx="23317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 — Saturation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2066544"/>
            <a:ext cx="23317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資源飽和度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Load Average, Queue深度</a:t>
            </a:r>
            <a:endParaRPr lang="en-US" sz="850" dirty="0"/>
          </a:p>
        </p:txBody>
      </p:sp>
      <p:sp>
        <p:nvSpPr>
          <p:cNvPr id="15" name="Shape 13"/>
          <p:cNvSpPr/>
          <p:nvPr/>
        </p:nvSpPr>
        <p:spPr>
          <a:xfrm>
            <a:off x="384048" y="2560320"/>
            <a:ext cx="2478024" cy="640080"/>
          </a:xfrm>
          <a:prstGeom prst="roundRect">
            <a:avLst>
              <a:gd name="adj" fmla="val 10000"/>
            </a:avLst>
          </a:prstGeom>
          <a:solidFill>
            <a:srgbClr val="1C2128"/>
          </a:solidFill>
          <a:ln w="6350">
            <a:solidFill>
              <a:srgbClr val="30363D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57200" y="2578608"/>
            <a:ext cx="23317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 — Errors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457200" y="2779776"/>
            <a:ext cx="23317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錯誤率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Disk IO errors, NIC drops</a:t>
            </a:r>
            <a:endParaRPr lang="en-US" sz="850" dirty="0"/>
          </a:p>
        </p:txBody>
      </p:sp>
      <p:sp>
        <p:nvSpPr>
          <p:cNvPr id="18" name="Text 16"/>
          <p:cNvSpPr/>
          <p:nvPr/>
        </p:nvSpPr>
        <p:spPr>
          <a:xfrm>
            <a:off x="365760" y="4224528"/>
            <a:ext cx="2514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問：這個資源過載了嗎？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3154680" y="594360"/>
            <a:ext cx="2697480" cy="4224528"/>
          </a:xfrm>
          <a:prstGeom prst="roundRect">
            <a:avLst>
              <a:gd name="adj" fmla="val 3390"/>
            </a:avLst>
          </a:prstGeom>
          <a:solidFill>
            <a:srgbClr val="161B22"/>
          </a:solidFill>
          <a:ln w="15240">
            <a:solidFill>
              <a:srgbClr val="238636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246120" y="658368"/>
            <a:ext cx="2514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386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🌐 RED Method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3246120" y="914400"/>
            <a:ext cx="25146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適用：微服務 API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3264408" y="1133856"/>
            <a:ext cx="2478024" cy="640080"/>
          </a:xfrm>
          <a:prstGeom prst="roundRect">
            <a:avLst>
              <a:gd name="adj" fmla="val 10000"/>
            </a:avLst>
          </a:prstGeom>
          <a:solidFill>
            <a:srgbClr val="1C2128"/>
          </a:solidFill>
          <a:ln w="6350">
            <a:solidFill>
              <a:srgbClr val="30363D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337560" y="1152144"/>
            <a:ext cx="23317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 — Rate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3337560" y="1353312"/>
            <a:ext cx="23317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每秒請求數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HTTP req/s, RPC/s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264408" y="1847088"/>
            <a:ext cx="2478024" cy="640080"/>
          </a:xfrm>
          <a:prstGeom prst="roundRect">
            <a:avLst>
              <a:gd name="adj" fmla="val 10000"/>
            </a:avLst>
          </a:prstGeom>
          <a:solidFill>
            <a:srgbClr val="1C2128"/>
          </a:solidFill>
          <a:ln w="6350">
            <a:solidFill>
              <a:srgbClr val="30363D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337560" y="1865376"/>
            <a:ext cx="23317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 — Errors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3337560" y="2066544"/>
            <a:ext cx="23317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錯誤率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5xx%, failed RPC %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3264408" y="2560320"/>
            <a:ext cx="2478024" cy="640080"/>
          </a:xfrm>
          <a:prstGeom prst="roundRect">
            <a:avLst>
              <a:gd name="adj" fmla="val 10000"/>
            </a:avLst>
          </a:prstGeom>
          <a:solidFill>
            <a:srgbClr val="1C2128"/>
          </a:solidFill>
          <a:ln w="6350">
            <a:solidFill>
              <a:srgbClr val="30363D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337560" y="2578608"/>
            <a:ext cx="23317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 — Duration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3337560" y="2779776"/>
            <a:ext cx="23317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延遲分布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P50/P95/P99 latency</a:t>
            </a:r>
            <a:endParaRPr lang="en-US" sz="850" dirty="0"/>
          </a:p>
        </p:txBody>
      </p:sp>
      <p:sp>
        <p:nvSpPr>
          <p:cNvPr id="31" name="Text 29"/>
          <p:cNvSpPr/>
          <p:nvPr/>
        </p:nvSpPr>
        <p:spPr>
          <a:xfrm>
            <a:off x="3246120" y="4224528"/>
            <a:ext cx="2514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問：這個服務表現如何？</a:t>
            </a:r>
            <a:endParaRPr lang="en-US" sz="900" dirty="0"/>
          </a:p>
        </p:txBody>
      </p:sp>
      <p:sp>
        <p:nvSpPr>
          <p:cNvPr id="32" name="Shape 30"/>
          <p:cNvSpPr/>
          <p:nvPr/>
        </p:nvSpPr>
        <p:spPr>
          <a:xfrm>
            <a:off x="6035040" y="594360"/>
            <a:ext cx="2743200" cy="4224528"/>
          </a:xfrm>
          <a:prstGeom prst="roundRect">
            <a:avLst>
              <a:gd name="adj" fmla="val 3333"/>
            </a:avLst>
          </a:prstGeom>
          <a:solidFill>
            <a:srgbClr val="161B22"/>
          </a:solidFill>
          <a:ln w="15240">
            <a:solidFill>
              <a:srgbClr val="58A6FF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6126480" y="65836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58A6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⭐ 四個黃金信號</a:t>
            </a:r>
            <a:endParaRPr lang="en-US" sz="1200" dirty="0"/>
          </a:p>
        </p:txBody>
      </p:sp>
      <p:sp>
        <p:nvSpPr>
          <p:cNvPr id="34" name="Text 32"/>
          <p:cNvSpPr/>
          <p:nvPr/>
        </p:nvSpPr>
        <p:spPr>
          <a:xfrm>
            <a:off x="6126480" y="914400"/>
            <a:ext cx="25603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Google SRE Book — 對用戶最重要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6144768" y="1133856"/>
            <a:ext cx="2523744" cy="640080"/>
          </a:xfrm>
          <a:prstGeom prst="roundRect">
            <a:avLst>
              <a:gd name="adj" fmla="val 10000"/>
            </a:avLst>
          </a:prstGeom>
          <a:solidFill>
            <a:srgbClr val="1C2128"/>
          </a:solidFill>
          <a:ln w="6350">
            <a:solidFill>
              <a:srgbClr val="30363D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6217920" y="1152144"/>
            <a:ext cx="23774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Latency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6217920" y="1353312"/>
            <a:ext cx="23774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好請求 vs 壞請求的延遲</a:t>
            </a:r>
            <a:endParaRPr lang="en-US" sz="850" dirty="0"/>
          </a:p>
        </p:txBody>
      </p:sp>
      <p:sp>
        <p:nvSpPr>
          <p:cNvPr id="38" name="Shape 36"/>
          <p:cNvSpPr/>
          <p:nvPr/>
        </p:nvSpPr>
        <p:spPr>
          <a:xfrm>
            <a:off x="6144768" y="1847088"/>
            <a:ext cx="2523744" cy="640080"/>
          </a:xfrm>
          <a:prstGeom prst="roundRect">
            <a:avLst>
              <a:gd name="adj" fmla="val 10000"/>
            </a:avLst>
          </a:prstGeom>
          <a:solidFill>
            <a:srgbClr val="1C2128"/>
          </a:solidFill>
          <a:ln w="6350">
            <a:solidFill>
              <a:srgbClr val="30363D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217920" y="1865376"/>
            <a:ext cx="23774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Traffic</a:t>
            </a:r>
            <a:endParaRPr lang="en-US" sz="1000" dirty="0"/>
          </a:p>
        </p:txBody>
      </p:sp>
      <p:sp>
        <p:nvSpPr>
          <p:cNvPr id="40" name="Text 38"/>
          <p:cNvSpPr/>
          <p:nvPr/>
        </p:nvSpPr>
        <p:spPr>
          <a:xfrm>
            <a:off x="6217920" y="2066544"/>
            <a:ext cx="23774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系統需求量 req/s</a:t>
            </a:r>
            <a:endParaRPr lang="en-US" sz="850" dirty="0"/>
          </a:p>
        </p:txBody>
      </p:sp>
      <p:sp>
        <p:nvSpPr>
          <p:cNvPr id="41" name="Shape 39"/>
          <p:cNvSpPr/>
          <p:nvPr/>
        </p:nvSpPr>
        <p:spPr>
          <a:xfrm>
            <a:off x="6144768" y="2560320"/>
            <a:ext cx="2523744" cy="640080"/>
          </a:xfrm>
          <a:prstGeom prst="roundRect">
            <a:avLst>
              <a:gd name="adj" fmla="val 10000"/>
            </a:avLst>
          </a:prstGeom>
          <a:solidFill>
            <a:srgbClr val="1C2128"/>
          </a:solidFill>
          <a:ln w="6350">
            <a:solidFill>
              <a:srgbClr val="30363D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6217920" y="2578608"/>
            <a:ext cx="23774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Errors</a:t>
            </a:r>
            <a:endParaRPr lang="en-US" sz="1000" dirty="0"/>
          </a:p>
        </p:txBody>
      </p:sp>
      <p:sp>
        <p:nvSpPr>
          <p:cNvPr id="43" name="Text 41"/>
          <p:cNvSpPr/>
          <p:nvPr/>
        </p:nvSpPr>
        <p:spPr>
          <a:xfrm>
            <a:off x="6217920" y="2779776"/>
            <a:ext cx="23774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失敗請求的比率</a:t>
            </a:r>
            <a:endParaRPr lang="en-US" sz="850" dirty="0"/>
          </a:p>
        </p:txBody>
      </p:sp>
      <p:sp>
        <p:nvSpPr>
          <p:cNvPr id="44" name="Shape 42"/>
          <p:cNvSpPr/>
          <p:nvPr/>
        </p:nvSpPr>
        <p:spPr>
          <a:xfrm>
            <a:off x="6144768" y="3273552"/>
            <a:ext cx="2523744" cy="640080"/>
          </a:xfrm>
          <a:prstGeom prst="roundRect">
            <a:avLst>
              <a:gd name="adj" fmla="val 10000"/>
            </a:avLst>
          </a:prstGeom>
          <a:solidFill>
            <a:srgbClr val="1C2128"/>
          </a:solidFill>
          <a:ln w="6350">
            <a:solidFill>
              <a:srgbClr val="30363D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6217920" y="3291840"/>
            <a:ext cx="23774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Saturation</a:t>
            </a:r>
            <a:endParaRPr lang="en-US" sz="1000" dirty="0"/>
          </a:p>
        </p:txBody>
      </p:sp>
      <p:sp>
        <p:nvSpPr>
          <p:cNvPr id="46" name="Text 44"/>
          <p:cNvSpPr/>
          <p:nvPr/>
        </p:nvSpPr>
        <p:spPr>
          <a:xfrm>
            <a:off x="6217920" y="3493008"/>
            <a:ext cx="23774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系統飽和度 (最受限的資源)</a:t>
            </a:r>
            <a:endParaRPr lang="en-US" sz="850" dirty="0"/>
          </a:p>
        </p:txBody>
      </p:sp>
      <p:sp>
        <p:nvSpPr>
          <p:cNvPr id="47" name="Text 45"/>
          <p:cNvSpPr/>
          <p:nvPr/>
        </p:nvSpPr>
        <p:spPr>
          <a:xfrm>
            <a:off x="6126480" y="4224528"/>
            <a:ext cx="2560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問：用戶的體驗如何？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274320" y="4919472"/>
            <a:ext cx="8595360" cy="384048"/>
          </a:xfrm>
          <a:prstGeom prst="roundRect">
            <a:avLst>
              <a:gd name="adj" fmla="val 14286"/>
            </a:avLst>
          </a:prstGeom>
          <a:solidFill>
            <a:srgbClr val="0A1929"/>
          </a:solidFill>
          <a:ln w="9525">
            <a:solidFill>
              <a:srgbClr val="58A6FF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457200" y="4965192"/>
            <a:ext cx="8229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💡  新服務先從 RED 方法開始 — Rate + Errors + Duration 三個 Metric 能告訴你 80% 的問題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61B22"/>
          </a:solidFill>
          <a:ln w="6350">
            <a:solidFill>
              <a:srgbClr val="30363D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82296"/>
            <a:ext cx="45720" cy="310896"/>
          </a:xfrm>
          <a:prstGeom prst="rect">
            <a:avLst/>
          </a:prstGeom>
          <a:solidFill>
            <a:srgbClr val="58A6FF"/>
          </a:solidFill>
          <a:ln w="12700">
            <a:solidFill>
              <a:srgbClr val="58A6F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64592" y="0"/>
            <a:ext cx="5943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Grafana Dashboard 設計：讓數據說話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7132320" y="0"/>
            <a:ext cx="19202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7 METRICS  · 102 / 150</a:t>
            </a:r>
            <a:endParaRPr lang="en-US" sz="850" dirty="0"/>
          </a:p>
        </p:txBody>
      </p:sp>
      <p:sp>
        <p:nvSpPr>
          <p:cNvPr id="6" name="Shape 4"/>
          <p:cNvSpPr/>
          <p:nvPr/>
        </p:nvSpPr>
        <p:spPr>
          <a:xfrm>
            <a:off x="274320" y="566928"/>
            <a:ext cx="3931920" cy="365760"/>
          </a:xfrm>
          <a:prstGeom prst="roundRect">
            <a:avLst>
              <a:gd name="adj" fmla="val 20000"/>
            </a:avLst>
          </a:prstGeom>
          <a:solidFill>
            <a:srgbClr val="0F2A1A"/>
          </a:solidFill>
          <a:ln w="12700">
            <a:solidFill>
              <a:srgbClr val="3FB95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84048" y="566928"/>
            <a:ext cx="3749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Dashboard 設計原則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365760" y="1005840"/>
            <a:ext cx="3657600" cy="411480"/>
          </a:xfrm>
          <a:prstGeom prst="roundRect">
            <a:avLst>
              <a:gd name="adj" fmla="val 15556"/>
            </a:avLst>
          </a:prstGeom>
          <a:solidFill>
            <a:srgbClr val="161B22"/>
          </a:solidFill>
          <a:ln w="10160">
            <a:solidFill>
              <a:srgbClr val="3FB95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02920" y="1005840"/>
            <a:ext cx="33832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🎯 一個 Dashboard = 一個服務/系統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365760" y="1481328"/>
            <a:ext cx="3657600" cy="411480"/>
          </a:xfrm>
          <a:prstGeom prst="roundRect">
            <a:avLst>
              <a:gd name="adj" fmla="val 15556"/>
            </a:avLst>
          </a:prstGeom>
          <a:solidFill>
            <a:srgbClr val="161B22"/>
          </a:solidFill>
          <a:ln w="10160">
            <a:solidFill>
              <a:srgbClr val="3FB95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1481328"/>
            <a:ext cx="33832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📊 頂部：RED/四黃金信號 (用戶影響)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365760" y="1956816"/>
            <a:ext cx="3657600" cy="411480"/>
          </a:xfrm>
          <a:prstGeom prst="roundRect">
            <a:avLst>
              <a:gd name="adj" fmla="val 15556"/>
            </a:avLst>
          </a:prstGeom>
          <a:solidFill>
            <a:srgbClr val="161B22"/>
          </a:solidFill>
          <a:ln w="10160">
            <a:solidFill>
              <a:srgbClr val="58A6F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02920" y="1956816"/>
            <a:ext cx="33832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📉 中部：資源使用 (USE Method)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365760" y="2432304"/>
            <a:ext cx="3657600" cy="411480"/>
          </a:xfrm>
          <a:prstGeom prst="roundRect">
            <a:avLst>
              <a:gd name="adj" fmla="val 15556"/>
            </a:avLst>
          </a:prstGeom>
          <a:solidFill>
            <a:srgbClr val="161B22"/>
          </a:solidFill>
          <a:ln w="10160">
            <a:solidFill>
              <a:srgbClr val="58A6F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02920" y="2432304"/>
            <a:ext cx="33832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🔗 底部：下游依賴狀態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365760" y="2907792"/>
            <a:ext cx="3657600" cy="411480"/>
          </a:xfrm>
          <a:prstGeom prst="roundRect">
            <a:avLst>
              <a:gd name="adj" fmla="val 15556"/>
            </a:avLst>
          </a:prstGeom>
          <a:solidFill>
            <a:srgbClr val="161B22"/>
          </a:solidFill>
          <a:ln w="10160">
            <a:solidFill>
              <a:srgbClr val="D29922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02920" y="2907792"/>
            <a:ext cx="33832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🏷️ 使用 Variables：env, datacenter, pod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274320" y="3401568"/>
            <a:ext cx="3931920" cy="530352"/>
          </a:xfrm>
          <a:prstGeom prst="roundRect">
            <a:avLst>
              <a:gd name="adj" fmla="val 12069"/>
            </a:avLst>
          </a:prstGeom>
          <a:solidFill>
            <a:srgbClr val="2A0F0F"/>
          </a:solidFill>
          <a:ln w="10160">
            <a:solidFill>
              <a:srgbClr val="F85149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11480" y="3401568"/>
            <a:ext cx="3657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F851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❌ 把所有 Metric 塞進一個 Dashboard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F851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❌ 沒有時間範圍選擇器</a:t>
            </a:r>
            <a:endParaRPr lang="en-US" sz="950" dirty="0"/>
          </a:p>
        </p:txBody>
      </p:sp>
      <p:sp>
        <p:nvSpPr>
          <p:cNvPr id="20" name="Shape 18"/>
          <p:cNvSpPr/>
          <p:nvPr/>
        </p:nvSpPr>
        <p:spPr>
          <a:xfrm>
            <a:off x="4709160" y="685800"/>
            <a:ext cx="4160520" cy="347472"/>
          </a:xfrm>
          <a:prstGeom prst="roundRect">
            <a:avLst>
              <a:gd name="adj" fmla="val 13158"/>
            </a:avLst>
          </a:prstGeom>
          <a:solidFill>
            <a:srgbClr val="1C2128"/>
          </a:solidFill>
          <a:ln w="10160">
            <a:solidFill>
              <a:srgbClr val="58A6FF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754880" y="685800"/>
            <a:ext cx="40690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Service: api | ENV: prod | Last: 6h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4709160" y="1078992"/>
            <a:ext cx="1280160" cy="566928"/>
          </a:xfrm>
          <a:prstGeom prst="roundRect">
            <a:avLst>
              <a:gd name="adj" fmla="val 11290"/>
            </a:avLst>
          </a:prstGeom>
          <a:solidFill>
            <a:srgbClr val="0F2A1A"/>
          </a:solidFill>
          <a:ln w="10160">
            <a:solidFill>
              <a:srgbClr val="3FB95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754880" y="1097280"/>
            <a:ext cx="11887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1,234 req/s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4754880" y="1389888"/>
            <a:ext cx="11887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Traffic</a:t>
            </a:r>
            <a:endParaRPr lang="en-US" sz="800" dirty="0"/>
          </a:p>
        </p:txBody>
      </p:sp>
      <p:sp>
        <p:nvSpPr>
          <p:cNvPr id="25" name="Shape 23"/>
          <p:cNvSpPr/>
          <p:nvPr/>
        </p:nvSpPr>
        <p:spPr>
          <a:xfrm>
            <a:off x="6108192" y="1078992"/>
            <a:ext cx="1280160" cy="566928"/>
          </a:xfrm>
          <a:prstGeom prst="roundRect">
            <a:avLst>
              <a:gd name="adj" fmla="val 11290"/>
            </a:avLst>
          </a:prstGeom>
          <a:solidFill>
            <a:srgbClr val="161B22"/>
          </a:solidFill>
          <a:ln w="10160">
            <a:solidFill>
              <a:srgbClr val="F85149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6153912" y="1097280"/>
            <a:ext cx="11887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851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0.12%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6153912" y="1389888"/>
            <a:ext cx="11887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Error Rate</a:t>
            </a:r>
            <a:endParaRPr lang="en-US" sz="800" dirty="0"/>
          </a:p>
        </p:txBody>
      </p:sp>
      <p:sp>
        <p:nvSpPr>
          <p:cNvPr id="28" name="Shape 26"/>
          <p:cNvSpPr/>
          <p:nvPr/>
        </p:nvSpPr>
        <p:spPr>
          <a:xfrm>
            <a:off x="7507224" y="1078992"/>
            <a:ext cx="1280160" cy="566928"/>
          </a:xfrm>
          <a:prstGeom prst="roundRect">
            <a:avLst>
              <a:gd name="adj" fmla="val 11290"/>
            </a:avLst>
          </a:prstGeom>
          <a:solidFill>
            <a:srgbClr val="161B22"/>
          </a:solidFill>
          <a:ln w="10160">
            <a:solidFill>
              <a:srgbClr val="D29922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7552944" y="1097280"/>
            <a:ext cx="11887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D299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245ms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7552944" y="1389888"/>
            <a:ext cx="11887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P99 Latency</a:t>
            </a:r>
            <a:endParaRPr lang="en-US" sz="800" dirty="0"/>
          </a:p>
        </p:txBody>
      </p:sp>
      <p:sp>
        <p:nvSpPr>
          <p:cNvPr id="31" name="Shape 29"/>
          <p:cNvSpPr/>
          <p:nvPr/>
        </p:nvSpPr>
        <p:spPr>
          <a:xfrm>
            <a:off x="4709160" y="1755648"/>
            <a:ext cx="4160520" cy="1051560"/>
          </a:xfrm>
          <a:prstGeom prst="roundRect">
            <a:avLst>
              <a:gd name="adj" fmla="val 6087"/>
            </a:avLst>
          </a:prstGeom>
          <a:solidFill>
            <a:srgbClr val="161B22"/>
          </a:solidFill>
          <a:ln w="10160">
            <a:solidFill>
              <a:srgbClr val="30363D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800600" y="1828800"/>
            <a:ext cx="39776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HTTP Request Rate over time</a:t>
            </a:r>
            <a:endParaRPr lang="en-US" sz="850" dirty="0"/>
          </a:p>
        </p:txBody>
      </p:sp>
      <p:sp>
        <p:nvSpPr>
          <p:cNvPr id="33" name="Shape 31"/>
          <p:cNvSpPr/>
          <p:nvPr/>
        </p:nvSpPr>
        <p:spPr>
          <a:xfrm>
            <a:off x="4709160" y="2880360"/>
            <a:ext cx="2011680" cy="896112"/>
          </a:xfrm>
          <a:prstGeom prst="roundRect">
            <a:avLst>
              <a:gd name="adj" fmla="val 7143"/>
            </a:avLst>
          </a:prstGeom>
          <a:solidFill>
            <a:srgbClr val="161B22"/>
          </a:solidFill>
          <a:ln w="10160">
            <a:solidFill>
              <a:srgbClr val="30363D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4800600" y="2944368"/>
            <a:ext cx="1828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CPU Usage %</a:t>
            </a:r>
            <a:endParaRPr lang="en-US" sz="800" dirty="0"/>
          </a:p>
        </p:txBody>
      </p:sp>
      <p:sp>
        <p:nvSpPr>
          <p:cNvPr id="35" name="Shape 33"/>
          <p:cNvSpPr/>
          <p:nvPr/>
        </p:nvSpPr>
        <p:spPr>
          <a:xfrm>
            <a:off x="6839712" y="2880360"/>
            <a:ext cx="2011680" cy="896112"/>
          </a:xfrm>
          <a:prstGeom prst="roundRect">
            <a:avLst>
              <a:gd name="adj" fmla="val 7143"/>
            </a:avLst>
          </a:prstGeom>
          <a:solidFill>
            <a:srgbClr val="161B22"/>
          </a:solidFill>
          <a:ln w="10160">
            <a:solidFill>
              <a:srgbClr val="30363D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6931152" y="2944368"/>
            <a:ext cx="1828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Memory Usage</a:t>
            </a:r>
            <a:endParaRPr lang="en-US" sz="800" dirty="0"/>
          </a:p>
        </p:txBody>
      </p:sp>
      <p:sp>
        <p:nvSpPr>
          <p:cNvPr id="37" name="Shape 35"/>
          <p:cNvSpPr/>
          <p:nvPr/>
        </p:nvSpPr>
        <p:spPr>
          <a:xfrm>
            <a:off x="4709160" y="3840480"/>
            <a:ext cx="4160520" cy="713232"/>
          </a:xfrm>
          <a:prstGeom prst="roundRect">
            <a:avLst>
              <a:gd name="adj" fmla="val 8974"/>
            </a:avLst>
          </a:prstGeom>
          <a:solidFill>
            <a:srgbClr val="161B22"/>
          </a:solidFill>
          <a:ln w="10160">
            <a:solidFill>
              <a:srgbClr val="30363D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800600" y="3913632"/>
            <a:ext cx="39776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DB Latency | Redis Hit Rate | MQ Queue Depth</a:t>
            </a:r>
            <a:endParaRPr lang="en-US" sz="8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61B22"/>
          </a:solidFill>
          <a:ln w="6350">
            <a:solidFill>
              <a:srgbClr val="30363D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82296"/>
            <a:ext cx="45720" cy="310896"/>
          </a:xfrm>
          <a:prstGeom prst="rect">
            <a:avLst/>
          </a:prstGeom>
          <a:solidFill>
            <a:srgbClr val="F85149"/>
          </a:solidFill>
          <a:ln w="12700">
            <a:solidFill>
              <a:srgbClr val="F85149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64592" y="0"/>
            <a:ext cx="5943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告警設計：避免告警疲勞的藝術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7132320" y="0"/>
            <a:ext cx="19202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7 METRICS  · 103 / 150</a:t>
            </a:r>
            <a:endParaRPr lang="en-US" sz="850" dirty="0"/>
          </a:p>
        </p:txBody>
      </p:sp>
      <p:sp>
        <p:nvSpPr>
          <p:cNvPr id="6" name="Shape 4"/>
          <p:cNvSpPr/>
          <p:nvPr/>
        </p:nvSpPr>
        <p:spPr>
          <a:xfrm>
            <a:off x="274320" y="566928"/>
            <a:ext cx="4023360" cy="365760"/>
          </a:xfrm>
          <a:prstGeom prst="roundRect">
            <a:avLst>
              <a:gd name="adj" fmla="val 20000"/>
            </a:avLst>
          </a:prstGeom>
          <a:solidFill>
            <a:srgbClr val="2A0F0F"/>
          </a:solidFill>
          <a:ln w="12700">
            <a:solidFill>
              <a:srgbClr val="F85149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84048" y="566928"/>
            <a:ext cx="3840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851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❌ Cause-based 告警（不推薦）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74320" y="1005840"/>
            <a:ext cx="4023360" cy="365760"/>
          </a:xfrm>
          <a:prstGeom prst="roundRect">
            <a:avLst>
              <a:gd name="adj" fmla="val 17500"/>
            </a:avLst>
          </a:prstGeom>
          <a:solidFill>
            <a:srgbClr val="2A0F0F"/>
          </a:solidFill>
          <a:ln w="10160">
            <a:solidFill>
              <a:srgbClr val="F85149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11480" y="1024128"/>
            <a:ext cx="36576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851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CPU &gt; 80%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411480" y="1207008"/>
            <a:ext cx="3657600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CPU高不一定影響用戶</a:t>
            </a:r>
            <a:endParaRPr lang="en-US" sz="850" dirty="0"/>
          </a:p>
        </p:txBody>
      </p:sp>
      <p:sp>
        <p:nvSpPr>
          <p:cNvPr id="11" name="Shape 9"/>
          <p:cNvSpPr/>
          <p:nvPr/>
        </p:nvSpPr>
        <p:spPr>
          <a:xfrm>
            <a:off x="274320" y="1417320"/>
            <a:ext cx="4023360" cy="365760"/>
          </a:xfrm>
          <a:prstGeom prst="roundRect">
            <a:avLst>
              <a:gd name="adj" fmla="val 17500"/>
            </a:avLst>
          </a:prstGeom>
          <a:solidFill>
            <a:srgbClr val="2A0F0F"/>
          </a:solidFill>
          <a:ln w="10160">
            <a:solidFill>
              <a:srgbClr val="F85149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11480" y="1435608"/>
            <a:ext cx="36576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851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Memory &gt; 70%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411480" y="1618488"/>
            <a:ext cx="3657600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可能只是 cache，正常</a:t>
            </a:r>
            <a:endParaRPr lang="en-US" sz="850" dirty="0"/>
          </a:p>
        </p:txBody>
      </p:sp>
      <p:sp>
        <p:nvSpPr>
          <p:cNvPr id="14" name="Shape 12"/>
          <p:cNvSpPr/>
          <p:nvPr/>
        </p:nvSpPr>
        <p:spPr>
          <a:xfrm>
            <a:off x="274320" y="1828800"/>
            <a:ext cx="4023360" cy="365760"/>
          </a:xfrm>
          <a:prstGeom prst="roundRect">
            <a:avLst>
              <a:gd name="adj" fmla="val 17500"/>
            </a:avLst>
          </a:prstGeom>
          <a:solidFill>
            <a:srgbClr val="2A0F0F"/>
          </a:solidFill>
          <a:ln w="10160">
            <a:solidFill>
              <a:srgbClr val="F85149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11480" y="1847088"/>
            <a:ext cx="36576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851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Disk IOPS &gt; 1000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411480" y="2029968"/>
            <a:ext cx="3657600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業務繁忙期的正常現象</a:t>
            </a:r>
            <a:endParaRPr lang="en-US" sz="850" dirty="0"/>
          </a:p>
        </p:txBody>
      </p:sp>
      <p:sp>
        <p:nvSpPr>
          <p:cNvPr id="17" name="Shape 15"/>
          <p:cNvSpPr/>
          <p:nvPr/>
        </p:nvSpPr>
        <p:spPr>
          <a:xfrm>
            <a:off x="274320" y="2651760"/>
            <a:ext cx="4023360" cy="365760"/>
          </a:xfrm>
          <a:prstGeom prst="roundRect">
            <a:avLst>
              <a:gd name="adj" fmla="val 20000"/>
            </a:avLst>
          </a:prstGeom>
          <a:solidFill>
            <a:srgbClr val="0F2A1A"/>
          </a:solidFill>
          <a:ln w="12700">
            <a:solidFill>
              <a:srgbClr val="3FB95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84048" y="2651760"/>
            <a:ext cx="3840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Symptom-based 告警（推薦）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274320" y="3063240"/>
            <a:ext cx="4023360" cy="365760"/>
          </a:xfrm>
          <a:prstGeom prst="roundRect">
            <a:avLst>
              <a:gd name="adj" fmla="val 17500"/>
            </a:avLst>
          </a:prstGeom>
          <a:solidFill>
            <a:srgbClr val="0F2A1A"/>
          </a:solidFill>
          <a:ln w="10160">
            <a:solidFill>
              <a:srgbClr val="3FB95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11480" y="3081528"/>
            <a:ext cx="36576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錯誤率 &gt; 1% 持續 2 分鐘</a:t>
            </a:r>
            <a:endParaRPr lang="en-US" sz="1050" dirty="0"/>
          </a:p>
        </p:txBody>
      </p:sp>
      <p:sp>
        <p:nvSpPr>
          <p:cNvPr id="21" name="Text 19"/>
          <p:cNvSpPr/>
          <p:nvPr/>
        </p:nvSpPr>
        <p:spPr>
          <a:xfrm>
            <a:off x="411480" y="3264408"/>
            <a:ext cx="3657600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用戶正在受影響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274320" y="3474720"/>
            <a:ext cx="4023360" cy="365760"/>
          </a:xfrm>
          <a:prstGeom prst="roundRect">
            <a:avLst>
              <a:gd name="adj" fmla="val 17500"/>
            </a:avLst>
          </a:prstGeom>
          <a:solidFill>
            <a:srgbClr val="0F2A1A"/>
          </a:solidFill>
          <a:ln w="10160">
            <a:solidFill>
              <a:srgbClr val="3FB95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11480" y="3493008"/>
            <a:ext cx="36576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P99 延遲 &gt; 2000ms</a:t>
            </a:r>
            <a:endParaRPr lang="en-US" sz="1050" dirty="0"/>
          </a:p>
        </p:txBody>
      </p:sp>
      <p:sp>
        <p:nvSpPr>
          <p:cNvPr id="24" name="Text 22"/>
          <p:cNvSpPr/>
          <p:nvPr/>
        </p:nvSpPr>
        <p:spPr>
          <a:xfrm>
            <a:off x="411480" y="3675888"/>
            <a:ext cx="3657600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用戶感受到服務變慢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274320" y="3886200"/>
            <a:ext cx="4023360" cy="365760"/>
          </a:xfrm>
          <a:prstGeom prst="roundRect">
            <a:avLst>
              <a:gd name="adj" fmla="val 17500"/>
            </a:avLst>
          </a:prstGeom>
          <a:solidFill>
            <a:srgbClr val="0F2A1A"/>
          </a:solidFill>
          <a:ln w="10160">
            <a:solidFill>
              <a:srgbClr val="3FB95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411480" y="3904488"/>
            <a:ext cx="36576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SLO burn rate 過快</a:t>
            </a:r>
            <a:endParaRPr lang="en-US" sz="1050" dirty="0"/>
          </a:p>
        </p:txBody>
      </p:sp>
      <p:sp>
        <p:nvSpPr>
          <p:cNvPr id="27" name="Text 25"/>
          <p:cNvSpPr/>
          <p:nvPr/>
        </p:nvSpPr>
        <p:spPr>
          <a:xfrm>
            <a:off x="411480" y="4087368"/>
            <a:ext cx="3657600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Error Budget 快耗盡</a:t>
            </a:r>
            <a:endParaRPr lang="en-US" sz="850" dirty="0"/>
          </a:p>
        </p:txBody>
      </p:sp>
      <p:sp>
        <p:nvSpPr>
          <p:cNvPr id="28" name="Text 26"/>
          <p:cNvSpPr/>
          <p:nvPr/>
        </p:nvSpPr>
        <p:spPr>
          <a:xfrm>
            <a:off x="4754880" y="594360"/>
            <a:ext cx="40233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58A6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告警嚴重度分級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4754880" y="914400"/>
            <a:ext cx="4023360" cy="594360"/>
          </a:xfrm>
          <a:prstGeom prst="roundRect">
            <a:avLst>
              <a:gd name="adj" fmla="val 12308"/>
            </a:avLst>
          </a:prstGeom>
          <a:solidFill>
            <a:srgbClr val="2A0F0F"/>
          </a:solidFill>
          <a:ln w="10160">
            <a:solidFill>
              <a:srgbClr val="F85149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4892040" y="932688"/>
            <a:ext cx="37490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851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🚨 P1 CRITICAL — 立即叫醒 On-Call</a:t>
            </a:r>
            <a:endParaRPr lang="en-US" sz="1050" dirty="0"/>
          </a:p>
        </p:txBody>
      </p:sp>
      <p:sp>
        <p:nvSpPr>
          <p:cNvPr id="31" name="Text 29"/>
          <p:cNvSpPr/>
          <p:nvPr/>
        </p:nvSpPr>
        <p:spPr>
          <a:xfrm>
            <a:off x="4892040" y="1161288"/>
            <a:ext cx="3749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現在有用戶受影響 | 5分鐘內必須回應 | 打電話+PagerDuty</a:t>
            </a:r>
            <a:endParaRPr lang="en-US" sz="850" dirty="0"/>
          </a:p>
        </p:txBody>
      </p:sp>
      <p:sp>
        <p:nvSpPr>
          <p:cNvPr id="32" name="Shape 30"/>
          <p:cNvSpPr/>
          <p:nvPr/>
        </p:nvSpPr>
        <p:spPr>
          <a:xfrm>
            <a:off x="4754880" y="1572768"/>
            <a:ext cx="4023360" cy="594360"/>
          </a:xfrm>
          <a:prstGeom prst="roundRect">
            <a:avLst>
              <a:gd name="adj" fmla="val 12308"/>
            </a:avLst>
          </a:prstGeom>
          <a:solidFill>
            <a:srgbClr val="2A1F00"/>
          </a:solidFill>
          <a:ln w="10160">
            <a:solidFill>
              <a:srgbClr val="D29922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4892040" y="1591056"/>
            <a:ext cx="37490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D299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⚠️ P2 WARNING — 工作時間處理</a:t>
            </a:r>
            <a:endParaRPr lang="en-US" sz="1050" dirty="0"/>
          </a:p>
        </p:txBody>
      </p:sp>
      <p:sp>
        <p:nvSpPr>
          <p:cNvPr id="34" name="Text 32"/>
          <p:cNvSpPr/>
          <p:nvPr/>
        </p:nvSpPr>
        <p:spPr>
          <a:xfrm>
            <a:off x="4892040" y="1819656"/>
            <a:ext cx="3749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可能影響用戶 | 今天內處理 | Slack 通知即可</a:t>
            </a:r>
            <a:endParaRPr lang="en-US" sz="850" dirty="0"/>
          </a:p>
        </p:txBody>
      </p:sp>
      <p:sp>
        <p:nvSpPr>
          <p:cNvPr id="35" name="Shape 33"/>
          <p:cNvSpPr/>
          <p:nvPr/>
        </p:nvSpPr>
        <p:spPr>
          <a:xfrm>
            <a:off x="4754880" y="2231136"/>
            <a:ext cx="4023360" cy="594360"/>
          </a:xfrm>
          <a:prstGeom prst="roundRect">
            <a:avLst>
              <a:gd name="adj" fmla="val 12308"/>
            </a:avLst>
          </a:prstGeom>
          <a:solidFill>
            <a:srgbClr val="161B22"/>
          </a:solidFill>
          <a:ln w="10160">
            <a:solidFill>
              <a:srgbClr val="58A6FF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4892040" y="2249424"/>
            <a:ext cx="37490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58A6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💡 P3 INFO — 排程處理</a:t>
            </a:r>
            <a:endParaRPr lang="en-US" sz="1050" dirty="0"/>
          </a:p>
        </p:txBody>
      </p:sp>
      <p:sp>
        <p:nvSpPr>
          <p:cNvPr id="37" name="Text 35"/>
          <p:cNvSpPr/>
          <p:nvPr/>
        </p:nvSpPr>
        <p:spPr>
          <a:xfrm>
            <a:off x="4892040" y="2478024"/>
            <a:ext cx="3749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潛在問題 | 本週處理 | Ticket 追蹤</a:t>
            </a:r>
            <a:endParaRPr lang="en-US" sz="850" dirty="0"/>
          </a:p>
        </p:txBody>
      </p:sp>
      <p:sp>
        <p:nvSpPr>
          <p:cNvPr id="38" name="Shape 36"/>
          <p:cNvSpPr/>
          <p:nvPr/>
        </p:nvSpPr>
        <p:spPr>
          <a:xfrm>
            <a:off x="4754880" y="3401568"/>
            <a:ext cx="4023360" cy="777240"/>
          </a:xfrm>
          <a:prstGeom prst="roundRect">
            <a:avLst>
              <a:gd name="adj" fmla="val 9412"/>
            </a:avLst>
          </a:prstGeom>
          <a:solidFill>
            <a:srgbClr val="161B22"/>
          </a:solidFill>
          <a:ln w="10160">
            <a:solidFill>
              <a:srgbClr val="3FB95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4892040" y="3438144"/>
            <a:ext cx="37490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📌 每個告警必須：</a:t>
            </a:r>
            <a:endParaRPr lang="en-US" sz="1050" dirty="0"/>
          </a:p>
        </p:txBody>
      </p:sp>
      <p:sp>
        <p:nvSpPr>
          <p:cNvPr id="40" name="Text 38"/>
          <p:cNvSpPr/>
          <p:nvPr/>
        </p:nvSpPr>
        <p:spPr>
          <a:xfrm>
            <a:off x="4892040" y="3657600"/>
            <a:ext cx="37490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有 Runbook 連結  2. 明確的負責人  3. 明確的回應 SLA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274320" y="4370832"/>
            <a:ext cx="8595360" cy="384048"/>
          </a:xfrm>
          <a:prstGeom prst="roundRect">
            <a:avLst>
              <a:gd name="adj" fmla="val 14286"/>
            </a:avLst>
          </a:prstGeom>
          <a:solidFill>
            <a:srgbClr val="0A1929"/>
          </a:solidFill>
          <a:ln w="9525">
            <a:solidFill>
              <a:srgbClr val="58A6FF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457200" y="4416552"/>
            <a:ext cx="8229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💡  告警疲勞是 SRE 最大敵人 — 每週 review 告警，把沒人 action 的告警關掉或降級</a:t>
            </a:r>
            <a:endParaRPr lang="en-US" sz="1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61B22"/>
          </a:solidFill>
          <a:ln w="6350">
            <a:solidFill>
              <a:srgbClr val="30363D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82296"/>
            <a:ext cx="45720" cy="310896"/>
          </a:xfrm>
          <a:prstGeom prst="rect">
            <a:avLst/>
          </a:prstGeom>
          <a:solidFill>
            <a:srgbClr val="F85149"/>
          </a:solidFill>
          <a:ln w="12700">
            <a:solidFill>
              <a:srgbClr val="F85149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64592" y="0"/>
            <a:ext cx="5943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AlertManager：智慧路由與告警管理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7132320" y="0"/>
            <a:ext cx="19202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7 METRICS  · 104 / 150</a:t>
            </a:r>
            <a:endParaRPr lang="en-US" sz="850" dirty="0"/>
          </a:p>
        </p:txBody>
      </p:sp>
      <p:sp>
        <p:nvSpPr>
          <p:cNvPr id="6" name="Shape 4"/>
          <p:cNvSpPr/>
          <p:nvPr/>
        </p:nvSpPr>
        <p:spPr>
          <a:xfrm>
            <a:off x="274320" y="713232"/>
            <a:ext cx="1371600" cy="777240"/>
          </a:xfrm>
          <a:prstGeom prst="roundRect">
            <a:avLst>
              <a:gd name="adj" fmla="val 11765"/>
            </a:avLst>
          </a:prstGeom>
          <a:solidFill>
            <a:srgbClr val="161B22"/>
          </a:solidFill>
          <a:ln w="19050">
            <a:solidFill>
              <a:srgbClr val="3FB950"/>
            </a:solidFill>
            <a:prstDash val="solid"/>
          </a:ln>
          <a:effectLst>
            <a:outerShdw sx="100000" sy="100000" kx="0" ky="0" algn="bl" rotWithShape="0" blurRad="76200" dist="25400" dir="2700000">
              <a:srgbClr val="000000">
                <a:alpha val="30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274320" y="768096"/>
            <a:ext cx="1371600" cy="35753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📊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329184" y="1117397"/>
            <a:ext cx="1261872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Prometheus</a:t>
            </a: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310896" y="1345997"/>
            <a:ext cx="1298448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發送告警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1691640" y="1124712"/>
            <a:ext cx="457200" cy="0"/>
          </a:xfrm>
          <a:prstGeom prst="line">
            <a:avLst/>
          </a:prstGeom>
          <a:noFill/>
          <a:ln w="19050">
            <a:solidFill>
              <a:srgbClr val="F85149"/>
            </a:solidFill>
            <a:prstDash val="solid"/>
            <a:tailEnd type="arrow"/>
          </a:ln>
        </p:spPr>
      </p:sp>
      <p:sp>
        <p:nvSpPr>
          <p:cNvPr id="11" name="Text 9"/>
          <p:cNvSpPr/>
          <p:nvPr/>
        </p:nvSpPr>
        <p:spPr>
          <a:xfrm>
            <a:off x="1645920" y="969264"/>
            <a:ext cx="5486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8514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alert</a:t>
            </a:r>
            <a:endParaRPr lang="en-US" sz="800" dirty="0"/>
          </a:p>
        </p:txBody>
      </p:sp>
      <p:sp>
        <p:nvSpPr>
          <p:cNvPr id="12" name="Shape 10"/>
          <p:cNvSpPr/>
          <p:nvPr/>
        </p:nvSpPr>
        <p:spPr>
          <a:xfrm>
            <a:off x="2240280" y="713232"/>
            <a:ext cx="1645920" cy="777240"/>
          </a:xfrm>
          <a:prstGeom prst="roundRect">
            <a:avLst>
              <a:gd name="adj" fmla="val 11765"/>
            </a:avLst>
          </a:prstGeom>
          <a:solidFill>
            <a:srgbClr val="161B22"/>
          </a:solidFill>
          <a:ln w="19050">
            <a:solidFill>
              <a:srgbClr val="F85149"/>
            </a:solidFill>
            <a:prstDash val="solid"/>
          </a:ln>
          <a:effectLst>
            <a:outerShdw sx="100000" sy="100000" kx="0" ky="0" algn="bl" rotWithShape="0" blurRad="76200" dist="25400" dir="2700000">
              <a:srgbClr val="000000">
                <a:alpha val="30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240280" y="768096"/>
            <a:ext cx="1645920" cy="35753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🔀</a:t>
            </a:r>
            <a:endParaRPr lang="en-US" sz="2200" dirty="0"/>
          </a:p>
        </p:txBody>
      </p:sp>
      <p:sp>
        <p:nvSpPr>
          <p:cNvPr id="14" name="Text 12"/>
          <p:cNvSpPr/>
          <p:nvPr/>
        </p:nvSpPr>
        <p:spPr>
          <a:xfrm>
            <a:off x="2295144" y="1117397"/>
            <a:ext cx="1536192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AlertManager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2276856" y="1345997"/>
            <a:ext cx="1572768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路由引擎</a:t>
            </a:r>
            <a:endParaRPr lang="en-US" sz="800" dirty="0"/>
          </a:p>
        </p:txBody>
      </p:sp>
      <p:sp>
        <p:nvSpPr>
          <p:cNvPr id="16" name="Shape 14"/>
          <p:cNvSpPr/>
          <p:nvPr/>
        </p:nvSpPr>
        <p:spPr>
          <a:xfrm>
            <a:off x="3017520" y="1554480"/>
            <a:ext cx="0" cy="411480"/>
          </a:xfrm>
          <a:prstGeom prst="line">
            <a:avLst/>
          </a:prstGeom>
          <a:noFill/>
          <a:ln w="19050">
            <a:solidFill>
              <a:srgbClr val="F85149"/>
            </a:solidFill>
            <a:prstDash val="solid"/>
            <a:tailEnd type="arrow"/>
          </a:ln>
        </p:spPr>
      </p:sp>
      <p:sp>
        <p:nvSpPr>
          <p:cNvPr id="17" name="Shape 15"/>
          <p:cNvSpPr/>
          <p:nvPr/>
        </p:nvSpPr>
        <p:spPr>
          <a:xfrm>
            <a:off x="1097280" y="2029968"/>
            <a:ext cx="1371600" cy="347472"/>
          </a:xfrm>
          <a:prstGeom prst="roundRect">
            <a:avLst>
              <a:gd name="adj" fmla="val 15789"/>
            </a:avLst>
          </a:prstGeom>
          <a:solidFill>
            <a:srgbClr val="161B22"/>
          </a:solidFill>
          <a:ln w="12700">
            <a:solidFill>
              <a:srgbClr val="58A6F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1143000" y="2029968"/>
            <a:ext cx="23774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00000"/>
                </a:solidFill>
              </a:rPr>
              <a:t>💬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1389888" y="2029968"/>
            <a:ext cx="104241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Slack</a:t>
            </a:r>
            <a:endParaRPr lang="en-US" sz="950" dirty="0"/>
          </a:p>
          <a:p>
            <a:pPr indent="0" marL="0">
              <a:buNone/>
            </a:pPr>
            <a:r>
              <a:rPr lang="en-US" sz="9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#oncall</a:t>
            </a:r>
            <a:endParaRPr lang="en-US" sz="950" dirty="0"/>
          </a:p>
        </p:txBody>
      </p:sp>
      <p:sp>
        <p:nvSpPr>
          <p:cNvPr id="20" name="Shape 18"/>
          <p:cNvSpPr/>
          <p:nvPr/>
        </p:nvSpPr>
        <p:spPr>
          <a:xfrm>
            <a:off x="2788920" y="2029968"/>
            <a:ext cx="1371600" cy="347472"/>
          </a:xfrm>
          <a:prstGeom prst="roundRect">
            <a:avLst>
              <a:gd name="adj" fmla="val 15789"/>
            </a:avLst>
          </a:prstGeom>
          <a:solidFill>
            <a:srgbClr val="161B22"/>
          </a:solidFill>
          <a:ln w="12700">
            <a:solidFill>
              <a:srgbClr val="F85149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2834640" y="2029968"/>
            <a:ext cx="23774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00000"/>
                </a:solidFill>
              </a:rPr>
              <a:t>📟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3081528" y="2029968"/>
            <a:ext cx="104241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PagerDuty</a:t>
            </a:r>
            <a:endParaRPr lang="en-US" sz="950" dirty="0"/>
          </a:p>
          <a:p>
            <a:pPr indent="0" marL="0">
              <a:buNone/>
            </a:pPr>
            <a:r>
              <a:rPr lang="en-US" sz="9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(P1 only)</a:t>
            </a:r>
            <a:endParaRPr lang="en-US" sz="950" dirty="0"/>
          </a:p>
        </p:txBody>
      </p:sp>
      <p:sp>
        <p:nvSpPr>
          <p:cNvPr id="23" name="Shape 21"/>
          <p:cNvSpPr/>
          <p:nvPr/>
        </p:nvSpPr>
        <p:spPr>
          <a:xfrm>
            <a:off x="4480560" y="2029968"/>
            <a:ext cx="1371600" cy="347472"/>
          </a:xfrm>
          <a:prstGeom prst="roundRect">
            <a:avLst>
              <a:gd name="adj" fmla="val 15789"/>
            </a:avLst>
          </a:prstGeom>
          <a:solidFill>
            <a:srgbClr val="161B22"/>
          </a:solidFill>
          <a:ln w="12700">
            <a:solidFill>
              <a:srgbClr val="8B949E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4526280" y="2029968"/>
            <a:ext cx="23774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00000"/>
                </a:solidFill>
              </a:rPr>
              <a:t>📧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4773168" y="2029968"/>
            <a:ext cx="104241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Email</a:t>
            </a:r>
            <a:endParaRPr lang="en-US" sz="950" dirty="0"/>
          </a:p>
          <a:p>
            <a:pPr indent="0" marL="0">
              <a:buNone/>
            </a:pPr>
            <a:r>
              <a:rPr lang="en-US" sz="9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(P3 only)</a:t>
            </a:r>
            <a:endParaRPr lang="en-US" sz="950" dirty="0"/>
          </a:p>
        </p:txBody>
      </p:sp>
      <p:sp>
        <p:nvSpPr>
          <p:cNvPr id="26" name="Shape 24"/>
          <p:cNvSpPr/>
          <p:nvPr/>
        </p:nvSpPr>
        <p:spPr>
          <a:xfrm>
            <a:off x="3017520" y="1984248"/>
            <a:ext cx="-594360" cy="320040"/>
          </a:xfrm>
          <a:prstGeom prst="line">
            <a:avLst/>
          </a:prstGeom>
          <a:noFill/>
          <a:ln w="12700">
            <a:solidFill>
              <a:srgbClr val="F85149"/>
            </a:solidFill>
            <a:prstDash val="solid"/>
            <a:tailEnd type="arrow"/>
          </a:ln>
        </p:spPr>
      </p:sp>
      <p:sp>
        <p:nvSpPr>
          <p:cNvPr id="27" name="Shape 25"/>
          <p:cNvSpPr/>
          <p:nvPr/>
        </p:nvSpPr>
        <p:spPr>
          <a:xfrm>
            <a:off x="3063240" y="1984248"/>
            <a:ext cx="457200" cy="320040"/>
          </a:xfrm>
          <a:prstGeom prst="line">
            <a:avLst/>
          </a:prstGeom>
          <a:noFill/>
          <a:ln w="12700">
            <a:solidFill>
              <a:srgbClr val="F85149"/>
            </a:solidFill>
            <a:prstDash val="solid"/>
            <a:tailEnd type="arrow"/>
          </a:ln>
        </p:spPr>
      </p:sp>
      <p:sp>
        <p:nvSpPr>
          <p:cNvPr id="28" name="Shape 26"/>
          <p:cNvSpPr/>
          <p:nvPr/>
        </p:nvSpPr>
        <p:spPr>
          <a:xfrm>
            <a:off x="274320" y="2834640"/>
            <a:ext cx="4389120" cy="2084832"/>
          </a:xfrm>
          <a:prstGeom prst="roundRect">
            <a:avLst>
              <a:gd name="adj" fmla="val 4386"/>
            </a:avLst>
          </a:prstGeom>
          <a:solidFill>
            <a:srgbClr val="0D1117"/>
          </a:solidFill>
          <a:ln w="12700">
            <a:solidFill>
              <a:srgbClr val="30363D"/>
            </a:solidFill>
            <a:prstDash val="solid"/>
          </a:ln>
          <a:effectLst>
            <a:outerShdw sx="100000" sy="100000" kx="0" ky="0" algn="bl" rotWithShape="0" blurRad="127000" dist="50800" dir="2700000">
              <a:srgbClr val="000000">
                <a:alpha val="50000"/>
              </a:srgbClr>
            </a:outerShdw>
          </a:effectLst>
        </p:spPr>
      </p:sp>
      <p:sp>
        <p:nvSpPr>
          <p:cNvPr id="29" name="Shape 27"/>
          <p:cNvSpPr/>
          <p:nvPr/>
        </p:nvSpPr>
        <p:spPr>
          <a:xfrm>
            <a:off x="365760" y="2688336"/>
            <a:ext cx="914400" cy="182880"/>
          </a:xfrm>
          <a:prstGeom prst="roundRect">
            <a:avLst>
              <a:gd name="adj" fmla="val 20000"/>
            </a:avLst>
          </a:prstGeom>
          <a:solidFill>
            <a:srgbClr val="1C2128"/>
          </a:solidFill>
          <a:ln w="6350">
            <a:solidFill>
              <a:srgbClr val="30363D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84048" y="2688336"/>
            <a:ext cx="877824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alertmanager.yml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402336" y="2944368"/>
            <a:ext cx="4133088" cy="190195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route: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receiver: 'slack-default'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group_wait: 30s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group_interval: 5m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repeat_interval: 4h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routes: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- match: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severity: critical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receiver: 'pagerduty'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- match: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severity: warning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receiver: 'slack-warning'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receivers: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- name: 'pagerduty'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pagerduty_configs: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- service_key: '&lt;key&gt;'</a:t>
            </a:r>
            <a:endParaRPr lang="en-US" sz="950" dirty="0"/>
          </a:p>
        </p:txBody>
      </p:sp>
      <p:sp>
        <p:nvSpPr>
          <p:cNvPr id="32" name="Text 30"/>
          <p:cNvSpPr/>
          <p:nvPr/>
        </p:nvSpPr>
        <p:spPr>
          <a:xfrm>
            <a:off x="5029200" y="685800"/>
            <a:ext cx="3749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8A6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進階功能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4937760" y="960120"/>
            <a:ext cx="3840480" cy="594360"/>
          </a:xfrm>
          <a:prstGeom prst="roundRect">
            <a:avLst>
              <a:gd name="adj" fmla="val 12308"/>
            </a:avLst>
          </a:prstGeom>
          <a:solidFill>
            <a:srgbClr val="161B22"/>
          </a:solidFill>
          <a:ln w="10160">
            <a:solidFill>
              <a:srgbClr val="6E40C9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5074920" y="987552"/>
            <a:ext cx="35661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6E40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🔕 Inhibition (抑制)</a:t>
            </a:r>
            <a:endParaRPr lang="en-US" sz="1050" dirty="0"/>
          </a:p>
        </p:txBody>
      </p:sp>
      <p:sp>
        <p:nvSpPr>
          <p:cNvPr id="35" name="Text 33"/>
          <p:cNvSpPr/>
          <p:nvPr/>
        </p:nvSpPr>
        <p:spPr>
          <a:xfrm>
            <a:off x="5074920" y="1216152"/>
            <a:ext cx="35661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DB 掛了 → 抑制 API 告警，避免重複通知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4937760" y="1618488"/>
            <a:ext cx="3840480" cy="594360"/>
          </a:xfrm>
          <a:prstGeom prst="roundRect">
            <a:avLst>
              <a:gd name="adj" fmla="val 12308"/>
            </a:avLst>
          </a:prstGeom>
          <a:solidFill>
            <a:srgbClr val="161B22"/>
          </a:solidFill>
          <a:ln w="10160">
            <a:solidFill>
              <a:srgbClr val="D29922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074920" y="1645920"/>
            <a:ext cx="35661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D299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🔇 Silence (靜音)</a:t>
            </a:r>
            <a:endParaRPr lang="en-US" sz="1050" dirty="0"/>
          </a:p>
        </p:txBody>
      </p:sp>
      <p:sp>
        <p:nvSpPr>
          <p:cNvPr id="38" name="Text 36"/>
          <p:cNvSpPr/>
          <p:nvPr/>
        </p:nvSpPr>
        <p:spPr>
          <a:xfrm>
            <a:off x="5074920" y="1874520"/>
            <a:ext cx="35661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維護窗口期間靜音特定告警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4937760" y="2276856"/>
            <a:ext cx="3840480" cy="594360"/>
          </a:xfrm>
          <a:prstGeom prst="roundRect">
            <a:avLst>
              <a:gd name="adj" fmla="val 12308"/>
            </a:avLst>
          </a:prstGeom>
          <a:solidFill>
            <a:srgbClr val="161B22"/>
          </a:solidFill>
          <a:ln w="10160">
            <a:solidFill>
              <a:srgbClr val="3FB95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5074920" y="2304288"/>
            <a:ext cx="35661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📦 Grouping (分組)</a:t>
            </a:r>
            <a:endParaRPr lang="en-US" sz="1050" dirty="0"/>
          </a:p>
        </p:txBody>
      </p:sp>
      <p:sp>
        <p:nvSpPr>
          <p:cNvPr id="41" name="Text 39"/>
          <p:cNvSpPr/>
          <p:nvPr/>
        </p:nvSpPr>
        <p:spPr>
          <a:xfrm>
            <a:off x="5074920" y="2532888"/>
            <a:ext cx="35661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同一服務的多個告警合併通知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4937760" y="2935224"/>
            <a:ext cx="3840480" cy="594360"/>
          </a:xfrm>
          <a:prstGeom prst="roundRect">
            <a:avLst>
              <a:gd name="adj" fmla="val 12308"/>
            </a:avLst>
          </a:prstGeom>
          <a:solidFill>
            <a:srgbClr val="161B22"/>
          </a:solidFill>
          <a:ln w="10160">
            <a:solidFill>
              <a:srgbClr val="58A6FF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5074920" y="2962656"/>
            <a:ext cx="35661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58A6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🔁 Repeat Interval</a:t>
            </a:r>
            <a:endParaRPr lang="en-US" sz="1050" dirty="0"/>
          </a:p>
        </p:txBody>
      </p:sp>
      <p:sp>
        <p:nvSpPr>
          <p:cNvPr id="44" name="Text 42"/>
          <p:cNvSpPr/>
          <p:nvPr/>
        </p:nvSpPr>
        <p:spPr>
          <a:xfrm>
            <a:off x="5074920" y="3191256"/>
            <a:ext cx="35661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不要每分鐘重複，設定 4h 重複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274320" y="4462272"/>
            <a:ext cx="8595360" cy="384048"/>
          </a:xfrm>
          <a:prstGeom prst="roundRect">
            <a:avLst>
              <a:gd name="adj" fmla="val 14286"/>
            </a:avLst>
          </a:prstGeom>
          <a:solidFill>
            <a:srgbClr val="0A1929"/>
          </a:solidFill>
          <a:ln w="9525">
            <a:solidFill>
              <a:srgbClr val="58A6FF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457200" y="4507992"/>
            <a:ext cx="8229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💡  Inhibition 規則可以大幅減少告警噪音 — datacenter 掛了就不用個別通知每個服務</a:t>
            </a:r>
            <a:endParaRPr lang="en-US" sz="10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61B22"/>
          </a:solidFill>
          <a:ln w="6350">
            <a:solidFill>
              <a:srgbClr val="30363D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82296"/>
            <a:ext cx="45720" cy="310896"/>
          </a:xfrm>
          <a:prstGeom prst="rect">
            <a:avLst/>
          </a:prstGeom>
          <a:solidFill>
            <a:srgbClr val="3FB950"/>
          </a:solidFill>
          <a:ln w="12700">
            <a:solidFill>
              <a:srgbClr val="3FB950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64592" y="0"/>
            <a:ext cx="5943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Metrics 小結：從收集到告警的完整鏈路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7132320" y="0"/>
            <a:ext cx="19202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7 METRICS  · 105 / 150</a:t>
            </a:r>
            <a:endParaRPr lang="en-US" sz="850" dirty="0"/>
          </a:p>
        </p:txBody>
      </p:sp>
      <p:sp>
        <p:nvSpPr>
          <p:cNvPr id="6" name="Shape 4"/>
          <p:cNvSpPr/>
          <p:nvPr/>
        </p:nvSpPr>
        <p:spPr>
          <a:xfrm>
            <a:off x="182880" y="658368"/>
            <a:ext cx="1508760" cy="1280160"/>
          </a:xfrm>
          <a:prstGeom prst="roundRect">
            <a:avLst>
              <a:gd name="adj" fmla="val 7143"/>
            </a:avLst>
          </a:prstGeom>
          <a:solidFill>
            <a:srgbClr val="161B22"/>
          </a:solidFill>
          <a:ln w="19050">
            <a:solidFill>
              <a:srgbClr val="238636"/>
            </a:solidFill>
            <a:prstDash val="solid"/>
          </a:ln>
          <a:effectLst>
            <a:outerShdw sx="100000" sy="100000" kx="0" ky="0" algn="bl" rotWithShape="0" blurRad="76200" dist="25400" dir="2700000">
              <a:srgbClr val="000000">
                <a:alpha val="30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182880" y="713232"/>
            <a:ext cx="1508760" cy="58887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⚙️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237744" y="1324051"/>
            <a:ext cx="1399032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Instrument</a:t>
            </a: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219456" y="1552651"/>
            <a:ext cx="1435608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Prometheus client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定義 Metrics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1737360" y="1371600"/>
            <a:ext cx="457200" cy="0"/>
          </a:xfrm>
          <a:prstGeom prst="line">
            <a:avLst/>
          </a:prstGeom>
          <a:noFill/>
          <a:ln w="19050">
            <a:solidFill>
              <a:srgbClr val="3FB950"/>
            </a:solidFill>
            <a:prstDash val="solid"/>
            <a:tailEnd type="arrow"/>
          </a:ln>
        </p:spPr>
      </p:sp>
      <p:sp>
        <p:nvSpPr>
          <p:cNvPr id="11" name="Text 9"/>
          <p:cNvSpPr/>
          <p:nvPr/>
        </p:nvSpPr>
        <p:spPr>
          <a:xfrm>
            <a:off x="1691640" y="1216152"/>
            <a:ext cx="5486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3FB95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expose</a:t>
            </a:r>
            <a:endParaRPr lang="en-US" sz="800" dirty="0"/>
          </a:p>
        </p:txBody>
      </p:sp>
      <p:sp>
        <p:nvSpPr>
          <p:cNvPr id="12" name="Shape 10"/>
          <p:cNvSpPr/>
          <p:nvPr/>
        </p:nvSpPr>
        <p:spPr>
          <a:xfrm>
            <a:off x="2286000" y="658368"/>
            <a:ext cx="1508760" cy="1280160"/>
          </a:xfrm>
          <a:prstGeom prst="roundRect">
            <a:avLst>
              <a:gd name="adj" fmla="val 7143"/>
            </a:avLst>
          </a:prstGeom>
          <a:solidFill>
            <a:srgbClr val="161B22"/>
          </a:solidFill>
          <a:ln w="19050">
            <a:solidFill>
              <a:srgbClr val="3FB950"/>
            </a:solidFill>
            <a:prstDash val="solid"/>
          </a:ln>
          <a:effectLst>
            <a:outerShdw sx="100000" sy="100000" kx="0" ky="0" algn="bl" rotWithShape="0" blurRad="76200" dist="25400" dir="2700000">
              <a:srgbClr val="000000">
                <a:alpha val="30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286000" y="713232"/>
            <a:ext cx="1508760" cy="58887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📊</a:t>
            </a:r>
            <a:endParaRPr lang="en-US" sz="2200" dirty="0"/>
          </a:p>
        </p:txBody>
      </p:sp>
      <p:sp>
        <p:nvSpPr>
          <p:cNvPr id="14" name="Text 12"/>
          <p:cNvSpPr/>
          <p:nvPr/>
        </p:nvSpPr>
        <p:spPr>
          <a:xfrm>
            <a:off x="2340864" y="1324051"/>
            <a:ext cx="1399032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Collect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2322576" y="1552651"/>
            <a:ext cx="1435608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Prometheus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scrape /metrics</a:t>
            </a:r>
            <a:endParaRPr lang="en-US" sz="800" dirty="0"/>
          </a:p>
        </p:txBody>
      </p:sp>
      <p:sp>
        <p:nvSpPr>
          <p:cNvPr id="16" name="Shape 14"/>
          <p:cNvSpPr/>
          <p:nvPr/>
        </p:nvSpPr>
        <p:spPr>
          <a:xfrm>
            <a:off x="3840480" y="1371600"/>
            <a:ext cx="457200" cy="0"/>
          </a:xfrm>
          <a:prstGeom prst="line">
            <a:avLst/>
          </a:prstGeom>
          <a:noFill/>
          <a:ln w="19050">
            <a:solidFill>
              <a:srgbClr val="58A6FF"/>
            </a:solidFill>
            <a:prstDash val="solid"/>
            <a:tailEnd type="arrow"/>
          </a:ln>
        </p:spPr>
      </p:sp>
      <p:sp>
        <p:nvSpPr>
          <p:cNvPr id="17" name="Text 15"/>
          <p:cNvSpPr/>
          <p:nvPr/>
        </p:nvSpPr>
        <p:spPr>
          <a:xfrm>
            <a:off x="3794760" y="1216152"/>
            <a:ext cx="5486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8A6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query</a:t>
            </a:r>
            <a:endParaRPr lang="en-US" sz="800" dirty="0"/>
          </a:p>
        </p:txBody>
      </p:sp>
      <p:sp>
        <p:nvSpPr>
          <p:cNvPr id="18" name="Shape 16"/>
          <p:cNvSpPr/>
          <p:nvPr/>
        </p:nvSpPr>
        <p:spPr>
          <a:xfrm>
            <a:off x="4389120" y="658368"/>
            <a:ext cx="1508760" cy="1280160"/>
          </a:xfrm>
          <a:prstGeom prst="roundRect">
            <a:avLst>
              <a:gd name="adj" fmla="val 7143"/>
            </a:avLst>
          </a:prstGeom>
          <a:solidFill>
            <a:srgbClr val="161B22"/>
          </a:solidFill>
          <a:ln w="19050">
            <a:solidFill>
              <a:srgbClr val="58A6FF"/>
            </a:solidFill>
            <a:prstDash val="solid"/>
          </a:ln>
          <a:effectLst>
            <a:outerShdw sx="100000" sy="100000" kx="0" ky="0" algn="bl" rotWithShape="0" blurRad="76200" dist="25400" dir="2700000">
              <a:srgbClr val="000000">
                <a:alpha val="30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389120" y="713232"/>
            <a:ext cx="1508760" cy="58887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📈</a:t>
            </a:r>
            <a:endParaRPr lang="en-US" sz="2200" dirty="0"/>
          </a:p>
        </p:txBody>
      </p:sp>
      <p:sp>
        <p:nvSpPr>
          <p:cNvPr id="20" name="Text 18"/>
          <p:cNvSpPr/>
          <p:nvPr/>
        </p:nvSpPr>
        <p:spPr>
          <a:xfrm>
            <a:off x="4443984" y="1324051"/>
            <a:ext cx="1399032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Visualize</a:t>
            </a:r>
            <a:endParaRPr lang="en-US" sz="1050" dirty="0"/>
          </a:p>
        </p:txBody>
      </p:sp>
      <p:sp>
        <p:nvSpPr>
          <p:cNvPr id="21" name="Text 19"/>
          <p:cNvSpPr/>
          <p:nvPr/>
        </p:nvSpPr>
        <p:spPr>
          <a:xfrm>
            <a:off x="4425696" y="1552651"/>
            <a:ext cx="1435608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Grafana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Dashboard</a:t>
            </a:r>
            <a:endParaRPr lang="en-US" sz="800" dirty="0"/>
          </a:p>
        </p:txBody>
      </p:sp>
      <p:sp>
        <p:nvSpPr>
          <p:cNvPr id="22" name="Shape 20"/>
          <p:cNvSpPr/>
          <p:nvPr/>
        </p:nvSpPr>
        <p:spPr>
          <a:xfrm>
            <a:off x="5943600" y="1371600"/>
            <a:ext cx="457200" cy="0"/>
          </a:xfrm>
          <a:prstGeom prst="line">
            <a:avLst/>
          </a:prstGeom>
          <a:noFill/>
          <a:ln w="19050">
            <a:solidFill>
              <a:srgbClr val="F85149"/>
            </a:solidFill>
            <a:prstDash val="solid"/>
            <a:tailEnd type="arrow"/>
          </a:ln>
        </p:spPr>
      </p:sp>
      <p:sp>
        <p:nvSpPr>
          <p:cNvPr id="23" name="Text 21"/>
          <p:cNvSpPr/>
          <p:nvPr/>
        </p:nvSpPr>
        <p:spPr>
          <a:xfrm>
            <a:off x="5897880" y="1216152"/>
            <a:ext cx="5486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8514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alert</a:t>
            </a:r>
            <a:endParaRPr lang="en-US" sz="800" dirty="0"/>
          </a:p>
        </p:txBody>
      </p:sp>
      <p:sp>
        <p:nvSpPr>
          <p:cNvPr id="24" name="Shape 22"/>
          <p:cNvSpPr/>
          <p:nvPr/>
        </p:nvSpPr>
        <p:spPr>
          <a:xfrm>
            <a:off x="6492240" y="658368"/>
            <a:ext cx="1325880" cy="1280160"/>
          </a:xfrm>
          <a:prstGeom prst="roundRect">
            <a:avLst>
              <a:gd name="adj" fmla="val 7143"/>
            </a:avLst>
          </a:prstGeom>
          <a:solidFill>
            <a:srgbClr val="161B22"/>
          </a:solidFill>
          <a:ln w="19050">
            <a:solidFill>
              <a:srgbClr val="F85149"/>
            </a:solidFill>
            <a:prstDash val="solid"/>
          </a:ln>
          <a:effectLst>
            <a:outerShdw sx="100000" sy="100000" kx="0" ky="0" algn="bl" rotWithShape="0" blurRad="76200" dist="25400" dir="2700000">
              <a:srgbClr val="000000">
                <a:alpha val="30000"/>
              </a:srgbClr>
            </a:outerShdw>
          </a:effectLst>
        </p:spPr>
      </p:sp>
      <p:sp>
        <p:nvSpPr>
          <p:cNvPr id="25" name="Text 23"/>
          <p:cNvSpPr/>
          <p:nvPr/>
        </p:nvSpPr>
        <p:spPr>
          <a:xfrm>
            <a:off x="6492240" y="713232"/>
            <a:ext cx="1325880" cy="58887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🔔</a:t>
            </a:r>
            <a:endParaRPr lang="en-US" sz="2200" dirty="0"/>
          </a:p>
        </p:txBody>
      </p:sp>
      <p:sp>
        <p:nvSpPr>
          <p:cNvPr id="26" name="Text 24"/>
          <p:cNvSpPr/>
          <p:nvPr/>
        </p:nvSpPr>
        <p:spPr>
          <a:xfrm>
            <a:off x="6547104" y="1324051"/>
            <a:ext cx="1216152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Alert</a:t>
            </a:r>
            <a:endParaRPr lang="en-US" sz="1050" dirty="0"/>
          </a:p>
        </p:txBody>
      </p:sp>
      <p:sp>
        <p:nvSpPr>
          <p:cNvPr id="27" name="Text 25"/>
          <p:cNvSpPr/>
          <p:nvPr/>
        </p:nvSpPr>
        <p:spPr>
          <a:xfrm>
            <a:off x="6528816" y="1552651"/>
            <a:ext cx="1252728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AlertManager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Route Rules</a:t>
            </a:r>
            <a:endParaRPr lang="en-US" sz="800" dirty="0"/>
          </a:p>
        </p:txBody>
      </p:sp>
      <p:sp>
        <p:nvSpPr>
          <p:cNvPr id="28" name="Shape 26"/>
          <p:cNvSpPr/>
          <p:nvPr/>
        </p:nvSpPr>
        <p:spPr>
          <a:xfrm>
            <a:off x="7863840" y="1371600"/>
            <a:ext cx="457200" cy="0"/>
          </a:xfrm>
          <a:prstGeom prst="line">
            <a:avLst/>
          </a:prstGeom>
          <a:noFill/>
          <a:ln w="19050">
            <a:solidFill>
              <a:srgbClr val="D29922"/>
            </a:solidFill>
            <a:prstDash val="solid"/>
            <a:tailEnd type="arrow"/>
          </a:ln>
        </p:spPr>
      </p:sp>
      <p:sp>
        <p:nvSpPr>
          <p:cNvPr id="29" name="Text 27"/>
          <p:cNvSpPr/>
          <p:nvPr/>
        </p:nvSpPr>
        <p:spPr>
          <a:xfrm>
            <a:off x="7818120" y="1216152"/>
            <a:ext cx="5486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D2992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notify</a:t>
            </a:r>
            <a:endParaRPr lang="en-US" sz="800" dirty="0"/>
          </a:p>
        </p:txBody>
      </p:sp>
      <p:sp>
        <p:nvSpPr>
          <p:cNvPr id="30" name="Shape 28"/>
          <p:cNvSpPr/>
          <p:nvPr/>
        </p:nvSpPr>
        <p:spPr>
          <a:xfrm>
            <a:off x="8412480" y="658368"/>
            <a:ext cx="640080" cy="1280160"/>
          </a:xfrm>
          <a:prstGeom prst="roundRect">
            <a:avLst>
              <a:gd name="adj" fmla="val 14286"/>
            </a:avLst>
          </a:prstGeom>
          <a:solidFill>
            <a:srgbClr val="161B22"/>
          </a:solidFill>
          <a:ln w="19050">
            <a:solidFill>
              <a:srgbClr val="D29922"/>
            </a:solidFill>
            <a:prstDash val="solid"/>
          </a:ln>
          <a:effectLst>
            <a:outerShdw sx="100000" sy="100000" kx="0" ky="0" algn="bl" rotWithShape="0" blurRad="76200" dist="25400" dir="2700000">
              <a:srgbClr val="000000">
                <a:alpha val="30000"/>
              </a:srgbClr>
            </a:outerShdw>
          </a:effectLst>
        </p:spPr>
      </p:sp>
      <p:sp>
        <p:nvSpPr>
          <p:cNvPr id="31" name="Text 29"/>
          <p:cNvSpPr/>
          <p:nvPr/>
        </p:nvSpPr>
        <p:spPr>
          <a:xfrm>
            <a:off x="8412480" y="713232"/>
            <a:ext cx="640080" cy="58887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📱</a:t>
            </a:r>
            <a:endParaRPr lang="en-US" sz="2200" dirty="0"/>
          </a:p>
        </p:txBody>
      </p:sp>
      <p:sp>
        <p:nvSpPr>
          <p:cNvPr id="32" name="Text 30"/>
          <p:cNvSpPr/>
          <p:nvPr/>
        </p:nvSpPr>
        <p:spPr>
          <a:xfrm>
            <a:off x="8467344" y="1324051"/>
            <a:ext cx="530352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</a:t>
            </a:r>
            <a:endParaRPr lang="en-US" sz="1050" dirty="0"/>
          </a:p>
        </p:txBody>
      </p:sp>
      <p:sp>
        <p:nvSpPr>
          <p:cNvPr id="33" name="Text 31"/>
          <p:cNvSpPr/>
          <p:nvPr/>
        </p:nvSpPr>
        <p:spPr>
          <a:xfrm>
            <a:off x="8449056" y="1552651"/>
            <a:ext cx="566928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On-Call</a:t>
            </a:r>
            <a:endParaRPr lang="en-US" sz="800" dirty="0"/>
          </a:p>
        </p:txBody>
      </p:sp>
      <p:sp>
        <p:nvSpPr>
          <p:cNvPr id="34" name="Shape 32"/>
          <p:cNvSpPr/>
          <p:nvPr/>
        </p:nvSpPr>
        <p:spPr>
          <a:xfrm>
            <a:off x="274320" y="2176272"/>
            <a:ext cx="2651760" cy="2395728"/>
          </a:xfrm>
          <a:prstGeom prst="roundRect">
            <a:avLst>
              <a:gd name="adj" fmla="val 3817"/>
            </a:avLst>
          </a:prstGeom>
          <a:solidFill>
            <a:srgbClr val="161B22"/>
          </a:solidFill>
          <a:ln w="15240">
            <a:solidFill>
              <a:srgbClr val="3FB950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384048" y="2267712"/>
            <a:ext cx="2432304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🎯 選對 Metric 類型</a:t>
            </a:r>
            <a:endParaRPr lang="en-US" sz="1100" dirty="0"/>
          </a:p>
        </p:txBody>
      </p:sp>
      <p:sp>
        <p:nvSpPr>
          <p:cNvPr id="36" name="Text 34"/>
          <p:cNvSpPr/>
          <p:nvPr/>
        </p:nvSpPr>
        <p:spPr>
          <a:xfrm>
            <a:off x="384048" y="2633472"/>
            <a:ext cx="2432304" cy="18105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Counter → rate()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Gauge → 直接用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Histogram → P99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不要用 average latency!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3154680" y="2176272"/>
            <a:ext cx="2651760" cy="2395728"/>
          </a:xfrm>
          <a:prstGeom prst="roundRect">
            <a:avLst>
              <a:gd name="adj" fmla="val 3817"/>
            </a:avLst>
          </a:prstGeom>
          <a:solidFill>
            <a:srgbClr val="161B22"/>
          </a:solidFill>
          <a:ln w="15240">
            <a:solidFill>
              <a:srgbClr val="58A6FF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3264408" y="2267712"/>
            <a:ext cx="2432304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8A6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📐 Pull &gt; Push in K8s</a:t>
            </a:r>
            <a:endParaRPr lang="en-US" sz="1100" dirty="0"/>
          </a:p>
        </p:txBody>
      </p:sp>
      <p:sp>
        <p:nvSpPr>
          <p:cNvPr id="39" name="Text 37"/>
          <p:cNvSpPr/>
          <p:nvPr/>
        </p:nvSpPr>
        <p:spPr>
          <a:xfrm>
            <a:off x="3264408" y="2633472"/>
            <a:ext cx="2432304" cy="18105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Prometheus + K8s SD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自動發現所有 Pod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短暫 Job 用 Pushgateway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統一 → OTLP Collector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6035040" y="2176272"/>
            <a:ext cx="2651760" cy="2395728"/>
          </a:xfrm>
          <a:prstGeom prst="roundRect">
            <a:avLst>
              <a:gd name="adj" fmla="val 3817"/>
            </a:avLst>
          </a:prstGeom>
          <a:solidFill>
            <a:srgbClr val="161B22"/>
          </a:solidFill>
          <a:ln w="15240">
            <a:solidFill>
              <a:srgbClr val="D29922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6144768" y="2267712"/>
            <a:ext cx="2432304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299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⚠️ 告警要有意義</a:t>
            </a:r>
            <a:endParaRPr lang="en-US" sz="1100" dirty="0"/>
          </a:p>
        </p:txBody>
      </p:sp>
      <p:sp>
        <p:nvSpPr>
          <p:cNvPr id="42" name="Text 40"/>
          <p:cNvSpPr/>
          <p:nvPr/>
        </p:nvSpPr>
        <p:spPr>
          <a:xfrm>
            <a:off x="6144768" y="2633472"/>
            <a:ext cx="2432304" cy="18105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Symptom-based 優先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每個告警要有 Runbook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控制告警數量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避免告警疲勞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2026-03-16T15:22:57Z</dcterms:created>
  <dcterms:modified xsi:type="dcterms:W3CDTF">2026-03-16T15:22:57Z</dcterms:modified>
</cp:coreProperties>
</file>