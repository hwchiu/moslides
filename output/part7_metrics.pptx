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029200"/>
  <p:notesSz cx="50292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 vs 監控：不只是看圖表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91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0" y="530352"/>
            <a:ext cx="9144" cy="3310128"/>
          </a:xfrm>
          <a:prstGeom prst="line">
            <a:avLst/>
          </a:prstGeom>
          <a:noFill/>
          <a:ln w="6350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傳統監控 (Monitoring)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1005840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8B94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03327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你事先知道要看什麼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1216152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預設 Dashboard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20" y="1481328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8B94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508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只知道 What 壞了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169164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CPU高、回應慢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1956816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8B9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198424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無法回答未知問題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2167128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遇到新型故障束手無策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432304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8B9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459736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靜態告警閾值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2642616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CPU&gt;80% 就告警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可觀測性 (Observability)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54880" y="1005840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0" y="103327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能從外部推導系統內部狀態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54880" y="1481328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0" y="1508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 What/Why/Where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937760" y="169164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三本柱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754880" y="1956816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0" y="198424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可回答任意問題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937760" y="2167128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即使是第一次發生的問題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754880" y="2432304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37760" y="2459736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動態、可查詢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937760" y="2642616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不需要預設 Dashboard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74320" y="3401568"/>
            <a:ext cx="859536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34015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tells you WHEN things break. Observability tells you WHY.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74320" y="41148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41605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可觀測性的三本柱：Metrics（什麼出問題）+ Logs（為什麼）+ Traces（在哪個服務）— 缺一不可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三本柱總覽：Metrics、Logs、Traces 各自解決什麼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92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85216"/>
            <a:ext cx="2865120" cy="400507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85216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6035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85216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Metrics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9786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3385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數值型時序資料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0896" y="1600200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53619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happening now?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0896" y="2002536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" y="193852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CPU%, Req/s, 錯誤率, P99延遲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10896" y="2404872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234086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適合：告警、容量規劃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10896" y="2807208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274320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保留：月到年（低成本）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10896" y="320954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314553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工具：Prometheus, Grafana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139440" y="585216"/>
            <a:ext cx="2865120" cy="400507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39440" y="585216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39440" y="6035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3560064" y="585216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Logs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67456" y="119786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32048" y="113385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文字事件流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67456" y="1600200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32048" y="153619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did it happen?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67456" y="200253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193852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請求詳細記錄、錯誤堆疊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67456" y="2404872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32048" y="234086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適合：除錯、審計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67456" y="280720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32048" y="274320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保留：天到月（高成本）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267456" y="320954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32048" y="314553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工具：ELK, Loki, Fluentd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096000" y="585216"/>
            <a:ext cx="2865120" cy="400507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96000" y="585216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96000" y="6035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🔗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6516624" y="585216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Traces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224016" y="119786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8608" y="113385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分散式請求鏈路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224016" y="1600200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88608" y="153619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it slow?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224016" y="200253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88608" y="193852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哪個服務、哪個函式、耗時多少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224016" y="2404872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8608" y="234086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適合：效能分析、依賴追蹤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224016" y="280720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8608" y="274320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保留：天到週（最高成本）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224016" y="320954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88608" y="314553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工具：Jaeger, Tempo, Zipkin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從成本角度：Metrics 最便宜（數字），Logs 中等（文字），Traces 最貴（每個 Span 都要儲存）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單體 vs 分散式：為什麼可觀測性變得關鍵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93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0" y="530352"/>
            <a:ext cx="9144" cy="3931920"/>
          </a:xfrm>
          <a:prstGeom prst="line">
            <a:avLst/>
          </a:prstGeom>
          <a:noFill/>
          <a:ln w="6350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566928"/>
            <a:ext cx="384048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5669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單體服務：簡單偵錯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97280" y="100584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97280" y="1060704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152144" y="1481328"/>
            <a:ext cx="19019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Monolith App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33856" y="1709928"/>
            <a:ext cx="19385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一個 Process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4320" y="2057400"/>
            <a:ext cx="3840480" cy="365760"/>
          </a:xfrm>
          <a:prstGeom prst="roundRect">
            <a:avLst>
              <a:gd name="adj" fmla="val 15000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0574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 -f app.log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2487168"/>
            <a:ext cx="3840480" cy="365760"/>
          </a:xfrm>
          <a:prstGeom prst="roundRect">
            <a:avLst>
              <a:gd name="adj" fmla="val 15000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48716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print() / console.log()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4320" y="2916936"/>
            <a:ext cx="3840480" cy="365760"/>
          </a:xfrm>
          <a:prstGeom prst="roundRect">
            <a:avLst>
              <a:gd name="adj" fmla="val 15000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916936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gdb / pdb 本地除錯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3364992"/>
            <a:ext cx="3840480" cy="347472"/>
          </a:xfrm>
          <a:prstGeom prst="roundRect">
            <a:avLst>
              <a:gd name="adj" fmla="val 15789"/>
            </a:avLst>
          </a:prstGeom>
          <a:solidFill>
            <a:srgbClr val="0F2A1A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3364992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問題出在這個 process，直接找就好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7316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🕸️ 分散式：除錯地獄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54880" y="91440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47488" y="91440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035040" y="91440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8076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27648" y="91440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api-gw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315200" y="91440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6092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607808" y="91440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auth-svc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754880" y="146304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0600" y="14630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047488" y="146304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order-svc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035040" y="146304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080760" y="14630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327648" y="146304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payment-svc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315200" y="146304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60920" y="14630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607808" y="146304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inventory-svc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754880" y="201168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20116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047488" y="201168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email-svc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35040" y="201168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80760" y="20116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327648" y="201168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315200" y="201168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60920" y="20116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7607808" y="201168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274320" y="290779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2953512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User說結帳很慢！是哪個服務？哪個函式？沒有 Tracing 只能每個服務慢慢查 log...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7132320" y="2980944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32320" y="3008376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15分鐘找問題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626096" y="2980944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26096" y="3008376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有時找不到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274320" y="43434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7200" y="43891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分散式系統中一個請求可能觸碰 10+ 個服務 — 沒有 Traces，你根本不知道慢在哪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Metrics：數字告訴你系統的健康狀態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3/10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288036" cy="822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94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297680" cy="804672"/>
          </a:xfrm>
          <a:prstGeom prst="roundRect">
            <a:avLst>
              <a:gd name="adj" fmla="val 9091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6217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= 時間序列數字資料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5760" y="896112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(timestamp, metric_name, labels, value)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1481328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服務在跑，但你怎麼知道它健康嗎？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1828800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828800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📈 http_requests_total: 15,847 req (counter)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267712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267712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⚡ api_response_p99_ms: 245ms (gauge)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706624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70662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http_error_rate: 0.03% (gauge)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145536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3145536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💾 process_memory_bytes: 512MB (gauge)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3630168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630168"/>
            <a:ext cx="4069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沒有 Metrics 就像開車沒有儀表板 — 不知道速度、油量、引擎狀態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0" y="685800"/>
            <a:ext cx="3840480" cy="2606040"/>
          </a:xfrm>
          <a:prstGeom prst="roundRect">
            <a:avLst>
              <a:gd name="adj" fmla="val 28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20640" y="749808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http_requests_total (rate/s)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66360" y="2651760"/>
            <a:ext cx="411480" cy="438912"/>
          </a:xfrm>
          <a:prstGeom prst="rect">
            <a:avLst/>
          </a:prstGeom>
          <a:solidFill>
            <a:srgbClr val="3FB950">
              <a:alpha val="60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96128" y="2468880"/>
            <a:ext cx="411480" cy="621792"/>
          </a:xfrm>
          <a:prstGeom prst="rect">
            <a:avLst/>
          </a:prstGeom>
          <a:solidFill>
            <a:srgbClr val="3FB950">
              <a:alpha val="60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25896" y="2286000"/>
            <a:ext cx="411480" cy="804672"/>
          </a:xfrm>
          <a:prstGeom prst="rect">
            <a:avLst/>
          </a:prstGeom>
          <a:solidFill>
            <a:srgbClr val="3FB950">
              <a:alpha val="60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55664" y="1828800"/>
            <a:ext cx="411480" cy="1261872"/>
          </a:xfrm>
          <a:prstGeom prst="rect">
            <a:avLst/>
          </a:prstGeom>
          <a:solidFill>
            <a:srgbClr val="D29922">
              <a:alpha val="60000"/>
            </a:srgbClr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85432" y="1280160"/>
            <a:ext cx="411480" cy="1810512"/>
          </a:xfrm>
          <a:prstGeom prst="rect">
            <a:avLst/>
          </a:prstGeom>
          <a:solidFill>
            <a:srgbClr val="F85149">
              <a:alpha val="60000"/>
            </a:srgbClr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15200" y="2011680"/>
            <a:ext cx="411480" cy="1078992"/>
          </a:xfrm>
          <a:prstGeom prst="rect">
            <a:avLst/>
          </a:prstGeom>
          <a:solidFill>
            <a:srgbClr val="D29922">
              <a:alpha val="60000"/>
            </a:srgbClr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744968" y="2423160"/>
            <a:ext cx="411480" cy="667512"/>
          </a:xfrm>
          <a:prstGeom prst="rect">
            <a:avLst/>
          </a:prstGeom>
          <a:solidFill>
            <a:srgbClr val="3FB950">
              <a:alpha val="60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74736" y="2633472"/>
            <a:ext cx="256032" cy="457200"/>
          </a:xfrm>
          <a:prstGeom prst="rect">
            <a:avLst/>
          </a:prstGeom>
          <a:solidFill>
            <a:srgbClr val="3FB950">
              <a:alpha val="60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20640" y="3127248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→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029200" y="91440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req/s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937760" y="3456432"/>
            <a:ext cx="1207008" cy="749808"/>
          </a:xfrm>
          <a:prstGeom prst="roundRect">
            <a:avLst>
              <a:gd name="adj" fmla="val 8537"/>
            </a:avLst>
          </a:prstGeom>
          <a:solidFill>
            <a:srgbClr val="161B22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92624" y="34747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時序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992624" y="3703320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按時間排列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可計算趨勢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291072" y="3456432"/>
            <a:ext cx="1207008" cy="749808"/>
          </a:xfrm>
          <a:prstGeom prst="roundRect">
            <a:avLst>
              <a:gd name="adj" fmla="val 8537"/>
            </a:avLst>
          </a:prstGeom>
          <a:solidFill>
            <a:srgbClr val="161B22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45936" y="34747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標籤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345936" y="3703320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service, env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version, region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7644384" y="3456432"/>
            <a:ext cx="1207008" cy="749808"/>
          </a:xfrm>
          <a:prstGeom prst="roundRect">
            <a:avLst>
              <a:gd name="adj" fmla="val 8537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99248" y="34747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高效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699248" y="3703320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數字 = 小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保存成本低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74320" y="449884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" y="454456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Metrics 不是 Logs — Metrics 只存數字，成本極低，適合長期保留（1年以上都沒問題）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四種 Metric 資料類型：Counter、Gauge、Histogram、Summary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95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114800" cy="2011680"/>
          </a:xfrm>
          <a:prstGeom prst="roundRect">
            <a:avLst>
              <a:gd name="adj" fmla="val 4545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83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Counter — 只增不減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91440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適用：請求總數、錯誤總數、位元組數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1133856"/>
            <a:ext cx="3657600" cy="292608"/>
          </a:xfrm>
          <a:prstGeom prst="roundRect">
            <a:avLst>
              <a:gd name="adj" fmla="val 15625"/>
            </a:avLst>
          </a:prstGeom>
          <a:solidFill>
            <a:srgbClr val="0D1117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133856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http_requests_total{method='GET',status='200'}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57200" y="14813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Counter 本身無意義，用 rate() 換算每秒速率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2304288"/>
            <a:ext cx="320040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304288"/>
            <a:ext cx="9144" cy="155448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2148840"/>
            <a:ext cx="320040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43000" y="2148840"/>
            <a:ext cx="9144" cy="155448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3000" y="1993392"/>
            <a:ext cx="320040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63040" y="1993392"/>
            <a:ext cx="9144" cy="14630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63040" y="1847088"/>
            <a:ext cx="320040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83080" y="1847088"/>
            <a:ext cx="9144" cy="128016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0" y="594360"/>
            <a:ext cx="4114800" cy="2011680"/>
          </a:xfrm>
          <a:prstGeom prst="roundRect">
            <a:avLst>
              <a:gd name="adj" fmla="val 4545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6583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Gauge — 可升可降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37760" y="91440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適用：當前連線數、記憶體用量、Queue深度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892040" y="1133856"/>
            <a:ext cx="3657600" cy="292608"/>
          </a:xfrm>
          <a:prstGeom prst="roundRect">
            <a:avLst>
              <a:gd name="adj" fmla="val 15625"/>
            </a:avLst>
          </a:prstGeom>
          <a:solidFill>
            <a:srgbClr val="0D1117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83480" y="1133856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process_resident_memory_bytes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937760" y="14813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直接使用數值，不需要 rate()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937760" y="2029968"/>
            <a:ext cx="228600" cy="14630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66360" y="2029968"/>
            <a:ext cx="228600" cy="2377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94960" y="1993392"/>
            <a:ext cx="228600" cy="27432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23560" y="1993392"/>
            <a:ext cx="228600" cy="219456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852160" y="2057400"/>
            <a:ext cx="228600" cy="155448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80760" y="2057400"/>
            <a:ext cx="228600" cy="246888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4320" y="2761488"/>
            <a:ext cx="4114800" cy="2011680"/>
          </a:xfrm>
          <a:prstGeom prst="roundRect">
            <a:avLst>
              <a:gd name="adj" fmla="val 4545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281635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Histogram — 分桶分布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307238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適用：請求延遲、回應大小的分布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57200" y="329184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桶 (Bucket): _le=0.1, _le=0.5, _le=1.0, _le=+Inf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3493008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histogram_quantile(0.99, ...) 計算 P99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3730752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端計算分位數，最靈活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754880" y="2761488"/>
            <a:ext cx="4114800" cy="2011680"/>
          </a:xfrm>
          <a:prstGeom prst="roundRect">
            <a:avLst>
              <a:gd name="adj" fmla="val 4545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37760" y="281635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Summary — 客戶端分位數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937760" y="307238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適用：需要精確分位數，資料量小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937760" y="329184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直接輸出 P50、P90、P99 分位數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937760" y="3493008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無法跨 instance 聚合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937760" y="3730752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多數情況用 Histogram，Summary 漸少用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vs Pull：收集模式的根本差異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96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0" y="530352"/>
            <a:ext cx="9144" cy="4434840"/>
          </a:xfrm>
          <a:prstGeom prst="line">
            <a:avLst/>
          </a:prstGeom>
          <a:noFill/>
          <a:ln w="6350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62179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⬇️ Pull Mode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91440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:8080/metrics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417320" y="9144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6304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709928" y="91440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B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:8080/metrics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68880" y="9144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1460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61488" y="91440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:8080/metrics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68680" y="1417320"/>
            <a:ext cx="9144" cy="347472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1920240" y="1417320"/>
            <a:ext cx="9144" cy="347472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2971800" y="1417320"/>
            <a:ext cx="9144" cy="347472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457200" y="1783080"/>
            <a:ext cx="2560320" cy="804672"/>
          </a:xfrm>
          <a:prstGeom prst="roundRect">
            <a:avLst>
              <a:gd name="adj" fmla="val 11364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7200" y="1837944"/>
            <a:ext cx="2560320" cy="3701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12064" y="2201509"/>
            <a:ext cx="2450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93776" y="2430109"/>
            <a:ext cx="2487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每 15 秒主動 scrape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65760" y="2724912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2724912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Collector控制抓取時機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3163824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3163824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服務掛了立刻發現 (scrape失敗)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3602736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3602736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服務必須暴露 HTTP /metrics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4041648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4041648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短暫 Batch Job 會錯過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46320" y="62179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⬆️ Push Mode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846320" y="9144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9204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38928" y="91440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806440" y="9144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85216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099048" y="91440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B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66560" y="9144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1228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059168" y="91440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349240" y="1417320"/>
            <a:ext cx="9144" cy="384048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43" name="Shape 41"/>
          <p:cNvSpPr/>
          <p:nvPr/>
        </p:nvSpPr>
        <p:spPr>
          <a:xfrm>
            <a:off x="6309360" y="1417320"/>
            <a:ext cx="9144" cy="384048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44" name="Shape 42"/>
          <p:cNvSpPr/>
          <p:nvPr/>
        </p:nvSpPr>
        <p:spPr>
          <a:xfrm>
            <a:off x="7269480" y="1417320"/>
            <a:ext cx="9144" cy="384048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45" name="Shape 43"/>
          <p:cNvSpPr/>
          <p:nvPr/>
        </p:nvSpPr>
        <p:spPr>
          <a:xfrm>
            <a:off x="5577840" y="1828800"/>
            <a:ext cx="2103120" cy="804672"/>
          </a:xfrm>
          <a:prstGeom prst="roundRect">
            <a:avLst>
              <a:gd name="adj" fmla="val 11364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577840" y="1883664"/>
            <a:ext cx="2103120" cy="3701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5632704" y="2247229"/>
            <a:ext cx="19933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Collector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614416" y="2475829"/>
            <a:ext cx="2029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StatsD / CloudWatch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 OTLP Receiver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4846320" y="2724912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83480" y="2724912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適合短暫 Batch/Cron Job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846320" y="3163824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83480" y="3163824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可穿越 NAT、Firewall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846320" y="3602736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83480" y="3602736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Collector成為流量接收端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846320" y="4041648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83480" y="4041648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服務掛了難以偵測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74320" y="46634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47091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Kubernetes 環境首選 Pull (Prometheus) — 因為 K8s 的服務發現讓 Prometheus 自動找到所有 Pod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架構深度解析：Pull Mode 實作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97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713232"/>
            <a:ext cx="155448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2880" y="768096"/>
            <a:ext cx="155448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7744" y="1426464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9456" y="1655064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/metrics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82880" y="2121408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/metrics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http_req_total 1024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http_duration_sum 5.2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828800" y="1463040"/>
            <a:ext cx="731520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12" name="Text 10"/>
          <p:cNvSpPr/>
          <p:nvPr/>
        </p:nvSpPr>
        <p:spPr>
          <a:xfrm>
            <a:off x="1783080" y="1307592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scrape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15s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651760" y="713232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651760" y="768096"/>
            <a:ext cx="201168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706624" y="1426464"/>
            <a:ext cx="19019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688336" y="1655064"/>
            <a:ext cx="19385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TSDB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Evaluator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754880" y="1463040"/>
            <a:ext cx="640080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4709160" y="130759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PromQL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486400" y="713232"/>
            <a:ext cx="1371600" cy="64008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0" y="768096"/>
            <a:ext cx="1371600" cy="2944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541264" y="1046074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522976" y="1274674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611880" y="2148840"/>
            <a:ext cx="9144" cy="41148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2651760" y="260604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651760" y="2660904"/>
            <a:ext cx="201168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2706624" y="2962656"/>
            <a:ext cx="19019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688336" y="3191256"/>
            <a:ext cx="19385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Slack/PagerDuty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754880" y="3044952"/>
            <a:ext cx="640080" cy="9144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4709160" y="288950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486400" y="2606040"/>
            <a:ext cx="1371600" cy="6858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486400" y="2660904"/>
            <a:ext cx="137160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541264" y="2962656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On-Call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522976" y="3191256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PagerDuty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74320" y="3310128"/>
            <a:ext cx="8595360" cy="1554480"/>
          </a:xfrm>
          <a:prstGeom prst="roundRect">
            <a:avLst>
              <a:gd name="adj" fmla="val 5882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65760" y="31638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84048" y="31638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prometheus.yml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02336" y="3419856"/>
            <a:ext cx="833932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global: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scrape_interval: 15s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evaluation_interval: 15s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scrape_configs: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job_name: 'api-service'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static_configs: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targets: ['api-01:8080', 'api-02:8080']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job_name: 'kubernetes-pods'  # K8s 自動服務發現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kubernetes_sd_configs: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role: pod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relabel_configs: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source_labels: [__meta_kubernetes_pod_annotation_prometheus_io_scrape]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action: keep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regex: true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+ Prometheus：自動服務發現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98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572000" cy="4114800"/>
          </a:xfrm>
          <a:prstGeom prst="roundRect">
            <a:avLst>
              <a:gd name="adj" fmla="val 2222"/>
            </a:avLst>
          </a:prstGeom>
          <a:ln w="12700">
            <a:solidFill>
              <a:srgbClr val="0D8A6C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657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0D8A6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Cluster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502920" y="914400"/>
            <a:ext cx="182880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" y="969264"/>
            <a:ext cx="18288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57784" y="1413662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api-pod-1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39496" y="1642262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annotation: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prometheus.io/scrape: true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prometheus.io/port: 8080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514600" y="914400"/>
            <a:ext cx="182880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514600" y="969264"/>
            <a:ext cx="18288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569464" y="1413662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api-pod-2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551176" y="1642262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same annotation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02920" y="2029968"/>
            <a:ext cx="182880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02920" y="2084832"/>
            <a:ext cx="18288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57784" y="2529230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(Deployment)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39496" y="2757830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watches K8s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606040" y="2240280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02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898648" y="2240280"/>
            <a:ext cx="13624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API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377440" y="2624328"/>
            <a:ext cx="201168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5" name="Text 23"/>
          <p:cNvSpPr/>
          <p:nvPr/>
        </p:nvSpPr>
        <p:spPr>
          <a:xfrm>
            <a:off x="2331720" y="2468880"/>
            <a:ext cx="292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 pods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417320" y="1463040"/>
            <a:ext cx="9144" cy="566928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27" name="Text 25"/>
          <p:cNvSpPr/>
          <p:nvPr/>
        </p:nvSpPr>
        <p:spPr>
          <a:xfrm>
            <a:off x="5303520" y="65836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自動發現的好處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257800" y="1005840"/>
            <a:ext cx="3520440" cy="502920"/>
          </a:xfrm>
          <a:prstGeom prst="roundRect">
            <a:avLst>
              <a:gd name="adj" fmla="val 12727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94960" y="100584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新 Pod 啟動 → 自動加入監控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257800" y="1572768"/>
            <a:ext cx="3520440" cy="502920"/>
          </a:xfrm>
          <a:prstGeom prst="roundRect">
            <a:avLst>
              <a:gd name="adj" fmla="val 12727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94960" y="1572768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🗑️ Pod 刪除 → 自動移除，不留殘餘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257800" y="2139696"/>
            <a:ext cx="3520440" cy="502920"/>
          </a:xfrm>
          <a:prstGeom prst="roundRect">
            <a:avLst>
              <a:gd name="adj" fmla="val 12727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94960" y="2139696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Scale Out ×10 → Prometheus 自動找到全部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257800" y="2706624"/>
            <a:ext cx="3520440" cy="502920"/>
          </a:xfrm>
          <a:prstGeom prst="roundRect">
            <a:avLst>
              <a:gd name="adj" fmla="val 12727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4960" y="2706624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0️⃣ 不需要人工修改 prometheus.yml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257800" y="3017520"/>
            <a:ext cx="3520440" cy="1691640"/>
          </a:xfrm>
          <a:prstGeom prst="roundRect">
            <a:avLst>
              <a:gd name="adj" fmla="val 5405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349240" y="287121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67528" y="287121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pod annotation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385816" y="3127248"/>
            <a:ext cx="3264408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在 Pod spec 加上 annotation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annotations: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prometheus.io/scrape: 'true'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prometheus.io/path: '/metrics'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prometheus.io/port: '8080'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Prometheus 自動偵測所有帶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這個 annotation 的 Pod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Mode 實戰：StatsD、Pushgateway、OTLP Collector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99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3986784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📡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StatsD (UDP Push)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UDP fire-and-forget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不阻塞 application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library 極簡單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statsd.increment('orders.created')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適合：高頻計數器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DogStatsD 支援 Tags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0896" y="319125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" y="312724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Graphite / Prometheus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139440" y="566928"/>
            <a:ext cx="2865120" cy="3986784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Pushgateway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官方中繼站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3204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用途：Batch Job / Cron Job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完成 → push → Prometheus scrape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注意：不適合長期服務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注意：不自動 TTL 清除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67456" y="319125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32048" y="312724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Job 完成 metrics 保存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096000" y="566928"/>
            <a:ext cx="2865120" cy="3986784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0D8A6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🏗️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OTLP Collector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統一 Pipeline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同時接收 Metrics/Logs/Traces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多個 Receiver：OTLP, Prometheus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多個 Exporter：Prometheus, Jaeger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Sidecar 或 DaemonSet 部署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6224016" y="3191256"/>
            <a:ext cx="109728" cy="109728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88608" y="312724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未來標準，推薦採用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StatsD UDP 是最輕量的 push — 即使 collector 掛了也不影響 app，適合不能 block 的關鍵路徑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PromQL：Prometheus 查詢語言實戰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100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4224528"/>
          </a:xfrm>
          <a:prstGeom prst="roundRect">
            <a:avLst>
              <a:gd name="adj" fmla="val 2165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PromQL Examples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04088"/>
            <a:ext cx="8339328" cy="4041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Counter Rate — 每秒 HTTP 請求數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rate(http_requests_total[5m])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按 status 碼分組的錯誤率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 by(status) (rate(http_requests_total[5m]))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P99 延遲 — 最常用的 SLO 指標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histogram_quantile(0.99,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rate(http_request_duration_seconds_bucket[5m])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錯誤率 (5xx / total)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sum(rate(http_requests_total{status=~'5..'}[5m]))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 sum(rate(http_requests_total[5m])) * 100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Recording Rule — 預計算複雜查詢（放 prometheus.yml）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record: job:http_error_rate:ratio5m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expr: |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sum(rate(http_requests_total{status=~'5..'}[5m]))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 sum(rate(http_requests_total[5m]))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6. 跨 K8s Pod 聚合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 by(namespace, deployment) (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rate(http_requests_total[5m])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49194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9651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Recording Rules 是效能關鍵 — 把複雜 PromQL 預計算儲存，Grafana 查詢快 10 倍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監控方法論：USE、RED、四個黃金信號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101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2697480" cy="4224528"/>
          </a:xfrm>
          <a:prstGeom prst="roundRect">
            <a:avLst>
              <a:gd name="adj" fmla="val 3390"/>
            </a:avLst>
          </a:prstGeom>
          <a:solidFill>
            <a:srgbClr val="161B22"/>
          </a:solidFill>
          <a:ln w="15240">
            <a:solidFill>
              <a:srgbClr val="E362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6583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USE Method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91440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適用：基礎設施資源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84048" y="1133856"/>
            <a:ext cx="247802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152144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— Utilization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353312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資源使用率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CPU: 75%, Disk: 60%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84048" y="1847088"/>
            <a:ext cx="247802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865376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— Saturation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2066544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資源飽和度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Average, Queue深度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84048" y="2560320"/>
            <a:ext cx="247802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578608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— Errors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2779776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錯誤率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IO errors, NIC drops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65760" y="422452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問：這個資源過載了嗎？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54680" y="594360"/>
            <a:ext cx="2697480" cy="4224528"/>
          </a:xfrm>
          <a:prstGeom prst="roundRect">
            <a:avLst>
              <a:gd name="adj" fmla="val 3390"/>
            </a:avLst>
          </a:prstGeom>
          <a:solidFill>
            <a:srgbClr val="161B22"/>
          </a:solidFill>
          <a:ln w="15240">
            <a:solidFill>
              <a:srgbClr val="23863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46120" y="6583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RED Method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46120" y="91440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適用：微服務 API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64408" y="1133856"/>
            <a:ext cx="247802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152144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— Rate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37560" y="1353312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每秒請求數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req/s, RPC/s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264408" y="1847088"/>
            <a:ext cx="247802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37560" y="1865376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— Errors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337560" y="2066544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錯誤率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5xx%, failed RPC 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264408" y="2560320"/>
            <a:ext cx="247802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37560" y="2578608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— Duration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337560" y="2779776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延遲分布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P50/P95/P99 latency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246120" y="422452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問：這個服務表現如何？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35040" y="594360"/>
            <a:ext cx="2743200" cy="4224528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0" y="65836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四個黃金信號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126480" y="914400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SRE Book — 對用戶最重要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144768" y="1133856"/>
            <a:ext cx="252374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0" y="115214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17920" y="135331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好請求 vs 壞請求的延遲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144768" y="1847088"/>
            <a:ext cx="252374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0" y="1865376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17920" y="2066544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系統需求量 req/s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144768" y="2560320"/>
            <a:ext cx="252374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17920" y="257860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17920" y="2779776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失敗請求的比率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144768" y="3273552"/>
            <a:ext cx="252374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17920" y="32918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Saturation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217920" y="349300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系統飽和度 (最受限的資源)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6126480" y="422452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問：用戶的體驗如何？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74320" y="49194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49651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新服務先從 RED 方法開始 — Rate + Errors + Duration 三個 Metric 能告訴你 80% 的問題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Dashboard 設計：讓數據說話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102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393192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設計原則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365760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一個 Dashboard = 一個服務/系統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481328"/>
            <a:ext cx="365760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481328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頂部：RED/四黃金信號 (用戶影響)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956816"/>
            <a:ext cx="365760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956816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📉 中部：資源使用 (USE Method)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432304"/>
            <a:ext cx="365760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432304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底部：下游依賴狀態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907792"/>
            <a:ext cx="365760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907792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使用 Variables：env, datacenter, pod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3401568"/>
            <a:ext cx="3931920" cy="530352"/>
          </a:xfrm>
          <a:prstGeom prst="roundRect">
            <a:avLst>
              <a:gd name="adj" fmla="val 12069"/>
            </a:avLst>
          </a:prstGeom>
          <a:solidFill>
            <a:srgbClr val="2A0F0F"/>
          </a:solidFill>
          <a:ln w="10160">
            <a:solidFill>
              <a:srgbClr val="F851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3401568"/>
            <a:ext cx="3657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把所有 Metric 塞進一個 Dashboard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沒有時間範圍選擇器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09160" y="685800"/>
            <a:ext cx="4160520" cy="347472"/>
          </a:xfrm>
          <a:prstGeom prst="roundRect">
            <a:avLst>
              <a:gd name="adj" fmla="val 13158"/>
            </a:avLst>
          </a:prstGeom>
          <a:solidFill>
            <a:srgbClr val="1C2128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685800"/>
            <a:ext cx="4069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Service: api | ENV: prod | Last: 6h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09160" y="1078992"/>
            <a:ext cx="1280160" cy="566928"/>
          </a:xfrm>
          <a:prstGeom prst="roundRect">
            <a:avLst>
              <a:gd name="adj" fmla="val 11290"/>
            </a:avLst>
          </a:prstGeom>
          <a:solidFill>
            <a:srgbClr val="0F2A1A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1097280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1,234 req/s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754880" y="1389888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108192" y="1078992"/>
            <a:ext cx="1280160" cy="566928"/>
          </a:xfrm>
          <a:prstGeom prst="roundRect">
            <a:avLst>
              <a:gd name="adj" fmla="val 11290"/>
            </a:avLst>
          </a:prstGeom>
          <a:solidFill>
            <a:srgbClr val="161B22"/>
          </a:solidFill>
          <a:ln w="10160">
            <a:solidFill>
              <a:srgbClr val="F8514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53912" y="1097280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0.12%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153912" y="1389888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507224" y="1078992"/>
            <a:ext cx="1280160" cy="566928"/>
          </a:xfrm>
          <a:prstGeom prst="roundRect">
            <a:avLst>
              <a:gd name="adj" fmla="val 11290"/>
            </a:avLst>
          </a:prstGeom>
          <a:solidFill>
            <a:srgbClr val="161B22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52944" y="1097280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245ms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552944" y="1389888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Latency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755648"/>
            <a:ext cx="4160520" cy="1051560"/>
          </a:xfrm>
          <a:prstGeom prst="roundRect">
            <a:avLst>
              <a:gd name="adj" fmla="val 6087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1828800"/>
            <a:ext cx="3977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Request Rate over time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709160" y="2880360"/>
            <a:ext cx="2011680" cy="896112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294436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Usage %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839712" y="2880360"/>
            <a:ext cx="2011680" cy="896112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31152" y="294436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Usage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709160" y="3840480"/>
            <a:ext cx="4160520" cy="713232"/>
          </a:xfrm>
          <a:prstGeom prst="roundRect">
            <a:avLst>
              <a:gd name="adj" fmla="val 8974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00600" y="3913632"/>
            <a:ext cx="3977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Latency | Redis Hit Rate | MQ Queue Depth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告警設計：避免告警疲勞的藝術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103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Cause-based 告警（不推薦）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00584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2A0F0F"/>
          </a:solidFill>
          <a:ln w="10160">
            <a:solidFill>
              <a:srgbClr val="F851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02412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&gt; 80%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11480" y="120700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CPU高不一定影響用戶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74320" y="141732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2A0F0F"/>
          </a:solidFill>
          <a:ln w="10160">
            <a:solidFill>
              <a:srgbClr val="F851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43560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&gt; 70%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11480" y="161848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可能只是 cache，正常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4320" y="182880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2A0F0F"/>
          </a:solidFill>
          <a:ln w="10160">
            <a:solidFill>
              <a:srgbClr val="F851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84708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IOPS &gt; 1000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202996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業務繁忙期的正常現象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4320" y="2651760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Symptom-based 告警（推薦）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306324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0F2A1A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308152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錯誤率 &gt; 1% 持續 2 分鐘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11480" y="326440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用戶正在受影響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74320" y="347472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0F2A1A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349300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延遲 &gt; 2000ms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1480" y="367588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用戶感受到服務變慢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74320" y="388620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0F2A1A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390448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burn rate 過快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11480" y="408736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 快耗盡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754880" y="5943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告警嚴重度分級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754880" y="914400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2A0F0F"/>
          </a:solidFill>
          <a:ln w="10160">
            <a:solidFill>
              <a:srgbClr val="F8514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932688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P1 CRITICAL — 立即叫醒 On-Call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892040" y="116128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現在有用戶受影響 | 5分鐘內必須回應 | 打電話+PagerDuty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754880" y="1572768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2A1F00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92040" y="1591056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P2 WARNING — 工作時間處理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892040" y="181965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可能影響用戶 | 今天內處理 | Slack 通知即可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754880" y="2231136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2249424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P3 INFO — 排程處理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892040" y="247802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潛在問題 | 本週處理 | Ticket 追蹤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754880" y="3401568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92040" y="3438144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每個告警必須：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892040" y="3657600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有 Runbook 連結  2. 明確的負責人  3. 明確的回應 SLA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74320" y="437083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44165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告警疲勞是 SRE 最大敵人 — 每週 review 告警，把沒人 action 的告警關掉或降級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AlertManager：智慧路由與告警管理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104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713232"/>
            <a:ext cx="1371600" cy="777240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768096"/>
            <a:ext cx="137160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9184" y="1117397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10896" y="1345997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發送告警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691640" y="1124712"/>
            <a:ext cx="457200" cy="9144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1645920" y="969264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240280" y="713232"/>
            <a:ext cx="1645920" cy="777240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240280" y="768096"/>
            <a:ext cx="164592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🔀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295144" y="1117397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276856" y="1345997"/>
            <a:ext cx="1572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路由引擎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017520" y="1554480"/>
            <a:ext cx="9144" cy="41148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17" name="Shape 15"/>
          <p:cNvSpPr/>
          <p:nvPr/>
        </p:nvSpPr>
        <p:spPr>
          <a:xfrm>
            <a:off x="1097280" y="2029968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3000" y="20299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💬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89888" y="2029968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#oncall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88920" y="2029968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34640" y="20299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📟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081528" y="2029968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PagerDuty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(P1 only)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480560" y="2029968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26280" y="20299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73168" y="2029968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(P3 only)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423160" y="1984248"/>
            <a:ext cx="594360" cy="320040"/>
          </a:xfrm>
          <a:prstGeom prst="line">
            <a:avLst/>
          </a:prstGeom>
          <a:noFill/>
          <a:ln w="12700">
            <a:solidFill>
              <a:srgbClr val="F85149"/>
            </a:solidFill>
            <a:prstDash val="solid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3063240" y="1984248"/>
            <a:ext cx="457200" cy="320040"/>
          </a:xfrm>
          <a:prstGeom prst="line">
            <a:avLst/>
          </a:prstGeom>
          <a:noFill/>
          <a:ln w="12700">
            <a:solidFill>
              <a:srgbClr val="F85149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274320" y="2834640"/>
            <a:ext cx="4389120" cy="2084832"/>
          </a:xfrm>
          <a:prstGeom prst="roundRect">
            <a:avLst>
              <a:gd name="adj" fmla="val 438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65760" y="26883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4048" y="26883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alertmanager.yml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02336" y="2944368"/>
            <a:ext cx="4133088" cy="1901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receiver: 'slack-default'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group_wait: 30s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group_interval: 5m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repeat_interval: 4h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routes: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match: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severity: critical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receiver: 'pagerduty'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match: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severity: warning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receiver: 'slack-warning'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receivers: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'pagerduty'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pagerduty_configs: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service_key: '&lt;key&gt;'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029200" y="6858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進階功能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937760" y="960120"/>
            <a:ext cx="384048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0160">
            <a:solidFill>
              <a:srgbClr val="6E40C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4920" y="98755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🔕 Inhibition (抑制)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074920" y="121615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掛了 → 抑制 API 告警，避免重複通知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937760" y="1618488"/>
            <a:ext cx="384048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74920" y="164592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🔇 Silence (靜音)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074920" y="18745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維護窗口期間靜音特定告警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937760" y="2276856"/>
            <a:ext cx="384048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74920" y="230428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Grouping (分組)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074920" y="253288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同一服務的多個告警合併通知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937760" y="2935224"/>
            <a:ext cx="384048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074920" y="296265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Repeat Interval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074920" y="3191256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不要每分鐘重複，設定 4h 重複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74320" y="44622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5079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Inhibition 規則可以大幅減少告警噪音 — datacenter 掛了就不用個別通知每個服務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小結：從收集到告警的完整鏈路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105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658368"/>
            <a:ext cx="1508760" cy="128016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2880" y="713232"/>
            <a:ext cx="150876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7744" y="1324051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9456" y="1552651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 client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定義 Metrics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737360" y="1371600"/>
            <a:ext cx="457200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1691640" y="121615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286000" y="658368"/>
            <a:ext cx="1508760" cy="128016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286000" y="713232"/>
            <a:ext cx="150876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340864" y="1324051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22576" y="1552651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scrape /metrics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840480" y="1371600"/>
            <a:ext cx="457200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7" name="Text 15"/>
          <p:cNvSpPr/>
          <p:nvPr/>
        </p:nvSpPr>
        <p:spPr>
          <a:xfrm>
            <a:off x="3794760" y="121615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389120" y="658368"/>
            <a:ext cx="1508760" cy="128016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389120" y="713232"/>
            <a:ext cx="150876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443984" y="1324051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425696" y="1552651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Grafana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943600" y="1371600"/>
            <a:ext cx="457200" cy="9144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3" name="Text 21"/>
          <p:cNvSpPr/>
          <p:nvPr/>
        </p:nvSpPr>
        <p:spPr>
          <a:xfrm>
            <a:off x="5897880" y="121615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492240" y="658368"/>
            <a:ext cx="1325880" cy="128016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92240" y="713232"/>
            <a:ext cx="132588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547104" y="1324051"/>
            <a:ext cx="12161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528816" y="1552651"/>
            <a:ext cx="12527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AlertManager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 Rules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863840" y="1371600"/>
            <a:ext cx="457200" cy="9144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7818120" y="121615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8412480" y="658368"/>
            <a:ext cx="640080" cy="128016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412480" y="713232"/>
            <a:ext cx="64008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8467344" y="1324051"/>
            <a:ext cx="5303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449056" y="1552651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On-Call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74320" y="2176272"/>
            <a:ext cx="2651760" cy="2395728"/>
          </a:xfrm>
          <a:prstGeom prst="roundRect">
            <a:avLst>
              <a:gd name="adj" fmla="val 3817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84048" y="2267712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選對 Metric 類型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84048" y="2633472"/>
            <a:ext cx="2432304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 → rate()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Gauge → 直接用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 → P99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不要用 average latency!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154680" y="2176272"/>
            <a:ext cx="2651760" cy="2395728"/>
          </a:xfrm>
          <a:prstGeom prst="roundRect">
            <a:avLst>
              <a:gd name="adj" fmla="val 3817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64408" y="2267712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Pull &gt; Push in K8s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264408" y="2633472"/>
            <a:ext cx="2432304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+ K8s SD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自動發現所有 Pod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短暫 Job 用 Pushgateway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統一 → OTLP Collector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35040" y="2176272"/>
            <a:ext cx="2651760" cy="2395728"/>
          </a:xfrm>
          <a:prstGeom prst="roundRect">
            <a:avLst>
              <a:gd name="adj" fmla="val 3817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44768" y="2267712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告警要有意義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144768" y="2633472"/>
            <a:ext cx="2432304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Symptom-based 優先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每個告警要有 Runbook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控制告警數量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避免告警疲勞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2026-03-16T23:24:32Z</dcterms:created>
  <dcterms:modified xsi:type="dcterms:W3CDTF">2026-03-16T23:24:32Z</dcterms:modified>
</cp:coreProperties>
</file>