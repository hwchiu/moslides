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029200"/>
  <p:notesSz cx="50292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Pillars Integration: Grafana Stack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25400">
            <a:solidFill>
              <a:srgbClr val="4A99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5544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Grafana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19659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Observability Interface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13716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144475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Prometheus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4320" y="17830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(Metrics)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560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5F1EB"/>
          </a:solidFill>
          <a:ln w="15240">
            <a:solidFill>
              <a:srgbClr val="5A9B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26334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Loki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29718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(Logs)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766560" y="13716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66560" y="144475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Tempo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66560" y="17830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(Traces)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766560" y="2560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5F1EB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0" y="26334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AlertManager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66560" y="29718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(Alerts)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103120" y="1719072"/>
            <a:ext cx="1371600" cy="9144"/>
          </a:xfrm>
          <a:prstGeom prst="line">
            <a:avLst/>
          </a:prstGeom>
          <a:noFill/>
          <a:ln w="19050">
            <a:solidFill>
              <a:srgbClr val="B8892C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2205990" y="1545336"/>
            <a:ext cx="116586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05990" y="1545336"/>
            <a:ext cx="11658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88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PromQL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103120" y="2907792"/>
            <a:ext cx="1371600" cy="9144"/>
          </a:xfrm>
          <a:prstGeom prst="line">
            <a:avLst/>
          </a:prstGeom>
          <a:noFill/>
          <a:ln w="19050">
            <a:solidFill>
              <a:srgbClr val="5A9B6E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2205990" y="2734056"/>
            <a:ext cx="116586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5A9B6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05990" y="2734056"/>
            <a:ext cx="11658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9B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LogQL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5669280" y="1719072"/>
            <a:ext cx="109728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5751576" y="1545336"/>
            <a:ext cx="932688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51576" y="1545336"/>
            <a:ext cx="932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TraceQL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669280" y="2907792"/>
            <a:ext cx="1097280" cy="9144"/>
          </a:xfrm>
          <a:prstGeom prst="line">
            <a:avLst/>
          </a:prstGeom>
          <a:noFill/>
          <a:ln w="19050">
            <a:solidFill>
              <a:srgbClr val="C4605B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5751576" y="2734056"/>
            <a:ext cx="932688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51576" y="2734056"/>
            <a:ext cx="932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460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274320" y="3657600"/>
            <a:ext cx="8595360" cy="475488"/>
          </a:xfrm>
          <a:prstGeom prst="roundRect">
            <a:avLst>
              <a:gd name="adj" fmla="val 15385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365760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Integration Flow: Click metric anomaly  →  Find Trace  →  View correlated logs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Grafana Stack = Prometheus (Metrics) + Loki (Logs) + Tempo (Traces) + Grafana (UI) — open-source, vendor-neutral, fully integrated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→ Incident → Postmortem Complete Flow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28600" y="594360"/>
            <a:ext cx="1280160" cy="749808"/>
          </a:xfrm>
          <a:prstGeom prst="roundRect">
            <a:avLst>
              <a:gd name="adj" fmla="val 10976"/>
            </a:avLst>
          </a:prstGeom>
          <a:solidFill>
            <a:srgbClr val="F5F1EB"/>
          </a:solidFill>
          <a:ln w="19050">
            <a:solidFill>
              <a:srgbClr val="C460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30936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28600" y="7223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Fired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74320" y="10332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rule triggered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508760" y="969264"/>
            <a:ext cx="201168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1709928" y="594360"/>
            <a:ext cx="1280160" cy="749808"/>
          </a:xfrm>
          <a:prstGeom prst="roundRect">
            <a:avLst>
              <a:gd name="adj" fmla="val 10976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55648" y="630936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709928" y="7223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&amp; Notify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755648" y="10332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 → PagerDuty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990088" y="969264"/>
            <a:ext cx="201168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3191256" y="594360"/>
            <a:ext cx="1280160" cy="749808"/>
          </a:xfrm>
          <a:prstGeom prst="roundRect">
            <a:avLst>
              <a:gd name="adj" fmla="val 10976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36976" y="630936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191256" y="7223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236976" y="10332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 engineer accepts alert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471416" y="969264"/>
            <a:ext cx="201168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4672584" y="594360"/>
            <a:ext cx="1280160" cy="749808"/>
          </a:xfrm>
          <a:prstGeom prst="roundRect">
            <a:avLst>
              <a:gd name="adj" fmla="val 10976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18304" y="630936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672584" y="7223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718304" y="10332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Grafana Dashboard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5952744" y="969264"/>
            <a:ext cx="201168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6153912" y="594360"/>
            <a:ext cx="1280160" cy="749808"/>
          </a:xfrm>
          <a:prstGeom prst="roundRect">
            <a:avLst>
              <a:gd name="adj" fmla="val 10976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99632" y="630936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153912" y="7223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199632" y="10332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Hotfix or rollback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7434072" y="969264"/>
            <a:ext cx="201168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7635240" y="594360"/>
            <a:ext cx="1280160" cy="749808"/>
          </a:xfrm>
          <a:prstGeom prst="roundRect">
            <a:avLst>
              <a:gd name="adj" fmla="val 10976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80960" y="630936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635240" y="7223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Postmortem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680960" y="10332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Blameless review within 48 hrs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65760" y="1508760"/>
            <a:ext cx="2560320" cy="1005840"/>
          </a:xfrm>
          <a:prstGeom prst="roundRect">
            <a:avLst>
              <a:gd name="adj" fmla="val 10909"/>
            </a:avLst>
          </a:prstGeom>
          <a:solidFill>
            <a:srgbClr val="F5F1EB"/>
          </a:solidFill>
          <a:ln w="19050">
            <a:solidFill>
              <a:srgbClr val="C4605B"/>
            </a:solidFill>
            <a:prstDash val="solid"/>
          </a:ln>
          <a:effectLst>
            <a:outerShdw sx="100000" sy="100000" kx="0" ky="0" algn="bl" rotWithShape="0" blurRad="101600" dist="38100" dir="2700000">
              <a:srgbClr val="9E9488">
                <a:alpha val="1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57200" y="1618488"/>
            <a:ext cx="237744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 min</a:t>
            </a:r>
            <a:endParaRPr lang="en-US" sz="3400" dirty="0"/>
          </a:p>
        </p:txBody>
      </p:sp>
      <p:sp>
        <p:nvSpPr>
          <p:cNvPr id="40" name="Text 38"/>
          <p:cNvSpPr/>
          <p:nvPr/>
        </p:nvSpPr>
        <p:spPr>
          <a:xfrm>
            <a:off x="457200" y="207203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MTTD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57200" y="232806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Detect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00400" y="1508760"/>
            <a:ext cx="2560320" cy="1005840"/>
          </a:xfrm>
          <a:prstGeom prst="roundRect">
            <a:avLst>
              <a:gd name="adj" fmla="val 10909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  <a:effectLst>
            <a:outerShdw sx="100000" sy="100000" kx="0" ky="0" algn="bl" rotWithShape="0" blurRad="101600" dist="38100" dir="2700000">
              <a:srgbClr val="9E9488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291840" y="1618488"/>
            <a:ext cx="237744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 min</a:t>
            </a:r>
            <a:endParaRPr lang="en-US" sz="3400" dirty="0"/>
          </a:p>
        </p:txBody>
      </p:sp>
      <p:sp>
        <p:nvSpPr>
          <p:cNvPr id="44" name="Text 42"/>
          <p:cNvSpPr/>
          <p:nvPr/>
        </p:nvSpPr>
        <p:spPr>
          <a:xfrm>
            <a:off x="3291840" y="207203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MTTA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3291840" y="232806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Acknowledge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35040" y="1508760"/>
            <a:ext cx="2560320" cy="1005840"/>
          </a:xfrm>
          <a:prstGeom prst="roundRect">
            <a:avLst>
              <a:gd name="adj" fmla="val 10909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  <a:effectLst>
            <a:outerShdw sx="100000" sy="100000" kx="0" ky="0" algn="bl" rotWithShape="0" blurRad="101600" dist="38100" dir="2700000">
              <a:srgbClr val="9E9488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126480" y="1618488"/>
            <a:ext cx="237744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</a:t>
            </a:r>
            <a:endParaRPr lang="en-US" sz="3400" dirty="0"/>
          </a:p>
        </p:txBody>
      </p:sp>
      <p:sp>
        <p:nvSpPr>
          <p:cNvPr id="48" name="Text 46"/>
          <p:cNvSpPr/>
          <p:nvPr/>
        </p:nvSpPr>
        <p:spPr>
          <a:xfrm>
            <a:off x="6126480" y="207203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126480" y="232806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Recover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74320" y="2788920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27889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Alert Fired  →  Notification Sent  →  Acknowledged  →  Root Cause Found  →  Mitigated  →  Postmortem Complete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Every alert should have a clear owner and runbook; production-impacting incidents must complete a postmortem within 48 hours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SLI, SLO, SLA Definitions &amp; Differences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566928"/>
            <a:ext cx="2865120" cy="354787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 (Service Level Indicator)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measured value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Request success rate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value: 99.95%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latency: 180ms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from real traffic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39440" y="566928"/>
            <a:ext cx="2865120" cy="354787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(Service Level Objective)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target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≥ 99.9% success rate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by engineering team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stricter than SLA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error budget policy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096000" y="566928"/>
            <a:ext cx="2865120" cy="354787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(Service Level Agreement)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Contractual commitment to customers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Promise: ≥ 99.5% success rate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Agreed upon with customers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 triggers financial penalties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more lenient than SLO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74320" y="4078224"/>
            <a:ext cx="8595360" cy="274320"/>
          </a:xfrm>
          <a:prstGeom prst="roundRect">
            <a:avLst>
              <a:gd name="adj" fmla="val 23333"/>
            </a:avLst>
          </a:prstGeom>
          <a:solidFill>
            <a:srgbClr val="F3EDE0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407822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Core Principle: SLO must be stricter than SLA | SLI=99.95% → SLO=99.9% → SLA=99.5%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274320" y="4626864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4672584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SLO is your internal target, SLA is your commitment to customers — always keep SLO &gt; SLA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Budget: The Compass of Reliability Engineering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 = 1 − SLO  →  99.9% SLO = 0.1% budget ≈ ~43.8 min downtime/month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107899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Budget Consumption (Example: 68% used)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4320" y="1298448"/>
            <a:ext cx="8595360" cy="237744"/>
          </a:xfrm>
          <a:prstGeom prst="roundRect">
            <a:avLst>
              <a:gd name="adj" fmla="val 19231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1298448"/>
            <a:ext cx="5844845" cy="237744"/>
          </a:xfrm>
          <a:prstGeom prst="roundRect">
            <a:avLst>
              <a:gd name="adj" fmla="val 19231"/>
            </a:avLst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1298448"/>
            <a:ext cx="584484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1700784"/>
            <a:ext cx="8595360" cy="493776"/>
          </a:xfrm>
          <a:prstGeom prst="roundRect">
            <a:avLst>
              <a:gd name="adj" fmla="val 14815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173736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Budget Healthy (&lt; 50% used)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89120" y="1737360"/>
            <a:ext cx="4297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freely · Experiment boldly · Ship features aggressively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2304288"/>
            <a:ext cx="8595360" cy="493776"/>
          </a:xfrm>
          <a:prstGeom prst="roundRect">
            <a:avLst>
              <a:gd name="adj" fmla="val 14815"/>
            </a:avLst>
          </a:prstGeom>
          <a:solidFill>
            <a:srgbClr val="F3EDE0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340864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Budget Warning (50–90% used)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389120" y="2340864"/>
            <a:ext cx="4297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down releases · Investigate reliability issues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907792"/>
            <a:ext cx="8595360" cy="493776"/>
          </a:xfrm>
          <a:prstGeom prst="roundRect">
            <a:avLst>
              <a:gd name="adj" fmla="val 14815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944368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Budget Exhausted (≥ 100% used)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389120" y="2944368"/>
            <a:ext cx="4297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deployments · Enter incident mode · SRE + Dev focus on reliability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Error budget is the shared contract between Product and SRE — when budget is exhausted, reliability takes priority over velocity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Engineer Responsibilities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&amp; Reliability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SLOs, track SLIs, maintain service health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231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231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0235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Planning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0235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growth, scale proactively before overload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362456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472" y="142646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141732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" y="1399032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&amp; Efficiency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7512" y="1591056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latency, throughput, and resource utilization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09160" y="1362456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82312" y="142646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82312" y="141732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02352" y="1399032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(Safe Deploy)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02352" y="1591056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deployments, Feature Flags, Canary releases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2130552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" y="219456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" y="218541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512" y="2167128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Alerting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67512" y="2359152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dashboards, tune alerts, reduce noise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09160" y="2130552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82312" y="219456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218541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102352" y="2167128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Incident Response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102352" y="2359152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 rotation, incident command, runbooks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3547872"/>
            <a:ext cx="8595360" cy="402336"/>
          </a:xfrm>
          <a:prstGeom prst="roundRect">
            <a:avLst>
              <a:gd name="adj" fmla="val 18182"/>
            </a:avLst>
          </a:prstGeom>
          <a:solidFill>
            <a:srgbClr val="ECE6DD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3547872"/>
            <a:ext cx="8229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50% Rule: SREs should spend less than 50% of their time on toil; the rest goes to engineering improvements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274320" y="437083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44165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SRE is not just operations — it's applying software engineering to reliability problems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Toil: What It Is and Why It Matters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Toil: Manual · Repetitive · Automatable · Scales linearly with growth · No lasting value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1042416"/>
            <a:ext cx="416052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1042416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Toil Examples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09160" y="1042416"/>
            <a:ext cx="416052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18888" y="1042416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Non-Toil (Engineering Value)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1463040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7472" y="152704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7472" y="151790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" y="1499616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SSH into each server to deploy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1883664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472" y="194767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193852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" y="1920240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Ticket-driven capacity adjustments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4320" y="2304288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472" y="236829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7472" y="235915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7512" y="2340864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runbooks from scratch every time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74320" y="2724912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7472" y="278892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7472" y="277977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67512" y="2761488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restarting crashed Pods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74320" y="3145536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472" y="320954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7472" y="320040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67512" y="3182112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Copy-pasting configs between environments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09160" y="1463040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82312" y="152704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82312" y="151790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102352" y="1499616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CI/CD pipelines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09160" y="1883664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82312" y="194767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82312" y="193852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102352" y="1920240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auto-scaling controllers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709160" y="2304288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82312" y="236829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82312" y="235915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102352" y="2340864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self-healing runbooks once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709160" y="2724912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782312" y="278892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82312" y="277977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102352" y="2761488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Implementing auto-restart with health checks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4709160" y="3145536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782312" y="320954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82312" y="320040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102352" y="3182112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Terraform for Infrastructure as Code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274320" y="4526280"/>
            <a:ext cx="8595360" cy="256032"/>
          </a:xfrm>
          <a:prstGeom prst="roundRect">
            <a:avLst>
              <a:gd name="adj" fmla="val 25000"/>
            </a:avLst>
          </a:prstGeom>
          <a:solidFill>
            <a:srgbClr val="ECE6DD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Goal: Automate toil away and keep toil under 50% of total time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 Design Principles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Must Be Actionable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alert needs clear response steps; otherwise it's noise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231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231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0235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on Symptoms, Not Causes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0235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on 'users experiencing latency', not 'CPU usage high'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37160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472" y="143560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142646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" y="140817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Alert Needs a Runbook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7512" y="160020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on-call engineer should be able to follow the steps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09160" y="137160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82312" y="143560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82312" y="142646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🔕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02352" y="140817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Alert Fatigue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02352" y="160020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false positives make engineers ignore all alerts, destroying team culture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214884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" y="221284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" y="220370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512" y="218541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Must Be Sustainable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67512" y="237744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cycles must not cause burnout; ensure sufficient backup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09160" y="214884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82312" y="221284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220370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102352" y="218541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+ Secondary On-call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102352" y="237744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coverage ensures adequate support for major incidents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Gold standard for alert design: when an alert fires at 3 AM, the on-call engineer knows exactly what to do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Writing Guide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= Step-by-step guide for handling a specific alert — enables any on-call engineer to resolve independently, not just experts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1115568"/>
            <a:ext cx="8595360" cy="3246120"/>
          </a:xfrm>
          <a:prstGeom prst="roundRect">
            <a:avLst>
              <a:gd name="adj" fmla="val 2817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sx="100000" sy="100000" kx="0" ky="0" algn="bl" rotWithShape="0" blurRad="127000" dist="50800" dir="2700000">
              <a:srgbClr val="9E9488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9692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9692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Markdown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02336" y="1225296"/>
            <a:ext cx="8339328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Runbook: High Error Rate Alert (high-error-rate)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Alert Description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Service: payment-service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Condition: error_rate &gt; 1% for 5 minutes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Impact Scope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Users: Unable to complete checkout flow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Investigation Steps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Check Grafana Dashboard: payment-service overview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Identify failing endpoint: /api/checkout vs /api/refund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Check Loki logs: {service="payment"} |= "ERROR"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Trace related spans: Click Exemplar in Grafana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Mitigation Steps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If recent deploy → Rollback immediately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If DB connection issue → Restart connection pool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If Stripe API issue → Enable degraded mode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Escalation Path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Not mitigated in 15 min → Notify Tech Lead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Not mitigated in 30 min → Initiate P1 incident process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461772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A good runbook enables even the most junior on-call engineer to handle incidents — after writing, have a colleague test if the steps actually work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Blameless Postmortem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E5F0E9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Core Principle: Review systems, not people — individuals made reasonable decisions within a flawed system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1042416"/>
            <a:ext cx="4160520" cy="658368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109728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Reconstruction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" y="135331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events in chronological order to establish clear cause-and-effect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17720" y="1042416"/>
            <a:ext cx="4160520" cy="658368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7448" y="109728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Analysis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27448" y="135331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5 Whys to drill down layer by layer and find systemic root causes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1792224"/>
            <a:ext cx="4160520" cy="658368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184708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Assessment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" y="210312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impact: affected users, duration, revenue loss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17720" y="1792224"/>
            <a:ext cx="4160520" cy="658368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27448" y="184708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Items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27448" y="210312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Specific, trackable improvement measures with assigned owners and deadlines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2633472"/>
            <a:ext cx="8595360" cy="1325880"/>
          </a:xfrm>
          <a:prstGeom prst="roundRect">
            <a:avLst>
              <a:gd name="adj" fmla="val 6207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2679192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Whys Example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7200" y="2944368"/>
            <a:ext cx="8229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Why did the service go down? → DB connections exhausted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3136392"/>
            <a:ext cx="8229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Why exhausted? → Connections not properly released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3328416"/>
            <a:ext cx="8229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Why not released? → Missing finally block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3520440"/>
            <a:ext cx="8229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Why missing? → No code review checklist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3712464"/>
            <a:ext cx="8229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Fix: Establish a code review checklist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425196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42976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Google SRE culture: Postmortems are learning opportunities, not punishment — sharing openly benefits the entire organization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Maturity Model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76072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F5F1E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576072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ECE6DD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62179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0 (Critical)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621792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Monitoring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0" y="621792"/>
            <a:ext cx="4663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Outages discovered from customer complaints; fully reactive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1170432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" y="1170432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ECE6DD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21615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 (Warning)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1216152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Metrics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0" y="1216152"/>
            <a:ext cx="4663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&amp; memory monitoring, manual alert checking, no auto-notification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1764792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F5F1EB"/>
          </a:solidFill>
          <a:ln w="12700">
            <a:solidFill>
              <a:srgbClr val="8A807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" y="1764792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ECE6DD"/>
          </a:solidFill>
          <a:ln w="12700">
            <a:solidFill>
              <a:srgbClr val="8A80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18105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286000" y="1810512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Logging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0" y="1810512"/>
            <a:ext cx="4663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structured logs + basic dashboards, searchable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74320" y="2359152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4320" y="2359152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ECE6DD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240487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286000" y="2404872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Tracing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114800" y="2404872"/>
            <a:ext cx="4663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Tracing + Correlation ID, cross-service tracing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74320" y="2953512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4320" y="2953512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ECE6DD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299923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286000" y="2999232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SLO-Driven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114800" y="2999232"/>
            <a:ext cx="4663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SLO-based alerting + error budget management, user-experience focused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74320" y="3547872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4320" y="3547872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ECE6DD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359359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5 (Target)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286000" y="3593592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Observability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114800" y="3593592"/>
            <a:ext cx="4663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OTel, auto-remediation, AIOps anomaly detection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74320" y="417880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422452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Most teams are at Level 2–3 — aim for Level 4 (SLO-driven); Level 5 is the long-term goal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Cost Control Strategies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 Observability is not free: storage, compute, and network all cost money — target 5–10% of infra cost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1060704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7472" y="112471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" y="111556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" y="1097280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Sampling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67512" y="1289304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log all DEBUG in production; dynamically adjust log levels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09160" y="1060704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82312" y="112471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82312" y="111556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102352" y="1097280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Cardinality Cap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102352" y="1289304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high-cardinality labels (e.g. user_id) — they blow up Prometheus memory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1792224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472" y="185623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" y="184708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" y="1828800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Sampling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7512" y="2020824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1–10% sampling rate; reduce sampling for high-traffic paths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09160" y="1792224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82312" y="185623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82312" y="184708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102352" y="1828800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Retention Policy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102352" y="2020824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data 7 days, warm data 30 days, cold data archived for 1 year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74320" y="3200400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F3EDE0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320040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Principle: Observability cost should be 5–10% of infra cost — exceeding that signals a design problem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65760" y="3657600"/>
            <a:ext cx="2560320" cy="685800"/>
          </a:xfrm>
          <a:prstGeom prst="roundRect">
            <a:avLst>
              <a:gd name="adj" fmla="val 16000"/>
            </a:avLst>
          </a:prstGeom>
          <a:solidFill>
            <a:srgbClr val="F5F1EB"/>
          </a:solidFill>
          <a:ln w="19050">
            <a:solidFill>
              <a:srgbClr val="C4605B"/>
            </a:solidFill>
            <a:prstDash val="solid"/>
          </a:ln>
          <a:effectLst>
            <a:outerShdw sx="100000" sy="100000" kx="0" ky="0" algn="bl" rotWithShape="0" blurRad="101600" dist="38100" dir="2700000">
              <a:srgbClr val="9E9488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57200" y="3767328"/>
            <a:ext cx="237744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days</a:t>
            </a:r>
            <a:endParaRPr lang="en-US" sz="3400" dirty="0"/>
          </a:p>
        </p:txBody>
      </p:sp>
      <p:sp>
        <p:nvSpPr>
          <p:cNvPr id="35" name="Text 33"/>
          <p:cNvSpPr/>
          <p:nvPr/>
        </p:nvSpPr>
        <p:spPr>
          <a:xfrm>
            <a:off x="457200" y="404164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Data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200400" y="3657600"/>
            <a:ext cx="2560320" cy="685800"/>
          </a:xfrm>
          <a:prstGeom prst="roundRect">
            <a:avLst>
              <a:gd name="adj" fmla="val 16000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  <a:effectLst>
            <a:outerShdw sx="100000" sy="100000" kx="0" ky="0" algn="bl" rotWithShape="0" blurRad="101600" dist="38100" dir="2700000">
              <a:srgbClr val="9E9488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3291840" y="3767328"/>
            <a:ext cx="237744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</a:t>
            </a:r>
            <a:endParaRPr lang="en-US" sz="3400" dirty="0"/>
          </a:p>
        </p:txBody>
      </p:sp>
      <p:sp>
        <p:nvSpPr>
          <p:cNvPr id="38" name="Text 36"/>
          <p:cNvSpPr/>
          <p:nvPr/>
        </p:nvSpPr>
        <p:spPr>
          <a:xfrm>
            <a:off x="3291840" y="404164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Data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035040" y="3657600"/>
            <a:ext cx="2560320" cy="685800"/>
          </a:xfrm>
          <a:prstGeom prst="roundRect">
            <a:avLst>
              <a:gd name="adj" fmla="val 16000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  <a:effectLst>
            <a:outerShdw sx="100000" sy="100000" kx="0" ky="0" algn="bl" rotWithShape="0" blurRad="101600" dist="38100" dir="2700000">
              <a:srgbClr val="9E9488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126480" y="3767328"/>
            <a:ext cx="237744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year</a:t>
            </a:r>
            <a:endParaRPr lang="en-US" sz="3400" dirty="0"/>
          </a:p>
        </p:txBody>
      </p:sp>
      <p:sp>
        <p:nvSpPr>
          <p:cNvPr id="41" name="Text 39"/>
          <p:cNvSpPr/>
          <p:nvPr/>
        </p:nvSpPr>
        <p:spPr>
          <a:xfrm>
            <a:off x="6126480" y="404164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Data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74320" y="4626864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672584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High cardinality is Prometheus's biggest cost trap — never use user_id as a label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Observability Anti-patterns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 on Everything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fatigue causes engineers to ignore all alerts, including critical ones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231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231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0235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Unstructured Logs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0235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Grep hell — searching plain-text logs with grep doesn't scale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399032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472" y="146304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145389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" y="1435608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Sprawl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7512" y="1627632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dashboards but nobody knows which to look at, and nobody maintains them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09160" y="1399032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82312" y="146304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82312" y="145389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02352" y="1435608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Trace Sampling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02352" y="1627632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Collecting 100% of traces causes storage costs to explode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2203704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" y="226771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" y="225856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512" y="2240280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SLOs Defined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67512" y="2432304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objectively measure reliability or make data-driven decisions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09160" y="2203704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82312" y="226771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225856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102352" y="2240280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Only in Production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102352" y="2432304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should be caught in dev; discovering them late costs the most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36576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37033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Observability anti-patterns are accumulated debt — each one increases MTTR for the next incident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Complete Ecosystem Overview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658368"/>
            <a:ext cx="1645920" cy="640080"/>
          </a:xfrm>
          <a:prstGeom prst="roundRect">
            <a:avLst>
              <a:gd name="adj" fmla="val 8571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658368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" y="658368"/>
            <a:ext cx="1316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SDK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82880" y="1481328"/>
            <a:ext cx="1645920" cy="640080"/>
          </a:xfrm>
          <a:prstGeom prst="roundRect">
            <a:avLst>
              <a:gd name="adj" fmla="val 8571"/>
            </a:avLst>
          </a:prstGeom>
          <a:solidFill>
            <a:srgbClr val="F5F1E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" y="1481328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☕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" y="1481328"/>
            <a:ext cx="1316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SDK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82880" y="2304288"/>
            <a:ext cx="1645920" cy="640080"/>
          </a:xfrm>
          <a:prstGeom prst="roundRect">
            <a:avLst>
              <a:gd name="adj" fmla="val 8571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" y="2304288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🐹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" y="2304288"/>
            <a:ext cx="1316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SDK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82880" y="3127248"/>
            <a:ext cx="1645920" cy="640080"/>
          </a:xfrm>
          <a:prstGeom prst="roundRect">
            <a:avLst>
              <a:gd name="adj" fmla="val 8571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" y="3127248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🟩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" y="3127248"/>
            <a:ext cx="1316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SDK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828800" y="978408"/>
            <a:ext cx="457200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828800" y="1801368"/>
            <a:ext cx="457200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1828800" y="2624328"/>
            <a:ext cx="457200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1828800" y="3447288"/>
            <a:ext cx="457200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2331720" y="658368"/>
            <a:ext cx="2286000" cy="3456432"/>
          </a:xfrm>
          <a:prstGeom prst="roundRect">
            <a:avLst>
              <a:gd name="adj" fmla="val 4800"/>
            </a:avLst>
          </a:prstGeom>
          <a:solidFill>
            <a:srgbClr val="F5F1EB"/>
          </a:solidFill>
          <a:ln w="25400">
            <a:solidFill>
              <a:srgbClr val="4A996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31720" y="74980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🔧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2331720" y="126187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Collector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423160" y="166420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· Process · Export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423160" y="193852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/ Metrics / Logs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423160" y="221284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Multi-backend output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423160" y="248716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· Filtering · Transform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17720" y="1280160"/>
            <a:ext cx="457200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4617720" y="2743200"/>
            <a:ext cx="457200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5074920" y="658368"/>
            <a:ext cx="1828800" cy="1664208"/>
          </a:xfrm>
          <a:prstGeom prst="roundRect">
            <a:avLst>
              <a:gd name="adj" fmla="val 5495"/>
            </a:avLst>
          </a:prstGeom>
          <a:ln w="12700">
            <a:solidFill>
              <a:srgbClr val="4A9968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5166360" y="5120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84648" y="5120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166360" y="914400"/>
            <a:ext cx="1645920" cy="329184"/>
          </a:xfrm>
          <a:prstGeom prst="roundRect">
            <a:avLst>
              <a:gd name="adj" fmla="val 16667"/>
            </a:avLst>
          </a:prstGeom>
          <a:solidFill>
            <a:srgbClr val="ECE6DD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166360" y="91440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166360" y="1353312"/>
            <a:ext cx="1645920" cy="329184"/>
          </a:xfrm>
          <a:prstGeom prst="roundRect">
            <a:avLst>
              <a:gd name="adj" fmla="val 16667"/>
            </a:avLst>
          </a:prstGeom>
          <a:solidFill>
            <a:srgbClr val="ECE6DD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166360" y="1353312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166360" y="1792224"/>
            <a:ext cx="1645920" cy="329184"/>
          </a:xfrm>
          <a:prstGeom prst="roundRect">
            <a:avLst>
              <a:gd name="adj" fmla="val 16667"/>
            </a:avLst>
          </a:prstGeom>
          <a:solidFill>
            <a:srgbClr val="ECE6DD"/>
          </a:solidFill>
          <a:ln w="9525">
            <a:solidFill>
              <a:srgbClr val="5A9B6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792224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/ Tempo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074920" y="2414016"/>
            <a:ext cx="1828800" cy="1700784"/>
          </a:xfrm>
          <a:prstGeom prst="roundRect">
            <a:avLst>
              <a:gd name="adj" fmla="val 5376"/>
            </a:avLst>
          </a:prstGeom>
          <a:ln w="12700">
            <a:solidFill>
              <a:srgbClr val="B8892C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5166360" y="2267712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B8892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84648" y="2267712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166360" y="2651760"/>
            <a:ext cx="1645920" cy="329184"/>
          </a:xfrm>
          <a:prstGeom prst="roundRect">
            <a:avLst>
              <a:gd name="adj" fmla="val 16667"/>
            </a:avLst>
          </a:prstGeom>
          <a:solidFill>
            <a:srgbClr val="ECE6DD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166360" y="265176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Datadog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166360" y="3090672"/>
            <a:ext cx="1645920" cy="329184"/>
          </a:xfrm>
          <a:prstGeom prst="roundRect">
            <a:avLst>
              <a:gd name="adj" fmla="val 16667"/>
            </a:avLst>
          </a:prstGeom>
          <a:solidFill>
            <a:srgbClr val="ECE6DD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166360" y="3090672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Relic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166360" y="3529584"/>
            <a:ext cx="1645920" cy="329184"/>
          </a:xfrm>
          <a:prstGeom prst="roundRect">
            <a:avLst>
              <a:gd name="adj" fmla="val 16667"/>
            </a:avLst>
          </a:prstGeom>
          <a:solidFill>
            <a:srgbClr val="ECE6DD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166360" y="3529584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Honeycomb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995160" y="658368"/>
            <a:ext cx="1920240" cy="3456432"/>
          </a:xfrm>
          <a:prstGeom prst="roundRect">
            <a:avLst>
              <a:gd name="adj" fmla="val 4762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40880" y="74980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 Vendor Portability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040880" y="1133856"/>
            <a:ext cx="18288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backends without modifying application code — just change the Collector export config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OTel is the USB standard for observability — instrument once, switch any backend, protect your investment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Pre-launch Checklist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services define RED metrics (Rate, Errors, Duration)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231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231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0235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0235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structured logs with Correlation ID, no sensitive data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41732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472" y="148132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147218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" y="145389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7512" y="164592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SDK integrated, sampling configured, Context Propagation working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09160" y="141732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82312" y="148132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82312" y="147218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02352" y="145389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02352" y="164592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SLO has an alert, every alert has a Runbook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224028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" y="230428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" y="229514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512" y="227685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67512" y="246888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overview dashboard, dependency graph, SLO dashboard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09160" y="224028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82312" y="230428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229514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102352" y="227685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102352" y="246888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 rotation set, escalation policy defined, postmortem process established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The pre-launch checklist is not a formality — every gap is the reason the next 3 AM incident can't be resolved quickly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Complete: The Full Cloud Native Journey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30352"/>
            <a:ext cx="8595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Congratulations on completing the full Cloud Native course!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9768" y="1005840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" y="106984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🖥️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5488" y="14264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Deploy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" y="1664208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server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984248" y="1463040"/>
            <a:ext cx="128016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2112264" y="1005840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12264" y="106984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⚖️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57984" y="14264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57984" y="1664208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Multi-server + LB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666744" y="1463040"/>
            <a:ext cx="128016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3794760" y="1005840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94760" y="106984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🐳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840480" y="14264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Containerization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40480" y="1664208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consistent env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5349240" y="1463040"/>
            <a:ext cx="128016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5477256" y="1005840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77256" y="106984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📐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522976" y="14264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22976" y="1664208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native principles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7031736" y="1463040"/>
            <a:ext cx="128016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7159752" y="1005840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59752" y="106984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🔄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205472" y="14264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205472" y="1664208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pipelines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29768" y="2084832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9768" y="2148840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🛡️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75488" y="25054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75488" y="27432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engineering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1984248" y="2542032"/>
            <a:ext cx="128016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39" name="Shape 37"/>
          <p:cNvSpPr/>
          <p:nvPr/>
        </p:nvSpPr>
        <p:spPr>
          <a:xfrm>
            <a:off x="2112264" y="2084832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12264" y="2148840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📈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2157984" y="25054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157984" y="27432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Prometheus+Grafana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666744" y="2542032"/>
            <a:ext cx="128016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>
            <a:off x="3794760" y="2084832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794760" y="2148840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📋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3840480" y="25054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840480" y="27432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ELK+Loki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349240" y="2542032"/>
            <a:ext cx="128016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49" name="Shape 47"/>
          <p:cNvSpPr/>
          <p:nvPr/>
        </p:nvSpPr>
        <p:spPr>
          <a:xfrm>
            <a:off x="5477256" y="2084832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77256" y="2148840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🔍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5522976" y="25054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522976" y="27432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OTel+Jaeger+Tempo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031736" y="2542032"/>
            <a:ext cx="128016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54" name="Shape 52"/>
          <p:cNvSpPr/>
          <p:nvPr/>
        </p:nvSpPr>
        <p:spPr>
          <a:xfrm>
            <a:off x="7159752" y="2084832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E5F0E9"/>
          </a:solidFill>
          <a:ln w="22860">
            <a:solidFill>
              <a:srgbClr val="4A996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159752" y="2148840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🎯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7205472" y="25054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Observability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7205472" y="27432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pillars unified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274320" y="3090672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You now have the skills to deploy and operate distributed systems in the real world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28600" y="3438144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28600" y="343814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150 Slides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2514600" y="3438144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514600" y="343814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10 Topics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800600" y="3438144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800600" y="343814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Full-stack to SRE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7086600" y="3438144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086600" y="343814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Cloud Native Ready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Next steps: Kubernetes · Service Mesh (Istio) · GitOps (Argo CD / Flux) · FinOps · Platform Engineering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2026-04-03T16:24:52Z</dcterms:created>
  <dcterms:modified xsi:type="dcterms:W3CDTF">2026-04-03T16:24:52Z</dcterms:modified>
</cp:coreProperties>
</file>