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029200"/>
  <p:notesSz cx="50292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Integration: Grafana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7/10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672084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SRE  · 136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7190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4414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Observability UI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91440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96926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9184" y="1389888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0896" y="1618488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3774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243230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9184" y="2852928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0896" y="3081528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772400" y="91440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6E40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0" y="96926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827264" y="1389888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08976" y="1618488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772400" y="23774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0" y="243230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827264" y="2852928"/>
            <a:ext cx="12618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AlertMgr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08976" y="3081528"/>
            <a:ext cx="1298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664208" y="1399032"/>
            <a:ext cx="1828800" cy="0"/>
          </a:xfrm>
          <a:prstGeom prst="line">
            <a:avLst/>
          </a:prstGeom>
          <a:noFill/>
          <a:ln w="19050">
            <a:solidFill>
              <a:srgbClr val="D29922"/>
            </a:solidFill>
            <a:prstDash val="solid"/>
            <a:tailEnd type="arrow"/>
          </a:ln>
        </p:spPr>
      </p:sp>
      <p:sp>
        <p:nvSpPr>
          <p:cNvPr id="30" name="Text 28"/>
          <p:cNvSpPr/>
          <p:nvPr/>
        </p:nvSpPr>
        <p:spPr>
          <a:xfrm>
            <a:off x="1618488" y="124358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PromQL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64208" y="2862072"/>
            <a:ext cx="1828800" cy="0"/>
          </a:xfrm>
          <a:prstGeom prst="line">
            <a:avLst/>
          </a:prstGeom>
          <a:noFill/>
          <a:ln w="19050">
            <a:solidFill>
              <a:srgbClr val="F85149"/>
            </a:solidFill>
            <a:prstDash val="solid"/>
            <a:tailEnd type="arrow"/>
          </a:ln>
        </p:spPr>
      </p:sp>
      <p:sp>
        <p:nvSpPr>
          <p:cNvPr id="32" name="Text 30"/>
          <p:cNvSpPr/>
          <p:nvPr/>
        </p:nvSpPr>
        <p:spPr>
          <a:xfrm>
            <a:off x="1618488" y="270662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LogQL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87568" y="1399032"/>
            <a:ext cx="2084832" cy="0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5641848" y="1243584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TraceQL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687568" y="2862072"/>
            <a:ext cx="2084832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arrow"/>
          </a:ln>
        </p:spPr>
      </p:sp>
      <p:sp>
        <p:nvSpPr>
          <p:cNvPr id="36" name="Text 34"/>
          <p:cNvSpPr/>
          <p:nvPr/>
        </p:nvSpPr>
        <p:spPr>
          <a:xfrm>
            <a:off x="5641848" y="2706624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370332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7307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Click a metric spike → find correlated trace → see exact log lines — all within Grafana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44622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507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Grafana Stack = Prometheus + Loki + Tempo + Grafana — open source, vendor-neutral, fully integrated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→ Incident → Postmortem 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SRE  · 137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1371600"/>
            <a:ext cx="118872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4447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" y="18470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20848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triggered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15568" y="1243584"/>
            <a:ext cx="256032" cy="256032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1243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99032" y="1911096"/>
            <a:ext cx="30175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700784" y="1371600"/>
            <a:ext cx="118872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00784" y="14447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📣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46504" y="18470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46504" y="20848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PagerDuty/Slack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33472" y="1243584"/>
            <a:ext cx="256032" cy="256032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33472" y="1243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16936" y="1911096"/>
            <a:ext cx="30175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3218688" y="1371600"/>
            <a:ext cx="118872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18688" y="14447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✋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264408" y="18470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64408" y="20848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engineer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page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51376" y="1243584"/>
            <a:ext cx="256032" cy="256032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51376" y="1243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34840" y="1911096"/>
            <a:ext cx="30175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4736592" y="1371600"/>
            <a:ext cx="118872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14447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782312" y="18470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82312" y="20848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669280" y="1243584"/>
            <a:ext cx="256032" cy="256032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1243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52744" y="1911096"/>
            <a:ext cx="30175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6254496" y="1371600"/>
            <a:ext cx="118872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14447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300216" y="18470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0216" y="20848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 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87184" y="1243584"/>
            <a:ext cx="256032" cy="25603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87184" y="1243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70648" y="1911096"/>
            <a:ext cx="30175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7772400" y="1371600"/>
            <a:ext cx="1188720" cy="1097280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0" y="14447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818120" y="18470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Postmortem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818120" y="20848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48h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 review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705088" y="1243584"/>
            <a:ext cx="256032" cy="25603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05088" y="1243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283464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290779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MTTA (mean time to ack): 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103120" y="290779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383280" y="290779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MTTD (mean time to detect): 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937760" y="290779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217920" y="290779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(mean time to recover): 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772400" y="290779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min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4320" y="44622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507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Every alert should have a clear owner, a runbook, and lead to a postmortem if it was production-impacting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SLI, SLO, and SLA Defined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SRE  · 138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585216"/>
            <a:ext cx="2865120" cy="3639312"/>
          </a:xfrm>
          <a:prstGeom prst="roundRect">
            <a:avLst>
              <a:gd name="adj" fmla="val 3191"/>
            </a:avLst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585216"/>
            <a:ext cx="286512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603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" y="585216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SLI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" y="1197864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133856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Indicator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" y="1335024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measurement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0896" y="1600200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153619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request success rate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0896" y="2002536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193852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value: 99.95%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0896" y="2404872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34086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latency: 180ms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0896" y="2807208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74320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real traffic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39440" y="585216"/>
            <a:ext cx="2865120" cy="3639312"/>
          </a:xfrm>
          <a:prstGeom prst="roundRect">
            <a:avLst>
              <a:gd name="adj" fmla="val 3191"/>
            </a:avLst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39440" y="585216"/>
            <a:ext cx="286512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39440" y="603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🏹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560064" y="585216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SLO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67456" y="1197864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32048" y="1133856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Objective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32048" y="1335024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target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67456" y="1600200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2048" y="153619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99.9% success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67456" y="2002536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32048" y="193852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engineering team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67456" y="2404872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32048" y="234086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than SLA (buffer!)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67456" y="2807208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32048" y="274320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Error Budget policy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96000" y="585216"/>
            <a:ext cx="2865120" cy="3639312"/>
          </a:xfrm>
          <a:prstGeom prst="roundRect">
            <a:avLst>
              <a:gd name="adj" fmla="val 3191"/>
            </a:avLst>
          </a:prstGeom>
          <a:solidFill>
            <a:srgbClr val="161B22"/>
          </a:solidFill>
          <a:ln w="15240">
            <a:solidFill>
              <a:srgbClr val="D2992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96000" y="585216"/>
            <a:ext cx="2865120" cy="47548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96000" y="603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516624" y="585216"/>
            <a:ext cx="240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SLA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24016" y="1197864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8608" y="1133856"/>
            <a:ext cx="2481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Agreement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388608" y="1335024"/>
            <a:ext cx="2481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promise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224016" y="1600200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8608" y="1536192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Promise: ≥ 99.5% success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24016" y="2002536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8608" y="1938528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with customers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24016" y="2404872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8608" y="2340864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= financial penalty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24016" y="2807208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8608" y="2743200"/>
            <a:ext cx="2481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looser than SLO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74320" y="3584448"/>
            <a:ext cx="8595360" cy="475488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61188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Key Rule: SLO must be STRICTER than SLA  |  SLI=99.95%  →  SLO=99.9%  →  SLA=99.5%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74320" y="4306824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35254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SLO 是你的內部目標，SLA 是你對客戶的承諾，永遠讓 SLO &gt; SLA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7/10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672084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SRE  · 139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8595360" cy="475488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126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  =  1 − SLO   →   99.9% SLO  =  0.1% budget  ≈  43.8 min downtime per month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104241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Consumption This Month (example: 68% used)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298448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298448"/>
            <a:ext cx="5596128" cy="347472"/>
          </a:xfrm>
          <a:prstGeom prst="roundRect">
            <a:avLst>
              <a:gd name="adj" fmla="val 15789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298448"/>
            <a:ext cx="5596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901952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385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Budget Healthy (&lt; 50% used)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21762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freely · run experiments · launch features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523744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603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Budget Burning (50–90% used)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279806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 releases · investigate reliability issues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145536"/>
            <a:ext cx="8595360" cy="530352"/>
          </a:xfrm>
          <a:prstGeom prst="roundRect">
            <a:avLst>
              <a:gd name="adj" fmla="val 13793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821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Budget Exhausted (≥ 100% used)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4198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deployments · incident mode · SRE+Dev focus on reliability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4622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507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Error budget is a shared contract between product and SRE — when it's gone, reliability wins over velocity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Responsibilities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SRE  · 140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658368"/>
            <a:ext cx="4160520" cy="621792"/>
          </a:xfrm>
          <a:prstGeom prst="roundRect">
            <a:avLst>
              <a:gd name="adj" fmla="val 13235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658368"/>
            <a:ext cx="5120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71323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Reliability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9692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SLOs, track SLIs, maintain uptime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0" y="658368"/>
            <a:ext cx="4160520" cy="621792"/>
          </a:xfrm>
          <a:prstGeom prst="roundRect">
            <a:avLst>
              <a:gd name="adj" fmla="val 13235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658368"/>
            <a:ext cx="5120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49240" y="71323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49240" y="9692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growth, provision before overload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1389888"/>
            <a:ext cx="4160520" cy="621792"/>
          </a:xfrm>
          <a:prstGeom prst="roundRect">
            <a:avLst>
              <a:gd name="adj" fmla="val 13235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1389888"/>
            <a:ext cx="5120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" y="144475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Efficiency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17007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latency, throughput, resource usage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1389888"/>
            <a:ext cx="4160520" cy="621792"/>
          </a:xfrm>
          <a:prstGeom prst="roundRect">
            <a:avLst>
              <a:gd name="adj" fmla="val 13235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389888"/>
            <a:ext cx="5120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49240" y="144475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49240" y="17007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deploys, feature flags, canary releases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2121408"/>
            <a:ext cx="4160520" cy="621792"/>
          </a:xfrm>
          <a:prstGeom prst="roundRect">
            <a:avLst>
              <a:gd name="adj" fmla="val 13235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2121408"/>
            <a:ext cx="5120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" y="217627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" y="243230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dashboards, tune alerts, reduce noise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2121408"/>
            <a:ext cx="4160520" cy="621792"/>
          </a:xfrm>
          <a:prstGeom prst="roundRect">
            <a:avLst>
              <a:gd name="adj" fmla="val 13235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121408"/>
            <a:ext cx="5120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349240" y="217627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49240" y="243230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rotation, incident command, runbooks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971800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1C2128"/>
          </a:solidFill>
          <a:ln w="15240">
            <a:solidFill>
              <a:srgbClr val="D299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01752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The 50% Rule: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920240" y="3017520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should spend LESS than 50% of time on toil (manual, repetitive, automatable work). The rest goes to engineering work that improves the system.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7490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794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SRE is NOT just ops — it's software engineering applied to reliability problems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Toil: What It Is and Why It Matters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SRE  · 141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2179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Toil: manual · repetitive · automatable · scales O(n) with service growth · lacks enduring value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2880" y="118872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2A0F0F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Toil Examples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16276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Manually SSH to deploy each release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197510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Ticket-driven capacity provisioning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3225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Hand-crafting runbooks from scratch every time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67004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Manually restarting crashed pods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01752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Copy-pasting configs between environments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18872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Non-Toil (Engineering Value)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16276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Building a CI/CD pipeline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197510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Writing an auto-scaler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3225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Creating a self-healing runbook once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67004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Implementing auto-restart with health checks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01752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Infra-as-Code with Terraform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70332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49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Goal: automate away toil continuously — keep it under 50% of SRE time, track it as a metric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Design Principles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SRE  · 142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621792"/>
            <a:ext cx="4160520" cy="640080"/>
          </a:xfrm>
          <a:prstGeom prst="roundRect">
            <a:avLst>
              <a:gd name="adj" fmla="val 12857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621792"/>
            <a:ext cx="512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68580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must be actionable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95097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action needed, it's not an alert — it's noise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0" y="621792"/>
            <a:ext cx="4160520" cy="640080"/>
          </a:xfrm>
          <a:prstGeom prst="roundRect">
            <a:avLst>
              <a:gd name="adj" fmla="val 12857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621792"/>
            <a:ext cx="512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🩺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49240" y="68580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symptoms, not causes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49240" y="95097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'error rate &gt; 1%', not 'disk inode usage high'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1371600"/>
            <a:ext cx="4160520" cy="640080"/>
          </a:xfrm>
          <a:prstGeom prst="roundRect">
            <a:avLst>
              <a:gd name="adj" fmla="val 12857"/>
            </a:avLst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1371600"/>
            <a:ext cx="512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1435608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needs a runbook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17007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in the alert body — zero excuse for undocumented pages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1371600"/>
            <a:ext cx="4160520" cy="640080"/>
          </a:xfrm>
          <a:prstGeom prst="roundRect">
            <a:avLst>
              <a:gd name="adj" fmla="val 12857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371600"/>
            <a:ext cx="512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🔕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49240" y="1435608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alert fatigue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49240" y="17007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erode trust and slow real responses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2121408"/>
            <a:ext cx="4160520" cy="640080"/>
          </a:xfrm>
          <a:prstGeom prst="roundRect">
            <a:avLst>
              <a:gd name="adj" fmla="val 12857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2121408"/>
            <a:ext cx="512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😌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31520" y="2185416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must be sustainable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" y="24505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 incidents/shift; no back-to-back nights; swap coverage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2121408"/>
            <a:ext cx="4160520" cy="640080"/>
          </a:xfrm>
          <a:prstGeom prst="roundRect">
            <a:avLst>
              <a:gd name="adj" fmla="val 12857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121408"/>
            <a:ext cx="512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49240" y="2185416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secondary responder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49240" y="24505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is backup escalation — never on-call alone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4622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507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On-call culture defines engineering culture — burnout from pager hell drives your best engineers away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Writing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SRE  · 143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612648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612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Alert Description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941832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941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Impact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" y="1271016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2710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Investigation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1600200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Mitigation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2880" y="1929384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293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Escalation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51760" y="621792"/>
            <a:ext cx="6309360" cy="2377440"/>
          </a:xfrm>
          <a:prstGeom prst="roundRect">
            <a:avLst>
              <a:gd name="adj" fmla="val 384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0" y="475488"/>
            <a:ext cx="914400" cy="182880"/>
          </a:xfrm>
          <a:prstGeom prst="roundRect">
            <a:avLst>
              <a:gd name="adj" fmla="val 20000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47548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Runbook: HighErrorRate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79776" y="731520"/>
            <a:ext cx="605332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Alert: HighErrorRate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Impact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 error rate &gt; 1% — users experiencing failures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Investigation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Check Grafana: error-rate dashboard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kubectl logs deploy/api-service | grep ERROR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Check DB connection pool: prometheus metric db_pool_wait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Review recent deployments: kubectl rollout history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Mitigation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If bad deploy: kubectl rollout undo deploy/api-service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If DB overload: scale replicas or enable read-replica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Escalation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After 15 min unresolved → page team lead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182112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1C2128"/>
          </a:solidFill>
          <a:ln w="15240">
            <a:solidFill>
              <a:srgbClr val="D299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2783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Golden Rule: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28800" y="3227832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on-call engineer — including a new hire — should be able to resolve the alert using the runbook alone, without asking the expert.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93192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77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runbook is a living document — update it after every incident with new investigation steps or mitigation tricks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 Postmortem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SRE  · 144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8595360" cy="420624"/>
          </a:xfrm>
          <a:prstGeom prst="roundRect">
            <a:avLst>
              <a:gd name="adj" fmla="val 17391"/>
            </a:avLst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126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Core Principle: blame the SYSTEM, not the person — humans are fallible, systems should be resilient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170432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618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" y="1700784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1993392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sequence of events,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observed when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12848" y="1883664"/>
            <a:ext cx="246888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2468880" y="1170432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2618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🔎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542032" y="1700784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42032" y="1993392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5-Why analysis — drill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5 levels deep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07408" y="1883664"/>
            <a:ext cx="246888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4663440" y="1170432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2618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💥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736592" y="1700784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36592" y="1993392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affected, revenue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loss, duration, SLA breach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01968" y="1883664"/>
            <a:ext cx="246888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6858000" y="1170432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12618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931152" y="1700784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31152" y="1993392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improvements,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individual punishment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2724912"/>
            <a:ext cx="8595360" cy="132588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761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5-Why Example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0358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the API down? → DB connection pool exhausted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323697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exhausted? → Traffic spike after marketing campaign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43814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auto-scale? → HPA not configured for this deployment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363931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configured? → No checklist for new service onboarding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38404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checklist? → Onboarding process was never documented → ACTION: create runbook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2062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51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Google pioneered blameless postmortems — the goal is learning and system improvement, not accountability theater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Maturity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SRE  · 145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621792"/>
            <a:ext cx="804672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621792"/>
            <a:ext cx="1341120" cy="512064"/>
          </a:xfrm>
          <a:prstGeom prst="roundRect">
            <a:avLst>
              <a:gd name="adj" fmla="val 12500"/>
            </a:avLst>
          </a:prstGeom>
          <a:solidFill>
            <a:srgbClr val="1C2128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" y="694944"/>
            <a:ext cx="347472" cy="347472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6949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42416" y="67665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Monitoring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42416" y="896112"/>
            <a:ext cx="810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from customers calling you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1225296"/>
            <a:ext cx="804672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225296"/>
            <a:ext cx="2682240" cy="512064"/>
          </a:xfrm>
          <a:prstGeom prst="roundRect">
            <a:avLst>
              <a:gd name="adj" fmla="val 12500"/>
            </a:avLst>
          </a:prstGeom>
          <a:solidFill>
            <a:srgbClr val="1C2128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" y="1298448"/>
            <a:ext cx="347472" cy="347472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1298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2416" y="128016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Metrics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42416" y="1499616"/>
            <a:ext cx="2151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memory, manual alert checking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1828800"/>
            <a:ext cx="804672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1828800"/>
            <a:ext cx="4023360" cy="512064"/>
          </a:xfrm>
          <a:prstGeom prst="roundRect">
            <a:avLst>
              <a:gd name="adj" fmla="val 12500"/>
            </a:avLst>
          </a:prstGeom>
          <a:solidFill>
            <a:srgbClr val="1C2128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" y="1901952"/>
            <a:ext cx="347472" cy="347472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" y="1901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188366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42416" y="2103120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logs + basic dashboards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8640" y="2432304"/>
            <a:ext cx="804672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2432304"/>
            <a:ext cx="5364480" cy="512064"/>
          </a:xfrm>
          <a:prstGeom prst="roundRect">
            <a:avLst>
              <a:gd name="adj" fmla="val 12500"/>
            </a:avLst>
          </a:prstGeom>
          <a:solidFill>
            <a:srgbClr val="1C2128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" y="2505456"/>
            <a:ext cx="347472" cy="347472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25054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42416" y="248716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42416" y="2706624"/>
            <a:ext cx="4834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IDs + correlated across services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3035808"/>
            <a:ext cx="804672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3035808"/>
            <a:ext cx="6705600" cy="512064"/>
          </a:xfrm>
          <a:prstGeom prst="roundRect">
            <a:avLst>
              <a:gd name="adj" fmla="val 12500"/>
            </a:avLst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" y="3108960"/>
            <a:ext cx="347472" cy="34747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3108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42416" y="309067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SLO-Based Alerting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42416" y="3310128"/>
            <a:ext cx="6175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budgets, symptom-based alerts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48640" y="3639312"/>
            <a:ext cx="8046720" cy="512064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3639312"/>
            <a:ext cx="8046720" cy="512064"/>
          </a:xfrm>
          <a:prstGeom prst="roundRect">
            <a:avLst>
              <a:gd name="adj" fmla="val 12500"/>
            </a:avLst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" y="3712464"/>
            <a:ext cx="347472" cy="347472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" y="37124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42416" y="369417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&amp; Auto-Remediation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42416" y="3913632"/>
            <a:ext cx="7516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OTel + automated healing + AI anomaly detection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44622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507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Most companies are at Level 2–3. Getting to Level 4 (SLO-based alerting) has the highest ROI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Cost Control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6/10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576072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SRE  · 146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594360"/>
            <a:ext cx="8595360" cy="402336"/>
          </a:xfrm>
          <a:prstGeom prst="roundRect">
            <a:avLst>
              <a:gd name="adj" fmla="val 18182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126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Observability is NOT free — it costs: storage, compute, network egress, SaaS vendor fees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2880" y="1170432"/>
            <a:ext cx="4206240" cy="1024128"/>
          </a:xfrm>
          <a:prstGeom prst="roundRect">
            <a:avLst>
              <a:gd name="adj" fmla="val 8036"/>
            </a:avLst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1170432"/>
            <a:ext cx="51206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12618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Sampling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153619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DEBUG log in production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level in prod; debug on demand only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170432"/>
            <a:ext cx="4206240" cy="1024128"/>
          </a:xfrm>
          <a:prstGeom prst="roundRect">
            <a:avLst>
              <a:gd name="adj" fmla="val 8036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170432"/>
            <a:ext cx="51206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12080" y="12618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Cardinality Limits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153619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high-cardinality labels (e.g., user_id, request_id)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unique label value = a new time series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2313432"/>
            <a:ext cx="4206240" cy="1024128"/>
          </a:xfrm>
          <a:prstGeom prst="roundRect">
            <a:avLst>
              <a:gd name="adj" fmla="val 8036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2313432"/>
            <a:ext cx="51206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" y="24048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Sampling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267919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1–10% typical in production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Head-based or tail-based sampling strategies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313432"/>
            <a:ext cx="4206240" cy="1024128"/>
          </a:xfrm>
          <a:prstGeom prst="roundRect">
            <a:avLst>
              <a:gd name="adj" fmla="val 8036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313432"/>
            <a:ext cx="51206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212080" y="24048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Policies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679192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Hot: 7 days (fast SSD)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Warm: 30 days (object storage)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Cold: 1 year (cheap archival)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4622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507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Rule of thumb: observability cost should be 5–10% of total infrastructure spend — if it's more, optimize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Observability Anti-Patterns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SRE  · 147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612648"/>
            <a:ext cx="416052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612648"/>
            <a:ext cx="4754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" y="6766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Everything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4944" y="932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Alert fatigue → engineers ignore pages → real incidents missed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4944" y="12161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Alert only on user-visible symptoms with clear SLO breach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00600" y="612648"/>
            <a:ext cx="416052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612648"/>
            <a:ext cx="4754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12664" y="6766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Without Structure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12664" y="932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Unstructured text logs → grep hell, no aggregation possible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12664" y="12161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Always emit structured JSON logs with consistent fields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2880" y="1709928"/>
            <a:ext cx="416052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1709928"/>
            <a:ext cx="4754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4944" y="177393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Sprawl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4944" y="20299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500 dashboards, nobody maintains them, stale metrics everywhere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4944" y="2313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Fewer, curated dashboards: service overview + SLO + dependencies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00600" y="1709928"/>
            <a:ext cx="416052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709928"/>
            <a:ext cx="4754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12664" y="177393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Without Sampling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12664" y="20299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100% trace capture = storage explosion + performance overhead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312664" y="2313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tail-based sampling at 1–10% or sample on errors only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82880" y="2807208"/>
            <a:ext cx="416052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2807208"/>
            <a:ext cx="4754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94944" y="287121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SLOs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4944" y="31272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Can't measure reliability without objectives — flying blind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94944" y="34107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Define SLOs for every user-facing service, even internal ones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0600" y="2807208"/>
            <a:ext cx="416052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807208"/>
            <a:ext cx="4754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312664" y="287121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Only in Production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12664" y="31272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Adding monitoring after go-live is too late — debug in prod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312664" y="34107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Instrument during development; use OTel SDK from day one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44622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507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Avoiding these anti-patterns is what separates mature SRE teams from reactive firefighting cultures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Full Ecosystem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7/10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672084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SRE  · 148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612648"/>
            <a:ext cx="2468880" cy="3913632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6583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Instrumentation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9875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SDK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23444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2344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655064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6550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075688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756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496312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4963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916936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169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33756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1C212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3375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Ruby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109728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1C2128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246120" y="16642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46120" y="195681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219456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Receive → Process → Export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243230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Filtering &amp; sampling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0" y="26700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Batching &amp; retry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290779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Multi-backend export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70048" y="2240280"/>
            <a:ext cx="566928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  <a:tailEnd type="arrow"/>
          </a:ln>
        </p:spPr>
      </p:sp>
      <p:sp>
        <p:nvSpPr>
          <p:cNvPr id="33" name="Text 31"/>
          <p:cNvSpPr/>
          <p:nvPr/>
        </p:nvSpPr>
        <p:spPr>
          <a:xfrm>
            <a:off x="2624328" y="2084832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OTLP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92240" y="612648"/>
            <a:ext cx="2468880" cy="3913632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15240">
            <a:solidFill>
              <a:srgbClr val="6E40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6583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Backends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83680" y="1005840"/>
            <a:ext cx="2194560" cy="402336"/>
          </a:xfrm>
          <a:prstGeom prst="roundRect">
            <a:avLst>
              <a:gd name="adj" fmla="val 13636"/>
            </a:avLst>
          </a:prstGeom>
          <a:solidFill>
            <a:srgbClr val="1C2128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10241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909560" y="102412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(OSS)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583680" y="1499616"/>
            <a:ext cx="2194560" cy="402336"/>
          </a:xfrm>
          <a:prstGeom prst="roundRect">
            <a:avLst>
              <a:gd name="adj" fmla="val 13636"/>
            </a:avLst>
          </a:prstGeom>
          <a:solidFill>
            <a:srgbClr val="1C2128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151790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909560" y="151790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(OSS)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583680" y="1993392"/>
            <a:ext cx="2194560" cy="402336"/>
          </a:xfrm>
          <a:prstGeom prst="roundRect">
            <a:avLst>
              <a:gd name="adj" fmla="val 13636"/>
            </a:avLst>
          </a:prstGeom>
          <a:solidFill>
            <a:srgbClr val="1C212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2011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/ Tempo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909560" y="201168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Logs+Traces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583680" y="2487168"/>
            <a:ext cx="2194560" cy="402336"/>
          </a:xfrm>
          <a:prstGeom prst="roundRect">
            <a:avLst>
              <a:gd name="adj" fmla="val 13636"/>
            </a:avLst>
          </a:prstGeom>
          <a:solidFill>
            <a:srgbClr val="1C2128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9400" y="25054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909560" y="2505456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583680" y="2980944"/>
            <a:ext cx="2194560" cy="402336"/>
          </a:xfrm>
          <a:prstGeom prst="roundRect">
            <a:avLst>
              <a:gd name="adj" fmla="val 13636"/>
            </a:avLst>
          </a:prstGeom>
          <a:solidFill>
            <a:srgbClr val="1C2128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9400" y="29992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Relic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909560" y="299923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583680" y="3474720"/>
            <a:ext cx="2194560" cy="402336"/>
          </a:xfrm>
          <a:prstGeom prst="roundRect">
            <a:avLst>
              <a:gd name="adj" fmla="val 13636"/>
            </a:avLst>
          </a:prstGeom>
          <a:solidFill>
            <a:srgbClr val="1C2128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9400" y="34930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Zipkin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909560" y="349300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(OSS)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907024" y="2240280"/>
            <a:ext cx="566928" cy="0"/>
          </a:xfrm>
          <a:prstGeom prst="line">
            <a:avLst/>
          </a:prstGeom>
          <a:noFill/>
          <a:ln w="19050">
            <a:solidFill>
              <a:srgbClr val="6E40C9"/>
            </a:solidFill>
            <a:prstDash val="solid"/>
            <a:tailEnd type="arrow"/>
          </a:ln>
        </p:spPr>
      </p:sp>
      <p:sp>
        <p:nvSpPr>
          <p:cNvPr id="55" name="Text 53"/>
          <p:cNvSpPr/>
          <p:nvPr/>
        </p:nvSpPr>
        <p:spPr>
          <a:xfrm>
            <a:off x="5861304" y="2084832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40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OTLP/gRPC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74320" y="44622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507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Vendor portability: switch from Jaeger to Tempo without changing a single line of app code — just reconfigure the Collector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Checklist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SRE  · 149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612648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5240">
            <a:solidFill>
              <a:srgbClr val="D299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704088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Metrics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1033272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metrics (Rate, Errors, Duration) defined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408176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1325880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 dashboards in Grafana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109728" cy="109728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1618488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limits enforced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612648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704088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Logs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1115568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11296" y="1033272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with correlation ID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1408176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11296" y="1325880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sensitive data (PII scrubbed)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1700784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11296" y="1618488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levels configured per env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72200" y="612648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5240">
            <a:solidFill>
              <a:srgbClr val="6E40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704088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Traces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1115568"/>
            <a:ext cx="109728" cy="109728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83096" y="1033272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SDK instrumented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1408176"/>
            <a:ext cx="109728" cy="109728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83096" y="1325880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configured (1–10%)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09360" y="1700784"/>
            <a:ext cx="109728" cy="109728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83096" y="1618488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propagation across services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2121408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5240">
            <a:solidFill>
              <a:srgbClr val="F851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" y="2212848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Alerts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2624328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" y="2542032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SLO has an alert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2916936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" y="2834640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has a runbook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209544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" y="3127248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reviewed monthly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0" y="2121408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2212848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37560" y="2624328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11296" y="2542032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overview dashboard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37560" y="2916936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11296" y="2834640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337560" y="3209544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11296" y="3127248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/ error budget board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72200" y="2121408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81928" y="2212848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Incident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09360" y="2624328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83096" y="2542032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rotation defined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09360" y="2916936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83096" y="2834640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policy documented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309360" y="3209544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83096" y="3127248"/>
            <a:ext cx="2295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Postmortem process established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4320" y="446227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507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this checklist as a gate before deploying any new service to production — automate it in your CI/CD pipeline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45720" cy="31089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Complete: The Full Cloud Native Journey 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9144"/>
            <a:ext cx="960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複雜度  5/10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172200" y="109728"/>
            <a:ext cx="960120" cy="82296"/>
          </a:xfrm>
          <a:prstGeom prst="rect">
            <a:avLst/>
          </a:prstGeom>
          <a:solidFill>
            <a:srgbClr val="252D38"/>
          </a:solidFill>
          <a:ln w="12700">
            <a:solidFill>
              <a:srgbClr val="252D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09728"/>
            <a:ext cx="480060" cy="82296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SRE  · 150 / 150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0" y="475488"/>
            <a:ext cx="9144000" cy="4553712"/>
          </a:xfrm>
          <a:prstGeom prst="rect">
            <a:avLst/>
          </a:prstGeom>
          <a:solidFill>
            <a:srgbClr val="0F2A1A"/>
          </a:solidFill>
          <a:ln w="12700">
            <a:solidFill>
              <a:srgbClr val="0F2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621792"/>
            <a:ext cx="822960" cy="868680"/>
          </a:xfrm>
          <a:prstGeom prst="roundRect">
            <a:avLst>
              <a:gd name="adj" fmla="val 1111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512064"/>
            <a:ext cx="237744" cy="23774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5120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2880" y="67665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10312" y="106070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0312" y="1261872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server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024128" y="1097280"/>
            <a:ext cx="114757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2171700" y="621792"/>
            <a:ext cx="822960" cy="868680"/>
          </a:xfrm>
          <a:prstGeom prst="roundRect">
            <a:avLst>
              <a:gd name="adj" fmla="val 1111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56916" y="512064"/>
            <a:ext cx="237744" cy="23774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56916" y="5120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71700" y="67665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199132" y="106070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199132" y="1261872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+ replicas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012948" y="1097280"/>
            <a:ext cx="114757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4160520" y="621792"/>
            <a:ext cx="822960" cy="868680"/>
          </a:xfrm>
          <a:prstGeom prst="roundRect">
            <a:avLst>
              <a:gd name="adj" fmla="val 1111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45736" y="512064"/>
            <a:ext cx="237744" cy="23774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5736" y="5120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60520" y="67665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🐳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187952" y="106070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87952" y="1261872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001768" y="1097280"/>
            <a:ext cx="114757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6149340" y="621792"/>
            <a:ext cx="822960" cy="868680"/>
          </a:xfrm>
          <a:prstGeom prst="roundRect">
            <a:avLst>
              <a:gd name="adj" fmla="val 1111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34556" y="512064"/>
            <a:ext cx="237744" cy="23774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4556" y="5120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49340" y="67665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176772" y="106070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12-Factor App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76772" y="1261872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990588" y="1097280"/>
            <a:ext cx="114757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8138160" y="621792"/>
            <a:ext cx="822960" cy="868680"/>
          </a:xfrm>
          <a:prstGeom prst="roundRect">
            <a:avLst>
              <a:gd name="adj" fmla="val 1111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23376" y="512064"/>
            <a:ext cx="237744" cy="23774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23376" y="5120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138160" y="67665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8165592" y="106070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165592" y="1261872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82880" y="1627632"/>
            <a:ext cx="822960" cy="868680"/>
          </a:xfrm>
          <a:prstGeom prst="roundRect">
            <a:avLst>
              <a:gd name="adj" fmla="val 1111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8096" y="1517904"/>
            <a:ext cx="237744" cy="23774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8096" y="15179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82880" y="168249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210312" y="206654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10312" y="2267712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024128" y="2103120"/>
            <a:ext cx="114757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2171700" y="1627632"/>
            <a:ext cx="822960" cy="868680"/>
          </a:xfrm>
          <a:prstGeom prst="roundRect">
            <a:avLst>
              <a:gd name="adj" fmla="val 1111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56916" y="1517904"/>
            <a:ext cx="237744" cy="23774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56916" y="15179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171700" y="168249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2199132" y="206654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199132" y="2267712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012948" y="2103120"/>
            <a:ext cx="114757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58" name="Shape 56"/>
          <p:cNvSpPr/>
          <p:nvPr/>
        </p:nvSpPr>
        <p:spPr>
          <a:xfrm>
            <a:off x="4160520" y="1627632"/>
            <a:ext cx="822960" cy="868680"/>
          </a:xfrm>
          <a:prstGeom prst="roundRect">
            <a:avLst>
              <a:gd name="adj" fmla="val 1111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45736" y="1517904"/>
            <a:ext cx="237744" cy="23774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45736" y="15179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160520" y="168249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4187952" y="206654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187952" y="2267712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/ ELK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001768" y="2103120"/>
            <a:ext cx="114757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65" name="Shape 63"/>
          <p:cNvSpPr/>
          <p:nvPr/>
        </p:nvSpPr>
        <p:spPr>
          <a:xfrm>
            <a:off x="6149340" y="1627632"/>
            <a:ext cx="822960" cy="868680"/>
          </a:xfrm>
          <a:prstGeom prst="roundRect">
            <a:avLst>
              <a:gd name="adj" fmla="val 1111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734556" y="1517904"/>
            <a:ext cx="237744" cy="23774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34556" y="15179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149340" y="168249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69" name="Text 67"/>
          <p:cNvSpPr/>
          <p:nvPr/>
        </p:nvSpPr>
        <p:spPr>
          <a:xfrm>
            <a:off x="6176772" y="206654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176772" y="2267712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/ Jaeger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990588" y="2103120"/>
            <a:ext cx="1147572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arrow"/>
          </a:ln>
        </p:spPr>
      </p:sp>
      <p:sp>
        <p:nvSpPr>
          <p:cNvPr id="72" name="Shape 70"/>
          <p:cNvSpPr/>
          <p:nvPr/>
        </p:nvSpPr>
        <p:spPr>
          <a:xfrm>
            <a:off x="8138160" y="1627632"/>
            <a:ext cx="822960" cy="868680"/>
          </a:xfrm>
          <a:prstGeom prst="roundRect">
            <a:avLst>
              <a:gd name="adj" fmla="val 11111"/>
            </a:avLst>
          </a:prstGeom>
          <a:solidFill>
            <a:srgbClr val="0F2A1A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23376" y="1517904"/>
            <a:ext cx="237744" cy="23774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723376" y="15179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8138160" y="168249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8165592" y="206654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165592" y="2267712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74320" y="2651760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7200" y="26700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你現在具備了在真實世界部署與運維分散式系統的能力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274320" y="324612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4320" y="3246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150 Slides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313432" y="324612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313432" y="3246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10 Parts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352544" y="324612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52544" y="3246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Full Stack to SRE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391656" y="324612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0F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91656" y="3246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Cloud Native Ready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74320" y="411480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929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57200" y="4160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Next Steps: Kubernetes · Service Mesh (Istio) · GitOps (Argo CD / Flux) · FinOps · Platform Engineering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2026-03-16T15:22:59Z</dcterms:created>
  <dcterms:modified xsi:type="dcterms:W3CDTF">2026-03-16T15:22:59Z</dcterms:modified>
</cp:coreProperties>
</file>