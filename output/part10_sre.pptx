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三大支柱整合：Grafana Stack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136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5544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Grafana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19659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統一可觀測性介面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13716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44475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Prometheus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4320" y="17830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（指標）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560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161B22"/>
          </a:solidFill>
          <a:ln w="15240">
            <a:solidFill>
              <a:srgbClr val="2386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6334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Loki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29718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（日誌）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66560" y="13716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0" y="144475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Tempo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17830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（追蹤）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766560" y="2560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161B22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26334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AlertManager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66560" y="29718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（告警）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103120" y="1719072"/>
            <a:ext cx="1371600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2057400" y="1563624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103120" y="2907792"/>
            <a:ext cx="1371600" cy="9144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2057400" y="2752344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LogQL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669280" y="1719072"/>
            <a:ext cx="1097280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5623560" y="1563624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TraceQL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669280" y="2907792"/>
            <a:ext cx="1097280" cy="9144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5623560" y="2752344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74320" y="3657600"/>
            <a:ext cx="8595360" cy="475488"/>
          </a:xfrm>
          <a:prstGeom prst="roundRect">
            <a:avLst>
              <a:gd name="adj" fmla="val 15385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65760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整合流程：點擊指標異常  →  找到 Trace  →  查看關聯日誌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Grafana Stack = Prometheus（指標）+ Loki（日誌）+ Tempo（追蹤）+ Grafana（介面）— 開源、廠商中立、完整整合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 → 事故 → 事後檢討 完整流程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137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28600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告警觸發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4320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規則觸發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508760" y="969264"/>
            <a:ext cx="201168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709928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55648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709928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路由通知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755648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 → PagerDuty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990088" y="969264"/>
            <a:ext cx="201168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3191256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191256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認領處理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236976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值班工程師接受通知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471416" y="969264"/>
            <a:ext cx="201168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4672584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18304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72584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調查問題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18304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 Grafana Dashboard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5952744" y="969264"/>
            <a:ext cx="201168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6153912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99632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53912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緩解問題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99632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Hotfix 或回滾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7434072" y="969264"/>
            <a:ext cx="201168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7635240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0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635240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事後檢討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680960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48小時內無責備審查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65760" y="150876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57200" y="1618488"/>
            <a:ext cx="23774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2分鐘</a:t>
            </a:r>
            <a:endParaRPr lang="en-US" sz="3400" dirty="0"/>
          </a:p>
        </p:txBody>
      </p:sp>
      <p:sp>
        <p:nvSpPr>
          <p:cNvPr id="40" name="Text 38"/>
          <p:cNvSpPr/>
          <p:nvPr/>
        </p:nvSpPr>
        <p:spPr>
          <a:xfrm>
            <a:off x="457200" y="207203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MTTD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" y="232806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平均偵測時間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00400" y="150876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291840" y="1618488"/>
            <a:ext cx="23774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5分鐘</a:t>
            </a:r>
            <a:endParaRPr lang="en-US" sz="3400" dirty="0"/>
          </a:p>
        </p:txBody>
      </p:sp>
      <p:sp>
        <p:nvSpPr>
          <p:cNvPr id="44" name="Text 42"/>
          <p:cNvSpPr/>
          <p:nvPr/>
        </p:nvSpPr>
        <p:spPr>
          <a:xfrm>
            <a:off x="3291840" y="207203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MTTA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291840" y="232806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平均認領時間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35040" y="150876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126480" y="1618488"/>
            <a:ext cx="23774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30分鐘</a:t>
            </a:r>
            <a:endParaRPr lang="en-US" sz="3400" dirty="0"/>
          </a:p>
        </p:txBody>
      </p:sp>
      <p:sp>
        <p:nvSpPr>
          <p:cNvPr id="48" name="Text 46"/>
          <p:cNvSpPr/>
          <p:nvPr/>
        </p:nvSpPr>
        <p:spPr>
          <a:xfrm>
            <a:off x="6126480" y="207203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126480" y="232806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平均恢復時間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74320" y="278892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27889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告警觸發  →  通知到達  →  認領開始  →  問題定位  →  緩解生效  →  事後檢討完成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每個告警應該有明確的負責人、操作手冊，若影響生產環境必須在 48 小時內完成事後檢討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SLI、SLO、SLA 定義與差異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138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566928"/>
            <a:ext cx="2865120" cy="35478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SLI（服務層級指標）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實際測量值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範例：請求成功率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目前值：99.95%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延遲：180ms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由真實流量計算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39440" y="566928"/>
            <a:ext cx="2865120" cy="35478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SLO（服務層級目標）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內部目標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目標：≥ 99.9% 成功率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由工程團隊設定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必須比 SLA 更嚴格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驅動錯誤預算政策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96000" y="566928"/>
            <a:ext cx="2865120" cy="35478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SLA（服務層級協議）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對客戶的合約承諾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承諾：≥ 99.5% 成功率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與客戶共同協議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違反即財務賠償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必須比 SLO 更寬鬆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74320" y="4078224"/>
            <a:ext cx="8595360" cy="274320"/>
          </a:xfrm>
          <a:prstGeom prst="roundRect">
            <a:avLst>
              <a:gd name="adj" fmla="val 23333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07822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核心原則：SLO 必須比 SLA 更嚴格 | SLI=99.95% → SLO=99.9% → SLA=99.5%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274320" y="4626864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4672584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SLO 是你的內部目標，SLA 是你對客戶的承諾，永遠讓 SLO &gt; SLA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錯誤預算：可靠性工程的指南針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139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錯誤預算 = 1 − SLO  →  99.9% SLO = 0.1% 預算 ≈ 每月約 43.8 分鐘停機時間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07899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本月預算消耗（範例：已使用 68%）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1298448"/>
            <a:ext cx="8595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1298448"/>
            <a:ext cx="5844845" cy="237744"/>
          </a:xfrm>
          <a:prstGeom prst="roundRect">
            <a:avLst>
              <a:gd name="adj" fmla="val 19231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298448"/>
            <a:ext cx="584484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1700784"/>
            <a:ext cx="8595360" cy="493776"/>
          </a:xfrm>
          <a:prstGeom prst="roundRect">
            <a:avLst>
              <a:gd name="adj" fmla="val 1481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73736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預算充足（&lt; 50% 已使用）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0" y="1737360"/>
            <a:ext cx="4297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自由部署 · 大膽實驗 · 積極推出功能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304288"/>
            <a:ext cx="8595360" cy="493776"/>
          </a:xfrm>
          <a:prstGeom prst="roundRect">
            <a:avLst>
              <a:gd name="adj" fmla="val 14815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340864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預算告急（50–90% 已使用）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89120" y="2340864"/>
            <a:ext cx="4297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放慢發版速度 · 調查可靠性問題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907792"/>
            <a:ext cx="8595360" cy="493776"/>
          </a:xfrm>
          <a:prstGeom prst="roundRect">
            <a:avLst>
              <a:gd name="adj" fmla="val 14815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944368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預算耗盡（≥ 100% 已使用）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89120" y="2944368"/>
            <a:ext cx="4297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凍結部署 · 進入事故模式 · SRE+開發全力提升可靠性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錯誤預算是產品與 SRE 之間的共同契約——預算耗盡時，可靠性優先於速度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工程師的職責範疇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140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可用性與可靠性保障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定義 SLO、追蹤 SLI、維持服務正常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231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231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0235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容量規劃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0235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預測成長、在超載前提前擴容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362456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42646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41732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399032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效能與效率優化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1591056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優化延遲、吞吐量、資源使用率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1362456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82312" y="142646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141732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1399032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變更管理（安全部署）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1591056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安全部署、Feature Flag、Canary 發布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13055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219456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218541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2167128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監控與告警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2359152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 Dashboard、調整告警、減少噪音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213055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82312" y="219456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218541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02352" y="2167128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緊急事故應變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359152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值班輪替、事故指揮、操作手冊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3547872"/>
            <a:ext cx="8595360" cy="402336"/>
          </a:xfrm>
          <a:prstGeom prst="roundRect">
            <a:avLst>
              <a:gd name="adj" fmla="val 18182"/>
            </a:avLst>
          </a:prstGeom>
          <a:solidFill>
            <a:srgbClr val="1C2128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3547872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50% 原則：SRE 花在瑣事（Toil）上的時間應少於 50%，其餘時間用於工程改進工作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SRE 不只是維運——而是將軟體工程應用於可靠性問題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Toil（瑣事）：什麼是 Toil，為何重要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141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Toil：手動 · 重複性 · 可自動化 · 與規模成正比增長 · 缺乏持久價值的工作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1042416"/>
            <a:ext cx="416052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04241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Toil 範例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09160" y="1042416"/>
            <a:ext cx="416052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104241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非 Toil（工程價值）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1463040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7472" y="152704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151790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" y="1499616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 SSH 到每台伺服器部署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1883664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94767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93852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920240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票單驅動的容量調整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2304288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472" y="236829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7472" y="235915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7512" y="2340864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每次都要從頭撰寫操作手冊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74320" y="2724912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7472" y="27889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472" y="27797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7512" y="2761488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手動重啟崩潰的 Pod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74320" y="3145536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472" y="320954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7472" y="320040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7512" y="3182112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在環境之間複製貼上設定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09160" y="1463040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82312" y="152704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82312" y="151790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102352" y="1499616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 CI/CD 流水線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09160" y="1883664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82312" y="194767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82312" y="193852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02352" y="1920240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編寫自動擴縮容器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09160" y="2304288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82312" y="236829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82312" y="235915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102352" y="2340864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一次寫好自我修復的操作手冊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709160" y="2724912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82312" y="27889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82312" y="27797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102352" y="2761488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用健康檢查實作自動重啟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709160" y="3145536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782312" y="320954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82312" y="320040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102352" y="3182112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 Terraform 基礎設施即代碼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274320" y="4526280"/>
            <a:ext cx="8595360" cy="256032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目標：自動化消除 Toil，將 Toil 時間維持在 50% 以下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值班設計原則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142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告警應可操作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每個告警都需要明確的應對步驟，否則就是噪音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231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231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��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0235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針對症狀告警，而非原因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0235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告警「用戶體驗到延遲」，而非「CPU 使用率高」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37160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43560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42646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40817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每個告警都需要操作手冊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160020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任何值班人員都能按照步驟處理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137160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82312" y="143560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142646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🔕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140817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減少告警疲勞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160020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誤報太多會讓工程師忽視所有告警，摧毀團隊文化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14884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221284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220370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218541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值班輪替必須可持續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237744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輪替週期不能讓人筋疲力竭，需要足夠的備援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214884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82312" y="221284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220370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02352" y="218541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主值班 + 備援值班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37744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雙人模式確保重大事故有足夠支援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告警設計的黃金標準：每個告警在深夜觸發時，值班人員都知道確切要做什麼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操作手冊撰寫指南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143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= 處理特定告警的逐步操作指南 — 讓任何值班人員都能獨立處理，不只是專家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1115568"/>
            <a:ext cx="8595360" cy="3246120"/>
          </a:xfrm>
          <a:prstGeom prst="roundRect">
            <a:avLst>
              <a:gd name="adj" fmla="val 2817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9692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9692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Markdown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02336" y="1225296"/>
            <a:ext cx="8339328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Runbook: 高錯誤率告警 (high-error-rate)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告警說明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服務：payment-service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條件：error_rate &gt; 1% 持續 5 分鐘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影響範圍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用戶：無法完成結帳流程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調查步驟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查看 Grafana Dashboard: payment-service overview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確認是否特定端點出錯: /api/checkout vs /api/refund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查看 Loki 日誌: {service="payment"} |= "ERROR"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追蹤相關 Trace: 點擊 Grafana 中的 Exemplar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緩解步驟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若最近有部署 → 立即回滾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若 DB 連線異常 → 重啟 connection pool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若 Stripe API 異常 → 啟用降級模式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升級流程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- 15 分鐘內未緩解 → 通知 Tech Lead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- 30 分鐘內未緩解 → 啟動 P1 事故流程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好的 Runbook 讓最資淺的值班人員也能處理——寫完後請找同事測試是否真的能照步驟操作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無責備事後檢討（Blameless Postmortem）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144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核心原則：檢討系統，不責怪個人 — 個人在有缺陷的系統中做出了合理的決定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042416"/>
            <a:ext cx="4160520" cy="658368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09728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時間軸重建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135331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按時間順序記錄事件發展，確立清晰的因果關係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17720" y="1042416"/>
            <a:ext cx="4160520" cy="658368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109728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根本原因分析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27448" y="135331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使用五個為什麼（5 Whys）逐層追問，找到系統性根因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1792224"/>
            <a:ext cx="4160520" cy="658368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18470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影響範圍評估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210312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量化影響：受影響用戶數、持續時間、營收損失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17720" y="1792224"/>
            <a:ext cx="4160520" cy="658368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27448" y="18470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行動項目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27448" y="210312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具體、可追蹤的改善措施，指定負責人和截止日期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2633472"/>
            <a:ext cx="859536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267919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Whys 範例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7200" y="2944368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為何服務中斷？→ DB 連線耗盡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3136392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為何耗盡？→ 連線未正確釋放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3328416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為何未釋放？→ 缺少 finally 區塊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3520440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為何缺少？→ 沒有 code review checklist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3712464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改善：建立 code review checklist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2519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2976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Google SRE 文化：事後檢討是學習機會，不是懲罰工具——公開分享讓整個組織受益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可觀測性成熟度模型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145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7607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7607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62179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 級（危險）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62179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沒有監控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0" y="62179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從客戶投訴才知道故障，完全被動應對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17043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117043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21615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級（警告）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121615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基本指標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0" y="121615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CPU、記憶體監控，手動查看告警，無自動通知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176479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176479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18105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級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286000" y="181051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結構化日誌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0" y="181051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結構化日誌 + 基本 Dashboard，可搜尋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" y="235915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" y="235915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240487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級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286000" y="240487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分散式追蹤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0" y="240487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Tracing + Correlation ID，可跨服務追蹤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295351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" y="295351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299923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級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86000" y="299923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管理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114800" y="299923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基於 SLO 的告警 + 錯誤預算管理，面向用戶體驗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354787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4320" y="354787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59359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級（成功）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286000" y="359359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完整可觀測性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114800" y="359359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 OTel、自動修復、AIOps 異常偵測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74320" y="417880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2245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大多數團隊在第 2-3 級——目標是第 4 級（SLO 驅動）；第 5 級是長期目標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可觀測性成本控制策略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146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可觀測性並非免費：儲存、運算、網路都有成本 — 目標是 5-10% 基礎設施成本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06070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" y="112471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111556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" y="109728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日誌取樣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67512" y="128930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生產環境不記錄所有 DEBUG 日誌，動態調整 Log Level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09160" y="106070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82312" y="112471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82312" y="111556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102352" y="109728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指標基數限制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102352" y="128930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避免高基數標籤（如 user_id），會讓 Prometheus 記憶體爆炸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179222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472" y="185623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184708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" y="182880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追蹤取樣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7512" y="202082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典型為 1-10% 取樣率，對高流量路徑降低取樣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09160" y="179222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82312" y="185623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184708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02352" y="182880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資料保留策略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102352" y="202082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熱資料 7 天、溫資料 30 天、冷資料 1 年歸檔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" y="320040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2A1F00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2004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原則：可觀測性成本應佔基礎設施成本的 5-10%——超出代表設計有問題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65760" y="365760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57200" y="3767328"/>
            <a:ext cx="237744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天</a:t>
            </a:r>
            <a:endParaRPr lang="en-US" sz="3400" dirty="0"/>
          </a:p>
        </p:txBody>
      </p:sp>
      <p:sp>
        <p:nvSpPr>
          <p:cNvPr id="35" name="Text 33"/>
          <p:cNvSpPr/>
          <p:nvPr/>
        </p:nvSpPr>
        <p:spPr>
          <a:xfrm>
            <a:off x="457200" y="40416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熱資料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200400" y="365760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291840" y="3767328"/>
            <a:ext cx="237744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天</a:t>
            </a:r>
            <a:endParaRPr lang="en-US" sz="3400" dirty="0"/>
          </a:p>
        </p:txBody>
      </p:sp>
      <p:sp>
        <p:nvSpPr>
          <p:cNvPr id="38" name="Text 36"/>
          <p:cNvSpPr/>
          <p:nvPr/>
        </p:nvSpPr>
        <p:spPr>
          <a:xfrm>
            <a:off x="3291840" y="40416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溫資料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035040" y="365760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126480" y="3767328"/>
            <a:ext cx="237744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年</a:t>
            </a:r>
            <a:endParaRPr lang="en-US" sz="3400" dirty="0"/>
          </a:p>
        </p:txBody>
      </p:sp>
      <p:sp>
        <p:nvSpPr>
          <p:cNvPr id="41" name="Text 39"/>
          <p:cNvSpPr/>
          <p:nvPr/>
        </p:nvSpPr>
        <p:spPr>
          <a:xfrm>
            <a:off x="6126480" y="40416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冷資料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4626864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672584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高基數（high cardinality）是 Prometheus 最大的成本陷阱——永遠不要用 user_id 作為 label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常見可觀測性反模式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147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對所有事情告警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告警疲勞讓工程師開始忽視所有告警，包括真正重要的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231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231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0235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無結構的日誌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0235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Grep 地獄——靠 grep 搜尋純文字日誌無法擴展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39903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46304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45389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435608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泛濫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1627632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 100 個 Dashboard 但沒人知道要看哪個，也沒人維護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139903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82312" y="146304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145389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1435608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追蹤不取樣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1627632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收集所有 Trace 導致儲存費用爆炸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20370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226771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225856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224028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 SLO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243230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無法客觀衡量可靠性，無法做基於數據的決策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220370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82312" y="226771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225856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02352" y="224028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只在生產環境做可觀測性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43230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問題在開發階段就應該被發現，為時已晚代價最高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36576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可觀測性反模式是累積債務——每一個都讓下次事故的 MTTR 增加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完整生態系概覽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148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65836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658368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" y="658368"/>
            <a:ext cx="1316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2880" y="148132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481328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" y="1481328"/>
            <a:ext cx="1316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SDK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" y="230428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2304288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🐹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" y="2304288"/>
            <a:ext cx="1316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SDK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82880" y="312724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3127248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" y="3127248"/>
            <a:ext cx="1316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SDK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828800" y="978408"/>
            <a:ext cx="457200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828800" y="1801368"/>
            <a:ext cx="457200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1828800" y="2624328"/>
            <a:ext cx="457200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1828800" y="3447288"/>
            <a:ext cx="457200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2331720" y="658368"/>
            <a:ext cx="2286000" cy="3456432"/>
          </a:xfrm>
          <a:prstGeom prst="roundRect">
            <a:avLst>
              <a:gd name="adj" fmla="val 4800"/>
            </a:avLst>
          </a:prstGeom>
          <a:solidFill>
            <a:srgbClr val="161B22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31720" y="74980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331720" y="126187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423160" y="166420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 · 處理 · 轉發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423160" y="193852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/ Metrics / Logs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423160" y="221284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多後端輸出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423160" y="248716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採樣 · 過濾 · 轉換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17720" y="1280160"/>
            <a:ext cx="457200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4617720" y="2743200"/>
            <a:ext cx="457200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5074920" y="658368"/>
            <a:ext cx="1828800" cy="1664208"/>
          </a:xfrm>
          <a:prstGeom prst="roundRect">
            <a:avLst>
              <a:gd name="adj" fmla="val 5495"/>
            </a:avLst>
          </a:prstGeom>
          <a:ln w="12700">
            <a:solidFill>
              <a:srgbClr val="3FB950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516636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8464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166360" y="914400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66360" y="91440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166360" y="1353312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66360" y="1353312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166360" y="1792224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9525">
            <a:solidFill>
              <a:srgbClr val="23863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792224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/ Tempo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074920" y="2414016"/>
            <a:ext cx="1828800" cy="1700784"/>
          </a:xfrm>
          <a:prstGeom prst="roundRect">
            <a:avLst>
              <a:gd name="adj" fmla="val 5376"/>
            </a:avLst>
          </a:prstGeom>
          <a:ln w="12700">
            <a:solidFill>
              <a:srgbClr val="D2992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166360" y="226771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84648" y="226771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166360" y="2651760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66360" y="265176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Datadog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166360" y="3090672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166360" y="3090672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Relic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166360" y="3529584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166360" y="3529584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Honeycomb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995160" y="658368"/>
            <a:ext cx="1920240" cy="3456432"/>
          </a:xfrm>
          <a:prstGeom prst="roundRect">
            <a:avLst>
              <a:gd name="adj" fmla="val 476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40880" y="74980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廠商可移植性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040880" y="1133856"/>
            <a:ext cx="18288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切換後端無需修改應用程式碼——只需更換 Collector 輸出設定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OTel 是可觀測性的 USB 標準——一次埋點，切換任何後端，保護你的投資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可觀測性上線前檢查清單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149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指標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所有服務定義 RED 指標（Rate、Errors、Duration）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231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231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0235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0235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結構化日誌、含 Correlation ID、無敏感資料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41732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4813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4721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45389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164592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SDK 已整合、取樣設定完成、Context Propagation 正常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141732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82312" y="14813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14721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145389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164592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SLO 都有告警，每個告警都有 Runbook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24028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230428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229514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227685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246888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服務總覽 Dashboard、依賴關係圖、SLO Dashboard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224028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82312" y="230428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229514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02352" y="227685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事故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46888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值班輪替表已設定、升級策略已定義、事後檢討流程已建立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上線前清單不是形式——每一個缺失都是下次凌晨三點事故無法快速解決的原因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課程完結：Cloud Native 完整旅程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150 / 150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30352"/>
            <a:ext cx="8595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恭喜完成 Cloud Native 完整課程！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9768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🖥️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單一伺服器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984248" y="1463040"/>
            <a:ext cx="128016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2112264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12264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⚖️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57984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水平擴展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57984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多台伺服器+負載平衡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666744" y="1463040"/>
            <a:ext cx="128016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3794760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94760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🐳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840480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容器化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40480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一致環境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349240" y="1463040"/>
            <a:ext cx="128016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5477256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77256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📐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522976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22976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雲端原生原則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7031736" y="1463040"/>
            <a:ext cx="128016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7159752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59752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🔄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205472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205472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流水線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29768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9768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🛡️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75488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5488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可靠性工程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1984248" y="2542032"/>
            <a:ext cx="128016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2112264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12264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📈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2157984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157984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Prometheus+Grafana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666744" y="2542032"/>
            <a:ext cx="128016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3794760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94760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📋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3840480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840480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ELK+Loki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349240" y="2542032"/>
            <a:ext cx="128016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5477256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77256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522976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522976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OTel+Jaeger+Tempo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031736" y="2542032"/>
            <a:ext cx="128016" cy="914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>
            <a:off x="7159752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0F2A1A"/>
          </a:solidFill>
          <a:ln w="2286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59752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🎯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205472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完整可觀測性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7205472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三大支柱統一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274320" y="3090672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你現在具備了在真實世界部署與運維分散式系統的能力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28600" y="3438144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28600" y="3438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150 張投影片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2514600" y="3438144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14600" y="3438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10 大主題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800600" y="3438144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00600" y="3438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全端到 SRE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7086600" y="3438144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086600" y="3438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Cloud Native 就緒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下一步：Kubernetes · Service Mesh（Istio）· GitOps（Argo CD / Flux）· FinOps · Platform Engineering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2026-03-16T23:24:33Z</dcterms:created>
  <dcterms:modified xsi:type="dcterms:W3CDTF">2026-03-16T23:24:33Z</dcterms:modified>
</cp:coreProperties>
</file>