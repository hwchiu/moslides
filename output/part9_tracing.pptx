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Tracing: Why We Need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4/10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384048" cy="822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In distributed systems, a single request traverses 10+ services — every hop is a potential failure point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8288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774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Request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41732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41732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7218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5176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65176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70662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88620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88620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94106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Service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12064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17550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Service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5508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40994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Svc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58952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8952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64438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35331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258775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382219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505663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29107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752551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274320" y="2212848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221284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tracing: you can see errors, but have no way to trace which services a request passed through or where it failed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Cannot identify which service causes latency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172968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10128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Error propagation path is unclear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71616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08776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Cross-service causality cannot be reconstructed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74320" y="343814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48386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A request failed, but you have no idea which service caused the issue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Distributed tracing = building a complete journey map for every request, leaving no issue hidden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Trace, Span &amp; Context: Core Concepts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49224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78992" y="6858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101498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journey of a request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1289304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 a unique traceId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Spans across all service boundaries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984248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039112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078992" y="20756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78992" y="240487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unit of work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679192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spanId + parentSpanId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Start/end time + attributes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374136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429000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🏷️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78992" y="346557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78992" y="3794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propagated across service boundaries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78992" y="4069080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Propagated via HTTP headers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W3C Trace Context standard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34840" y="594360"/>
            <a:ext cx="4434840" cy="4224528"/>
          </a:xfrm>
          <a:prstGeom prst="roundRect">
            <a:avLst>
              <a:gd name="adj" fmla="val 2165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65836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Parent-Child Span Hierarchy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17720" y="1024128"/>
            <a:ext cx="4160520" cy="365760"/>
          </a:xfrm>
          <a:prstGeom prst="roundRect">
            <a:avLst>
              <a:gd name="adj" fmla="val 15000"/>
            </a:avLst>
          </a:prstGeom>
          <a:solidFill>
            <a:srgbClr val="2D1F5E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1024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HTTP POST /checkout  (traceId: abc-123)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83480" y="1389888"/>
            <a:ext cx="9144" cy="228600"/>
          </a:xfrm>
          <a:prstGeom prst="line">
            <a:avLst/>
          </a:prstGeom>
          <a:noFill/>
          <a:ln w="12700">
            <a:solidFill>
              <a:srgbClr val="D6CC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66360" y="1618488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57800" y="161848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Auth Service Validate Token  (parentId: root)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166360" y="2057400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57800" y="205740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Order Service Create Order  (parentId: root)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2404872"/>
            <a:ext cx="9144" cy="228600"/>
          </a:xfrm>
          <a:prstGeom prst="line">
            <a:avLst/>
          </a:prstGeom>
          <a:noFill/>
          <a:ln w="12700">
            <a:solidFill>
              <a:srgbClr val="D6CC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23560" y="2633472"/>
            <a:ext cx="288036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15000" y="2633472"/>
            <a:ext cx="2697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DB INSERT orders  (parentId: order-span)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66360" y="3063240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06324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Inventory Service Deduct Stock  (parentId: root)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17720" y="3767328"/>
            <a:ext cx="4160520" cy="9144"/>
          </a:xfrm>
          <a:prstGeom prst="line">
            <a:avLst/>
          </a:prstGeom>
          <a:noFill/>
          <a:ln w="9525">
            <a:solidFill>
              <a:srgbClr val="D6CCBF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617720" y="3822192"/>
            <a:ext cx="4160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Timeline →    Total Duration: 245ms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Each Span records start time, end time, status code, and tag attributes — fully reconstructing the execution details across services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Trace Context Standard  ·  HTTP Header: traceparent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170432"/>
            <a:ext cx="8595360" cy="1005840"/>
          </a:xfrm>
          <a:prstGeom prst="roundRect">
            <a:avLst>
              <a:gd name="adj" fmla="val 9091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02412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02412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 Header Format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80160"/>
            <a:ext cx="83393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00-{traceId(32-hex-chars)}-{parentSpanId(16-hex-chars)}-{flags(01=sampled,00=not sampled)}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00-4bf92f3577b34da6a3ce929d0e0e4736-00f067aa0ba902b7-01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2860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Cross-Service Propagation Flow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33472"/>
            <a:ext cx="2560320" cy="1389888"/>
          </a:xfrm>
          <a:prstGeom prst="roundRect">
            <a:avLst>
              <a:gd name="adj" fmla="val 6579"/>
            </a:avLst>
          </a:prstGeom>
          <a:solidFill>
            <a:srgbClr val="1A1F2E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 (Caller)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980944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root Span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traceparent header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Send HTTP request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34640" y="3282696"/>
            <a:ext cx="128016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788920" y="276148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traceparent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60520" y="2633472"/>
            <a:ext cx="2560320" cy="1389888"/>
          </a:xfrm>
          <a:prstGeom prst="roundRect">
            <a:avLst>
              <a:gd name="adj" fmla="val 6579"/>
            </a:avLst>
          </a:prstGeom>
          <a:solidFill>
            <a:srgbClr val="1A2E1A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51960" y="26700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 (Callee)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43400" y="2980944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 traceparent header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 traceId + parentSpanId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Create child Span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720840" y="3282696"/>
            <a:ext cx="109728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6675120" y="2761488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Service C...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74320" y="41605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Context formats (OTel Collector can convert between them):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ECE6DD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B3 (Zipkin)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78308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ECE6DD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8308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9184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ECE6DD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X-Ray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73659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7823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traceparent header must be forwarded in every HTTP/gRPC call — missing it at any layer breaks the trace chain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vs Distributed Tracing Differences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Monolithic Architecture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Distributed Architecture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042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" y="1106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1097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" y="1078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Process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7512" y="1271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runs in the same memory space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1609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1673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1664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7512" y="1645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 Tracing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7512" y="1837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intercept call stack traces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1762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24028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23113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21284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Instrumentation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" y="240487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SDK covers the entire application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274320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7472" y="28072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7980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" y="277977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Trace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67512" y="297180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request path, simple Span hierarchy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1042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28032" y="1106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1097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48072" y="1078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Needs Instrumentation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148072" y="1271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languages/frameworks, high maintenance cost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1609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8032" y="1673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28032" y="1664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48072" y="1645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Gaps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148072" y="1837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queues (Kafka/RabbitMQ) hard to correlate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54880" y="21762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28032" y="224028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223113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48072" y="221284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HTTP/gRPC Boundaries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148072" y="240487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rely on Context Propagation to link spans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754880" y="274320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8032" y="28072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28032" y="27980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148072" y="277977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Skew Issues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148072" y="297180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machines have unsynchronized clocks, Span order may be wrong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Distributed tracing is inherently 10x more complex than monolithic — but OpenTelemetry dramatically lowers the implementation barrier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OpenTelemetry: The Industry Standard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2D1F5E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= Vendor-Neutral Observability Standard   ·   CNCF Graduated Project   ·   All Three Pillars Covered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" y="1170432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0896" y="1783080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Instrumentation Interface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for creating Spans in code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18541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Agnostic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Go / Java / JS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10896" y="258775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Only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548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implementation logic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10896" y="299008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Points in Code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tracer.start_span()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13944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39440" y="1170432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3944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356006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67456" y="1783080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Implementation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Span lifecycle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185416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multiple Spans before sending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67456" y="2587752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Decisions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43204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sampling logic lives here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67456" y="2990088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204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43204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Collector or backend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09600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96000" y="1170432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9600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651662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224016" y="1783080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Telemetry Data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38860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OTLP / Jaeger / Zipkin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24016" y="2185416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38860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enrich, transform formats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224016" y="2587752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8860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Multi-Target Export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8860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multiple backends simultaneously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224016" y="2990088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8860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 Applications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38860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changes need no code changes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74320" y="4480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covers the three pillars of observability: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2918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918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Traces  Request Tracing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1206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1206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  Metrics Monitoring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9494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494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  Log Recording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Architecture: Receivers  →  Processors  →  Exporters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2560320" cy="2423160"/>
          </a:xfrm>
          <a:prstGeom prst="roundRect">
            <a:avLst>
              <a:gd name="adj" fmla="val 3774"/>
            </a:avLst>
          </a:prstGeom>
          <a:ln w="12700">
            <a:solidFill>
              <a:srgbClr val="4A7FB5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32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7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20040" y="1170432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17043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(gRPC/HTTP)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1700784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" y="170078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231136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" y="223113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Zipkin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761488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04" y="276148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0" y="2221992"/>
            <a:ext cx="4572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3200400" y="1024128"/>
            <a:ext cx="2743200" cy="2423160"/>
          </a:xfrm>
          <a:prstGeom prst="roundRect">
            <a:avLst>
              <a:gd name="adj" fmla="val 3774"/>
            </a:avLst>
          </a:prstGeom>
          <a:ln w="12700">
            <a:solidFill>
              <a:srgbClr val="8B6AB5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29184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8B6A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012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37560" y="1170432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92424" y="11704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37560" y="1700784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92424" y="17007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Enrichment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2231136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92424" y="223113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/ Sampling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2761488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92424" y="276148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Detection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943600" y="2221992"/>
            <a:ext cx="45720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400800" y="1024128"/>
            <a:ext cx="2560320" cy="2423160"/>
          </a:xfrm>
          <a:prstGeom prst="roundRect">
            <a:avLst>
              <a:gd name="adj" fmla="val 3774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49224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052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537960" y="1170432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92824" y="117043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37960" y="1700784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92824" y="170078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Zipkin / OTLP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537960" y="2231136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92824" y="223113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537960" y="2761488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92824" y="276148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Others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1440" y="896112"/>
            <a:ext cx="8961120" cy="2670048"/>
          </a:xfrm>
          <a:prstGeom prst="roundRect">
            <a:avLst>
              <a:gd name="adj" fmla="val 3425"/>
            </a:avLst>
          </a:prstGeom>
          <a:ln w="12700">
            <a:solidFill>
              <a:srgbClr val="D6CCBF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18288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6C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3730752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5844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5844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otel-collector-config.yaml (overview)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840480"/>
            <a:ext cx="833932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receivers: {otlp: {protocols: {grpc: {endpoint: 0.0.0.0:4317}}}}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processors: {batch: {timeout: 1s, send_batch_size: 1024}}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exporters: {jaeger: {endpoint: jaeger:14250}, prometheus: {endpoint: 0.0.0.0:8889}}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 {pipelines: {traces: {receivers: [otlp], processors: [batch], exporters: [jaeger]}}}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Collector decouples apps from backends — switching from Jaeger to Tempo requires no application code changes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Jaeger: Distributed Tracing Backend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was open-sourced by Uber and is now a CNCF graduated project — one of the most widely used distributed tracing backends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432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918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jaeger-agent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089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Sidecar / 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UDP port 6831/6832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60604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60604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66090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jaeger-collector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index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 to backend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99262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jaeger-query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7433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 + gRPC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26948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26948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2434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UI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0605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visualization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Gantt timeline chart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377440" y="1572768"/>
            <a:ext cx="2286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4709160" y="1572768"/>
            <a:ext cx="2286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7040880" y="1572768"/>
            <a:ext cx="2286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27432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Backends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3736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9222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20624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6110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Cassandra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67512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998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Badger (local)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91840" y="2148840"/>
            <a:ext cx="9144" cy="109728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274320" y="2816352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0160">
            <a:solidFill>
              <a:srgbClr val="8B6A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281635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Search traces by service / operation / tag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2816352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73168" y="281635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Compare multiple traces to detect performance regressions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3346704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334670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Service dependency graph (Service Graph) auto-generated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63440" y="3346704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73168" y="334670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Tail sampling: Jaeger Collector supports remote sampling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5262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Jaeger UI provides Gantt timeline charts to visually show each Span's duration ratio, quickly pinpointing bottleneck services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Strategies: Head vs Tail Sampling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38912"/>
          </a:xfrm>
          <a:prstGeom prst="roundRect">
            <a:avLst>
              <a:gd name="adj" fmla="val 1666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Tracing 100% of requests is impractical — data volume too large, storage costs too high, performance overhead too great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133856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13385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Head-based Sampling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133856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64608" y="113385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Tail-based Sampling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15727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" y="1636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627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" y="160934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at Request Start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67512" y="180136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determines whether to trace at a fixed probability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09397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" y="215798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214884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" y="213055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Implement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7512" y="232257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SDK, no extra infrastructure needed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61518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67919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67004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65176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Overhead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84378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Unsampled requests produce no Spans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13639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320040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319125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317296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Miss Rare Errors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36499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Low-probability errors may be filtered out by sample rate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15727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28032" y="1636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28032" y="1627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48072" y="160934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After Trace Completes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148072" y="180136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for the entire trace to finish before deciding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209397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28032" y="215798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214884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148072" y="213055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Retains All Errors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148072" y="232257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retention of traces containing errors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54880" y="261518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28032" y="267919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28032" y="267004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148072" y="265176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Buffer All Traces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148072" y="284378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requires significant memory buffer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54880" y="313639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28032" y="320040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28032" y="319125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48072" y="317296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Architecture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148072" y="336499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Tail Sampling config is complex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4048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Probabilistic: Randomly sample X% of requests (most common)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172968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82696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Limiting: Max N traces per second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71616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81344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Errors = 100%, normal = 1%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Production typically uses 1-10% head sampling combined with tail sampling to retain all error traces — balancing cost and observability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 Instrumentation Implementation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Span Creation (Python / FastAPI)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896112"/>
            <a:ext cx="4206240" cy="3310128"/>
          </a:xfrm>
          <a:prstGeom prst="roundRect">
            <a:avLst>
              <a:gd name="adj" fmla="val 2762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OTel SDK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1005840"/>
            <a:ext cx="3950208" cy="3127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 import TracerProvider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opentelemetry.sdk.trace.export import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opentelemetry.exporter.otlp.proto.grpc.trace_exporter import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OTLPSpanExporter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Initialize TracerProvider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= TracerProvider()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provider.add_span_processor(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BatchSpanProcessor(OTLPSpanExporter())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trace.set_tracer_provider(provider)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Get Tracer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manual Span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tracer.start_as_current_span("process_order")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Add custom attributes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span.set_attribute("order.id", order_id)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span.set_attribute("order.amount", amount)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process(order)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span.add_event("order_processed")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594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Auto-Instrumentation (No Code Changes)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896112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Auto-Instrumentation (Zero Invasion)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82896" y="1005840"/>
            <a:ext cx="385876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auto-instrumentation packages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opentelemetry-instrument-fastapi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opentelemetry-instrument-sqlalchemy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opentelemetry-instrument-requests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Auto-inject at startup (no code changes)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opentelemetry-instrument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--traces_exporter otlp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uvicorn app:main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54880" y="272491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and libraries supported by auto-instrumentation: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01752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FastAPI / Flask / Django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338328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338328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SQLAlchemy / psycopg2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374904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74904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requests / httpx / aiohttp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411480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411480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Redis / Celery / Kafka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45262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Auto-instrumentation is ideal for quick starts; manual instrumentation suits business-critical paths — both can be combined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Deployment in Kubernetes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DaemonSet Mode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 OTel Collector per node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502920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85800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45920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45920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92608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Apps send to localhost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92608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Shared per node, resource-efficient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2608" y="3127248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Suitable for large clusters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2608" y="3511296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92608" y="3749040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Node failure loses that node's data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4023360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Collector upgrades affect entire node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172968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64408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Sidecar Mode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82696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Pod includes a Collector sidecar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93008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3493008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75888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75888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36008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36008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282696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82696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Full isolation, no interference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82696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Per-Pod sampling strategies possible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82696" y="32186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82696" y="345643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High resource overhead (extra container per Pod)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282696" y="373075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Complex maintenance with many Pods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144768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36208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Central Collector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54496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apps send to a centralized deployment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464808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464808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647688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47688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607808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07808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254496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254496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Easiest to manage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254496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Unified config and monitoring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254496" y="32186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254496" y="345643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Single point of failure risk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254496" y="373075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Slightly higher network overhead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254496" y="400507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Horizontal scaling needed under heavy load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74320" y="4892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937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Most teams start with DaemonSet and switch to Sidecar only when strong isolation is needed — Central Collector suits small clusters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 Auto-Tracing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Istio / Envoy: Automatically inject tracing headers at the proxy layer — apps get basic tracing without any SDK instrumentation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43000"/>
            <a:ext cx="3200400" cy="1645920"/>
          </a:xfrm>
          <a:prstGeom prst="roundRect">
            <a:avLst>
              <a:gd name="adj" fmla="val 5556"/>
            </a:avLst>
          </a:prstGeom>
          <a:ln w="12700">
            <a:solidFill>
              <a:srgbClr val="4A7FB5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74320" y="9966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9966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5760" y="1325880"/>
            <a:ext cx="1280160" cy="1234440"/>
          </a:xfrm>
          <a:prstGeom prst="roundRect">
            <a:avLst>
              <a:gd name="adj" fmla="val 5926"/>
            </a:avLst>
          </a:prstGeom>
          <a:solidFill>
            <a:srgbClr val="ECE6DD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3716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SDK)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28800" y="1325880"/>
            <a:ext cx="1417320" cy="1234440"/>
          </a:xfrm>
          <a:prstGeom prst="roundRect">
            <a:avLst>
              <a:gd name="adj" fmla="val 5926"/>
            </a:avLst>
          </a:prstGeom>
          <a:solidFill>
            <a:srgbClr val="2D1F5E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0" y="13716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(Sidecar)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45920" y="1947672"/>
            <a:ext cx="18288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383280" y="1947672"/>
            <a:ext cx="9144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451860" y="1773936"/>
            <a:ext cx="7772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1860" y="177393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Inject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297680" y="1143000"/>
            <a:ext cx="3200400" cy="1645920"/>
          </a:xfrm>
          <a:prstGeom prst="roundRect">
            <a:avLst>
              <a:gd name="adj" fmla="val 5556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389120" y="9966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07408" y="9966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B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480560" y="1325880"/>
            <a:ext cx="1417320" cy="1234440"/>
          </a:xfrm>
          <a:prstGeom prst="roundRect">
            <a:avLst>
              <a:gd name="adj" fmla="val 5926"/>
            </a:avLst>
          </a:prstGeom>
          <a:solidFill>
            <a:srgbClr val="2D1F5E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13716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Headers)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897880" y="1947672"/>
            <a:ext cx="18288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6080760" y="1325880"/>
            <a:ext cx="1280160" cy="1234440"/>
          </a:xfrm>
          <a:prstGeom prst="roundRect">
            <a:avLst>
              <a:gd name="adj" fmla="val 5926"/>
            </a:avLst>
          </a:prstGeom>
          <a:solidFill>
            <a:srgbClr val="ECE6DD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80760" y="13716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SDK)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498080" y="1947672"/>
            <a:ext cx="91440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7566660" y="1773936"/>
            <a:ext cx="7772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66660" y="177393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 →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74320" y="29443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Important Limitations of Service Mesh Tracing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3291840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329184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Apps must still forward traceparent headers — otherwise parent-child Span links break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72160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F5F1EB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372160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Cannot see application internal logic — only inter-service HTTP/gRPC calls are visible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" y="4151376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F5F1EB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151376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Database queries, cache calls, and other internal Spans require SDK instrumentation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Service Mesh tracing is a great starting point, but ultimately OTel SDK is needed for full business-layer tracing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Integrating Traces, Logs &amp; Metrics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2D1F5E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Inject traceId and spanId into every log entry — three pillars are linked via Correlation ID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7432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Monitoring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0040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error_rate 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spikes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Click into Grafana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172968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64408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/ Jaeger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64408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Analysis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10128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traces in the problem window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Span has abnormal latency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Click to view correlated logs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44768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4768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36208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6208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Queries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81928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by traceId to find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 logs for that request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Pinpoint the exact error line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08960" y="2496312"/>
            <a:ext cx="64008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2866644" y="232257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66644" y="23225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TraceID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080760" y="2496312"/>
            <a:ext cx="64008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5838444" y="232257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8444" y="23225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TraceID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Correlation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3730752"/>
            <a:ext cx="8595360" cy="530352"/>
          </a:xfrm>
          <a:prstGeom prst="roundRect">
            <a:avLst>
              <a:gd name="adj" fmla="val 13793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7307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Prometheus detects anomaly → Grafana Explore finds Trace → Tempo shows Span details → Click TraceID to jump to Loki for related logs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Correlation ID across three pillars is the core capability of observability — Grafana's Explore page enables direct navigation between all three data sources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Cost &amp; Performance Impact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14800" cy="1481328"/>
          </a:xfrm>
          <a:prstGeom prst="roundRect">
            <a:avLst>
              <a:gd name="adj" fmla="val 617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6583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SDK Performance Overhead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969264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CPU: ~1-3% extra for instrumentation &amp; serialization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122529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Memory: ~1-5KB per Span (incl. attributes, events)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1481328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Network: Batch-processed transfer to Collector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1737360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Latency: Async export, request latency impact &lt; 1ms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594360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6583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Storage Cost Estimate (100% Sampling)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969264"/>
            <a:ext cx="4114800" cy="960120"/>
          </a:xfrm>
          <a:prstGeom prst="roundRect">
            <a:avLst>
              <a:gd name="adj" fmla="val 952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822960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822960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 Data Volume Estimate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82896" y="1078992"/>
            <a:ext cx="385876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1,000,000 requests/day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10 Spans per request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2 KB per Span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20 GB Trace data per day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F5F1EB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24028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288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🔴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0350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Sampling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0896" y="2852928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GB per day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548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0896" y="3255264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queryable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10896" y="3657600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for: testing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548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for production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13944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39440" y="224028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3944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🟡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6006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Sampling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67456" y="285292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3204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GB per day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43204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cost reduction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67456" y="325526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3204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coverage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43204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issues still traceable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267456" y="365760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3204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for: general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43204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choice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09600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96000" y="224028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9600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🟢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51662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Sampling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224016" y="2852928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860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MB per day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38860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cost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224016" y="3255264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860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 only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38860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issues hard to find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224016" y="3657600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860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tail sampling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38860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error traces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Sampling rate design principle: low sampling for normal requests + 100% retention for errors/high-latency = optimal cost-effectiveness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Tracing Anti-patterns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667512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💣  No Sampling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960120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sample rate + high traffic = storage explosion, skyrocketing costs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4048" y="1435608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453896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Set a reasonable sample rate, use tail sampling to retain errors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667512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Missing Context Propagation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18888" y="960120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layer (Message Queue, Async Job) forgetting to forward traceparent breaks the trace chain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18888" y="1435608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1453896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All service boundaries must forward trace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075688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2148840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🙈  Only Tracing Happy Path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" y="2441448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instrumenting try blocks; catch/error paths have no Spans — failures become untraceable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84048" y="2916936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2935224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Record exceptions in Spans via span.record_exception(e)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2075688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18888" y="2148840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Not Correlating with Logs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18888" y="2441448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alone only show timing; without detailed error messages, deep debugging is impossible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18888" y="2916936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0328" y="2935224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Inject trace_id and span_id into log entries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557016"/>
            <a:ext cx="859536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3630168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Vendor Lock-in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4048" y="3922776"/>
            <a:ext cx="8375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Instrumenting directly with Jaeger SDK or Zipkin SDK means switching backends requires major code changes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84048" y="4398264"/>
            <a:ext cx="837590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" y="4416552"/>
            <a:ext cx="8193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Always use OTel API/SDK; abstract backends via Collector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value of a tracing system comes from completeness and correlation — avoiding these anti-patterns maximizes tracing ROI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Chapter 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request paths across service boundaries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 + Span + Context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W3C traceparent standard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Solves distributed debugging challenges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2316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42316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49631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Do 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1460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OTel SDK auto/manual instrumentation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OTel Collector routing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1460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Jaeger / Tempo backends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1460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K8s DaemonSet deployment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64515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Strategy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Head sampling: low overhead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6344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Tail sampling: retains all errors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66344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Production: 1-10% + 100% errors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66344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Essential for cost control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72084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72084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79399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1228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TraceID injected into every log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1228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Grafana Tempo + Loki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1228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Three pillars linked together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1228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Alert → Trace → Log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4462272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46227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Next Chapter PART 10: SRE Practices — Integrating Traces + Metrics + Logs into the SLO/SLI Framework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2026-04-03T16:24:52Z</dcterms:created>
  <dcterms:modified xsi:type="dcterms:W3CDTF">2026-04-03T16:24:52Z</dcterms:modified>
</cp:coreProperties>
</file>