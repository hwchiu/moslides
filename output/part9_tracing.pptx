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029200"/>
  <p:notesSz cx="50292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分散式追蹤：為什麼我們需要它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複雜度  4/10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252D38"/>
          </a:solidFill>
          <a:ln w="12700">
            <a:solidFill>
              <a:srgbClr val="252D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384048" cy="8229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追蹤  · 121 / 150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594360"/>
            <a:ext cx="8595360" cy="475488"/>
          </a:xfrm>
          <a:prstGeom prst="roundRect">
            <a:avLst>
              <a:gd name="adj" fmla="val 15385"/>
            </a:avLst>
          </a:prstGeom>
          <a:solidFill>
            <a:srgbClr val="161B22"/>
          </a:solidFill>
          <a:ln w="19050">
            <a:solidFill>
              <a:srgbClr val="6E40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5943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問題：在分散式系統中，一個請求會經過 10 個以上的服務 — 每一跳都是潛在的故障點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1170432"/>
            <a:ext cx="1170432" cy="9144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6E40C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82880" y="1225296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37744" y="1645920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用戶請求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417320" y="1170432"/>
            <a:ext cx="1170432" cy="9144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6E40C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417320" y="1225296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72184" y="1645920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651760" y="1170432"/>
            <a:ext cx="1170432" cy="9144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6E40C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651760" y="1225296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🔀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706624" y="1645920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閘道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886200" y="1170432"/>
            <a:ext cx="1170432" cy="9144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6E40C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886200" y="1225296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941064" y="1645920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認證服務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120640" y="1170432"/>
            <a:ext cx="1170432" cy="9144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6E40C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120640" y="1225296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175504" y="1645920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訂單服務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55080" y="1170432"/>
            <a:ext cx="1170432" cy="9144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6E40C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55080" y="1225296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🏭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409944" y="1645920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庫存服務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589520" y="1170432"/>
            <a:ext cx="1170432" cy="9144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6E40C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589520" y="1225296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644384" y="1645920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資料庫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353312" y="1581912"/>
            <a:ext cx="246888" cy="9144"/>
          </a:xfrm>
          <a:prstGeom prst="line">
            <a:avLst/>
          </a:prstGeom>
          <a:noFill/>
          <a:ln w="19050">
            <a:solidFill>
              <a:srgbClr val="6E40C9"/>
            </a:solidFill>
            <a:prstDash val="solid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2587752" y="1581912"/>
            <a:ext cx="246888" cy="9144"/>
          </a:xfrm>
          <a:prstGeom prst="line">
            <a:avLst/>
          </a:prstGeom>
          <a:noFill/>
          <a:ln w="19050">
            <a:solidFill>
              <a:srgbClr val="6E40C9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3822192" y="1581912"/>
            <a:ext cx="246888" cy="9144"/>
          </a:xfrm>
          <a:prstGeom prst="line">
            <a:avLst/>
          </a:prstGeom>
          <a:noFill/>
          <a:ln w="19050">
            <a:solidFill>
              <a:srgbClr val="6E40C9"/>
            </a:solidFill>
            <a:prstDash val="solid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5056632" y="1581912"/>
            <a:ext cx="246888" cy="9144"/>
          </a:xfrm>
          <a:prstGeom prst="line">
            <a:avLst/>
          </a:prstGeom>
          <a:noFill/>
          <a:ln w="19050">
            <a:solidFill>
              <a:srgbClr val="6E40C9"/>
            </a:solidFill>
            <a:prstDash val="solid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6291072" y="1581912"/>
            <a:ext cx="246888" cy="9144"/>
          </a:xfrm>
          <a:prstGeom prst="line">
            <a:avLst/>
          </a:prstGeom>
          <a:noFill/>
          <a:ln w="19050">
            <a:solidFill>
              <a:srgbClr val="6E40C9"/>
            </a:solidFill>
            <a:prstDash val="solid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7525512" y="1581912"/>
            <a:ext cx="246888" cy="9144"/>
          </a:xfrm>
          <a:prstGeom prst="line">
            <a:avLst/>
          </a:prstGeom>
          <a:noFill/>
          <a:ln w="19050">
            <a:solidFill>
              <a:srgbClr val="6E40C9"/>
            </a:solidFill>
            <a:prstDash val="solid"/>
            <a:tailEnd type="arrow"/>
          </a:ln>
        </p:spPr>
      </p:sp>
      <p:sp>
        <p:nvSpPr>
          <p:cNvPr id="38" name="Shape 36"/>
          <p:cNvSpPr/>
          <p:nvPr/>
        </p:nvSpPr>
        <p:spPr>
          <a:xfrm>
            <a:off x="274320" y="2212848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22128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沒有追蹤時：可以看到錯誤，但完全無法追蹤請求經過了哪些服務、哪一步出了問題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" y="2834640"/>
            <a:ext cx="2743200" cy="475488"/>
          </a:xfrm>
          <a:prstGeom prst="roundRect">
            <a:avLst>
              <a:gd name="adj" fmla="val 15385"/>
            </a:avLst>
          </a:prstGeom>
          <a:solidFill>
            <a:srgbClr val="161B22"/>
          </a:solidFill>
          <a:ln w="15240">
            <a:solidFill>
              <a:srgbClr val="D2992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283464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無法知道哪個服務造成延遲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172968" y="2834640"/>
            <a:ext cx="2743200" cy="475488"/>
          </a:xfrm>
          <a:prstGeom prst="roundRect">
            <a:avLst>
              <a:gd name="adj" fmla="val 15385"/>
            </a:avLst>
          </a:prstGeom>
          <a:solidFill>
            <a:srgbClr val="2A0F0F"/>
          </a:solidFill>
          <a:ln w="15240">
            <a:solidFill>
              <a:srgbClr val="F8514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10128" y="283464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錯誤傳播路徑不明確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071616" y="2834640"/>
            <a:ext cx="2743200" cy="475488"/>
          </a:xfrm>
          <a:prstGeom prst="roundRect">
            <a:avLst>
              <a:gd name="adj" fmla="val 15385"/>
            </a:avLst>
          </a:prstGeom>
          <a:solidFill>
            <a:srgbClr val="161B22"/>
          </a:solidFill>
          <a:ln w="15240">
            <a:solidFill>
              <a:srgbClr val="6E40C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08776" y="283464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跨服務的因果關係無法重建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74320" y="3438144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2A0F0F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3483864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一個請求失敗了，但你不知道是哪個服務出了問題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74320" y="457200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929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617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分散式追蹤 = 為每個請求建立完整的旅程地圖，讓問題無所遁形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Trace、Span 與 Context 核心概念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複雜度  5/10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252D38"/>
          </a:solidFill>
          <a:ln w="12700">
            <a:solidFill>
              <a:srgbClr val="252D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480060" cy="82296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追蹤  · 122 / 150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594360"/>
            <a:ext cx="3931920" cy="1261872"/>
          </a:xfrm>
          <a:prstGeom prst="roundRect">
            <a:avLst>
              <a:gd name="adj" fmla="val 7246"/>
            </a:avLst>
          </a:prstGeom>
          <a:solidFill>
            <a:srgbClr val="161B22"/>
          </a:solidFill>
          <a:ln w="19050">
            <a:solidFill>
              <a:srgbClr val="6E40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649224"/>
            <a:ext cx="73152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78992" y="68580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78992" y="101498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一次請求的完整旅程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8992" y="1289304"/>
            <a:ext cx="3017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具有唯一的 traceId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跨越所有服務邊界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984248"/>
            <a:ext cx="3931920" cy="1261872"/>
          </a:xfrm>
          <a:prstGeom prst="roundRect">
            <a:avLst>
              <a:gd name="adj" fmla="val 7246"/>
            </a:avLst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039112"/>
            <a:ext cx="73152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📐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078992" y="2075688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78992" y="24048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一個工作單元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78992" y="2679192"/>
            <a:ext cx="3017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spanId + parentSpanId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開始/結束時間 + 標籤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374136"/>
            <a:ext cx="3931920" cy="1261872"/>
          </a:xfrm>
          <a:prstGeom prst="roundRect">
            <a:avLst>
              <a:gd name="adj" fmla="val 7246"/>
            </a:avLst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429000"/>
            <a:ext cx="73152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🏷️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078992" y="3465576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78992" y="3794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跨服務邊界傳遞的元資料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78992" y="4069080"/>
            <a:ext cx="3017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隨 HTTP 標頭傳播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W3C Trace Context 標準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34840" y="594360"/>
            <a:ext cx="4434840" cy="4224528"/>
          </a:xfrm>
          <a:prstGeom prst="roundRect">
            <a:avLst>
              <a:gd name="adj" fmla="val 2165"/>
            </a:avLst>
          </a:prstGeom>
          <a:solidFill>
            <a:srgbClr val="161B22"/>
          </a:solidFill>
          <a:ln w="15240">
            <a:solidFill>
              <a:srgbClr val="6E40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26280" y="658368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父子 Span 階層示意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17720" y="1024128"/>
            <a:ext cx="4160520" cy="365760"/>
          </a:xfrm>
          <a:prstGeom prst="roundRect">
            <a:avLst>
              <a:gd name="adj" fmla="val 15000"/>
            </a:avLst>
          </a:prstGeom>
          <a:solidFill>
            <a:srgbClr val="2D1F5E"/>
          </a:solidFill>
          <a:ln w="15240">
            <a:solidFill>
              <a:srgbClr val="6E40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102412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E4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Span: HTTP POST /checkout  (traceId: abc-123)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983480" y="1389888"/>
            <a:ext cx="9144" cy="22860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66360" y="1618488"/>
            <a:ext cx="3337560" cy="347472"/>
          </a:xfrm>
          <a:prstGeom prst="roundRect">
            <a:avLst>
              <a:gd name="adj" fmla="val 15789"/>
            </a:avLst>
          </a:prstGeom>
          <a:solidFill>
            <a:srgbClr val="1C2128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57800" y="1618488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Span: 認證服務驗證 Token  (parentId: root)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166360" y="2057400"/>
            <a:ext cx="3337560" cy="347472"/>
          </a:xfrm>
          <a:prstGeom prst="roundRect">
            <a:avLst>
              <a:gd name="adj" fmla="val 15789"/>
            </a:avLst>
          </a:prstGeom>
          <a:solidFill>
            <a:srgbClr val="1C212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57800" y="205740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Span: 訂單服務建立訂單  (parentId: root)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2404872"/>
            <a:ext cx="9144" cy="22860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23560" y="2633472"/>
            <a:ext cx="2880360" cy="329184"/>
          </a:xfrm>
          <a:prstGeom prst="roundRect">
            <a:avLst>
              <a:gd name="adj" fmla="val 16667"/>
            </a:avLst>
          </a:prstGeom>
          <a:solidFill>
            <a:srgbClr val="1C2128"/>
          </a:solidFill>
          <a:ln w="12700">
            <a:solidFill>
              <a:srgbClr val="E3620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15000" y="2633472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Span: DB INSERT orders  (parentId: order-span)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166360" y="3063240"/>
            <a:ext cx="3337560" cy="347472"/>
          </a:xfrm>
          <a:prstGeom prst="roundRect">
            <a:avLst>
              <a:gd name="adj" fmla="val 15789"/>
            </a:avLst>
          </a:prstGeom>
          <a:solidFill>
            <a:srgbClr val="1C2128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57800" y="306324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Span: 庫存服務扣減庫存  (parentId: root)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17720" y="3767328"/>
            <a:ext cx="4160520" cy="9144"/>
          </a:xfrm>
          <a:prstGeom prst="line">
            <a:avLst/>
          </a:prstGeom>
          <a:noFill/>
          <a:ln w="9525">
            <a:solidFill>
              <a:srgbClr val="30363D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4617720" y="3822192"/>
            <a:ext cx="4160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時間軸 →    總耗時: 245ms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457200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929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617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每個 Span 記錄開始時間、結束時間、狀態碼、標籤屬性，完整還原請求在各服務的執行細節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Propagation 上下文傳遞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複雜度  6/10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252D38"/>
          </a:solidFill>
          <a:ln w="12700">
            <a:solidFill>
              <a:srgbClr val="252D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576072" cy="82296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追蹤  · 123 / 150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594360"/>
            <a:ext cx="8595360" cy="457200"/>
          </a:xfrm>
          <a:prstGeom prst="roundRect">
            <a:avLst>
              <a:gd name="adj" fmla="val 16000"/>
            </a:avLst>
          </a:prstGeom>
          <a:solidFill>
            <a:srgbClr val="161B22"/>
          </a:solidFill>
          <a:ln w="19050">
            <a:solidFill>
              <a:srgbClr val="6E40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Trace Context 標準  ·  HTTP 標頭：traceparent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170432"/>
            <a:ext cx="8595360" cy="1005840"/>
          </a:xfrm>
          <a:prstGeom prst="roundRect">
            <a:avLst>
              <a:gd name="adj" fmla="val 9091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5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024128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024128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traceparent 標頭格式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02336" y="1280160"/>
            <a:ext cx="833932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traceparent: 00-{traceId(32位元組十六進位)}-{parentSpanId(16位元組)}-{flags(01=取樣,00=不取樣)}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實際範例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traceparent: 00-4bf92f3577b34da6a3ce929d0e0e4736-00f067aa0ba902b7-01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4320" y="22860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跨服務傳遞流程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633472"/>
            <a:ext cx="2560320" cy="1389888"/>
          </a:xfrm>
          <a:prstGeom prst="roundRect">
            <a:avLst>
              <a:gd name="adj" fmla="val 6579"/>
            </a:avLst>
          </a:prstGeom>
          <a:solidFill>
            <a:srgbClr val="1A1F2E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服務 A（呼叫方）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980944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建立根 Span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設定 traceparent 標頭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發送 HTTP 請求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834640" y="3282696"/>
            <a:ext cx="1280160" cy="9144"/>
          </a:xfrm>
          <a:prstGeom prst="line">
            <a:avLst/>
          </a:prstGeom>
          <a:noFill/>
          <a:ln w="19050">
            <a:solidFill>
              <a:srgbClr val="6E40C9"/>
            </a:solidFill>
            <a:prstDash val="solid"/>
            <a:tailEnd type="arrow"/>
          </a:ln>
        </p:spPr>
      </p:sp>
      <p:sp>
        <p:nvSpPr>
          <p:cNvPr id="20" name="Text 18"/>
          <p:cNvSpPr/>
          <p:nvPr/>
        </p:nvSpPr>
        <p:spPr>
          <a:xfrm>
            <a:off x="2788920" y="2761488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4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請求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E4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traceparent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60520" y="2633472"/>
            <a:ext cx="2560320" cy="1389888"/>
          </a:xfrm>
          <a:prstGeom prst="roundRect">
            <a:avLst>
              <a:gd name="adj" fmla="val 6579"/>
            </a:avLst>
          </a:prstGeom>
          <a:solidFill>
            <a:srgbClr val="1A2E1A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26700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服務 B（被呼叫方）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43400" y="2980944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讀取 traceparent 標頭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解析 traceId + parentSpanId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建立子 Span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720840" y="3282696"/>
            <a:ext cx="1097280" cy="9144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  <a:tailEnd type="arrow"/>
          </a:ln>
        </p:spPr>
      </p:sp>
      <p:sp>
        <p:nvSpPr>
          <p:cNvPr id="25" name="Text 23"/>
          <p:cNvSpPr/>
          <p:nvPr/>
        </p:nvSpPr>
        <p:spPr>
          <a:xfrm>
            <a:off x="6675120" y="276148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繼續傳遞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到服務 C...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74320" y="41605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其他 Context 格式（OTel Collector 可互相轉換）：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443484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1C2128"/>
          </a:solidFill>
          <a:ln w="9525">
            <a:solidFill>
              <a:srgbClr val="D299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4348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B3 (Zipkin)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783080" y="443484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1C2128"/>
          </a:solidFill>
          <a:ln w="9525">
            <a:solidFill>
              <a:srgbClr val="23863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83080" y="44348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Jaeger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91840" y="443484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1C2128"/>
          </a:solidFill>
          <a:ln w="9525">
            <a:solidFill>
              <a:srgbClr val="E3620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44348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X-Ray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473659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929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78231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traceparent 標頭必須在每個 HTTP/gRPC 呼叫中轉發 — 任何一層忘記轉發就會造成 Trace 斷鏈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單體式 vs 分散式架構的追蹤差異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複雜度  5/10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252D38"/>
          </a:solidFill>
          <a:ln w="12700">
            <a:solidFill>
              <a:srgbClr val="252D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480060" cy="82296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追蹤  · 124 / 150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594360"/>
            <a:ext cx="4114800" cy="365760"/>
          </a:xfrm>
          <a:prstGeom prst="roundRect">
            <a:avLst>
              <a:gd name="adj" fmla="val 20000"/>
            </a:avLst>
          </a:prstGeom>
          <a:solidFill>
            <a:srgbClr val="0F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594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單體式架構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594360"/>
            <a:ext cx="4114800" cy="365760"/>
          </a:xfrm>
          <a:prstGeom prst="roundRect">
            <a:avLst>
              <a:gd name="adj" fmla="val 20000"/>
            </a:avLst>
          </a:prstGeom>
          <a:solidFill>
            <a:srgbClr val="2A0F0F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594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分散式架構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1042416"/>
            <a:ext cx="4114800" cy="512064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110642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0F2A1A"/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1097280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1078992"/>
            <a:ext cx="3621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單一 Process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67512" y="1271016"/>
            <a:ext cx="3621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所有程式碼在同一記憶體空間執行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1609344"/>
            <a:ext cx="4114800" cy="512064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1673352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0F2A1A"/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1664208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7512" y="1645920"/>
            <a:ext cx="3621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函式呼叫追蹤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67512" y="1837944"/>
            <a:ext cx="3621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直接攔截函式呼叫堆疊（call stack）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176272"/>
            <a:ext cx="4114800" cy="512064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" y="2240280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0F2A1A"/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2231136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7512" y="2212848"/>
            <a:ext cx="3621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易於埋點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67512" y="2404872"/>
            <a:ext cx="3621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 SDK 覆蓋整個應用程式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2743200"/>
            <a:ext cx="4114800" cy="512064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" y="2807208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0F2A1A"/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2798064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7512" y="2779776"/>
            <a:ext cx="3621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線性 Trace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67512" y="2971800"/>
            <a:ext cx="3621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請求路徑單一，Span 階層簡單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1042416"/>
            <a:ext cx="4114800" cy="512064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28032" y="110642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2A1F00"/>
          </a:solidFill>
          <a:ln w="6350">
            <a:solidFill>
              <a:srgbClr val="D299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1097280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48072" y="1078992"/>
            <a:ext cx="3621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每個服務需獨立埋點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148072" y="1271016"/>
            <a:ext cx="3621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多語言、多框架，維護成本高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1609344"/>
            <a:ext cx="4114800" cy="512064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28032" y="1673352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2A1F00"/>
          </a:solidFill>
          <a:ln w="6350">
            <a:solidFill>
              <a:srgbClr val="D2992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1664208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48072" y="1645920"/>
            <a:ext cx="3621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非同步間隙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148072" y="1837944"/>
            <a:ext cx="3621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訊息佇列（Kafka/RabbitMQ）難以關聯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54880" y="2176272"/>
            <a:ext cx="4114800" cy="512064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28032" y="2240280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2A0F0F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28032" y="2231136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148072" y="2212848"/>
            <a:ext cx="3621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HTTP/gRPC 邊界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148072" y="2404872"/>
            <a:ext cx="3621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必須靠 Context Propagation 串聯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54880" y="2743200"/>
            <a:ext cx="4114800" cy="512064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28032" y="2807208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2A0F0F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28032" y="2798064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148072" y="2779776"/>
            <a:ext cx="3621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時鐘偏移問題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148072" y="2971800"/>
            <a:ext cx="3621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不同機器時間不同步，Span 順序可能錯誤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74320" y="457200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929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4617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分散式追蹤本質上比單體式複雜 10 倍 — 但 OpenTelemetry 大幅降低了實作門檻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OpenTelemetry：業界標準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複雜度  6/10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252D38"/>
          </a:solidFill>
          <a:ln w="12700">
            <a:solidFill>
              <a:srgbClr val="252D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576072" cy="82296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追蹤  · 125 / 150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594360"/>
            <a:ext cx="8595360" cy="475488"/>
          </a:xfrm>
          <a:prstGeom prst="roundRect">
            <a:avLst>
              <a:gd name="adj" fmla="val 15385"/>
            </a:avLst>
          </a:prstGeom>
          <a:solidFill>
            <a:srgbClr val="2D1F5E"/>
          </a:solidFill>
          <a:ln w="19050">
            <a:solidFill>
              <a:srgbClr val="6E40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5943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= 廠商中立的可觀測性標準   ·   CNCF 畢業專案   ·   三大支柱全部涵蓋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82880" y="1170432"/>
            <a:ext cx="2865120" cy="3246120"/>
          </a:xfrm>
          <a:prstGeom prst="roundRect">
            <a:avLst>
              <a:gd name="adj" fmla="val 3191"/>
            </a:avLst>
          </a:prstGeom>
          <a:solidFill>
            <a:srgbClr val="161B22"/>
          </a:solidFill>
          <a:ln w="15240">
            <a:solidFill>
              <a:srgbClr val="58A6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1170432"/>
            <a:ext cx="2865120" cy="47548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1188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03504" y="1170432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0896" y="1783080"/>
            <a:ext cx="109728" cy="10972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719072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埋點介面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" y="1920240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在程式碼中建立 Span 的 API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10896" y="2185416"/>
            <a:ext cx="109728" cy="10972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121408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語言無關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" y="2322576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Go / Java / JS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10896" y="2587752"/>
            <a:ext cx="109728" cy="10972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2523744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僅定義介面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" y="2724912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不含實作邏輯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10896" y="2990088"/>
            <a:ext cx="109728" cy="10972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2926080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程式碼中的呼叫點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5488" y="3127248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tracer.start_span()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139440" y="1170432"/>
            <a:ext cx="2865120" cy="3246120"/>
          </a:xfrm>
          <a:prstGeom prst="roundRect">
            <a:avLst>
              <a:gd name="adj" fmla="val 3191"/>
            </a:avLst>
          </a:prstGeom>
          <a:solidFill>
            <a:srgbClr val="161B22"/>
          </a:solidFill>
          <a:ln w="15240">
            <a:solidFill>
              <a:srgbClr val="3FB9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39440" y="1170432"/>
            <a:ext cx="2865120" cy="47548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39440" y="1188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560064" y="1170432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67456" y="1783080"/>
            <a:ext cx="109728" cy="10972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32048" y="1719072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的實作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432048" y="1920240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處理 Span 生命週期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67456" y="2185416"/>
            <a:ext cx="109728" cy="10972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32048" y="2121408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批次處理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432048" y="2322576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合併多個 Span 再傳送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67456" y="2587752"/>
            <a:ext cx="109728" cy="10972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32048" y="2523744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取樣決策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432048" y="2724912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頭部取樣邏輯在此實作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67456" y="2990088"/>
            <a:ext cx="109728" cy="10972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32048" y="2926080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導出器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432048" y="3127248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傳送到 Collector 或後端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096000" y="1170432"/>
            <a:ext cx="2865120" cy="3246120"/>
          </a:xfrm>
          <a:prstGeom prst="roundRect">
            <a:avLst>
              <a:gd name="adj" fmla="val 3191"/>
            </a:avLst>
          </a:prstGeom>
          <a:solidFill>
            <a:srgbClr val="161B22"/>
          </a:solidFill>
          <a:ln w="15240">
            <a:solidFill>
              <a:srgbClr val="6E40C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96000" y="1170432"/>
            <a:ext cx="2865120" cy="47548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96000" y="1188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6516624" y="1170432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224016" y="1783080"/>
            <a:ext cx="109728" cy="109728"/>
          </a:xfrm>
          <a:prstGeom prst="ellipse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88608" y="1719072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接收遙測資料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388608" y="1920240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 OTLP / Jaeger / Zipkin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224016" y="2185416"/>
            <a:ext cx="109728" cy="109728"/>
          </a:xfrm>
          <a:prstGeom prst="ellipse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88608" y="2121408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資料處理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388608" y="2322576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過濾、豐富化、轉換格式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224016" y="2587752"/>
            <a:ext cx="109728" cy="109728"/>
          </a:xfrm>
          <a:prstGeom prst="ellipse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88608" y="2523744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多目標導出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388608" y="2724912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同時送往多個後端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224016" y="2990088"/>
            <a:ext cx="109728" cy="109728"/>
          </a:xfrm>
          <a:prstGeom prst="ellipse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88608" y="2926080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解耦應用程式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6388608" y="3127248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後端變更不需修改程式碼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274320" y="4480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涵蓋可觀測性三大支柱：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291840" y="4462272"/>
            <a:ext cx="1691640" cy="320040"/>
          </a:xfrm>
          <a:prstGeom prst="roundRect">
            <a:avLst>
              <a:gd name="adj" fmla="val 17143"/>
            </a:avLst>
          </a:prstGeom>
          <a:solidFill>
            <a:srgbClr val="161B22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91840" y="446227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Traces  請求追蹤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120640" y="4462272"/>
            <a:ext cx="1691640" cy="320040"/>
          </a:xfrm>
          <a:prstGeom prst="roundRect">
            <a:avLst>
              <a:gd name="adj" fmla="val 17143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120640" y="446227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Metrics  指標監控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949440" y="4462272"/>
            <a:ext cx="1691640" cy="320040"/>
          </a:xfrm>
          <a:prstGeom prst="roundRect">
            <a:avLst>
              <a:gd name="adj" fmla="val 17143"/>
            </a:avLst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949440" y="446227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Logs  日誌記錄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Collector 架構解析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複雜度  7/10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252D38"/>
          </a:solidFill>
          <a:ln w="12700">
            <a:solidFill>
              <a:srgbClr val="252D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672084" cy="82296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追蹤  · 126 / 150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5943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管線架構：接收器  →  處理器  →  導出器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2560320" cy="2423160"/>
          </a:xfrm>
          <a:prstGeom prst="roundRect">
            <a:avLst>
              <a:gd name="adj" fmla="val 3774"/>
            </a:avLst>
          </a:prstGeom>
          <a:ln w="12700">
            <a:solidFill>
              <a:srgbClr val="58A6FF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74320" y="877824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0D1117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877824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接收器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20040" y="1170432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" y="117043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OTLP (gRPC/HTTP)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1700784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" y="170078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Jaeger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231136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" y="223113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Zipkin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761488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" y="276148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0" y="2221992"/>
            <a:ext cx="457200" cy="9144"/>
          </a:xfrm>
          <a:prstGeom prst="line">
            <a:avLst/>
          </a:prstGeom>
          <a:noFill/>
          <a:ln w="19050">
            <a:solidFill>
              <a:srgbClr val="6E40C9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3200400" y="1024128"/>
            <a:ext cx="2743200" cy="2423160"/>
          </a:xfrm>
          <a:prstGeom prst="roundRect">
            <a:avLst>
              <a:gd name="adj" fmla="val 3774"/>
            </a:avLst>
          </a:prstGeom>
          <a:ln w="12700">
            <a:solidFill>
              <a:srgbClr val="6E40C9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3291840" y="877824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0D1117"/>
          </a:solidFill>
          <a:ln w="6350">
            <a:solidFill>
              <a:srgbClr val="6E40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0128" y="877824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處理器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337560" y="1170432"/>
            <a:ext cx="2468880" cy="384048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92424" y="11704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批次處理 (batch)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37560" y="1700784"/>
            <a:ext cx="2468880" cy="384048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92424" y="170078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屬性豐富化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37560" y="2231136"/>
            <a:ext cx="2468880" cy="384048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92424" y="223113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過濾/取樣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37560" y="2761488"/>
            <a:ext cx="2468880" cy="384048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92424" y="276148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資源偵測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43600" y="2221992"/>
            <a:ext cx="457200" cy="9144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6400800" y="1024128"/>
            <a:ext cx="2560320" cy="2423160"/>
          </a:xfrm>
          <a:prstGeom prst="roundRect">
            <a:avLst>
              <a:gd name="adj" fmla="val 3774"/>
            </a:avLst>
          </a:prstGeom>
          <a:ln w="12700">
            <a:solidFill>
              <a:srgbClr val="3FB950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6492240" y="877824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0D1117"/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10528" y="877824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導出器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537960" y="1170432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92824" y="117043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Jaeger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537960" y="1700784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92824" y="170078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Zipkin / OTLP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537960" y="2231136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92824" y="223113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537960" y="2761488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92824" y="276148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/ 其他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1440" y="896112"/>
            <a:ext cx="8961120" cy="2670048"/>
          </a:xfrm>
          <a:prstGeom prst="roundRect">
            <a:avLst>
              <a:gd name="adj" fmla="val 3425"/>
            </a:avLst>
          </a:prstGeom>
          <a:ln w="12700">
            <a:solidFill>
              <a:srgbClr val="30363D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182880" y="749808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1168" y="749808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Collector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74320" y="3730752"/>
            <a:ext cx="8595360" cy="1024128"/>
          </a:xfrm>
          <a:prstGeom prst="roundRect">
            <a:avLst>
              <a:gd name="adj" fmla="val 89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5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65760" y="3584448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4048" y="3584448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otel-collector-config.yaml（概要）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02336" y="3840480"/>
            <a:ext cx="833932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receivers: {otlp: {protocols: {grpc: {endpoint: 0.0.0.0:4317}}}}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processors: {batch: {timeout: 1s, send_batch_size: 1024}}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exporters: {jaeger: {endpoint: jaeger:14250}, prometheus: {endpoint: 0.0.0.0:8889}}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service: {pipelines: {traces: {receivers: [otlp], processors: [batch], exporters: [jaeger]}}}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74320" y="480060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929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48463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Collector 讓應用程式與後端解耦 — 後端從 Jaeger 換成 Tempo 不需修改任何應用程式程式碼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Jaeger：分散式追蹤後端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複雜度  7/10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252D38"/>
          </a:solidFill>
          <a:ln w="12700">
            <a:solidFill>
              <a:srgbClr val="252D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672084" cy="82296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追蹤  · 127 / 150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5943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Jaeger 由 Uber 開源，目前為 CNCF 畢業專案，是最廣泛使用的分散式追蹤後端之一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00584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1060704"/>
            <a:ext cx="210312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9184" y="1600200"/>
            <a:ext cx="19933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jaeger-agent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10896" y="1828800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Sidecar / DaemonSet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UDP port 6831/6832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606040" y="100584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606040" y="1060704"/>
            <a:ext cx="210312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60904" y="1600200"/>
            <a:ext cx="19933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jaeger-collector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642616" y="1828800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驗證、索引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儲存至後端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937760" y="100584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6E40C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1060704"/>
            <a:ext cx="210312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992624" y="1600200"/>
            <a:ext cx="19933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jaeger-query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74336" y="1828800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搜尋 API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 + gRPC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269480" y="100584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D2992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69480" y="1060704"/>
            <a:ext cx="210312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324344" y="1600200"/>
            <a:ext cx="19933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Jaeger UI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306056" y="1828800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 視覺化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Gantt 時序圖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377440" y="1572768"/>
            <a:ext cx="228600" cy="9144"/>
          </a:xfrm>
          <a:prstGeom prst="line">
            <a:avLst/>
          </a:prstGeom>
          <a:noFill/>
          <a:ln w="19050">
            <a:solidFill>
              <a:srgbClr val="6E40C9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4709160" y="1572768"/>
            <a:ext cx="228600" cy="9144"/>
          </a:xfrm>
          <a:prstGeom prst="line">
            <a:avLst/>
          </a:prstGeom>
          <a:noFill/>
          <a:ln w="19050">
            <a:solidFill>
              <a:srgbClr val="6E40C9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7040880" y="1572768"/>
            <a:ext cx="228600" cy="9144"/>
          </a:xfrm>
          <a:prstGeom prst="line">
            <a:avLst/>
          </a:prstGeom>
          <a:noFill/>
          <a:ln w="19050">
            <a:solidFill>
              <a:srgbClr val="6E40C9"/>
            </a:solidFill>
            <a:prstDash val="solid"/>
            <a:tailEnd type="arrow"/>
          </a:ln>
        </p:spPr>
      </p:sp>
      <p:sp>
        <p:nvSpPr>
          <p:cNvPr id="29" name="Text 27"/>
          <p:cNvSpPr/>
          <p:nvPr/>
        </p:nvSpPr>
        <p:spPr>
          <a:xfrm>
            <a:off x="274320" y="2331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儲存後端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737360" y="2240280"/>
            <a:ext cx="2194560" cy="384048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92224" y="224028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206240" y="2240280"/>
            <a:ext cx="2194560" cy="384048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61104" y="224028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Cassandra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675120" y="2240280"/>
            <a:ext cx="2194560" cy="384048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9984" y="224028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Badger (本地)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91840" y="2148840"/>
            <a:ext cx="9144" cy="109728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274320" y="2816352"/>
            <a:ext cx="4114800" cy="438912"/>
          </a:xfrm>
          <a:prstGeom prst="roundRect">
            <a:avLst>
              <a:gd name="adj" fmla="val 14583"/>
            </a:avLst>
          </a:prstGeom>
          <a:solidFill>
            <a:srgbClr val="161B22"/>
          </a:solidFill>
          <a:ln w="10160">
            <a:solidFill>
              <a:srgbClr val="6E40C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" y="281635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依 service / operation / tag 搜尋 Trace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2816352"/>
            <a:ext cx="4114800" cy="438912"/>
          </a:xfrm>
          <a:prstGeom prst="roundRect">
            <a:avLst>
              <a:gd name="adj" fmla="val 14583"/>
            </a:avLst>
          </a:prstGeom>
          <a:solidFill>
            <a:srgbClr val="161B22"/>
          </a:solidFill>
          <a:ln w="10160">
            <a:solidFill>
              <a:srgbClr val="58A6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73168" y="281635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比較多個 Trace，找出效能退化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3346704"/>
            <a:ext cx="4114800" cy="438912"/>
          </a:xfrm>
          <a:prstGeom prst="roundRect">
            <a:avLst>
              <a:gd name="adj" fmla="val 14583"/>
            </a:avLst>
          </a:prstGeom>
          <a:solidFill>
            <a:srgbClr val="161B22"/>
          </a:solidFill>
          <a:ln w="10160">
            <a:solidFill>
              <a:srgbClr val="3FB9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" y="3346704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服務相依圖（Service Graph）自動生成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63440" y="3346704"/>
            <a:ext cx="4114800" cy="438912"/>
          </a:xfrm>
          <a:prstGeom prst="roundRect">
            <a:avLst>
              <a:gd name="adj" fmla="val 14583"/>
            </a:avLst>
          </a:prstGeom>
          <a:solidFill>
            <a:srgbClr val="161B22"/>
          </a:solidFill>
          <a:ln w="10160">
            <a:solidFill>
              <a:srgbClr val="D2992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73168" y="3346704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尾部取樣：Jaeger Collector 支援 remote sampling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452628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929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5720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Jaeger UI 提供 Gantt 時序圖，可直觀看到每個 Span 的耗時佔比，快速定位瓶頸服務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取樣策略：頭部取樣 vs 尾部取樣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複雜度  7/10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252D38"/>
          </a:solidFill>
          <a:ln w="12700">
            <a:solidFill>
              <a:srgbClr val="252D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672084" cy="82296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追蹤  · 128 / 150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594360"/>
            <a:ext cx="8595360" cy="438912"/>
          </a:xfrm>
          <a:prstGeom prst="roundRect">
            <a:avLst>
              <a:gd name="adj" fmla="val 16667"/>
            </a:avLst>
          </a:prstGeom>
          <a:solidFill>
            <a:srgbClr val="2A0F0F"/>
          </a:solidFill>
          <a:ln w="15240">
            <a:solidFill>
              <a:srgbClr val="F851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59436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問題：無法追蹤 100% 的請求 — 資料量太大、儲存成本太高、效能開銷過大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133856"/>
            <a:ext cx="4114800" cy="365760"/>
          </a:xfrm>
          <a:prstGeom prst="roundRect">
            <a:avLst>
              <a:gd name="adj" fmla="val 20000"/>
            </a:avLst>
          </a:prstGeom>
          <a:solidFill>
            <a:srgbClr val="0F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13385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頭部取樣（Head-based Sampling）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133856"/>
            <a:ext cx="4114800" cy="365760"/>
          </a:xfrm>
          <a:prstGeom prst="roundRect">
            <a:avLst>
              <a:gd name="adj" fmla="val 20000"/>
            </a:avLst>
          </a:prstGeom>
          <a:solidFill>
            <a:srgbClr val="2A0F0F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13385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尾部取樣（Tail-based Sampling）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1572768"/>
            <a:ext cx="4114800" cy="512064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1636776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0F2A1A"/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1627632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" y="1609344"/>
            <a:ext cx="3621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在請求開始時決定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67512" y="1801368"/>
            <a:ext cx="3621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以固定機率立即判斷是否追蹤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093976"/>
            <a:ext cx="4114800" cy="512064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215798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0F2A1A"/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148840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7512" y="2130552"/>
            <a:ext cx="3621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實作簡單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67512" y="2322576"/>
            <a:ext cx="3621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內建支援，不需額外基礎設施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615184"/>
            <a:ext cx="4114800" cy="512064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2679192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0F2A1A"/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2670048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7512" y="2651760"/>
            <a:ext cx="3621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低開銷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67512" y="2843784"/>
            <a:ext cx="3621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未選到的請求不產生 Span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136392"/>
            <a:ext cx="4114800" cy="512064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" y="3200400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2A1F00"/>
          </a:solidFill>
          <a:ln w="6350">
            <a:solidFill>
              <a:srgbClr val="D299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3191256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7512" y="3172968"/>
            <a:ext cx="3621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可能漏掉偶發錯誤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67512" y="3364992"/>
            <a:ext cx="3621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低機率錯誤可能被取樣率過濾掉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1572768"/>
            <a:ext cx="4114800" cy="512064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28032" y="1636776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2A1F00"/>
          </a:solidFill>
          <a:ln w="6350">
            <a:solidFill>
              <a:srgbClr val="D299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1627632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48072" y="1609344"/>
            <a:ext cx="3621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完成後才決定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148072" y="1801368"/>
            <a:ext cx="3621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等待整個 Trace 結束再做判斷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2093976"/>
            <a:ext cx="4114800" cy="512064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28032" y="215798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0F2A1A"/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28032" y="2148840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148072" y="2130552"/>
            <a:ext cx="3621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保留所有錯誤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148072" y="2322576"/>
            <a:ext cx="3621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保留含錯誤的 Trace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2615184"/>
            <a:ext cx="4114800" cy="512064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28032" y="2679192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2A1F00"/>
          </a:solidFill>
          <a:ln w="6350">
            <a:solidFill>
              <a:srgbClr val="D2992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28032" y="2670048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148072" y="2651760"/>
            <a:ext cx="3621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需要暫存所有 Trace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148072" y="2843784"/>
            <a:ext cx="3621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需要大量記憶體緩衝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54880" y="3136392"/>
            <a:ext cx="4114800" cy="512064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28032" y="3200400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2A0F0F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28032" y="3191256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148072" y="3172968"/>
            <a:ext cx="3621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架構複雜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148072" y="3364992"/>
            <a:ext cx="3621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Collector Tail Sampling 設定複雜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74320" y="4023360"/>
            <a:ext cx="2743200" cy="438912"/>
          </a:xfrm>
          <a:prstGeom prst="roundRect">
            <a:avLst>
              <a:gd name="adj" fmla="val 14583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84048" y="4023360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機率取樣: 隨機取樣 X% 的請求（最常見）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172968" y="4023360"/>
            <a:ext cx="2743200" cy="438912"/>
          </a:xfrm>
          <a:prstGeom prst="roundRect">
            <a:avLst>
              <a:gd name="adj" fmla="val 14583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82696" y="4023360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速率限制: 每秒最多 N 個 Trace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071616" y="4023360"/>
            <a:ext cx="2743200" cy="438912"/>
          </a:xfrm>
          <a:prstGeom prst="roundRect">
            <a:avLst>
              <a:gd name="adj" fmla="val 14583"/>
            </a:avLst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81344" y="4023360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規則取樣: 錯誤 = 100%，正常 = 1%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74320" y="457200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929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4617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生產環境通常使用 1-10% 頭部取樣，搭配尾部取樣保留所有錯誤 Trace — 兼顧成本與可觀測性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 OTel SDK 埋點實作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複雜度  6/10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252D38"/>
          </a:solidFill>
          <a:ln w="12700">
            <a:solidFill>
              <a:srgbClr val="252D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576072" cy="82296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追蹤  · 129 / 150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5943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手動 Span 建立（Python / FastAPI）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896112"/>
            <a:ext cx="4206240" cy="3310128"/>
          </a:xfrm>
          <a:prstGeom prst="roundRect">
            <a:avLst>
              <a:gd name="adj" fmla="val 2762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749808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749808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OTel SDK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02336" y="1005840"/>
            <a:ext cx="3950208" cy="3127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opentelemetry import trace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opentelemetry.sdk.trace import TracerProvider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opentelemetry.sdk.trace.export import (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BatchSpanProcessor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opentelemetry.exporter.otlp.proto.grpc.trace_exporter import (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OTLPSpanExporter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初始化 TracerProvider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 = TracerProvider()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provider.add_span_processor(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BatchSpanProcessor(OTLPSpanExporter())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trace.set_tracer_provider(provider)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取得 Tracer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tracer = trace.get_tracer(__name__)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建立手動 Span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tracer.start_as_current_span("處理訂單") as span: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加入自訂屬性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span.set_attribute("order.id", order_id)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span.set_attribute("order.amount", amount)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process(order)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span.add_event("訂單處理完成")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0" y="5943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自動埋點（不需修改業務程式碼）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896112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749808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749808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自動埋點（零侵入）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82896" y="1005840"/>
            <a:ext cx="385876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安裝自動埋點套件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opentelemetry-instrument-fastapi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opentelemetry-instrument-sqlalchemy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opentelemetry-instrument-requests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啟動時自動注入（不修改程式碼）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opentelemetry-instrument \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--traces_exporter otlp \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uvicorn app:main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54880" y="27249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自動埋點支援的框架與函式庫：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017520"/>
            <a:ext cx="4114800" cy="310896"/>
          </a:xfrm>
          <a:prstGeom prst="roundRect">
            <a:avLst>
              <a:gd name="adj" fmla="val 17647"/>
            </a:avLst>
          </a:prstGeom>
          <a:solidFill>
            <a:srgbClr val="161B22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01752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FastAPI / Flask / Django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3383280"/>
            <a:ext cx="4114800" cy="310896"/>
          </a:xfrm>
          <a:prstGeom prst="roundRect">
            <a:avLst>
              <a:gd name="adj" fmla="val 17647"/>
            </a:avLst>
          </a:prstGeom>
          <a:solidFill>
            <a:srgbClr val="161B22"/>
          </a:solidFill>
          <a:ln w="9525">
            <a:solidFill>
              <a:srgbClr val="E362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38328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62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SQLAlchemy / psycopg2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3749040"/>
            <a:ext cx="4114800" cy="310896"/>
          </a:xfrm>
          <a:prstGeom prst="roundRect">
            <a:avLst>
              <a:gd name="adj" fmla="val 17647"/>
            </a:avLst>
          </a:prstGeom>
          <a:solidFill>
            <a:srgbClr val="161B22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74904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requests / httpx / aiohttp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4114800"/>
            <a:ext cx="4114800" cy="310896"/>
          </a:xfrm>
          <a:prstGeom prst="roundRect">
            <a:avLst>
              <a:gd name="adj" fmla="val 17647"/>
            </a:avLst>
          </a:prstGeom>
          <a:solidFill>
            <a:srgbClr val="161B22"/>
          </a:solidFill>
          <a:ln w="9525">
            <a:solidFill>
              <a:srgbClr val="D299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411480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Redis / Celery / Kafka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452628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929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5720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自動埋點適合快速上手，手動埋點適合業務關鍵路徑 — 兩者可以混用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中的追蹤部署方式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複雜度  8/10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252D38"/>
          </a:solidFill>
          <a:ln w="12700">
            <a:solidFill>
              <a:srgbClr val="252D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768096" cy="82296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追蹤  · 130 / 150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2880" y="594360"/>
            <a:ext cx="2926080" cy="4224528"/>
          </a:xfrm>
          <a:prstGeom prst="roundRect">
            <a:avLst>
              <a:gd name="adj" fmla="val 3125"/>
            </a:avLst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6583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DaemonSet 模式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" y="1005840"/>
            <a:ext cx="2706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每個節點部署一個 OTel Collector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1353312"/>
            <a:ext cx="2286000" cy="822960"/>
          </a:xfrm>
          <a:prstGeom prst="roundRect">
            <a:avLst>
              <a:gd name="adj" fmla="val 7778"/>
            </a:avLst>
          </a:prstGeom>
          <a:solidFill>
            <a:srgbClr val="1C2128"/>
          </a:solidFill>
          <a:ln w="9525">
            <a:solidFill>
              <a:srgbClr val="30363D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502920" y="138988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K8s Node / Pod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85800" y="1664208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161B22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1664208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Pod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645920" y="1664208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2D1F5E"/>
          </a:solidFill>
          <a:ln w="9525">
            <a:solidFill>
              <a:srgbClr val="6E40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0" y="166420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4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OTel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E4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Collector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92608" y="2304288"/>
            <a:ext cx="27066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優點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92608" y="2542032"/>
            <a:ext cx="2706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應用程式發送到 localhost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92608" y="2834640"/>
            <a:ext cx="2706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節點共享，資源效率高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92608" y="3127248"/>
            <a:ext cx="2706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適合大型叢集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92608" y="3511296"/>
            <a:ext cx="27066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缺點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92608" y="3749040"/>
            <a:ext cx="2706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節點故障時該節點資料遺失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92608" y="4023360"/>
            <a:ext cx="2706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Collector 升級影響整節點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172968" y="594360"/>
            <a:ext cx="2926080" cy="4224528"/>
          </a:xfrm>
          <a:prstGeom prst="roundRect">
            <a:avLst>
              <a:gd name="adj" fmla="val 3125"/>
            </a:avLst>
          </a:prstGeom>
          <a:solidFill>
            <a:srgbClr val="161B22"/>
          </a:solidFill>
          <a:ln w="19050">
            <a:solidFill>
              <a:srgbClr val="6E40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64408" y="6583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Sidecar 模式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82696" y="1005840"/>
            <a:ext cx="2706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 Pod 附帶一個 Collector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93008" y="1353312"/>
            <a:ext cx="2286000" cy="822960"/>
          </a:xfrm>
          <a:prstGeom prst="roundRect">
            <a:avLst>
              <a:gd name="adj" fmla="val 7778"/>
            </a:avLst>
          </a:prstGeom>
          <a:solidFill>
            <a:srgbClr val="1C2128"/>
          </a:solidFill>
          <a:ln w="9525">
            <a:solidFill>
              <a:srgbClr val="30363D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3493008" y="138988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K8s Node / Pod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675888" y="1664208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161B22"/>
          </a:solidFill>
          <a:ln w="9525">
            <a:solidFill>
              <a:srgbClr val="6E40C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75888" y="1664208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Pod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36008" y="1664208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2D1F5E"/>
          </a:solidFill>
          <a:ln w="9525">
            <a:solidFill>
              <a:srgbClr val="6E40C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36008" y="166420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4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OTel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E4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Collector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282696" y="2304288"/>
            <a:ext cx="27066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優點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82696" y="2542032"/>
            <a:ext cx="2706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完整隔離，互不影響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82696" y="2834640"/>
            <a:ext cx="2706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可針對 Pod 設定取樣策略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82696" y="3218688"/>
            <a:ext cx="27066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缺點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82696" y="3456432"/>
            <a:ext cx="2706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資源開銷大（每 Pod 多一個容器）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282696" y="3730752"/>
            <a:ext cx="2706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大量 Pod 時維護複雜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144768" y="594360"/>
            <a:ext cx="2926080" cy="4224528"/>
          </a:xfrm>
          <a:prstGeom prst="roundRect">
            <a:avLst>
              <a:gd name="adj" fmla="val 3125"/>
            </a:avLst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36208" y="6583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中央 Collector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54496" y="1005840"/>
            <a:ext cx="2706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所有應用程式發送到統一部署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464808" y="1353312"/>
            <a:ext cx="2286000" cy="822960"/>
          </a:xfrm>
          <a:prstGeom prst="roundRect">
            <a:avLst>
              <a:gd name="adj" fmla="val 7778"/>
            </a:avLst>
          </a:prstGeom>
          <a:solidFill>
            <a:srgbClr val="1C2128"/>
          </a:solidFill>
          <a:ln w="9525">
            <a:solidFill>
              <a:srgbClr val="30363D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6464808" y="138988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K8s Node / Pod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647688" y="1664208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161B22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47688" y="1664208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Pod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607808" y="1664208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2D1F5E"/>
          </a:solidFill>
          <a:ln w="9525">
            <a:solidFill>
              <a:srgbClr val="6E40C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07808" y="166420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4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OTel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E4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Collector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254496" y="2304288"/>
            <a:ext cx="27066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優點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254496" y="2542032"/>
            <a:ext cx="2706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最易管理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254496" y="2834640"/>
            <a:ext cx="2706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統一設定與監控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254496" y="3218688"/>
            <a:ext cx="27066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缺點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54496" y="3456432"/>
            <a:ext cx="2706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單點故障風險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254496" y="3730752"/>
            <a:ext cx="2706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網路開銷稍高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254496" y="4005072"/>
            <a:ext cx="2706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流量大時需水平擴展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74320" y="489204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929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49377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大多數團隊從 DaemonSet 開始，需要強隔離時才改用 Sidecar — 中央 Collector 適合小型叢集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 自動追蹤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複雜度  8/10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252D38"/>
          </a:solidFill>
          <a:ln w="12700">
            <a:solidFill>
              <a:srgbClr val="252D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768096" cy="82296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追蹤  · 131 / 150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594360"/>
            <a:ext cx="8595360" cy="457200"/>
          </a:xfrm>
          <a:prstGeom prst="roundRect">
            <a:avLst>
              <a:gd name="adj" fmla="val 16000"/>
            </a:avLst>
          </a:prstGeom>
          <a:solidFill>
            <a:srgbClr val="161B22"/>
          </a:solidFill>
          <a:ln w="19050">
            <a:solidFill>
              <a:srgbClr val="6E40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/ Envoy：在 Proxy 層自動注入追蹤標頭 — 應用程式不需要 SDK 埋點即可獲得基本追蹤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1143000"/>
            <a:ext cx="3200400" cy="1645920"/>
          </a:xfrm>
          <a:prstGeom prst="roundRect">
            <a:avLst>
              <a:gd name="adj" fmla="val 5556"/>
            </a:avLst>
          </a:prstGeom>
          <a:ln w="12700">
            <a:solidFill>
              <a:srgbClr val="58A6FF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74320" y="99669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0D1117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99669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A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65760" y="1325880"/>
            <a:ext cx="1280160" cy="1234440"/>
          </a:xfrm>
          <a:prstGeom prst="roundRect">
            <a:avLst>
              <a:gd name="adj" fmla="val 5926"/>
            </a:avLst>
          </a:prstGeom>
          <a:solidFill>
            <a:srgbClr val="1C2128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37160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應用程式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(無 SDK)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28800" y="132588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2D1F5E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0" y="1371600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🔷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(Sidecar)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645920" y="1947672"/>
            <a:ext cx="182880" cy="9144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3383280" y="1947672"/>
            <a:ext cx="914400" cy="9144"/>
          </a:xfrm>
          <a:prstGeom prst="line">
            <a:avLst/>
          </a:prstGeom>
          <a:noFill/>
          <a:ln w="19050">
            <a:solidFill>
              <a:srgbClr val="6E40C9"/>
            </a:solidFill>
            <a:prstDash val="solid"/>
            <a:tailEnd type="arrow"/>
          </a:ln>
        </p:spPr>
      </p:sp>
      <p:sp>
        <p:nvSpPr>
          <p:cNvPr id="20" name="Text 18"/>
          <p:cNvSpPr/>
          <p:nvPr/>
        </p:nvSpPr>
        <p:spPr>
          <a:xfrm>
            <a:off x="3337560" y="179222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4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注入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E4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traceparent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297680" y="1143000"/>
            <a:ext cx="3200400" cy="1645920"/>
          </a:xfrm>
          <a:prstGeom prst="roundRect">
            <a:avLst>
              <a:gd name="adj" fmla="val 5556"/>
            </a:avLst>
          </a:prstGeom>
          <a:ln w="12700">
            <a:solidFill>
              <a:srgbClr val="3FB950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389120" y="99669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0D1117"/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07408" y="99669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B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480560" y="132588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2D1F5E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0" y="1371600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🔷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(讀取標頭)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897880" y="1947672"/>
            <a:ext cx="182880" cy="9144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6080760" y="1325880"/>
            <a:ext cx="1280160" cy="1234440"/>
          </a:xfrm>
          <a:prstGeom prst="roundRect">
            <a:avLst>
              <a:gd name="adj" fmla="val 5926"/>
            </a:avLst>
          </a:prstGeom>
          <a:solidFill>
            <a:srgbClr val="1C212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0760" y="137160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應用程式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(無 SDK)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498080" y="1947672"/>
            <a:ext cx="914400" cy="9144"/>
          </a:xfrm>
          <a:prstGeom prst="line">
            <a:avLst/>
          </a:prstGeom>
          <a:noFill/>
          <a:ln w="19050">
            <a:solidFill>
              <a:srgbClr val="D29922"/>
            </a:solidFill>
            <a:prstDash val="solid"/>
            <a:tailEnd type="arrow"/>
          </a:ln>
        </p:spPr>
      </p:sp>
      <p:sp>
        <p:nvSpPr>
          <p:cNvPr id="30" name="Text 28"/>
          <p:cNvSpPr/>
          <p:nvPr/>
        </p:nvSpPr>
        <p:spPr>
          <a:xfrm>
            <a:off x="7452360" y="179222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 →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Jaeger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4320" y="29443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Service Mesh 追蹤的重要限制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3291840"/>
            <a:ext cx="8595360" cy="384048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0160">
            <a:solidFill>
              <a:srgbClr val="D299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29184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應用程式仍需轉發 traceparent 等標頭，否則父子 Span 連結會斷掉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721608"/>
            <a:ext cx="8595360" cy="384048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0160">
            <a:solidFill>
              <a:srgbClr val="F8514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72160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無法看到應用程式內部邏輯 — 只能看到服務間的 HTTP/gRPC 呼叫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4151376"/>
            <a:ext cx="8595360" cy="384048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0160">
            <a:solidFill>
              <a:srgbClr val="F8514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151376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資料庫查詢、快取呼叫等內部 Span 需要 SDK 才能追蹤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461772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929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Service Mesh 追蹤是很好的起點，但最終仍需 OTel SDK 才能獲得完整的業務層追蹤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Trace、Log、Metrics 三者整合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複雜度  8/10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252D38"/>
          </a:solidFill>
          <a:ln w="12700">
            <a:solidFill>
              <a:srgbClr val="252D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768096" cy="82296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追蹤  · 132 / 150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594360"/>
            <a:ext cx="8595360" cy="457200"/>
          </a:xfrm>
          <a:prstGeom prst="roundRect">
            <a:avLst>
              <a:gd name="adj" fmla="val 16000"/>
            </a:avLst>
          </a:prstGeom>
          <a:solidFill>
            <a:srgbClr val="2D1F5E"/>
          </a:solidFill>
          <a:ln w="19050">
            <a:solidFill>
              <a:srgbClr val="6E40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關鍵：將 traceId 和 spanId 注入每條日誌記錄 — 三個 Pillar 透過 Correlation ID 互相串聯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1170432"/>
            <a:ext cx="2926080" cy="2450592"/>
          </a:xfrm>
          <a:prstGeom prst="roundRect">
            <a:avLst>
              <a:gd name="adj" fmla="val 3731"/>
            </a:avLst>
          </a:prstGeom>
          <a:solidFill>
            <a:srgbClr val="161B22"/>
          </a:solidFill>
          <a:ln w="19050">
            <a:solidFill>
              <a:srgbClr val="D299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1234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74320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196596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指標監控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" y="2231136"/>
            <a:ext cx="26517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看到 error_rate 或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latency 突然飆升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點擊進入 Grafana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72968" y="1170432"/>
            <a:ext cx="2926080" cy="2450592"/>
          </a:xfrm>
          <a:prstGeom prst="roundRect">
            <a:avLst>
              <a:gd name="adj" fmla="val 3731"/>
            </a:avLst>
          </a:prstGeom>
          <a:solidFill>
            <a:srgbClr val="161B22"/>
          </a:solidFill>
          <a:ln w="19050">
            <a:solidFill>
              <a:srgbClr val="6E40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72968" y="1234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264408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/ Jaeger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64408" y="196596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追蹤分析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10128" y="2231136"/>
            <a:ext cx="26517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找到問題時段的 Trace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看到哪個 Span 耗時異常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點擊查看關聯 Log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44768" y="1170432"/>
            <a:ext cx="2926080" cy="2450592"/>
          </a:xfrm>
          <a:prstGeom prst="roundRect">
            <a:avLst>
              <a:gd name="adj" fmla="val 3731"/>
            </a:avLst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44768" y="1234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236208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36208" y="196596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日誌查詢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81928" y="2231136"/>
            <a:ext cx="26517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根據 traceId 直接查詢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該次請求所有服務的日誌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精確定位錯誤行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108960" y="2496312"/>
            <a:ext cx="64008" cy="9144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  <a:tailEnd type="arrow"/>
          </a:ln>
        </p:spPr>
      </p:sp>
      <p:sp>
        <p:nvSpPr>
          <p:cNvPr id="27" name="Text 25"/>
          <p:cNvSpPr/>
          <p:nvPr/>
        </p:nvSpPr>
        <p:spPr>
          <a:xfrm>
            <a:off x="3063240" y="2340864"/>
            <a:ext cx="155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TraceID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關聯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080760" y="2496312"/>
            <a:ext cx="64008" cy="9144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  <a:tailEnd type="arrow"/>
          </a:ln>
        </p:spPr>
      </p:sp>
      <p:sp>
        <p:nvSpPr>
          <p:cNvPr id="29" name="Text 27"/>
          <p:cNvSpPr/>
          <p:nvPr/>
        </p:nvSpPr>
        <p:spPr>
          <a:xfrm>
            <a:off x="6035040" y="2340864"/>
            <a:ext cx="155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TraceID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關聯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" y="3730752"/>
            <a:ext cx="8595360" cy="530352"/>
          </a:xfrm>
          <a:prstGeom prst="roundRect">
            <a:avLst>
              <a:gd name="adj" fmla="val 13793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7307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工作流程：Prometheus 看到異常 → Grafana Explore 找 Trace → Tempo 顯示 Span 詳情 → 點擊 TraceID 跳至 Loki 查詢相關日誌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437083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929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4165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Correlation ID 貫穿三個 Pillar 是可觀測性的核心能力 — Grafana 的 Explore 頁面可直接在三個資料源間跳轉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追蹤的成本與效能影響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複雜度  6/10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252D38"/>
          </a:solidFill>
          <a:ln w="12700">
            <a:solidFill>
              <a:srgbClr val="252D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576072" cy="82296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追蹤  · 133 / 150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594360"/>
            <a:ext cx="4114800" cy="1481328"/>
          </a:xfrm>
          <a:prstGeom prst="roundRect">
            <a:avLst>
              <a:gd name="adj" fmla="val 6173"/>
            </a:avLst>
          </a:prstGeom>
          <a:solidFill>
            <a:srgbClr val="161B22"/>
          </a:solidFill>
          <a:ln w="19050">
            <a:solidFill>
              <a:srgbClr val="D299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6583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SDK 效能開銷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96926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CPU：約 1-3% 額外用於埋點與序列化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1225296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記憶體：每個 Span 約 1-5KB（含屬性、事件）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1481328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網路：批次處理後到 Collector 的傳輸量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173736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延遲：非同步導出，對請求延遲影響 &lt; 1ms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594360"/>
            <a:ext cx="4206240" cy="1481328"/>
          </a:xfrm>
          <a:prstGeom prst="roundRect">
            <a:avLst>
              <a:gd name="adj" fmla="val 6173"/>
            </a:avLst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6583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儲存成本試算（100% 取樣）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969264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822960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822960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每日資料量估算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82896" y="1078992"/>
            <a:ext cx="38587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每天 100 萬個請求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每請求 10 個 Span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每 Span 2 KB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每天 20 GB Trace 資料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82880" y="2240280"/>
            <a:ext cx="2865120" cy="2487168"/>
          </a:xfrm>
          <a:prstGeom prst="roundRect">
            <a:avLst>
              <a:gd name="adj" fmla="val 3676"/>
            </a:avLst>
          </a:prstGeom>
          <a:solidFill>
            <a:srgbClr val="161B22"/>
          </a:solidFill>
          <a:ln w="15240">
            <a:solidFill>
              <a:srgbClr val="F8514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2240280"/>
            <a:ext cx="2865120" cy="47548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" y="22585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🔴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03504" y="2240280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取樣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10896" y="2852928"/>
            <a:ext cx="109728" cy="109728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2788920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每天 20 GB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5488" y="2990088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成本最高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10896" y="3255264"/>
            <a:ext cx="109728" cy="109728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3191256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完整可觀測性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5488" y="3392424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每個請求都可查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10896" y="3657600"/>
            <a:ext cx="109728" cy="109728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3593592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適合：測試環境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5488" y="3794760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不建議生產環境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139440" y="2240280"/>
            <a:ext cx="2865120" cy="2487168"/>
          </a:xfrm>
          <a:prstGeom prst="roundRect">
            <a:avLst>
              <a:gd name="adj" fmla="val 3676"/>
            </a:avLst>
          </a:prstGeom>
          <a:solidFill>
            <a:srgbClr val="161B22"/>
          </a:solidFill>
          <a:ln w="15240">
            <a:solidFill>
              <a:srgbClr val="D2992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39440" y="2240280"/>
            <a:ext cx="2865120" cy="47548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39440" y="22585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🟡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3560064" y="2240280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取樣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267456" y="2852928"/>
            <a:ext cx="109728" cy="109728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32048" y="2788920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每天 2 GB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432048" y="2990088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成本降低 90%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67456" y="3255264"/>
            <a:ext cx="109728" cy="109728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32048" y="3191256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可接受覆蓋率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432048" y="3392424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大多數問題可查到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267456" y="3657600"/>
            <a:ext cx="109728" cy="109728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32048" y="3593592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適合：一般業務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432048" y="3794760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最常見的選擇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096000" y="2240280"/>
            <a:ext cx="2865120" cy="2487168"/>
          </a:xfrm>
          <a:prstGeom prst="roundRect">
            <a:avLst>
              <a:gd name="adj" fmla="val 3676"/>
            </a:avLst>
          </a:prstGeom>
          <a:solidFill>
            <a:srgbClr val="161B22"/>
          </a:solidFill>
          <a:ln w="15240">
            <a:solidFill>
              <a:srgbClr val="3FB95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96000" y="2240280"/>
            <a:ext cx="2865120" cy="47548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96000" y="22585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🟢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6516624" y="2240280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取樣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224016" y="2852928"/>
            <a:ext cx="109728" cy="10972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88608" y="2788920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每天 200 MB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388608" y="2990088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成本最低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224016" y="3255264"/>
            <a:ext cx="109728" cy="10972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88608" y="3191256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僅做趨勢分析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388608" y="3392424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個別問題難以查到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224016" y="3657600"/>
            <a:ext cx="109728" cy="10972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88608" y="3593592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搭配尾部取樣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388608" y="3794760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保留錯誤 Trace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74320" y="480060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929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" y="48463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取樣率設計原則：正常請求低取樣 + 錯誤/高延遲請求 100% 保留 = 最佳成本效益比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常見追蹤反模式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複雜度  5/10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252D38"/>
          </a:solidFill>
          <a:ln w="12700">
            <a:solidFill>
              <a:srgbClr val="252D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480060" cy="82296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追蹤  · 134 / 150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594360"/>
            <a:ext cx="4160520" cy="1353312"/>
          </a:xfrm>
          <a:prstGeom prst="roundRect">
            <a:avLst>
              <a:gd name="adj" fmla="val 6757"/>
            </a:avLst>
          </a:prstGeom>
          <a:solidFill>
            <a:srgbClr val="2A0F0F"/>
          </a:solidFill>
          <a:ln w="15240">
            <a:solidFill>
              <a:srgbClr val="F851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667512"/>
            <a:ext cx="39410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💣  追蹤不取樣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960120"/>
            <a:ext cx="3941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取樣率 + 高流量 = 儲存爆炸、成本暴增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4048" y="1435608"/>
            <a:ext cx="3941064" cy="411480"/>
          </a:xfrm>
          <a:prstGeom prst="roundRect">
            <a:avLst>
              <a:gd name="adj" fmla="val 11111"/>
            </a:avLst>
          </a:prstGeom>
          <a:solidFill>
            <a:srgbClr val="0F2A1A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453896"/>
            <a:ext cx="3758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正確做法：設定合理取樣率，搭配尾部取樣保留錯誤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594360"/>
            <a:ext cx="4160520" cy="1353312"/>
          </a:xfrm>
          <a:prstGeom prst="roundRect">
            <a:avLst>
              <a:gd name="adj" fmla="val 6757"/>
            </a:avLst>
          </a:prstGeom>
          <a:solidFill>
            <a:srgbClr val="2A0F0F"/>
          </a:solidFill>
          <a:ln w="15240">
            <a:solidFill>
              <a:srgbClr val="F851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667512"/>
            <a:ext cx="39410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缺少 Context Propagation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18888" y="960120"/>
            <a:ext cx="3941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任何一層（Message Queue、Async Job）忘記傳遞 traceparent 就會造成 Trace 斷鏈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18888" y="1435608"/>
            <a:ext cx="3941064" cy="411480"/>
          </a:xfrm>
          <a:prstGeom prst="roundRect">
            <a:avLst>
              <a:gd name="adj" fmla="val 11111"/>
            </a:avLst>
          </a:prstGeom>
          <a:solidFill>
            <a:srgbClr val="0F2A1A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1453896"/>
            <a:ext cx="3758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正確做法：所有服務邊界都必須轉發追蹤標頭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075688"/>
            <a:ext cx="4160520" cy="1353312"/>
          </a:xfrm>
          <a:prstGeom prst="roundRect">
            <a:avLst>
              <a:gd name="adj" fmla="val 6757"/>
            </a:avLst>
          </a:prstGeom>
          <a:solidFill>
            <a:srgbClr val="2A0F0F"/>
          </a:solidFill>
          <a:ln w="15240">
            <a:solidFill>
              <a:srgbClr val="F851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148840"/>
            <a:ext cx="39410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🙈  只追蹤正常路徑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" y="2441448"/>
            <a:ext cx="3941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只在 try 區塊埋點，catch/error 路徑沒有 Span — 錯誤發生時無法追蹤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84048" y="2916936"/>
            <a:ext cx="3941064" cy="411480"/>
          </a:xfrm>
          <a:prstGeom prst="roundRect">
            <a:avLst>
              <a:gd name="adj" fmla="val 11111"/>
            </a:avLst>
          </a:prstGeom>
          <a:solidFill>
            <a:srgbClr val="0F2A1A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2935224"/>
            <a:ext cx="3758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正確做法：在 Span 中記錄異常 span.record_exception(e)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2075688"/>
            <a:ext cx="4160520" cy="1353312"/>
          </a:xfrm>
          <a:prstGeom prst="roundRect">
            <a:avLst>
              <a:gd name="adj" fmla="val 6757"/>
            </a:avLst>
          </a:prstGeom>
          <a:solidFill>
            <a:srgbClr val="2A0F0F"/>
          </a:solidFill>
          <a:ln w="15240">
            <a:solidFill>
              <a:srgbClr val="F851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2148840"/>
            <a:ext cx="39410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不與日誌關聯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18888" y="2441448"/>
            <a:ext cx="3941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單獨使用只能看到時序，看不到詳細錯誤訊息，無法深入除錯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18888" y="2916936"/>
            <a:ext cx="3941064" cy="411480"/>
          </a:xfrm>
          <a:prstGeom prst="roundRect">
            <a:avLst>
              <a:gd name="adj" fmla="val 11111"/>
            </a:avLst>
          </a:prstGeom>
          <a:solidFill>
            <a:srgbClr val="0F2A1A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0328" y="2935224"/>
            <a:ext cx="3758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正確做法：日誌中注入 trace_id 和 span_id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557016"/>
            <a:ext cx="8595360" cy="1353312"/>
          </a:xfrm>
          <a:prstGeom prst="roundRect">
            <a:avLst>
              <a:gd name="adj" fmla="val 6757"/>
            </a:avLst>
          </a:prstGeom>
          <a:solidFill>
            <a:srgbClr val="2A0F0F"/>
          </a:solidFill>
          <a:ln w="15240">
            <a:solidFill>
              <a:srgbClr val="F8514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3630168"/>
            <a:ext cx="8375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廠商鎖定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4048" y="3922776"/>
            <a:ext cx="8375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直接使用 Jaeger SDK 或 Zipkin SDK 埋點，未來換後端需要大幅修改程式碼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84048" y="4398264"/>
            <a:ext cx="8375904" cy="411480"/>
          </a:xfrm>
          <a:prstGeom prst="roundRect">
            <a:avLst>
              <a:gd name="adj" fmla="val 11111"/>
            </a:avLst>
          </a:prstGeom>
          <a:solidFill>
            <a:srgbClr val="0F2A1A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4416552"/>
            <a:ext cx="8193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正確做法：永遠使用 OTel API/SDK，後端透過 Collector 抽象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480060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929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8463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追蹤系統的價值來自於完整性和關聯性 — 避免這些反模式可以讓追蹤效益最大化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追蹤章節總結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複雜度  5/10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252D38"/>
          </a:solidFill>
          <a:ln w="12700">
            <a:solidFill>
              <a:srgbClr val="252D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480060" cy="82296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追蹤  · 135 / 150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594360"/>
            <a:ext cx="2084832" cy="3767328"/>
          </a:xfrm>
          <a:prstGeom prst="roundRect">
            <a:avLst>
              <a:gd name="adj" fmla="val 4386"/>
            </a:avLst>
          </a:prstGeom>
          <a:solidFill>
            <a:srgbClr val="161B22"/>
          </a:solidFill>
          <a:ln w="15240">
            <a:solidFill>
              <a:srgbClr val="6E40C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667512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7472" y="1069848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是什麼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1389888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跨服務邊界追蹤請求路徑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1645920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Trace + Span + Context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1901952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W3C traceparent 標準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2157984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解決分散式除錯難題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23160" y="594360"/>
            <a:ext cx="2084832" cy="3767328"/>
          </a:xfrm>
          <a:prstGeom prst="roundRect">
            <a:avLst>
              <a:gd name="adj" fmla="val 4386"/>
            </a:avLst>
          </a:prstGeom>
          <a:solidFill>
            <a:srgbClr val="161B22"/>
          </a:solidFill>
          <a:ln w="15240">
            <a:solidFill>
              <a:srgbClr val="58A6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423160" y="667512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496312" y="1069848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怎麼做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14600" y="1389888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OTel SDK 自動/手動埋點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14600" y="1645920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OTel Collector 路由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14600" y="1901952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Jaeger / Tempo 後端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14600" y="2157984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K8s DaemonSet 部署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594360"/>
            <a:ext cx="2084832" cy="3767328"/>
          </a:xfrm>
          <a:prstGeom prst="roundRect">
            <a:avLst>
              <a:gd name="adj" fmla="val 4386"/>
            </a:avLst>
          </a:prstGeom>
          <a:solidFill>
            <a:srgbClr val="161B22"/>
          </a:solidFill>
          <a:ln w="15240">
            <a:solidFill>
              <a:srgbClr val="D2992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0" y="667512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645152" y="1069848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取樣策略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1389888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頭部取樣：低開銷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63440" y="1645920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尾部取樣：保留所有錯誤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63440" y="1901952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生產：1-10% + 錯誤全保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63440" y="2157984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成本控制的必要手段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720840" y="594360"/>
            <a:ext cx="2084832" cy="3767328"/>
          </a:xfrm>
          <a:prstGeom prst="roundRect">
            <a:avLst>
              <a:gd name="adj" fmla="val 4386"/>
            </a:avLst>
          </a:prstGeom>
          <a:solidFill>
            <a:srgbClr val="161B22"/>
          </a:solidFill>
          <a:ln w="15240">
            <a:solidFill>
              <a:srgbClr val="3FB95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720840" y="667512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793992" y="1069848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12280" y="1389888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TraceID 注入每條日誌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12280" y="1645920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Grafana Tempo + Loki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12280" y="1901952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三個 Pillar 互相串聯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12280" y="2157984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告警 → Trace → Log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4462272"/>
            <a:ext cx="8595360" cy="457200"/>
          </a:xfrm>
          <a:prstGeom prst="roundRect">
            <a:avLst>
              <a:gd name="adj" fmla="val 16000"/>
            </a:avLst>
          </a:prstGeom>
          <a:solidFill>
            <a:srgbClr val="161B22"/>
          </a:solidFill>
          <a:ln w="15240">
            <a:solidFill>
              <a:srgbClr val="6E40C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4622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下一章節 PART 10：SRE 實踐 — 將 Traces + Metrics + Logs 整合到 SLO/SLI 體系中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2026-03-16T23:24:33Z</dcterms:created>
  <dcterms:modified xsi:type="dcterms:W3CDTF">2026-03-16T23:24:33Z</dcterms:modified>
</cp:coreProperties>
</file>