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029200"/>
  <p:notesSz cx="50292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是什麼？解決什麼問題？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21 / 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0" y="502920"/>
            <a:ext cx="9144" cy="4434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Container 之前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1005840"/>
            <a:ext cx="3749040" cy="713232"/>
          </a:xfrm>
          <a:prstGeom prst="roundRect">
            <a:avLst>
              <a:gd name="adj" fmla="val 1025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042416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Dev (Mac)  —  Python 3.9 + brew Postgres 14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129844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 brew install 所有依賴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810512"/>
            <a:ext cx="3749040" cy="713232"/>
          </a:xfrm>
          <a:prstGeom prst="roundRect">
            <a:avLst>
              <a:gd name="adj" fmla="val 10256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184708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Staging (Ubuntu 20.04)  —  Python 3.8 + apt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210312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套件版本與 Dev 不一致，偶爾出現神秘錯誤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2615184"/>
            <a:ext cx="3749040" cy="713232"/>
          </a:xfrm>
          <a:prstGeom prst="roundRect">
            <a:avLst>
              <a:gd name="adj" fmla="val 1025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65176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Prod (CentOS 7)  —  Python 3.6 (!!) + yum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2907792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系統內建 Python，幾乎無法升級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3429000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45643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「在我這裡可以跑啊！」— 版本地獄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使用 Container 之後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960120"/>
            <a:ext cx="1828800" cy="1645920"/>
          </a:xfrm>
          <a:prstGeom prst="roundRect">
            <a:avLst>
              <a:gd name="adj" fmla="val 555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937760" y="81381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56048" y="81381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974336" y="1069848"/>
            <a:ext cx="157276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python:3.11-slim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/app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pip install -r requirements.txt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["uvicorn", "main:app"]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766560" y="1627632"/>
            <a:ext cx="457200" cy="9144"/>
          </a:xfrm>
          <a:prstGeom prst="line">
            <a:avLst/>
          </a:prstGeom>
          <a:noFill/>
          <a:ln w="19050">
            <a:solidFill>
              <a:srgbClr val="0D8A6C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6720840" y="147218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D8A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315200" y="960120"/>
            <a:ext cx="1417320" cy="1645920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315200" y="1014984"/>
            <a:ext cx="1417320" cy="7571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370064" y="1815998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351776" y="2044598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myapp:v1.2.3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(不可變快照)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46320" y="269748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run → 任何主機都能執行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846320" y="292608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46320" y="292608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Server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172200" y="292608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72200" y="292608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CentOS Server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498080" y="292608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98080" y="292608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VM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00600" y="3401568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5464" y="3438144"/>
            <a:ext cx="1115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環境一致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855464" y="3730752"/>
            <a:ext cx="1115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Dev=Staging=Prod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172200" y="3401568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27064" y="3438144"/>
            <a:ext cx="1115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秒級啟動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227064" y="3730752"/>
            <a:ext cx="1115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VM 分鐘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7543800" y="3401568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98664" y="3438144"/>
            <a:ext cx="1115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版本控管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7598664" y="3730752"/>
            <a:ext cx="1115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= 可回滾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274320" y="43434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43891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Container 把「應用 + 所有依賴」打包成一個不可變的 Image — 在哪裡跑都一樣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vs Container：架構深度對比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22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69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 Virtual Machine (VM)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005840"/>
            <a:ext cx="1874520" cy="960120"/>
          </a:xfrm>
          <a:prstGeom prst="roundRect">
            <a:avLst>
              <a:gd name="adj" fmla="val 5714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042416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⚙️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20040" y="13716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162763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Libs / Runtime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267712" y="1005840"/>
            <a:ext cx="1874520" cy="960120"/>
          </a:xfrm>
          <a:prstGeom prst="roundRect">
            <a:avLst>
              <a:gd name="adj" fmla="val 5714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67712" y="1042416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⚙️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267712" y="13716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B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67712" y="162763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Libs / Runtime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20040" y="1993392"/>
            <a:ext cx="1874520" cy="658368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1993392"/>
            <a:ext cx="1874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Guest OS 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267712" y="1993392"/>
            <a:ext cx="1874520" cy="658368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67712" y="1993392"/>
            <a:ext cx="1874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Guest OS B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267004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267004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🔲 Hypervisor (VMware/KVM)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303580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3035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Host OS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340156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340156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Hardware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啟動: 分鐘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64592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64592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大小: GB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97180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隔離: 強 (OS)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754880" y="566928"/>
            <a:ext cx="402336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9525">
            <a:solidFill>
              <a:srgbClr val="0D8A6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5669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 Container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00600" y="1005840"/>
            <a:ext cx="1874520" cy="1627632"/>
          </a:xfrm>
          <a:prstGeom prst="roundRect">
            <a:avLst>
              <a:gd name="adj" fmla="val 3371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00600" y="1042416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🐳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800600" y="1426464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00600" y="1682496"/>
            <a:ext cx="1874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依賴包含在 Image 內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748272" y="1005840"/>
            <a:ext cx="1874520" cy="1627632"/>
          </a:xfrm>
          <a:prstGeom prst="roundRect">
            <a:avLst>
              <a:gd name="adj" fmla="val 3371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48272" y="1042416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🐳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748272" y="1426464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B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748272" y="1682496"/>
            <a:ext cx="1874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依賴包含在 Image 內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800600" y="267004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061E18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267004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Container Runtime (Docker)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0600" y="303580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92040" y="3035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Host OS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0600" y="340156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92040" y="340156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Hardware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80060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0060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啟動: 秒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12648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2648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大小: MB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45236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0A1929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5236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隔離: 輕量 (Process)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274320" y="4224528"/>
            <a:ext cx="2743200" cy="621792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7472" y="4242816"/>
            <a:ext cx="25968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分鐘 → 秒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347472" y="4608576"/>
            <a:ext cx="2596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啟動時間 VM→Container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291840" y="4224528"/>
            <a:ext cx="2743200" cy="621792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64992" y="4242816"/>
            <a:ext cx="25968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 → MB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3364992" y="4608576"/>
            <a:ext cx="2596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大小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309360" y="4224528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82512" y="4242816"/>
            <a:ext cx="24140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強→輕量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382512" y="4608576"/>
            <a:ext cx="24140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隔離程度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核心概念：Image → Container → Registry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23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640080"/>
            <a:ext cx="2331720" cy="1737360"/>
          </a:xfrm>
          <a:prstGeom prst="roundRect">
            <a:avLst>
              <a:gd name="adj" fmla="val 5263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9377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9377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49808"/>
            <a:ext cx="207568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python:3.11-slim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requirements.txt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pip install -r requirements.txt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8080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["uvicorn", "main:app"]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697480" y="1399032"/>
            <a:ext cx="822960" cy="9144"/>
          </a:xfrm>
          <a:prstGeom prst="line">
            <a:avLst/>
          </a:prstGeom>
          <a:noFill/>
          <a:ln w="19050">
            <a:solidFill>
              <a:srgbClr val="0D8A6C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2651760" y="1243584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D8A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611880" y="713232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11880" y="768096"/>
            <a:ext cx="1417320" cy="7360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66744" y="1545336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48456" y="1773936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不可變快照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myapp:v1.2.3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120640" y="1399032"/>
            <a:ext cx="77724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7" name="Text 15"/>
          <p:cNvSpPr/>
          <p:nvPr/>
        </p:nvSpPr>
        <p:spPr>
          <a:xfrm>
            <a:off x="5074920" y="1243584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989320" y="713232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89320" y="768096"/>
            <a:ext cx="1417320" cy="7360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044184" y="1545336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025896" y="1773936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執行中的實例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(可多個)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98080" y="1399032"/>
            <a:ext cx="59436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3" name="Text 21"/>
          <p:cNvSpPr/>
          <p:nvPr/>
        </p:nvSpPr>
        <p:spPr>
          <a:xfrm>
            <a:off x="7452360" y="1243584"/>
            <a:ext cx="685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push/pull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8183880" y="713232"/>
            <a:ext cx="822960" cy="160020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183880" y="768096"/>
            <a:ext cx="822960" cy="7360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🏭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238744" y="1545336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220456" y="1773936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Hub/ECR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74320" y="2578608"/>
            <a:ext cx="8595360" cy="320040"/>
          </a:xfrm>
          <a:prstGeom prst="roundRect">
            <a:avLst>
              <a:gd name="adj" fmla="val 17143"/>
            </a:avLst>
          </a:prstGeom>
          <a:solidFill>
            <a:srgbClr val="1C2128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25786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常用 Docker 指令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" y="294436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912" y="296265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 -t myapp:v1.2.3 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43600" y="296265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Dockerfile 建立 Image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4320" y="331012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8912" y="332841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 -p 8080:8080 myapp:v1.2.3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43600" y="332841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 Container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74320" y="367588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912" y="369417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943600" y="369417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查看執行中的 Container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74320" y="404164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912" y="405993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logs &lt;container-id&gt;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43600" y="405993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查看 Container log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74320" y="440740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8912" y="442569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exec -it &lt;container-id&gt; bash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943600" y="442569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進入 Container 除錯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Compose：多容器應用一鍵啟動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4251960"/>
          </a:xfrm>
          <a:prstGeom prst="roundRect">
            <a:avLst>
              <a:gd name="adj" fmla="val 2273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docker-compose.yml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04088"/>
            <a:ext cx="376732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nginx: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nginx:alpine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 ["80:80"]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depends_on: [backend]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backend: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build: ./backend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DB_URL: postgresql://db/app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depends_on: [db, redis]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db: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postgres:16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volumes: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pgdata:/var/lib/postgresql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redis: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redis:7-alpine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volumes: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pgdata: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407408" y="2487168"/>
            <a:ext cx="329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754880" y="658368"/>
            <a:ext cx="4114800" cy="4114800"/>
          </a:xfrm>
          <a:prstGeom prst="roundRect">
            <a:avLst>
              <a:gd name="adj" fmla="val 2222"/>
            </a:avLst>
          </a:prstGeom>
          <a:ln w="12700">
            <a:solidFill>
              <a:srgbClr val="0D8A6C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846320" y="5120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0D8A6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64608" y="5120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network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83480" y="96926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38344" y="141366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0056" y="164226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040880" y="9144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040880" y="96926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095744" y="141366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077456" y="164226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983480" y="233172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983480" y="238658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38344" y="283098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0056" y="305958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:5432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040880" y="233172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040880" y="238658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095744" y="283098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077456" y="305958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:6379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537960" y="1325880"/>
            <a:ext cx="457200" cy="9144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31" name="Text 29"/>
          <p:cNvSpPr/>
          <p:nvPr/>
        </p:nvSpPr>
        <p:spPr>
          <a:xfrm>
            <a:off x="6492240" y="117043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733288" y="1901952"/>
            <a:ext cx="9144" cy="402336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6903720" y="2880360"/>
            <a:ext cx="109728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4" name="Text 32"/>
          <p:cNvSpPr/>
          <p:nvPr/>
        </p:nvSpPr>
        <p:spPr>
          <a:xfrm>
            <a:off x="6858000" y="2724912"/>
            <a:ext cx="201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74320" y="461772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一個指令搞定：docker compose up -d — 開發環境從此告別手動啟動多個服務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Registry：Image 的倉庫與版本管理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25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23444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13232"/>
            <a:ext cx="123444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💻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300277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528877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程式碼變更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508760" y="1188720"/>
            <a:ext cx="73152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1463040" y="103327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331720" y="658368"/>
            <a:ext cx="123444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331720" y="713232"/>
            <a:ext cx="123444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386584" y="1300277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68296" y="1528877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myapp:v1.2.4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0" y="1188720"/>
            <a:ext cx="73152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7" name="Text 15"/>
          <p:cNvSpPr/>
          <p:nvPr/>
        </p:nvSpPr>
        <p:spPr>
          <a:xfrm>
            <a:off x="3611880" y="103327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push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480560" y="658368"/>
            <a:ext cx="137160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480560" y="713232"/>
            <a:ext cx="137160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🏭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535424" y="1300277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17136" y="1528877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Hub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ECR / GCR / Harbor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943600" y="1188720"/>
            <a:ext cx="73152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23" name="Text 21"/>
          <p:cNvSpPr/>
          <p:nvPr/>
        </p:nvSpPr>
        <p:spPr>
          <a:xfrm>
            <a:off x="5897880" y="103327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pull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766560" y="658368"/>
            <a:ext cx="210312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766560" y="713232"/>
            <a:ext cx="210312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821424" y="1300277"/>
            <a:ext cx="1993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803136" y="1528877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app-server-01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app-server-02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app-server-03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" y="233172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Tag 策略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74320" y="2606040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264261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:latest — 避免在 Production 使用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11480" y="291693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無法回溯，不知道是哪個版本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54880" y="2606040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264261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:v1.2.3 (Semantic Version) — 推薦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92040" y="291693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明確版本，隨時可回滾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74320" y="3547872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" y="35844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:git-abc1234 (Commit Hash)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11480" y="38587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 commit 對應一個不可變 Image，CI/CD 常用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754880" y="3547872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92040" y="35844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:20240315-abc1234 (Date+Hash)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892040" y="38587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時間戳+Hash，可讀性與唯一性兼具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74320" y="449884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454456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永遠不要在 Prod 用 :latest — 你永遠不知道 latest 到底是哪個版本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化：從維運噩夢到一致部署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26 / 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0" y="502920"/>
            <a:ext cx="9144" cy="2852928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Container 化之前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18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069848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9848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20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865376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65376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CentOS 7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660904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60904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Debian 10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456432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56432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RHEL 8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274320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1F00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3.6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069848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1F00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9848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3.7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865376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1F00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65376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3.8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2660904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1F00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60904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3.9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456432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1F00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56432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14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74320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1.14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069848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69848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1.16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865376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865376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1.18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2660904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60904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1.20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456432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56432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2.4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74320" y="1965960"/>
            <a:ext cx="4023360" cy="237744"/>
          </a:xfrm>
          <a:prstGeom prst="roundRect">
            <a:avLst>
              <a:gd name="adj" fmla="val 19231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1480" y="196596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手動 SSH 部署腳本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74320" y="2240280"/>
            <a:ext cx="4023360" cy="237744"/>
          </a:xfrm>
          <a:prstGeom prst="roundRect">
            <a:avLst>
              <a:gd name="adj" fmla="val 19231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11480" y="224028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每台主機設定各不同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74320" y="2514600"/>
            <a:ext cx="4023360" cy="237744"/>
          </a:xfrm>
          <a:prstGeom prst="roundRect">
            <a:avLst>
              <a:gd name="adj" fmla="val 19231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1480" y="251460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「只有我知道怎麼重啟」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74320" y="2971800"/>
            <a:ext cx="4023360" cy="365760"/>
          </a:xfrm>
          <a:prstGeom prst="roundRect">
            <a:avLst>
              <a:gd name="adj" fmla="val 15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1480" y="29718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😱 15+ 台 × N 個不同設定 = 維運地獄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Container 化之後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800600" y="868680"/>
            <a:ext cx="3977640" cy="2194560"/>
          </a:xfrm>
          <a:prstGeom prst="roundRect">
            <a:avLst>
              <a:gd name="adj" fmla="val 4167"/>
            </a:avLst>
          </a:prstGeom>
          <a:ln w="12700">
            <a:solidFill>
              <a:srgbClr val="0D8A6C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4892040" y="72237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0D8A6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10328" y="72237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ON ALL HOSTS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983480" y="1024128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983480" y="1078992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57" name="Text 55"/>
          <p:cNvSpPr/>
          <p:nvPr/>
        </p:nvSpPr>
        <p:spPr>
          <a:xfrm>
            <a:off x="5038344" y="1461577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nginx:1.25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5020056" y="1690177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858000" y="1024128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6858000" y="1078992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61" name="Text 59"/>
          <p:cNvSpPr/>
          <p:nvPr/>
        </p:nvSpPr>
        <p:spPr>
          <a:xfrm>
            <a:off x="6912864" y="1461577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backend:v2.1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6894576" y="1690177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4983480" y="1993392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4983480" y="2048256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65" name="Text 63"/>
          <p:cNvSpPr/>
          <p:nvPr/>
        </p:nvSpPr>
        <p:spPr>
          <a:xfrm>
            <a:off x="5038344" y="2430841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postgres:16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5020056" y="2659441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6858000" y="1993392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6858000" y="2048256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69" name="Text 67"/>
          <p:cNvSpPr/>
          <p:nvPr/>
        </p:nvSpPr>
        <p:spPr>
          <a:xfrm>
            <a:off x="6912864" y="2430841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redis:7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6894576" y="2659441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754880" y="297180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4 個 Container Image，全部環境一致 — Dev = Staging = Prod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274320" y="3401568"/>
            <a:ext cx="8595360" cy="566928"/>
          </a:xfrm>
          <a:prstGeom prst="roundRect">
            <a:avLst>
              <a:gd name="adj" fmla="val 12903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74320" y="3401568"/>
            <a:ext cx="8595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9/10  →  5/10  ↓  維運噩夢  →  標準化部署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274320" y="411480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65760" y="415137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環境一致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365760" y="44348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= Staging = Prod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3246120" y="411480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337560" y="415137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版本鎖定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3337560" y="44348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tag 隨時可回滾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6217920" y="411480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309360" y="415137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快速部署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6309360" y="44348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pull + run，秒級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2026-03-16T23:24:30Z</dcterms:created>
  <dcterms:modified xsi:type="dcterms:W3CDTF">2026-03-16T23:24:30Z</dcterms:modified>
</cp:coreProperties>
</file>