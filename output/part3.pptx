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029200"/>
  <p:notesSz cx="50292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0D8A6C"/>
          </a:solidFill>
          <a:ln w="12700">
            <a:solidFill>
              <a:srgbClr val="0D8A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是什麼？解決什麼問題？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21 / 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502920"/>
            <a:ext cx="0" cy="443484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Container 之前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005840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0424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Dev (Mac)  —  Python 3.9 + brew Postgres 14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12984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 brew install 所有依賴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810512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2A1F00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8470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Staging (Ubuntu 20.04)  —  Python 3.8 + apt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1031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套件版本與 Dev 不一致，偶爾出現神秘錯誤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615184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51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Prod (CentOS 7)  —  Python 3.6 (!!) + yum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9077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系統內建 Python，幾乎無法升級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3749040" cy="411480"/>
          </a:xfrm>
          <a:prstGeom prst="roundRect">
            <a:avLst>
              <a:gd name="adj" fmla="val 17778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564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「在我這裡可以跑啊！」— 版本地獄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使用 Container 之後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960120"/>
            <a:ext cx="1828800" cy="1645920"/>
          </a:xfrm>
          <a:prstGeom prst="roundRect">
            <a:avLst>
              <a:gd name="adj" fmla="val 555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81381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81381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74336" y="1069848"/>
            <a:ext cx="157276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/app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["uvicorn", "main:app"]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66560" y="1627632"/>
            <a:ext cx="457200" cy="0"/>
          </a:xfrm>
          <a:prstGeom prst="line">
            <a:avLst/>
          </a:prstGeom>
          <a:noFill/>
          <a:ln w="19050">
            <a:solidFill>
              <a:srgbClr val="0D8A6C"/>
            </a:solidFill>
            <a:prstDash val="solid"/>
            <a:tailEnd type="arrow"/>
          </a:ln>
        </p:spPr>
      </p:sp>
      <p:sp>
        <p:nvSpPr>
          <p:cNvPr id="30" name="Text 28"/>
          <p:cNvSpPr/>
          <p:nvPr/>
        </p:nvSpPr>
        <p:spPr>
          <a:xfrm>
            <a:off x="6720840" y="147218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8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315200" y="960120"/>
            <a:ext cx="1417320" cy="1645920"/>
          </a:xfrm>
          <a:prstGeom prst="roundRect">
            <a:avLst>
              <a:gd name="adj" fmla="val 6452"/>
            </a:avLst>
          </a:prstGeom>
          <a:solidFill>
            <a:srgbClr val="161B22"/>
          </a:solidFill>
          <a:ln w="19050">
            <a:solidFill>
              <a:srgbClr val="0D8A6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15200" y="1014984"/>
            <a:ext cx="1417320" cy="757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370064" y="1815998"/>
            <a:ext cx="1307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51776" y="2044598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myapp:v1.2.3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(不可變快照)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46320" y="26974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→ 任何主機都能執行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292608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161B22"/>
          </a:solidFill>
          <a:ln w="12700">
            <a:solidFill>
              <a:srgbClr val="0D8A6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92608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72200" y="292608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161B22"/>
          </a:solidFill>
          <a:ln w="12700">
            <a:solidFill>
              <a:srgbClr val="0D8A6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292608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CentOS Server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98080" y="292608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161B22"/>
          </a:solidFill>
          <a:ln w="12700">
            <a:solidFill>
              <a:srgbClr val="0D8A6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0" y="292608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0600" y="3401568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5464" y="3438144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環境一致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55464" y="3730752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Dev=Staging=Prod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72200" y="3401568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27064" y="3438144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秒級啟動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27064" y="3730752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VM 分鐘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543800" y="3401568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98664" y="3438144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版本控管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598664" y="3730752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= 可回滾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" y="43434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389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Container 把「應用 + 所有依賴」打包成一個不可變的 Image — 在哪裡跑都一樣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vs Container：架構深度對比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22 / 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66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Virtual Machine (VM)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4241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37160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62763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Libs / Runtime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67712" y="100584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104241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67712" y="137160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67712" y="162763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Libs / Runtime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1993392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99339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🐧 Guest OS 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67712" y="1993392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1993392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🐧 Guest OS 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670048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2A1F00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6700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Hypervisor (VMware/KVM)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035808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358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🐧 Host 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401568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401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Hardware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9476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794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啟動: 分鐘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645920" y="379476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0" y="3794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大小: GB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971800" y="379476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3794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隔離: 強 (OS)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566928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1C2128"/>
          </a:solidFill>
          <a:ln w="9525">
            <a:solidFill>
              <a:srgbClr val="0D8A6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566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Container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1005840"/>
            <a:ext cx="1874520" cy="1627632"/>
          </a:xfrm>
          <a:prstGeom prst="roundRect">
            <a:avLst>
              <a:gd name="adj" fmla="val 3371"/>
            </a:avLst>
          </a:prstGeom>
          <a:solidFill>
            <a:srgbClr val="161B22"/>
          </a:solidFill>
          <a:ln w="12700">
            <a:solidFill>
              <a:srgbClr val="0D8A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042416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🐳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800600" y="142646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168249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依賴包含在 Image 內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748272" y="1005840"/>
            <a:ext cx="1874520" cy="1627632"/>
          </a:xfrm>
          <a:prstGeom prst="roundRect">
            <a:avLst>
              <a:gd name="adj" fmla="val 3371"/>
            </a:avLst>
          </a:prstGeom>
          <a:solidFill>
            <a:srgbClr val="161B22"/>
          </a:solidFill>
          <a:ln w="12700">
            <a:solidFill>
              <a:srgbClr val="0D8A6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48272" y="1042416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🐳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748272" y="142646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48272" y="168249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依賴包含在 Image 內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00600" y="2670048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061E18"/>
          </a:solidFill>
          <a:ln w="12700">
            <a:solidFill>
              <a:srgbClr val="0D8A6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6700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Container Runtime (Docker)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0600" y="3035808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0358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🐧 Host OS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00600" y="3401568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401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Hardware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00600" y="379476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3794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啟動: 秒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26480" y="379476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3794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大小: MB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452360" y="379476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0A1929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52360" y="37947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隔離: 輕量 (Process)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4320" y="4224528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4242816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分鐘 → 秒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47472" y="4608576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啟動時間 VM→Container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91840" y="4224528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64992" y="4242816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→ MB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364992" y="4608576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大小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309360" y="4224528"/>
            <a:ext cx="2560320" cy="621792"/>
          </a:xfrm>
          <a:prstGeom prst="roundRect">
            <a:avLst>
              <a:gd name="adj" fmla="val 11765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82512" y="4242816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強→輕量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82512" y="4608576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隔離程度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0D8A6C"/>
          </a:solidFill>
          <a:ln w="12700">
            <a:solidFill>
              <a:srgbClr val="0D8A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核心概念：Image → Container → Registry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23 / 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64008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49377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9377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2336" y="749808"/>
            <a:ext cx="207568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8080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["uvicorn", "main:app"]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97480" y="1399032"/>
            <a:ext cx="822960" cy="0"/>
          </a:xfrm>
          <a:prstGeom prst="line">
            <a:avLst/>
          </a:prstGeom>
          <a:noFill/>
          <a:ln w="19050">
            <a:solidFill>
              <a:srgbClr val="0D8A6C"/>
            </a:solidFill>
            <a:prstDash val="solid"/>
            <a:tailEnd type="arrow"/>
          </a:ln>
        </p:spPr>
      </p:sp>
      <p:sp>
        <p:nvSpPr>
          <p:cNvPr id="11" name="Text 9"/>
          <p:cNvSpPr/>
          <p:nvPr/>
        </p:nvSpPr>
        <p:spPr>
          <a:xfrm>
            <a:off x="2651760" y="124358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8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11880" y="713232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161B22"/>
          </a:solidFill>
          <a:ln w="19050">
            <a:solidFill>
              <a:srgbClr val="0D8A6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11880" y="768096"/>
            <a:ext cx="1417320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66744" y="1545336"/>
            <a:ext cx="1307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48456" y="1773936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不可變快照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myapp:v1.2.3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20640" y="1399032"/>
            <a:ext cx="77724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5074920" y="124358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89320" y="713232"/>
            <a:ext cx="1417320" cy="1600200"/>
          </a:xfrm>
          <a:prstGeom prst="roundRect">
            <a:avLst>
              <a:gd name="adj" fmla="val 6452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89320" y="768096"/>
            <a:ext cx="1417320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44184" y="1545336"/>
            <a:ext cx="13075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25896" y="1773936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執行中的實例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(可多個)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498080" y="1399032"/>
            <a:ext cx="59436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7452360" y="1243584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push/pull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183880" y="713232"/>
            <a:ext cx="822960" cy="160020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83880" y="768096"/>
            <a:ext cx="822960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38744" y="1545336"/>
            <a:ext cx="7132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20456" y="1773936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Hub/ECR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2578608"/>
            <a:ext cx="8595360" cy="320040"/>
          </a:xfrm>
          <a:prstGeom prst="roundRect">
            <a:avLst>
              <a:gd name="adj" fmla="val 17143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578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常用 Docker 指令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944368"/>
            <a:ext cx="8595360" cy="32004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2962656"/>
            <a:ext cx="5486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myapp:v1.2.3 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296265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Dockerfile 建立 Image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310128"/>
            <a:ext cx="8595360" cy="32004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328416"/>
            <a:ext cx="5486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8080:8080 myapp:v1.2.3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332841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 Container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675888"/>
            <a:ext cx="8595360" cy="32004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3694176"/>
            <a:ext cx="5486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369417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查看執行中的 Container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041648"/>
            <a:ext cx="8595360" cy="32004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4059936"/>
            <a:ext cx="5486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&lt;container-id&gt;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405993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 Container log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407408"/>
            <a:ext cx="8595360" cy="32004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4425696"/>
            <a:ext cx="5486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&lt;container-id&gt; bash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0" y="442569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進入 Container 除錯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0D8A6C"/>
          </a:solidFill>
          <a:ln w="12700">
            <a:solidFill>
              <a:srgbClr val="0D8A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Compose：多容器應用一鍵啟動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24 / 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023360" cy="4251960"/>
          </a:xfrm>
          <a:prstGeom prst="roundRect">
            <a:avLst>
              <a:gd name="adj" fmla="val 227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44805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4805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2336" y="704088"/>
            <a:ext cx="3767328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nginx: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nginx:alpine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["80:80"]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[backend]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./backend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DB_URL: postgresql://db/app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[db, redis]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pgdata:/var/lib/postgresql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redis: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redis:7-alpine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pgdata: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07408" y="2487168"/>
            <a:ext cx="329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754880" y="658368"/>
            <a:ext cx="4114800" cy="4114800"/>
          </a:xfrm>
          <a:prstGeom prst="roundRect">
            <a:avLst>
              <a:gd name="adj" fmla="val 2222"/>
            </a:avLst>
          </a:prstGeom>
          <a:ln w="12700">
            <a:solidFill>
              <a:srgbClr val="0D8A6C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846320" y="51206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0D8A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51206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983480" y="91440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9050">
            <a:solidFill>
              <a:srgbClr val="1F6F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969264"/>
            <a:ext cx="150876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38344" y="1413662"/>
            <a:ext cx="1399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0056" y="1642262"/>
            <a:ext cx="1435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040880" y="91440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9050">
            <a:solidFill>
              <a:srgbClr val="23863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40880" y="969264"/>
            <a:ext cx="150876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95744" y="1413662"/>
            <a:ext cx="1399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77456" y="1642262"/>
            <a:ext cx="1435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83480" y="233172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9050">
            <a:solidFill>
              <a:srgbClr val="E3620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2386584"/>
            <a:ext cx="150876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038344" y="2830982"/>
            <a:ext cx="1399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0056" y="3059582"/>
            <a:ext cx="1435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:5432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040880" y="233172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40880" y="2386584"/>
            <a:ext cx="150876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95744" y="2830982"/>
            <a:ext cx="1399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77456" y="3059582"/>
            <a:ext cx="1435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:6379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537960" y="1325880"/>
            <a:ext cx="457200" cy="0"/>
          </a:xfrm>
          <a:prstGeom prst="line">
            <a:avLst/>
          </a:prstGeom>
          <a:noFill/>
          <a:ln w="19050">
            <a:solidFill>
              <a:srgbClr val="1F6FEB"/>
            </a:solidFill>
            <a:prstDash val="solid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6492240" y="117043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33288" y="1901952"/>
            <a:ext cx="0" cy="402336"/>
          </a:xfrm>
          <a:prstGeom prst="line">
            <a:avLst/>
          </a:prstGeom>
          <a:noFill/>
          <a:ln w="19050">
            <a:solidFill>
              <a:srgbClr val="238636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6903720" y="2880360"/>
            <a:ext cx="109728" cy="0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6858000" y="2724912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461772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一個指令搞定：docker compose up -d — 開發環境從此告別手動啟動多個服務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Registry：Image 的倉庫與版本管理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25 / 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123444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713232"/>
            <a:ext cx="1234440" cy="567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7744" y="1300277"/>
            <a:ext cx="1124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" y="1528877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程式碼變更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08760" y="1188720"/>
            <a:ext cx="73152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arrow"/>
          </a:ln>
        </p:spPr>
      </p:sp>
      <p:sp>
        <p:nvSpPr>
          <p:cNvPr id="11" name="Text 9"/>
          <p:cNvSpPr/>
          <p:nvPr/>
        </p:nvSpPr>
        <p:spPr>
          <a:xfrm>
            <a:off x="1463040" y="10332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31720" y="658368"/>
            <a:ext cx="123444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9050">
            <a:solidFill>
              <a:srgbClr val="0D8A6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31720" y="713232"/>
            <a:ext cx="1234440" cy="567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86584" y="1300277"/>
            <a:ext cx="1124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68296" y="1528877"/>
            <a:ext cx="1161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myapp:v1.2.4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0" y="1188720"/>
            <a:ext cx="73152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3611880" y="10332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480560" y="658368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80560" y="713232"/>
            <a:ext cx="1371600" cy="567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35424" y="1300277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17136" y="1528877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Hub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ECR / GCR / Harbor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43600" y="1188720"/>
            <a:ext cx="73152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5897880" y="10332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66560" y="658368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713232"/>
            <a:ext cx="2103120" cy="567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21424" y="1300277"/>
            <a:ext cx="19933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03136" y="1528877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app-server-01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app-server-02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app-server-03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23317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 策略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260604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6426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:latest — 避免在 Production 使用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29169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無法回溯，不知道是哪個版本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60604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6426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:v1.2.3 (Semantic Version) — 推薦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29169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明確版本，隨時可回滾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547872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5844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:git-abc1234 (Commit Hash)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38587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commit 對應一個不可變 Image，CI/CD 常用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3547872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5844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:20240315-abc1234 (Date+Hash)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38587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時間戳+Hash，可讀性與唯一性兼具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498848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544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永遠不要在 Prod 用 :latest — 你永遠不知道 latest 到底是哪個版本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0D8A6C"/>
          </a:solidFill>
          <a:ln w="12700">
            <a:solidFill>
              <a:srgbClr val="0D8A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化：從維運噩夢到一致部署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26 / 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502920"/>
            <a:ext cx="0" cy="2852928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Container 化之前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960120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2A0F0F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9601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18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069848" y="960120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2A0F0F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9601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20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865376" y="960120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2A0F0F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65376" y="9601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CentOS 7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660904" y="960120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2A0F0F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60904" y="9601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 10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456432" y="960120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2A0F0F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56432" y="960120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8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74320" y="1298448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2A1F00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298448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3.6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069848" y="1298448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2A1F00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1298448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3.7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865376" y="1298448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2A1F00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65376" y="1298448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660904" y="1298448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2A1F00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60904" y="1298448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456432" y="1298448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2A1F00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1298448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14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636776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2A0F0F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1636776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1.14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069848" y="1636776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2A0F0F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9848" y="1636776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1.16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65376" y="1636776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2A0F0F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65376" y="1636776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1.18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60904" y="1636776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2A0F0F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60904" y="1636776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1.20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456432" y="1636776"/>
            <a:ext cx="758952" cy="256032"/>
          </a:xfrm>
          <a:prstGeom prst="roundRect">
            <a:avLst>
              <a:gd name="adj" fmla="val 17857"/>
            </a:avLst>
          </a:prstGeom>
          <a:solidFill>
            <a:srgbClr val="2A0F0F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56432" y="1636776"/>
            <a:ext cx="75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2.4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1965960"/>
            <a:ext cx="4023360" cy="237744"/>
          </a:xfrm>
          <a:prstGeom prst="roundRect">
            <a:avLst>
              <a:gd name="adj" fmla="val 19231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19659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手動 SSH 部署腳本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2240280"/>
            <a:ext cx="4023360" cy="237744"/>
          </a:xfrm>
          <a:prstGeom prst="roundRect">
            <a:avLst>
              <a:gd name="adj" fmla="val 19231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2402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每台主機設定各不同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2514600"/>
            <a:ext cx="4023360" cy="237744"/>
          </a:xfrm>
          <a:prstGeom prst="roundRect">
            <a:avLst>
              <a:gd name="adj" fmla="val 19231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251460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「只有我知道怎麼重啟」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2971800"/>
            <a:ext cx="4023360" cy="365760"/>
          </a:xfrm>
          <a:prstGeom prst="roundRect">
            <a:avLst>
              <a:gd name="adj" fmla="val 15000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😱 15+ 台 × N 個不同設定 = 維運地獄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5488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60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Container 化之後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00600" y="868680"/>
            <a:ext cx="3977640" cy="2194560"/>
          </a:xfrm>
          <a:prstGeom prst="roundRect">
            <a:avLst>
              <a:gd name="adj" fmla="val 4167"/>
            </a:avLst>
          </a:prstGeom>
          <a:ln w="12700">
            <a:solidFill>
              <a:srgbClr val="0D8A6C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4892040" y="72237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6350">
            <a:solidFill>
              <a:srgbClr val="0D8A6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0328" y="72237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ON ALL HOSTS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983480" y="1024128"/>
            <a:ext cx="1737360" cy="841248"/>
          </a:xfrm>
          <a:prstGeom prst="roundRect">
            <a:avLst>
              <a:gd name="adj" fmla="val 10870"/>
            </a:avLst>
          </a:prstGeom>
          <a:solidFill>
            <a:srgbClr val="161B22"/>
          </a:solidFill>
          <a:ln w="19050">
            <a:solidFill>
              <a:srgbClr val="1F6F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983480" y="1078992"/>
            <a:ext cx="1737360" cy="386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5038344" y="1461577"/>
            <a:ext cx="16276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nginx:1.25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020056" y="1690177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858000" y="1024128"/>
            <a:ext cx="1737360" cy="841248"/>
          </a:xfrm>
          <a:prstGeom prst="roundRect">
            <a:avLst>
              <a:gd name="adj" fmla="val 10870"/>
            </a:avLst>
          </a:prstGeom>
          <a:solidFill>
            <a:srgbClr val="161B22"/>
          </a:solidFill>
          <a:ln w="19050">
            <a:solidFill>
              <a:srgbClr val="23863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858000" y="1078992"/>
            <a:ext cx="1737360" cy="386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6912864" y="1461577"/>
            <a:ext cx="16276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backend:v2.1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894576" y="1690177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983480" y="1993392"/>
            <a:ext cx="1737360" cy="841248"/>
          </a:xfrm>
          <a:prstGeom prst="roundRect">
            <a:avLst>
              <a:gd name="adj" fmla="val 10870"/>
            </a:avLst>
          </a:prstGeom>
          <a:solidFill>
            <a:srgbClr val="161B22"/>
          </a:solidFill>
          <a:ln w="19050">
            <a:solidFill>
              <a:srgbClr val="E3620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983480" y="2048256"/>
            <a:ext cx="1737360" cy="386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5038344" y="2430841"/>
            <a:ext cx="16276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postgres:16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020056" y="2659441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858000" y="1993392"/>
            <a:ext cx="1737360" cy="841248"/>
          </a:xfrm>
          <a:prstGeom prst="roundRect">
            <a:avLst>
              <a:gd name="adj" fmla="val 10870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6858000" y="2048256"/>
            <a:ext cx="1737360" cy="386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6912864" y="2430841"/>
            <a:ext cx="16276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redis:7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894576" y="2659441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754880" y="29718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4 個 Container Image，全部環境一致 — Dev = Staging = Prod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74320" y="3401568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161B22"/>
          </a:solidFill>
          <a:ln w="19050">
            <a:solidFill>
              <a:srgbClr val="0D8A6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4320" y="3401568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9/10  →  5/10  ↓  維運噩夢  →  標準化部署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274320" y="41148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5760" y="415137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環境一致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365760" y="44348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= Staging = Prod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246120" y="41148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337560" y="415137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版本鎖定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3337560" y="44348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 隨時可回滾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217920" y="41148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12700">
            <a:solidFill>
              <a:srgbClr val="0D8A6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09360" y="415137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快速部署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6309360" y="44348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pull + run，秒級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2026-03-16T15:22:56Z</dcterms:created>
  <dcterms:modified xsi:type="dcterms:W3CDTF">2026-03-16T15:22:56Z</dcterms:modified>
</cp:coreProperties>
</file>