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DevOps：打破開發與維運的高牆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👨‍💻 開發團隊 (Dev)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快速開發新功能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頻繁合併代碼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下午 5 點 push code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「快點上線！」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5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feature/week  ·  功能開發速度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572000" y="502920"/>
            <a:ext cx="0" cy="4224528"/>
          </a:xfrm>
          <a:prstGeom prst="line">
            <a:avLst/>
          </a:prstGeom>
          <a:noFill/>
          <a:ln w="38100">
            <a:solidFill>
              <a:srgbClr val="F8514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 rot="16200000">
            <a:off x="4224528" y="2103120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 THE WALL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0" y="118872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4590288" y="118872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4114800" y="192024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590288" y="192024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5" name="Shape 23"/>
          <p:cNvSpPr/>
          <p:nvPr/>
        </p:nvSpPr>
        <p:spPr>
          <a:xfrm>
            <a:off x="4114800" y="265176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4590288" y="265176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7" name="Shape 25"/>
          <p:cNvSpPr/>
          <p:nvPr/>
        </p:nvSpPr>
        <p:spPr>
          <a:xfrm>
            <a:off x="4846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維運團隊 (Ops)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937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穩定第一，不要動！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37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4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😰 週五 5 點不能部署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937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變更管理需要審批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37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4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😤 「你們搞壞了 Prod！」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937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×3h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4937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 ·  平均故障恢復時間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74320" y="38862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913632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DevOps 的核心目標：拆掉這道牆 — 讓開發、測試、部署、維運成為統一的連續流程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DevOps 不是職稱，是文化和實踐 — Dev 懂 Ops，Ops 懂 Dev，自動化一切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Pipeline：從 Commit 到 Production 全自動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830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🔨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379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8196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compile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3832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3832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4381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198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 test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834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834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0383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00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5836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6385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apply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183880" y="658368"/>
            <a:ext cx="868680" cy="13258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183880" y="713232"/>
            <a:ext cx="86868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238744" y="1347826"/>
            <a:ext cx="758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20456" y="1576426"/>
            <a:ext cx="795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481328" y="1463040"/>
            <a:ext cx="2743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14356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81528" y="1463040"/>
            <a:ext cx="2743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30358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681728" y="1463040"/>
            <a:ext cx="27432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5" name="Text 33"/>
          <p:cNvSpPr/>
          <p:nvPr/>
        </p:nvSpPr>
        <p:spPr>
          <a:xfrm>
            <a:off x="46360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281928" y="1463040"/>
            <a:ext cx="274320" cy="0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37" name="Text 35"/>
          <p:cNvSpPr/>
          <p:nvPr/>
        </p:nvSpPr>
        <p:spPr>
          <a:xfrm>
            <a:off x="62362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882128" y="1463040"/>
            <a:ext cx="27432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364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37160" y="566928"/>
            <a:ext cx="5120640" cy="1508760"/>
          </a:xfrm>
          <a:prstGeom prst="roundRect">
            <a:avLst>
              <a:gd name="adj" fmla="val 6061"/>
            </a:avLst>
          </a:prstGeom>
          <a:ln w="12700">
            <a:solidFill>
              <a:srgbClr val="58A6FF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2860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688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Continuous Integration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92040" y="566928"/>
            <a:ext cx="4114800" cy="1508760"/>
          </a:xfrm>
          <a:prstGeom prst="roundRect">
            <a:avLst>
              <a:gd name="adj" fmla="val 6061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98348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0176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— Continuous Delivery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74320" y="2468880"/>
            <a:ext cx="4389120" cy="2331720"/>
          </a:xfrm>
          <a:prstGeom prst="roundRect">
            <a:avLst>
              <a:gd name="adj" fmla="val 392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23225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4048" y="23225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02336" y="2578608"/>
            <a:ext cx="4133088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CI/CD Pipeline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pytest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deploy: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build -t myapp:$GITHUB_SHA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push registry/myapp:$GITHUB_SHA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kubectl set image deploy/api api=myapp:$GITHUB_SHA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3776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2920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10min</a:t>
            </a:r>
            <a:endParaRPr lang="en-US" sz="3400" dirty="0"/>
          </a:p>
        </p:txBody>
      </p:sp>
      <p:sp>
        <p:nvSpPr>
          <p:cNvPr id="52" name="Text 50"/>
          <p:cNvSpPr/>
          <p:nvPr/>
        </p:nvSpPr>
        <p:spPr>
          <a:xfrm>
            <a:off x="502920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時間目標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90372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99516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55" name="Text 53"/>
          <p:cNvSpPr/>
          <p:nvPr/>
        </p:nvSpPr>
        <p:spPr>
          <a:xfrm>
            <a:off x="699516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自動化測試覆蓋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93776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02920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50+</a:t>
            </a:r>
            <a:endParaRPr lang="en-US" sz="3400" dirty="0"/>
          </a:p>
        </p:txBody>
      </p:sp>
      <p:sp>
        <p:nvSpPr>
          <p:cNvPr id="58" name="Text 56"/>
          <p:cNvSpPr/>
          <p:nvPr/>
        </p:nvSpPr>
        <p:spPr>
          <a:xfrm>
            <a:off x="502920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每天部署次數 (Netflix)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90372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99516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1hr</a:t>
            </a:r>
            <a:endParaRPr lang="en-US" sz="3400" dirty="0"/>
          </a:p>
        </p:txBody>
      </p:sp>
      <p:sp>
        <p:nvSpPr>
          <p:cNvPr id="61" name="Text 59"/>
          <p:cNvSpPr/>
          <p:nvPr/>
        </p:nvSpPr>
        <p:spPr>
          <a:xfrm>
            <a:off x="699516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Commit→Prod 時間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GitOps：Git 作為唯一真相來源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核心原則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Git 是唯一真相來源 (Single Source of Truth)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所有變更通過 Pull Request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自動同步 — Git state = Cluster state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可審計、可回滾 — git revert 即回滾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508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08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51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Tekton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👨‍💻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1830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0001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303520" y="1764792"/>
            <a:ext cx="0" cy="347472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5349240" y="1819656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6344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6344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1830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0001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app-config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9320" y="2578608"/>
            <a:ext cx="5029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5989320" y="2423160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53796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3796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59282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57453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GitOps Operator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863840" y="2578608"/>
            <a:ext cx="41148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45552" y="242316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8321040" y="2148840"/>
            <a:ext cx="731520" cy="82296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321040" y="2203704"/>
            <a:ext cx="7315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☸️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8375904" y="2576779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357616" y="2805379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863840" y="3246120"/>
            <a:ext cx="822960" cy="0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537960" y="2999232"/>
            <a:ext cx="0" cy="246888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6537960" y="3246120"/>
            <a:ext cx="1325880" cy="0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  <a:tailEnd type="arrow"/>
          </a:ln>
        </p:spPr>
      </p:sp>
      <p:sp>
        <p:nvSpPr>
          <p:cNvPr id="47" name="Text 45"/>
          <p:cNvSpPr/>
          <p:nvPr/>
        </p:nvSpPr>
        <p:spPr>
          <a:xfrm>
            <a:off x="6565392" y="32918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 detect → auto-heal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GitOps 讓基礎設施變成 Code — 每次 Prod 變更都有 git commit 記錄，可審計可回滾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Flags：從部署中解放功能發布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38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傳統做法：部署 = 上線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每次部署都影響所有用戶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發現問題只能全量回滾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無法針對特定用戶測試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502920"/>
            <a:ext cx="0" cy="384048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Feature Flags：部署 ≠ 上線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987552"/>
            <a:ext cx="3977640" cy="1536192"/>
          </a:xfrm>
          <a:prstGeom prst="roundRect">
            <a:avLst>
              <a:gd name="adj" fmla="val 595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9204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032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928616" y="1097280"/>
            <a:ext cx="3721608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Feature Flag 控制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feature_flags.is_enabled('new_checkout', user):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new_checkout_flow(user)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old_checkout_flow(user)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A/B Testing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722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438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Internal Beta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320040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3273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部署 (Deploy)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" y="35661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Code 放到 Prod Server — 但 Flag = OFF，用戶看不到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0" y="3246120"/>
            <a:ext cx="0" cy="1005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327355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發布 (Release)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754880" y="35661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Flag 切到 ON — 功能對用戶可見 (隨時可關)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Feature Flag 讓你做到 Continuous Deployment — 每天部署數十次，功能上線時機由 PM 決定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部署策略：Blue/Green vs Canary Release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39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🔵🟢 Blue/Green 部署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93268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1：部署新版本到 Green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100% 流量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4028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028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0% 流量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66420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2：LB 切換流量至 Green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1792224"/>
            <a:ext cx="54864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27432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0%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4028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100%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24871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零停機時間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760" y="2761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回滾只需切 LB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65760" y="30358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需要兩套環境 (成本)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26280" y="502920"/>
            <a:ext cx="0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5943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109728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1097280"/>
            <a:ext cx="237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96128" y="1097280"/>
            <a:ext cx="585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32120" y="1572768"/>
            <a:ext cx="0" cy="32004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30368" y="1892808"/>
            <a:ext cx="301752" cy="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5532120" y="1572768"/>
            <a:ext cx="0" cy="320040"/>
          </a:xfrm>
          <a:prstGeom prst="line">
            <a:avLst/>
          </a:prstGeom>
          <a:noFill/>
          <a:ln w="15240">
            <a:solidFill>
              <a:srgbClr val="D299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1892808"/>
            <a:ext cx="896112" cy="0"/>
          </a:xfrm>
          <a:prstGeom prst="line">
            <a:avLst/>
          </a:prstGeom>
          <a:noFill/>
          <a:ln w="15240">
            <a:solidFill>
              <a:srgbClr val="D29922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48006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006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8554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× 9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371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 流量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6294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6294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6842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× 1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6659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 流量 (Canary)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66560" y="2788920"/>
            <a:ext cx="1828800" cy="713232"/>
          </a:xfrm>
          <a:prstGeom prst="roundRect">
            <a:avLst>
              <a:gd name="adj" fmla="val 1282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766560" y="2843784"/>
            <a:ext cx="1828800" cy="328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3159801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803136" y="3388401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Rate &lt; 0.1%?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P99 Latency OK?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15200" y="2633472"/>
            <a:ext cx="0" cy="13716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3" name="Text 41"/>
          <p:cNvSpPr/>
          <p:nvPr/>
        </p:nvSpPr>
        <p:spPr>
          <a:xfrm>
            <a:off x="4800600" y="29260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自動增加 Canary 流量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812280" y="35661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自動回滾 Canary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46320" y="37033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小範圍驗證新版本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846320" y="39593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問題只影響少數用戶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Metrics：衡量 DevOps 成熟度的四個指標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Frequency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部署頻率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多次/天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每天~每週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每週~每月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86460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for Changes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6460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Commit 到 Prod 的時間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小時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1週~1月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432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🔥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8404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Failure Rate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404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部署導致 Prod 問題的比率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5%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15%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15-45%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86460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6460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Restore — 恢復時間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93776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小時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天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1天~1週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74320" y="47091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DORA Research (2019): Elite 表現者比低表現者 — 部署快 208x，故障恢復快 2604x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持續測試金字塔：測試的層次與速度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14400" y="1600200"/>
            <a:ext cx="2926080" cy="685800"/>
          </a:xfrm>
          <a:prstGeom prst="roundRect">
            <a:avLst>
              <a:gd name="adj" fmla="val 10667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36776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E2E Tests (10%)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186537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模擬真實用戶 | 分鐘級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94360" y="233172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68296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Integration Tests (20%)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59689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DB 整合 | 秒級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3090672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12724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Unit Tests (70%)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3355848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 | 隔離 | 毫秒級    jest, pytest, go test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26280" y="3749040"/>
            <a:ext cx="0" cy="-219456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  <a:tailEnd type="arrow"/>
          </a:ln>
        </p:spPr>
      </p:sp>
      <p:sp>
        <p:nvSpPr>
          <p:cNvPr id="16" name="Text 14"/>
          <p:cNvSpPr/>
          <p:nvPr/>
        </p:nvSpPr>
        <p:spPr>
          <a:xfrm>
            <a:off x="4434840" y="1463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 🐌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434840" y="3749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 ⚡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37760" y="594360"/>
            <a:ext cx="3931920" cy="2834640"/>
          </a:xfrm>
          <a:prstGeom prst="roundRect">
            <a:avLst>
              <a:gd name="adj" fmla="val 322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474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/ jest commands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65776" y="704088"/>
            <a:ext cx="367588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 Pipeline 測試順序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Unit Tests (fail fast)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tests/unit/ --tb=short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js: jest --testPathPattern=unit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Integration Tests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tests/integration/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--docker-compose=docker-compose.test.yml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E2E Tests (only on main)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tests/e2e/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--base-url=https://staging.myapp.com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Fail Fast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失敗立刻停止 Pipeline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測試隔離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375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Test 獨立，不依賴順序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179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Coverage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093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80%+，關鍵路徑 100%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小結：DevOps 讓軟體交付飛起來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是文化，CI/CD 是工具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打破 Dev/Ops 高牆，共同對交付品質負責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 讓每次 Commit 都能安全部署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核心理念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938528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01168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414016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DORA Metrics 衡量進步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7340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個指標 — 部署頻率、Lead Time、失敗率、MTTR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900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Elite 表現者不是天生的 — 是 DevOps 文化建立的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77072" y="20116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量化成果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282696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335584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758184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GitOps + CI/CD = 現代部署三劍客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078224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Container：環境一致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43342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GitOps：基礎設施即代碼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5902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CI/CD：自動化交付 → Part 6: 可觀測性與 SRE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77072" y="33558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整合視角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2026-03-16T15:22:56Z</dcterms:created>
  <dcterms:modified xsi:type="dcterms:W3CDTF">2026-03-16T15:22:56Z</dcterms:modified>
</cp:coreProperties>
</file>