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029200"/>
  <p:notesSz cx="50292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DevOps：打破開發與維運的高牆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35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384048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👨‍💻 開發團隊 (Dev)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005840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698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快速開發新功能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481328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545336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🔀 頻繁合併代碼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1956816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02082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下午 5 點 push code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432304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49631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🙏 「快點上線！」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999232"/>
            <a:ext cx="1737360" cy="621792"/>
          </a:xfrm>
          <a:prstGeom prst="roundRect">
            <a:avLst>
              <a:gd name="adj" fmla="val 14706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999232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65760" y="3364992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feature/week  ·  功能開發速度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4572000" y="502920"/>
            <a:ext cx="9144" cy="4224528"/>
          </a:xfrm>
          <a:prstGeom prst="line">
            <a:avLst/>
          </a:prstGeom>
          <a:noFill/>
          <a:ln w="38100">
            <a:solidFill>
              <a:srgbClr val="F8514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 rot="16200000">
            <a:off x="4224528" y="2103120"/>
            <a:ext cx="685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🧱  THE WALL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114800" y="1188720"/>
            <a:ext cx="438912" cy="9144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4590288" y="1188720"/>
            <a:ext cx="438912" cy="9144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4114800" y="1920240"/>
            <a:ext cx="438912" cy="9144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24" name="Shape 22"/>
          <p:cNvSpPr/>
          <p:nvPr/>
        </p:nvSpPr>
        <p:spPr>
          <a:xfrm>
            <a:off x="4590288" y="1920240"/>
            <a:ext cx="438912" cy="9144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headEnd type="arrow"/>
          </a:ln>
        </p:spPr>
      </p:sp>
      <p:sp>
        <p:nvSpPr>
          <p:cNvPr id="25" name="Shape 23"/>
          <p:cNvSpPr/>
          <p:nvPr/>
        </p:nvSpPr>
        <p:spPr>
          <a:xfrm>
            <a:off x="4114800" y="2651760"/>
            <a:ext cx="438912" cy="9144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26" name="Shape 24"/>
          <p:cNvSpPr/>
          <p:nvPr/>
        </p:nvSpPr>
        <p:spPr>
          <a:xfrm>
            <a:off x="4590288" y="2651760"/>
            <a:ext cx="438912" cy="9144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headEnd type="arrow"/>
          </a:ln>
        </p:spPr>
      </p:sp>
      <p:sp>
        <p:nvSpPr>
          <p:cNvPr id="27" name="Shape 25"/>
          <p:cNvSpPr/>
          <p:nvPr/>
        </p:nvSpPr>
        <p:spPr>
          <a:xfrm>
            <a:off x="4846320" y="566928"/>
            <a:ext cx="384048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56048" y="5669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維運團隊 (Ops)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937760" y="1005840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74920" y="10698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 穩定第一，不要動！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937760" y="1481328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74920" y="1545336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😰 週五 5 點不能部署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937760" y="1956816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74920" y="202082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變更管理需要審批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937760" y="2432304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74920" y="249631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😤 「你們搞壞了 Prod！」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937760" y="2999232"/>
            <a:ext cx="1737360" cy="621792"/>
          </a:xfrm>
          <a:prstGeom prst="roundRect">
            <a:avLst>
              <a:gd name="adj" fmla="val 14706"/>
            </a:avLst>
          </a:prstGeom>
          <a:solidFill>
            <a:srgbClr val="2A1F00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37760" y="2999232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×3h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4937760" y="3364992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  ·  平均故障恢復時間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74320" y="388620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3913632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DevOps 的核心目標：拆掉這道牆 — 讓開發、測試、部署、維運成為統一的連續流程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DevOps 不是職稱，是文化和實踐 — Dev 懂 Ops，Ops 懂 Dev，自動化一切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Pipeline：從 Commit 到 Production 全自動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36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658368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2880" y="713232"/>
            <a:ext cx="1280160" cy="609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💻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37744" y="1347826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19456" y="1576426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783080" y="658368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783080" y="713232"/>
            <a:ext cx="1280160" cy="609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🔨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837944" y="1347826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819656" y="1576426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compile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build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383280" y="658368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383280" y="713232"/>
            <a:ext cx="1280160" cy="609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🧪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438144" y="1347826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19856" y="1576426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unit test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integration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983480" y="658368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0D8A6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983480" y="713232"/>
            <a:ext cx="1280160" cy="609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038344" y="1347826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020056" y="1576426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push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Registry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583680" y="658368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83680" y="713232"/>
            <a:ext cx="1280160" cy="609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638544" y="1347826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620256" y="1576426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Staging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K8s apply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8183880" y="658368"/>
            <a:ext cx="868680" cy="13258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183880" y="713232"/>
            <a:ext cx="868680" cy="609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8238744" y="1347826"/>
            <a:ext cx="7589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220456" y="1576426"/>
            <a:ext cx="7955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Production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1481328" y="1463040"/>
            <a:ext cx="274320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31" name="Text 29"/>
          <p:cNvSpPr/>
          <p:nvPr/>
        </p:nvSpPr>
        <p:spPr>
          <a:xfrm>
            <a:off x="1435608" y="126187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3081528" y="1463040"/>
            <a:ext cx="274320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33" name="Text 31"/>
          <p:cNvSpPr/>
          <p:nvPr/>
        </p:nvSpPr>
        <p:spPr>
          <a:xfrm>
            <a:off x="3035808" y="126187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681728" y="1463040"/>
            <a:ext cx="274320" cy="9144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35" name="Text 33"/>
          <p:cNvSpPr/>
          <p:nvPr/>
        </p:nvSpPr>
        <p:spPr>
          <a:xfrm>
            <a:off x="4636008" y="126187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6281928" y="1463040"/>
            <a:ext cx="274320" cy="9144"/>
          </a:xfrm>
          <a:prstGeom prst="line">
            <a:avLst/>
          </a:prstGeom>
          <a:noFill/>
          <a:ln w="19050">
            <a:solidFill>
              <a:srgbClr val="0D8A6C"/>
            </a:solidFill>
            <a:prstDash val="solid"/>
            <a:tailEnd type="arrow"/>
          </a:ln>
        </p:spPr>
      </p:sp>
      <p:sp>
        <p:nvSpPr>
          <p:cNvPr id="37" name="Text 35"/>
          <p:cNvSpPr/>
          <p:nvPr/>
        </p:nvSpPr>
        <p:spPr>
          <a:xfrm>
            <a:off x="6236208" y="126187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0D8A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7882128" y="1463040"/>
            <a:ext cx="274320" cy="9144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39" name="Text 37"/>
          <p:cNvSpPr/>
          <p:nvPr/>
        </p:nvSpPr>
        <p:spPr>
          <a:xfrm>
            <a:off x="7836408" y="126187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approve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137160" y="566928"/>
            <a:ext cx="5120640" cy="1508760"/>
          </a:xfrm>
          <a:prstGeom prst="roundRect">
            <a:avLst>
              <a:gd name="adj" fmla="val 6061"/>
            </a:avLst>
          </a:prstGeom>
          <a:ln w="12700">
            <a:solidFill>
              <a:srgbClr val="58A6FF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228600" y="42062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58A6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46888" y="42062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— Continuous Integration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892040" y="566928"/>
            <a:ext cx="4114800" cy="1508760"/>
          </a:xfrm>
          <a:prstGeom prst="roundRect">
            <a:avLst>
              <a:gd name="adj" fmla="val 6061"/>
            </a:avLst>
          </a:prstGeom>
          <a:ln w="12700">
            <a:solidFill>
              <a:srgbClr val="3FB950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983480" y="42062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001768" y="42062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— Continuous Delivery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274320" y="2468880"/>
            <a:ext cx="4389120" cy="2331720"/>
          </a:xfrm>
          <a:prstGeom prst="roundRect">
            <a:avLst>
              <a:gd name="adj" fmla="val 3922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65760" y="232257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84048" y="232257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.github/workflows/ci.yml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402336" y="2578608"/>
            <a:ext cx="4133088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CI/CD Pipeline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on: [push]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test: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runs-on: ubuntu-latest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actions/checkout@v4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pip install -r requirements.txt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pytest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deploy: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needs: test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docker build -t myapp:$GITHUB_SHA .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docker push registry/myapp:$GITHUB_SHA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kubectl set image deploy/api api=myapp:$GITHUB_SHA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937760" y="2514600"/>
            <a:ext cx="1783080" cy="960120"/>
          </a:xfrm>
          <a:prstGeom prst="roundRect">
            <a:avLst>
              <a:gd name="adj" fmla="val 11429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5029200" y="2624328"/>
            <a:ext cx="16002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10min</a:t>
            </a:r>
            <a:endParaRPr lang="en-US" sz="3400" dirty="0"/>
          </a:p>
        </p:txBody>
      </p:sp>
      <p:sp>
        <p:nvSpPr>
          <p:cNvPr id="52" name="Text 50"/>
          <p:cNvSpPr/>
          <p:nvPr/>
        </p:nvSpPr>
        <p:spPr>
          <a:xfrm>
            <a:off x="5029200" y="3052267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時間目標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903720" y="2514600"/>
            <a:ext cx="1783080" cy="960120"/>
          </a:xfrm>
          <a:prstGeom prst="roundRect">
            <a:avLst>
              <a:gd name="adj" fmla="val 11429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6995160" y="2624328"/>
            <a:ext cx="16002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400" dirty="0"/>
          </a:p>
        </p:txBody>
      </p:sp>
      <p:sp>
        <p:nvSpPr>
          <p:cNvPr id="55" name="Text 53"/>
          <p:cNvSpPr/>
          <p:nvPr/>
        </p:nvSpPr>
        <p:spPr>
          <a:xfrm>
            <a:off x="6995160" y="3052267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自動化測試覆蓋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937760" y="3611880"/>
            <a:ext cx="1783080" cy="960120"/>
          </a:xfrm>
          <a:prstGeom prst="roundRect">
            <a:avLst>
              <a:gd name="adj" fmla="val 11429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5029200" y="3721608"/>
            <a:ext cx="16002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50+</a:t>
            </a:r>
            <a:endParaRPr lang="en-US" sz="3400" dirty="0"/>
          </a:p>
        </p:txBody>
      </p:sp>
      <p:sp>
        <p:nvSpPr>
          <p:cNvPr id="58" name="Text 56"/>
          <p:cNvSpPr/>
          <p:nvPr/>
        </p:nvSpPr>
        <p:spPr>
          <a:xfrm>
            <a:off x="5029200" y="4149547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每天部署次數 (Netflix)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6903720" y="3611880"/>
            <a:ext cx="1783080" cy="960120"/>
          </a:xfrm>
          <a:prstGeom prst="roundRect">
            <a:avLst>
              <a:gd name="adj" fmla="val 11429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6995160" y="3721608"/>
            <a:ext cx="16002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1hr</a:t>
            </a:r>
            <a:endParaRPr lang="en-US" sz="3400" dirty="0"/>
          </a:p>
        </p:txBody>
      </p:sp>
      <p:sp>
        <p:nvSpPr>
          <p:cNvPr id="61" name="Text 59"/>
          <p:cNvSpPr/>
          <p:nvPr/>
        </p:nvSpPr>
        <p:spPr>
          <a:xfrm>
            <a:off x="6995160" y="4149547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Commit→Prod 時間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GitOps：Git 作為唯一真相來源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37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 核心原則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005840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6984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Git 是唯一真相來源 (Single Source of Truth)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481328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54533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所有變更通過 Pull Request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1956816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020824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自動同步 — Git state = Cluster state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432304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49631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可審計、可回滾 — git revert 即回滾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926080"/>
            <a:ext cx="1005840" cy="347472"/>
          </a:xfrm>
          <a:prstGeom prst="roundRect">
            <a:avLst>
              <a:gd name="adj" fmla="val 18421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92608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508760" y="2926080"/>
            <a:ext cx="1005840" cy="347472"/>
          </a:xfrm>
          <a:prstGeom prst="roundRect">
            <a:avLst>
              <a:gd name="adj" fmla="val 18421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508760" y="292608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651760" y="2926080"/>
            <a:ext cx="1005840" cy="347472"/>
          </a:xfrm>
          <a:prstGeom prst="roundRect">
            <a:avLst>
              <a:gd name="adj" fmla="val 18421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51760" y="292608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Tekton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63440" y="914400"/>
            <a:ext cx="128016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663440" y="969264"/>
            <a:ext cx="128016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👨‍💻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18304" y="1342339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700016" y="1570939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303520" y="1764792"/>
            <a:ext cx="9144" cy="347472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27" name="Text 25"/>
          <p:cNvSpPr/>
          <p:nvPr/>
        </p:nvSpPr>
        <p:spPr>
          <a:xfrm>
            <a:off x="5349240" y="1819656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663440" y="2148840"/>
            <a:ext cx="128016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663440" y="2203704"/>
            <a:ext cx="128016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📁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718304" y="2576779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Repo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700016" y="2805379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app-config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989320" y="2578608"/>
            <a:ext cx="502920" cy="9144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33" name="Text 31"/>
          <p:cNvSpPr/>
          <p:nvPr/>
        </p:nvSpPr>
        <p:spPr>
          <a:xfrm>
            <a:off x="5989320" y="2423160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watch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6537960" y="2148840"/>
            <a:ext cx="128016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537960" y="2203704"/>
            <a:ext cx="128016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6592824" y="2576779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574536" y="2805379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GitOps Operator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863840" y="2578608"/>
            <a:ext cx="411480" cy="9144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39" name="Text 37"/>
          <p:cNvSpPr/>
          <p:nvPr/>
        </p:nvSpPr>
        <p:spPr>
          <a:xfrm>
            <a:off x="7845552" y="2423160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apply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8321040" y="2148840"/>
            <a:ext cx="731520" cy="822960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8321040" y="2203704"/>
            <a:ext cx="73152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☸️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8375904" y="2576779"/>
            <a:ext cx="6217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357616" y="2805379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Cluster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7863840" y="3246120"/>
            <a:ext cx="822960" cy="9144"/>
          </a:xfrm>
          <a:prstGeom prst="line">
            <a:avLst/>
          </a:prstGeom>
          <a:noFill/>
          <a:ln w="15240">
            <a:solidFill>
              <a:srgbClr val="D29922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6537960" y="2999232"/>
            <a:ext cx="9144" cy="246888"/>
          </a:xfrm>
          <a:prstGeom prst="line">
            <a:avLst/>
          </a:prstGeom>
          <a:noFill/>
          <a:ln w="15240">
            <a:solidFill>
              <a:srgbClr val="D29922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6537960" y="3246120"/>
            <a:ext cx="1325880" cy="9144"/>
          </a:xfrm>
          <a:prstGeom prst="line">
            <a:avLst/>
          </a:prstGeom>
          <a:noFill/>
          <a:ln w="15240">
            <a:solidFill>
              <a:srgbClr val="D29922"/>
            </a:solidFill>
            <a:prstDash val="dash"/>
            <a:tailEnd type="arrow"/>
          </a:ln>
        </p:spPr>
      </p:sp>
      <p:sp>
        <p:nvSpPr>
          <p:cNvPr id="47" name="Text 45"/>
          <p:cNvSpPr/>
          <p:nvPr/>
        </p:nvSpPr>
        <p:spPr>
          <a:xfrm>
            <a:off x="6565392" y="32918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drift detect → auto-heal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GitOps 讓基礎設施變成 Code — 每次 Prod 變更都有 git commit 記錄，可審計可回滾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Flags：從部署中解放功能發布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38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傳統做法：部署 = 上線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005840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6984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😱 每次部署都影響所有用戶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481328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54533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發現問題只能全量回滾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1956816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020824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🚫 無法針對特定用戶測試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0" y="502920"/>
            <a:ext cx="9144" cy="384048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Feature Flags：部署 ≠ 上線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00600" y="987552"/>
            <a:ext cx="3977640" cy="1536192"/>
          </a:xfrm>
          <a:prstGeom prst="roundRect">
            <a:avLst>
              <a:gd name="adj" fmla="val 5952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92040" y="84124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10328" y="84124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928616" y="1097280"/>
            <a:ext cx="3721608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Feature Flag 控制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feature_flags.is_enabled('new_checkout', user):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new_checkout_flow(user)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old_checkout_flow(user)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800600" y="260604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260604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A/B Testing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72200" y="260604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72200" y="260604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🐤 Canary Release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543800" y="260604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43800" y="260604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Internal Beta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74320" y="3200400"/>
            <a:ext cx="8595360" cy="1097280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1480" y="3273552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部署 (Deploy)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11480" y="356616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 Code 放到 Prod Server — 但 Flag = OFF，用戶看不到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72000" y="3246120"/>
            <a:ext cx="9144" cy="100584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54880" y="327355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🎉 發布 (Release)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754880" y="356616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 Flag 切到 ON — 功能對用戶可見 (隨時可關)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Feature Flag 讓你做到 Continuous Deployment — 每天部署數十次，功能上線時機由 PM 決定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部署策略：Blue/Green vs Canary Release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39 / 50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74320" y="5943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🔵🟢 Blue/Green 部署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932688"/>
            <a:ext cx="4023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1：部署新版本到 Green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74320" y="1115568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111556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Blue (v1) — 100% 流量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240280" y="1115568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40280" y="111556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Green (v2) — 0% 流量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" y="1664208"/>
            <a:ext cx="4023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2：LB 切換流量至 Green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194560" y="1792224"/>
            <a:ext cx="548640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>
            <a:off x="274320" y="187452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8745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Blue (v1) — 0%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240280" y="187452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40280" y="18745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Green (v2) — 100%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248716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零停機時間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65760" y="276148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回滾只需切 LB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65760" y="303580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需要兩套環境 (成本)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26280" y="502920"/>
            <a:ext cx="9144" cy="443484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5943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🐤 Canary Release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303520" y="1097280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49240" y="1097280"/>
            <a:ext cx="2377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⚖️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596128" y="1097280"/>
            <a:ext cx="5852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532120" y="1572768"/>
            <a:ext cx="9144" cy="320040"/>
          </a:xfrm>
          <a:prstGeom prst="line">
            <a:avLst/>
          </a:prstGeom>
          <a:noFill/>
          <a:ln w="15240">
            <a:solidFill>
              <a:srgbClr val="8B9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30368" y="1892808"/>
            <a:ext cx="301752" cy="9144"/>
          </a:xfrm>
          <a:prstGeom prst="line">
            <a:avLst/>
          </a:prstGeom>
          <a:noFill/>
          <a:ln w="15240">
            <a:solidFill>
              <a:srgbClr val="8B949E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>
            <a:off x="5532120" y="1572768"/>
            <a:ext cx="9144" cy="320040"/>
          </a:xfrm>
          <a:prstGeom prst="line">
            <a:avLst/>
          </a:prstGeom>
          <a:noFill/>
          <a:ln w="15240">
            <a:solidFill>
              <a:srgbClr val="D2992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532120" y="1892808"/>
            <a:ext cx="896112" cy="9144"/>
          </a:xfrm>
          <a:prstGeom prst="line">
            <a:avLst/>
          </a:prstGeom>
          <a:noFill/>
          <a:ln w="15240">
            <a:solidFill>
              <a:srgbClr val="D29922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>
            <a:off x="4800600" y="1920240"/>
            <a:ext cx="1371600" cy="68580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00600" y="1975104"/>
            <a:ext cx="137160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4855464" y="2276856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× 9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837176" y="2505456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90% 流量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629400" y="1920240"/>
            <a:ext cx="1371600" cy="68580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629400" y="1975104"/>
            <a:ext cx="137160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6684264" y="2276856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× 1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665976" y="2505456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10% 流量 (Canary)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766560" y="2788920"/>
            <a:ext cx="1828800" cy="713232"/>
          </a:xfrm>
          <a:prstGeom prst="roundRect">
            <a:avLst>
              <a:gd name="adj" fmla="val 12821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766560" y="2843784"/>
            <a:ext cx="1828800" cy="3280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6821424" y="3159801"/>
            <a:ext cx="17190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803136" y="3388401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 Rate &lt; 0.1%?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P99 Latency OK?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7315200" y="2633472"/>
            <a:ext cx="9144" cy="13716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43" name="Text 41"/>
          <p:cNvSpPr/>
          <p:nvPr/>
        </p:nvSpPr>
        <p:spPr>
          <a:xfrm>
            <a:off x="4800600" y="2926080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自動增加 Canary 流量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812280" y="3566160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自動回滾 Canary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4846320" y="370332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小範圍驗證新版本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4846320" y="3959352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問題只影響少數用戶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 Metrics：衡量 DevOps 成熟度的四個指標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40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023360" cy="1965960"/>
          </a:xfrm>
          <a:prstGeom prst="roundRect">
            <a:avLst>
              <a:gd name="adj" fmla="val 5581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68580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🚀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84048" y="1106424"/>
            <a:ext cx="3803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Frequency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84048" y="1371600"/>
            <a:ext cx="3803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部署頻率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57200" y="161848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Elite: 多次/天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189280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High: 每天~每週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216712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Medium: 每週~每月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54880" y="594360"/>
            <a:ext cx="4023360" cy="1965960"/>
          </a:xfrm>
          <a:prstGeom prst="roundRect">
            <a:avLst>
              <a:gd name="adj" fmla="val 5581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68580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864608" y="1106424"/>
            <a:ext cx="3803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for Changes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64608" y="1371600"/>
            <a:ext cx="3803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 Commit 到 Prod 的時間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937760" y="161848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Elite: &lt; 1 小時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937760" y="189280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High: &lt; 1 天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937760" y="216712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Medium: 1週~1月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4320" y="2697480"/>
            <a:ext cx="4023360" cy="1965960"/>
          </a:xfrm>
          <a:prstGeom prst="roundRect">
            <a:avLst>
              <a:gd name="adj" fmla="val 5581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74320" y="278892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🔥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384048" y="3209544"/>
            <a:ext cx="3803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Failure Rate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84048" y="3474720"/>
            <a:ext cx="3803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部署導致 Prod 問題的比率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57200" y="372160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Elite: &lt; 5%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57200" y="399592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High: &lt; 15%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57200" y="427024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Medium: 15-45%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54880" y="2697480"/>
            <a:ext cx="4023360" cy="1965960"/>
          </a:xfrm>
          <a:prstGeom prst="roundRect">
            <a:avLst>
              <a:gd name="adj" fmla="val 5581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54880" y="278892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🔧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864608" y="3209544"/>
            <a:ext cx="3803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864608" y="3474720"/>
            <a:ext cx="3803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Restore — 恢復時間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937760" y="372160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Elite: &lt; 1 小時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937760" y="399592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High: &lt; 1 天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937760" y="427024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Medium: 1天~1週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74320" y="470916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47548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DORA Research (2019): Elite 表現者比低表現者 — 部署快 208x，故障恢復快 2604x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持續測試金字塔：測試的層次與速度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41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914400" y="1600200"/>
            <a:ext cx="2926080" cy="685800"/>
          </a:xfrm>
          <a:prstGeom prst="roundRect">
            <a:avLst>
              <a:gd name="adj" fmla="val 10667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636776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E2E Tests (10%)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60120" y="1865376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模擬真實用戶 | 分鐘級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94360" y="2331720"/>
            <a:ext cx="3566160" cy="713232"/>
          </a:xfrm>
          <a:prstGeom prst="roundRect">
            <a:avLst>
              <a:gd name="adj" fmla="val 10256"/>
            </a:avLst>
          </a:prstGeom>
          <a:solidFill>
            <a:srgbClr val="2A1F00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368296"/>
            <a:ext cx="3474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Integration Tests (20%)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596896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+ DB 整合 | 秒級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74320" y="3090672"/>
            <a:ext cx="4206240" cy="685800"/>
          </a:xfrm>
          <a:prstGeom prst="roundRect">
            <a:avLst>
              <a:gd name="adj" fmla="val 10667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312724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Unit Tests (70%)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" y="3355848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快速 | 隔離 | 毫秒級    jest, pytest, go test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26280" y="1554480"/>
            <a:ext cx="9144" cy="2194560"/>
          </a:xfrm>
          <a:prstGeom prst="line">
            <a:avLst/>
          </a:prstGeom>
          <a:noFill/>
          <a:ln w="15240">
            <a:solidFill>
              <a:srgbClr val="8B949E"/>
            </a:solidFill>
            <a:prstDash val="solid"/>
            <a:tailEnd type="arrow"/>
          </a:ln>
        </p:spPr>
      </p:sp>
      <p:sp>
        <p:nvSpPr>
          <p:cNvPr id="16" name="Text 14"/>
          <p:cNvSpPr/>
          <p:nvPr/>
        </p:nvSpPr>
        <p:spPr>
          <a:xfrm>
            <a:off x="4434840" y="146304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慢 🐌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434840" y="374904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 ⚡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937760" y="594360"/>
            <a:ext cx="3931920" cy="2834640"/>
          </a:xfrm>
          <a:prstGeom prst="roundRect">
            <a:avLst>
              <a:gd name="adj" fmla="val 322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02920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4748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/ jest commands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065776" y="704088"/>
            <a:ext cx="3675888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CI Pipeline 測試順序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Unit Tests (fail fast)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tests/unit/ --tb=short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js: jest --testPathPattern=unit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Integration Tests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tests/integration/ \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--docker-compose=docker-compose.test.yml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E2E Tests (only on main)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tests/e2e/ \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--base-url=https://staging.myapp.com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" y="3547872"/>
            <a:ext cx="2697480" cy="658368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593592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Fail Fast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3831336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 失敗立刻停止 Pipeline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46120" y="3547872"/>
            <a:ext cx="2697480" cy="658368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37560" y="3593592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測試隔離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37560" y="3831336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 Test 獨立，不依賴順序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217920" y="3547872"/>
            <a:ext cx="2697480" cy="658368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09360" y="3593592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Coverage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309360" y="3831336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 80%+，關鍵路徑 100%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小結：DevOps 讓軟體交付飛起來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42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8595360" cy="1261872"/>
          </a:xfrm>
          <a:prstGeom prst="roundRect">
            <a:avLst>
              <a:gd name="adj" fmla="val 7246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667512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47472" y="1069848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是文化，CI/CD 是工具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38988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打破 Dev/Ops 高牆，共同對交付品質負責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164592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CI/CD Pipeline 讓每次 Commit 都能安全部署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577072" y="6675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核心理念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1938528"/>
            <a:ext cx="8595360" cy="1261872"/>
          </a:xfrm>
          <a:prstGeom prst="roundRect">
            <a:avLst>
              <a:gd name="adj" fmla="val 7246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" y="201168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47472" y="2414016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DORA Metrics 衡量進步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734056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 個指標 — 部署頻率、Lead Time、失敗率、MTTR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65760" y="299008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Elite 表現者不是天生的 — 是 DevOps 文化建立的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577072" y="201168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量化成果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3282696"/>
            <a:ext cx="8595360" cy="1261872"/>
          </a:xfrm>
          <a:prstGeom prst="roundRect">
            <a:avLst>
              <a:gd name="adj" fmla="val 7246"/>
            </a:avLst>
          </a:prstGeom>
          <a:solidFill>
            <a:srgbClr val="161B22"/>
          </a:solidFill>
          <a:ln w="15240">
            <a:solidFill>
              <a:srgbClr val="0D8A6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74320" y="3355848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47472" y="3758184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+ GitOps + CI/CD = 現代部署三劍客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4078224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Container：環境一致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65760" y="4334256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GitOps：基礎設施即代碼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" y="459028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CI/CD：自動化交付 → Part 6: 可觀測性與 SRE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77072" y="335584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整合視角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2026-03-16T23:24:31Z</dcterms:created>
  <dcterms:modified xsi:type="dcterms:W3CDTF">2026-03-16T23:24:31Z</dcterms:modified>
</cp:coreProperties>
</file>