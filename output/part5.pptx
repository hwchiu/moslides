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Breaking Down the Wall Between Dev and 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Dev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Rapidly develop new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Frequently merge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Push code at 5 PM Friday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96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"Ship it now!"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1737360" cy="621792"/>
          </a:xfrm>
          <a:prstGeom prst="roundRect">
            <a:avLst>
              <a:gd name="adj" fmla="val 14706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992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feature/week  ·  Dev Velocity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0" y="502920"/>
            <a:ext cx="9144" cy="4224528"/>
          </a:xfrm>
          <a:prstGeom prst="line">
            <a:avLst/>
          </a:prstGeom>
          <a:noFill/>
          <a:ln w="38100">
            <a:solidFill>
              <a:srgbClr val="C46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16200000">
            <a:off x="4224528" y="210312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THE WALL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118872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590288" y="118872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4114800" y="192024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590288" y="192024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headEnd type="arrow"/>
          </a:ln>
        </p:spPr>
      </p:sp>
      <p:sp>
        <p:nvSpPr>
          <p:cNvPr id="25" name="Shape 23"/>
          <p:cNvSpPr/>
          <p:nvPr/>
        </p:nvSpPr>
        <p:spPr>
          <a:xfrm>
            <a:off x="4114800" y="265176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590288" y="265176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headEnd type="arrow"/>
          </a:ln>
        </p:spPr>
      </p:sp>
      <p:sp>
        <p:nvSpPr>
          <p:cNvPr id="27" name="Shape 25"/>
          <p:cNvSpPr/>
          <p:nvPr/>
        </p:nvSpPr>
        <p:spPr>
          <a:xfrm>
            <a:off x="4846320" y="566928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Ops Team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100584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069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Stability first, don't touch it!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1481328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545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No deploys on Friday at 5 PM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1956816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020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Change management requires approval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432304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496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"You broke Prod!"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2999232"/>
            <a:ext cx="1737360" cy="621792"/>
          </a:xfrm>
          <a:prstGeom prst="roundRect">
            <a:avLst>
              <a:gd name="adj" fmla="val 14706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9992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×3h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937760" y="3364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 ·  Mean Time To Restore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91363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core goal of DevOps: tear down this wall — unify dev, test, deploy, and ops into one continuous flow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DevOps is not a job title — it's a culture and practice. Dev understands Ops, Ops understands Dev, automate everything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Pipeline: Fully Automated from Commit to Production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379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196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381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98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834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383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00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385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02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apply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83880" y="658368"/>
            <a:ext cx="868680" cy="13258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83880" y="713232"/>
            <a:ext cx="86868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38744" y="134782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0456" y="1576426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481328" y="1463040"/>
            <a:ext cx="2743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14356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81528" y="1463040"/>
            <a:ext cx="2743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30358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81728" y="1463040"/>
            <a:ext cx="27432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46360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81928" y="1463040"/>
            <a:ext cx="274320" cy="9144"/>
          </a:xfrm>
          <a:prstGeom prst="line">
            <a:avLst/>
          </a:prstGeom>
          <a:noFill/>
          <a:ln w="19050">
            <a:solidFill>
              <a:srgbClr val="4A9B8E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62362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882128" y="1463040"/>
            <a:ext cx="27432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78364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37160" y="566928"/>
            <a:ext cx="5120640" cy="1508760"/>
          </a:xfrm>
          <a:prstGeom prst="roundRect">
            <a:avLst>
              <a:gd name="adj" fmla="val 6061"/>
            </a:avLst>
          </a:prstGeom>
          <a:ln w="12700">
            <a:solidFill>
              <a:srgbClr val="4A7FB5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2860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Continuous Integration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92040" y="566928"/>
            <a:ext cx="4114800" cy="1508760"/>
          </a:xfrm>
          <a:prstGeom prst="roundRect">
            <a:avLst>
              <a:gd name="adj" fmla="val 6061"/>
            </a:avLst>
          </a:prstGeom>
          <a:ln w="12700">
            <a:solidFill>
              <a:srgbClr val="4A996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98348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0176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Continuous Delivery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468880"/>
            <a:ext cx="4389120" cy="2331720"/>
          </a:xfrm>
          <a:prstGeom prst="roundRect">
            <a:avLst>
              <a:gd name="adj" fmla="val 392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32257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232257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02336" y="2578608"/>
            <a:ext cx="413308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CI/CD Pipeline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myapp:$GITHUB_SHA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push registry/myapp:$GITHUB_SHA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kubectl set image deploy/api api=myapp:$GITHUB_SHA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37760" y="251460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29200" y="262432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10min</a:t>
            </a:r>
            <a:endParaRPr lang="en-US" sz="3400" dirty="0"/>
          </a:p>
        </p:txBody>
      </p:sp>
      <p:sp>
        <p:nvSpPr>
          <p:cNvPr id="52" name="Text 50"/>
          <p:cNvSpPr/>
          <p:nvPr/>
        </p:nvSpPr>
        <p:spPr>
          <a:xfrm>
            <a:off x="5029200" y="305226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Time Target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251460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995160" y="262432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55" name="Text 53"/>
          <p:cNvSpPr/>
          <p:nvPr/>
        </p:nvSpPr>
        <p:spPr>
          <a:xfrm>
            <a:off x="6995160" y="305226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Coverage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937760" y="361188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029200" y="372160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50+</a:t>
            </a:r>
            <a:endParaRPr lang="en-US" sz="3400" dirty="0"/>
          </a:p>
        </p:txBody>
      </p:sp>
      <p:sp>
        <p:nvSpPr>
          <p:cNvPr id="58" name="Text 56"/>
          <p:cNvSpPr/>
          <p:nvPr/>
        </p:nvSpPr>
        <p:spPr>
          <a:xfrm>
            <a:off x="5029200" y="414954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Deploys/Day (Netflix)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03720" y="361188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995160" y="372160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1hr</a:t>
            </a:r>
            <a:endParaRPr lang="en-US" sz="3400" dirty="0"/>
          </a:p>
        </p:txBody>
      </p:sp>
      <p:sp>
        <p:nvSpPr>
          <p:cNvPr id="61" name="Text 59"/>
          <p:cNvSpPr/>
          <p:nvPr/>
        </p:nvSpPr>
        <p:spPr>
          <a:xfrm>
            <a:off x="6995160" y="414954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Commit→Prod Time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GitOps: Git as the Single Source of Truth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Core Principles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Git is the Single Source of Truth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All changes go through Pull Requests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Auto-sync — Git state = Cluster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96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Auditable &amp; rollbackable — git revert = rollback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08760" y="292608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292608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96926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18304" y="134233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0016" y="157093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03520" y="1764792"/>
            <a:ext cx="9144" cy="347472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5349240" y="18196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1488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220370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18304" y="257677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0016" y="280537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app-config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89320" y="2578608"/>
            <a:ext cx="50292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5989320" y="24231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7960" y="21488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37960" y="220370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592824" y="257677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74536" y="280537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GitOps Operator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63840" y="2578608"/>
            <a:ext cx="41148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7845552" y="24231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321040" y="2148840"/>
            <a:ext cx="731520" cy="822960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21040" y="2203704"/>
            <a:ext cx="73152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375904" y="2576779"/>
            <a:ext cx="6217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57616" y="2805379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863840" y="3246120"/>
            <a:ext cx="822960" cy="9144"/>
          </a:xfrm>
          <a:prstGeom prst="line">
            <a:avLst/>
          </a:prstGeom>
          <a:noFill/>
          <a:ln w="15240">
            <a:solidFill>
              <a:srgbClr val="B8892C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537960" y="2999232"/>
            <a:ext cx="9144" cy="246888"/>
          </a:xfrm>
          <a:prstGeom prst="line">
            <a:avLst/>
          </a:prstGeom>
          <a:noFill/>
          <a:ln w="15240">
            <a:solidFill>
              <a:srgbClr val="B8892C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537960" y="3246120"/>
            <a:ext cx="1325880" cy="9144"/>
          </a:xfrm>
          <a:prstGeom prst="line">
            <a:avLst/>
          </a:prstGeom>
          <a:noFill/>
          <a:ln w="15240">
            <a:solidFill>
              <a:srgbClr val="B8892C"/>
            </a:solidFill>
            <a:prstDash val="dash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6565392" y="32918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detect → auto-heal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GitOps turns infrastructure into code — every Prod change has a git commit record, auditable and rollbackable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Flags: Decouple Deployment from Feature Release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Traditional: Deploy = Release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Every deploy impacts all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Issues require a full rollback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Cannot test with specific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502920"/>
            <a:ext cx="9144" cy="384048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Feature Flags: Deploy ≠ Release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987552"/>
            <a:ext cx="3977640" cy="1536192"/>
          </a:xfrm>
          <a:prstGeom prst="roundRect">
            <a:avLst>
              <a:gd name="adj" fmla="val 595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8412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8412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28616" y="1097280"/>
            <a:ext cx="37216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Flag control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feature_flags.is_enabled('new_checkout', user):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new_checkout_flow(user)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old_checkout_flow(user)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A/B Testing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🐤 Canary Release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4380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Internal Beta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273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566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on Prod server — but Flag = OFF, users can't see 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3246120"/>
            <a:ext cx="9144" cy="100584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73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Release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Flag to ON — feature visible to users (can turn off anytime)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Feature Flags enable Continuous Deployment — deploy dozens of times a day, let PM decide when to release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Strategies: Blue/Green vs Canary Release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🔵🟢 Blue/Green Deployment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Deploy new version to Green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Blue (v1) — 100% Traffic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11155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115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(v2) — 0% Traffic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66420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LB switches traffic to Green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94560" y="1792224"/>
            <a:ext cx="54864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7432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Blue (v1) — 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028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(v2) — 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871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Zero downtime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7614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Rollback by switching LB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035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Requires two environments (cost)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502920"/>
            <a:ext cx="9144" cy="443484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594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🐤 Canary Release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09728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0972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⚖️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96128" y="10972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1572768"/>
            <a:ext cx="9144" cy="320040"/>
          </a:xfrm>
          <a:prstGeom prst="line">
            <a:avLst/>
          </a:prstGeom>
          <a:noFill/>
          <a:ln w="15240">
            <a:solidFill>
              <a:srgbClr val="9088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1892808"/>
            <a:ext cx="301752" cy="9144"/>
          </a:xfrm>
          <a:prstGeom prst="line">
            <a:avLst/>
          </a:prstGeom>
          <a:noFill/>
          <a:ln w="15240">
            <a:solidFill>
              <a:srgbClr val="90888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532120" y="1572768"/>
            <a:ext cx="9144" cy="320040"/>
          </a:xfrm>
          <a:prstGeom prst="line">
            <a:avLst/>
          </a:prstGeom>
          <a:noFill/>
          <a:ln w="15240">
            <a:solidFill>
              <a:srgbClr val="B889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892808"/>
            <a:ext cx="896112" cy="9144"/>
          </a:xfrm>
          <a:prstGeom prst="line">
            <a:avLst/>
          </a:prstGeom>
          <a:noFill/>
          <a:ln w="15240">
            <a:solidFill>
              <a:srgbClr val="B8892C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0600" y="192024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1975104"/>
            <a:ext cx="13716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55464" y="2276856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× 9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37176" y="25054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 Traffic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29400" y="192024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29400" y="1975104"/>
            <a:ext cx="13716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684264" y="2276856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× 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65976" y="25054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 Traffic (Canary)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66560" y="278892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66560" y="2843784"/>
            <a:ext cx="1828800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21424" y="3159801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03136" y="3388401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Rate &lt; 0.1%?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P99 Latency OK?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315200" y="2633472"/>
            <a:ext cx="9144" cy="137160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4800600" y="29260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Auto-increase Canary traffic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12280" y="35661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Auto-rollback Canary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46320" y="37033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Validate new version at small scale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46320" y="39593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Issues only affect a small subset of users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Metrics: Four Indicators of DevOps Maturity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85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110642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you deploy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Multiple/day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Daily to weekly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1671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Weekly to monthly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436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685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64608" y="110642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37160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Commit to Prod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1618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&lt; 1 hour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8928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&lt; 1 day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1671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1 week to 1 month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788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048" y="320954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47472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deploys causing Prod issues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&lt; 5%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9959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&lt; 15%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15-45%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69748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2788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864608" y="320954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4608" y="347472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Restore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&lt; 1 hour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9959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&lt; 1 day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1 day to 1 week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DORA Research (2019): Elite performers vs low performers — 208x faster deploys, 2604x faster recovery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Pyramid: Layers and Speed of Testing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367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E2E Tests (10%)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86537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 users | Minutes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3EDE0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68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Integration Tests (20%)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968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DB integration | Seconds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272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Unit Tests (70%)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35584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| Isolated | Milliseconds    jest, pytest, go test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26280" y="1554480"/>
            <a:ext cx="9144" cy="2194560"/>
          </a:xfrm>
          <a:prstGeom prst="line">
            <a:avLst/>
          </a:prstGeom>
          <a:noFill/>
          <a:ln w="15240">
            <a:solidFill>
              <a:srgbClr val="8A8078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4434840" y="1463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59436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/ jest commands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65776" y="704088"/>
            <a:ext cx="36758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 Pipeline test order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Unit Tests (fail fast)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tests/unit/ --tb=short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js: jest --testPathPattern=unit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Integration Tests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tests/integration/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--docker-compose=docker-compose.test.yml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E2E Tests (only on main)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tests/e2e/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--base-url=https://staging.myapp.com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9359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Fail Fast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3133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pipeline immediately on unit test failure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547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59359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Test Isolation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83133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is independent, no order dependency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547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59359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Coverage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83133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80%+, critical paths 100%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Summary: DevOps Makes Software Delivery Fly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6751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Culture, CI/CD Is the Toolchain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 down the Dev/Ops wall — shared responsibility for delivery quality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 ensures every commit can be safely deployed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77072" y="667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859536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011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" y="241401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Progress with DORA Metrics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340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metrics — Deploy Frequency, Lead Time, Failure Rate, MTTR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900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Elite performers are not born — they are built by DevOps culture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77072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82696"/>
            <a:ext cx="859536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35584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" y="375818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GitOps + CI/CD = The Modern Deployment Trio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0782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Container: Consistent environments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3342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GitOps: Infrastructure as Code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5902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CI/CD: Automated delivery → Part 6: Observability &amp; SRE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77072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2026-04-03T16:24:51Z</dcterms:created>
  <dcterms:modified xsi:type="dcterms:W3CDTF">2026-04-03T16:24:51Z</dcterms:modified>
</cp:coreProperties>
</file>