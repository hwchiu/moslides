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84048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57200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530352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6035040"/>
            <a:ext cx="11914632" cy="45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BFFF"/>
                </a:solidFill>
                <a:latin typeface="JetBrains Mono"/>
              </a:rPr>
              <a:t>CLOUD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E8EDF2"/>
                </a:solidFill>
                <a:latin typeface="JetBrains Mono"/>
              </a:rPr>
              <a:t>系統部署實務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474720"/>
            <a:ext cx="914400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FA3BF"/>
                </a:solidFill>
                <a:latin typeface="Inter"/>
              </a:rPr>
              <a:t>從單體部署到 Cloud Native 的完整演進之路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53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F"/>
                </a:solidFill>
                <a:latin typeface="Inter"/>
              </a:rPr>
              <a:t>碩士課程  ·  系統架構設計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053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FA3BF"/>
                </a:solidFill>
                <a:latin typeface="Inter"/>
              </a:rPr>
              <a:t>預計課程時間：2.5 小時  ·  投影片：50 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914400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16768" y="914400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7936" y="914400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19104" y="914400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0" y="1115568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16768" y="1115568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17936" y="1115568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19104" y="1115568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316736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16768" y="1316736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17936" y="1316736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19104" y="1316736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0" y="1517904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16768" y="1517904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17936" y="1517904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19104" y="1517904"/>
            <a:ext cx="73152" cy="73152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課程大綱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A3BF"/>
                </a:solidFill>
                <a:latin typeface="Inter"/>
              </a:rPr>
              <a:t>Agenda — 完整演進之路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02 / 50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3657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3794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2"/>
                </a:solidFill>
                <a:latin typeface="JetBrains Mono"/>
              </a:rPr>
              <a:t>傳統部署演進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58568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F"/>
                </a:solidFill>
                <a:latin typeface="Inter"/>
              </a:rPr>
              <a:t>單機 → 三層架構，了解部署的起點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65760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657600" cy="3657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630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83794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2"/>
                </a:solidFill>
                <a:latin typeface="JetBrains Mono"/>
              </a:rPr>
              <a:t>Scale Out 挑戰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258568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F"/>
                </a:solidFill>
                <a:latin typeface="Inter"/>
              </a:rPr>
              <a:t>LB / Session / DB 擴展的真實難題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65760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657600" cy="3657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630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83794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2"/>
                </a:solidFill>
                <a:latin typeface="JetBrains Mono"/>
              </a:rPr>
              <a:t>Container 革命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258568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F"/>
                </a:solidFill>
                <a:latin typeface="Inter"/>
              </a:rPr>
              <a:t>Docker / Compose / Registry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365760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365760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75818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2"/>
                </a:solidFill>
                <a:latin typeface="JetBrains Mono"/>
              </a:rPr>
              <a:t>12-Factor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178808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F"/>
                </a:solidFill>
                <a:latin typeface="Inter"/>
              </a:rPr>
              <a:t>Cloud-Ready 應用的設計原則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37560"/>
            <a:ext cx="365760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337560"/>
            <a:ext cx="3657600" cy="3657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3832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75818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2"/>
                </a:solidFill>
                <a:latin typeface="JetBrains Mono"/>
              </a:rPr>
              <a:t>DevOps 整合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4178808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F"/>
                </a:solidFill>
                <a:latin typeface="Inter"/>
              </a:rPr>
              <a:t>大規模生產環境的團隊協作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337560"/>
            <a:ext cx="365760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337560"/>
            <a:ext cx="3657600" cy="3657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3832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758184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DF2"/>
                </a:solidFill>
                <a:latin typeface="JetBrains Mono"/>
              </a:rPr>
              <a:t>SDLC 閉環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178808"/>
            <a:ext cx="34381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F"/>
                </a:solidFill>
                <a:latin typeface="Inter"/>
              </a:rPr>
              <a:t>從 Code 到維運的完整旅程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A3BF"/>
                </a:solidFill>
                <a:latin typeface="Inter"/>
              </a:rPr>
              <a:t>課程目標：理解真實世界如何從零設計可擴展系統，體會各種設計決策背後的取捨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起點：最簡單的部署架構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03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029200" cy="6400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0292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733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使用者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50292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0292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706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Linux Server :8080 (my-app)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45920"/>
            <a:ext cx="576072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645920"/>
            <a:ext cx="57607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67335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優點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02996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設定簡單、維運容易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230428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適合初期開發與 PoC 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57860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開發環境 ≈ 生產環境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200400"/>
            <a:ext cx="576072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3200400"/>
            <a:ext cx="576072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2278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⚠  問題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358444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單點故障 (SPOF)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85876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無法應付高流量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13308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資料存記憶體 → 重啟即遺失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課堂 PoC 常用這種架構，但真實產品幾乎不會停在這裡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請求的旅程：一個 HTTP Request 經歷什麼？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04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DNS 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查詢域名 → 取得 Server 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30352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TCP 握手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三次握手 → 建立可靠連線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17520"/>
            <a:ext cx="530352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44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HTTP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4015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GET /api/data → 發送請求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530352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44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④ App 處理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4015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業務邏輯 → 查 DB / 計算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530352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99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⑤ DB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956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執行 SQL → 取得資料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572000"/>
            <a:ext cx="530352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57200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599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⑥ HTTP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56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JSON 回傳 → Client 收到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理解這條路徑，才知道瓶頸藏在哪一層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第一步擴展：分離資料庫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05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0292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0292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562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App Server  (my-app :8080)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FA3BF"/>
                </a:solidFill>
                <a:latin typeface="Inter"/>
              </a:rPr>
              <a:t>→ SQL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0292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44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DB Server  (PostgreSQL :5432)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828800"/>
            <a:ext cx="5760720" cy="15544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7607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8562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為什麼要把 DB 獨立出來？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21284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① App Server 可以無狀態重啟，不影響資料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248716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② DB 資源需求不同，可以獨立調整規格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76148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③ 資料可以被多個 App 共用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新問題：網路連線延遲增加、DB 成為效能瓶頸、兩台機器各別維護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三層架構：Frontend + Backend +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06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474720" cy="34747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47472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React / 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Nginx : 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職責：UI 呈現、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靜態資源服務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474720" cy="34747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463040"/>
            <a:ext cx="34747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Application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8470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1214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FastAPI / Node.js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3957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: 8080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6700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9443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職責：業務邏輯、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2186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API 處理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63040"/>
            <a:ext cx="3474720" cy="3474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63040"/>
            <a:ext cx="347472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Data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8470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Database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1214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3957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: 5432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6700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9443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職責：資料持久化、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32186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查詢處理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3 台機器 = 3 倍維運工作量，且任何一台掛掉都影響整個服務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三層架構的真實挑戰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07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部署順序地雷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前後端必須依序更新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v2 + Backend v1 = API 不相容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任一步驟失敗，整體需回滾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版本相依性地獄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假設 API 回傳格式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改動 response 結構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雙方沒有明確合約 → 上線即爆炸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02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開發環境差異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本地 macOS → 測試 Ubuntu 20 → 生產 Ubuntu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套件版本不同 → 行為不一致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「我這裡跑得好好的...」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7472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④ 單點故障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任何一層掛掉 → 整個服務中斷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掛 → 用戶看不到頁面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掛 → 全站 500 Error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這些問題在小團隊可以忍受，但隨著規模成長會爆炸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如何找出系統瓶頸？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08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68580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68580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CPU 瓶頸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6638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症狀: top/htop CPU 100%  |  工具: perf, flame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68580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68580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134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Memory 瓶頸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670048"/>
            <a:ext cx="6638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症狀: OOM Kill, Swap 滿  |  工具: free, valgrind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68580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68580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Disk I/O 瓶頸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493008"/>
            <a:ext cx="6638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症狀: iowait 高, 寫入慢  |  工具: iostat, iotop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68580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68580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935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Network 瓶頸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315968"/>
            <a:ext cx="6638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症狀: 封包遺失, 延遲高  |  工具: netstat, tcpdump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54880"/>
            <a:ext cx="68580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68580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8231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DB Query 瓶頸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138928"/>
            <a:ext cx="6638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症狀: 慢查詢, Lock 等待  |  工具: EXPLAIN ANALYZE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463040"/>
            <a:ext cx="438912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1463040"/>
            <a:ext cx="43891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14904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解讀監控訊號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1847088"/>
            <a:ext cx="4169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P50 / P95 / P99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7" y="2121408"/>
            <a:ext cx="4169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Request per Second (RPS)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7" y="2395728"/>
            <a:ext cx="4169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Error Rate (%)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7" y="2670048"/>
            <a:ext cx="4169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CPU / Memory 使用率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7" y="2944368"/>
            <a:ext cx="4169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Connection Pool 使用量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先量測，再優化。不要猜，要看數據。沒有監控就沒有優化的依據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何時需要開始思考 Scale？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09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56616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CPU 持續 &gt; 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計算資源不足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壓力測試時先觸頂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Scale Up 或 Scale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加 Cache 降低計算量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463040"/>
            <a:ext cx="356616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463040"/>
            <a:ext cx="35661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90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Response P99 &gt; 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18470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用戶體驗明顯下降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121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長尾延遲影響轉換率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3957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查慢查詢 / 優化邏輯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6700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若已優化 → 需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463040"/>
            <a:ext cx="356616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46304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490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Error Rate &gt; 0.1%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18470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服務不穩定訊號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121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可能是 OOM / DB 連線耗盡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3957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先找根因，再決定是否 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1143000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251960"/>
            <a:ext cx="114300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79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常見錯誤：過早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63600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需求還沒穩定就急著上 K8s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91032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單機能搞定的問題別引入分散式複雜度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18464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先用單機撐到真正需要的時候再 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過早優化是萬惡之源 — Donald Knuth。先讓產品活下來，再考慮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Scale Up vs Scale Out：兩種擴展思路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10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035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30352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Scale Up  垂直擴展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6888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舊機器: 4 Core / 16GB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7432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0175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新機器: 64 Core / 512GB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918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5661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架構不用改，快速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84048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無需修改程式碼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114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 成本指數級成長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3891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 硬體有上限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6634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 升級需要停機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73736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647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Scale Out  水平擴展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3774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46888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1 (4C/16GB)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7432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2 (4C/16GB)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0175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3 (4C/16GB)  + N 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2918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5661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成本線性成長，彈性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84048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零停機，滾動更新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114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理論上無上限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3891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 架構需要重新設計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FA3BF"/>
                </a:solidFill>
                <a:latin typeface="Inter"/>
              </a:rPr>
              <a:t>VS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Scale Out 是 Cloud Native 的核心，但需要應用程式支援 Stateless 設計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Stateless 設計：Scale Out 的先決條件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11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Stateful（有問題）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存在 App Server 記憶體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Request #1 → Server A (登入成功)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Request #2 → Server B (找不到 Session!)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用戶被強制登出！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問題：Server 之間 Session 無法共用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Stateless（正確）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外部化存入 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Request #1 → Server A → Redis 取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Request #2 → Server B → Redis 取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任一台 Server 都能處理！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原則：App Server 不存任何特定狀態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FF"/>
                </a:solidFill>
                <a:latin typeface="Inter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每個 Request 都應該可以被任何一台 Server 處理 — 這是 Scale Out 的核心前提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Part 1 小結：架構演進路線圖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傳統部署的演進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12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124712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92608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365760" y="1691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DF2"/>
                </a:solidFill>
                <a:latin typeface="Inter"/>
              </a:rPr>
              <a:t>單機部署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65760" y="30632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A3BF"/>
                </a:solidFill>
                <a:latin typeface="Inter"/>
              </a:rPr>
              <a:t>✅ 快速上線
⚠ SPOF，無擴展性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743200"/>
            <a:ext cx="292608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691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DF2"/>
                </a:solidFill>
                <a:latin typeface="Inter"/>
              </a:rPr>
              <a:t>DB 分離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0632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A3BF"/>
                </a:solidFill>
                <a:latin typeface="Inter"/>
              </a:rPr>
              <a:t>✅ 資料持久化
⚠ 2台機器，網路延遲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292608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691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DF2"/>
                </a:solidFill>
                <a:latin typeface="Inter"/>
              </a:rPr>
              <a:t>三層架構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0632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A3BF"/>
                </a:solidFill>
                <a:latin typeface="Inter"/>
              </a:rPr>
              <a:t>✅ 職責清晰
⚠ 3台機器，部署複雜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743200"/>
            <a:ext cx="292608" cy="29260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DF2"/>
                </a:solidFill>
                <a:latin typeface="Inter"/>
              </a:rPr>
              <a:t>需要 Scale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A3BF"/>
                </a:solidFill>
                <a:latin typeface="Inter"/>
              </a:rPr>
              <a:t>✅ 高可用潛力
⚠ Session / LB 挑戰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下一步 → Part 2：如何 Scale Out，以及隨之而來的新挑戰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Load Balancer：流量分發的核心元件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13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457200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5448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Clients (Users)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4572000" cy="6400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2316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Load Balancer  :80 / :443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↙  ↓  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1371600" cy="5029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52044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429000"/>
            <a:ext cx="1371600" cy="5029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352044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429000"/>
            <a:ext cx="1371600" cy="5029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3520440"/>
            <a:ext cx="1152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457200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34340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Database  :5432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463040"/>
            <a:ext cx="64008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1463040"/>
            <a:ext cx="64008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14904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Round Robin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1847088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依序輪流 A→B→C→A  |  適用：同規格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331720"/>
            <a:ext cx="64008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331720"/>
            <a:ext cx="64008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35915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Weighted Round Robin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715768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依權重比例分配  |  適用：Server 規格不同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200400"/>
            <a:ext cx="64008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3200400"/>
            <a:ext cx="64008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322783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Least Connections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8" y="3584448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優先分配給連線最少的  |  適用：長連線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069079"/>
            <a:ext cx="64008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4069079"/>
            <a:ext cx="64008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4096511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IP Hash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4453127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同一 IP 固定導向同台  |  適用：需 Sticky Session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4937760"/>
            <a:ext cx="6400800" cy="7772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0" y="4937760"/>
            <a:ext cx="64008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496519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Health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5321808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定期 Ping，自動移除故障節點  |  所有生產環境基本配置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LB 是 Scale Out 的入口，健康檢查讓系統具備自動容錯能力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Scale Out 的陷阱：Session 狀態問題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14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143000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1143000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問題情境：用戶登入後，下一個 Request 被導到不同的 Server...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Request #1 登入 → Server 1 ✅  |  Request #2 查詢 → Server 2 ❌  |  Request #3 購買 → Server 3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結果：Session 散在各自記憶體 → 用戶被強制登出！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3566160" cy="23774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35661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363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Cookie-Based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493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資料存在 Cookie 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7673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每次 Request 帶著資料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0416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不依賴 Server 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3159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大小有限制 (4KB)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5902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敏感資料需加密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108960"/>
            <a:ext cx="3566160" cy="23774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108960"/>
            <a:ext cx="356616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1363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Redis Session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493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存入 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7673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所有 Server 共用同一份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0416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完整 Session 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3159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TTL 自動過期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5902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多一個外部依賴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108960"/>
            <a:ext cx="3566160" cy="23774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10896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1363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JWT 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493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無狀態 Token，含用戶資訊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7673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不需存任何東西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0416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完全 Stateless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43159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跨服務驗證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5902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無法立即作廢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核心設計原則：App Server 本身不應儲存任何特定請求的狀態（Stateless）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資料庫的擴展：Read Replica 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15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5603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37360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25603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423160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25603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108960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25603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794760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F00"/>
                </a:solidFill>
                <a:latin typeface="Inter"/>
              </a:rPr>
              <a:t>Write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FF14"/>
                </a:solidFill>
                <a:latin typeface="Inter"/>
              </a:rPr>
              <a:t>Read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103120"/>
            <a:ext cx="27432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2103120"/>
            <a:ext cx="27432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130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Primary DB (Write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FA3BF"/>
                </a:solidFill>
                <a:latin typeface="Inter"/>
              </a:rPr>
              <a:t>Replication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645920"/>
            <a:ext cx="320040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1737360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Read Replica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2331720"/>
            <a:ext cx="320040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2423160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Read Replica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017520"/>
            <a:ext cx="320040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3108960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Read Replica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474720"/>
            <a:ext cx="493776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3474720"/>
            <a:ext cx="493776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502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優點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858768"/>
            <a:ext cx="4718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讀取效能大幅提升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4133088"/>
            <a:ext cx="4718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Primary 壓力降低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407408"/>
            <a:ext cx="4718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容災備援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474720"/>
            <a:ext cx="621792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621792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50215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⚠  限制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3858768"/>
            <a:ext cx="5998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Write 仍是單點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4133088"/>
            <a:ext cx="5998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Replication Lag 資料延遲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407408"/>
            <a:ext cx="5998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讀寫路由需在 App 層區分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約 80% 的 DB 操作是讀取。Read Replica 大幅分散壓力。Write 瓶頸需 Sharding 或 NewSQL 解決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三層 Caching 策略：從外到內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16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56616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5661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CDN Cache  (最外層)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靜態資源：JS / CSS / 圖片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全球節點分發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TTL: 小時~天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Cost: 極低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命中率: 60~80%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93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適合: 不常變動的資源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63040"/>
            <a:ext cx="356616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463040"/>
            <a:ext cx="356616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490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Redis / Memcached  (應用層)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8470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API 回應結果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121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3957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計算結果快取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26700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TTL: 秒~分鐘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9443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2186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命中率: 40~60%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493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適合: 熱門查詢結果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463040"/>
            <a:ext cx="356616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146304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490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Local In-Process  (最內層)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18470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超熱資料 (config / 靜態表)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121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microsecond 等級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957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TTL: 秒級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6700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大小: 有限 (幾MB)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29443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32186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命中率: 90%+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3493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適合: 幾乎不變的資料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617720"/>
            <a:ext cx="1143000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6451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Cache Invalidation 挑戰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00176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快取何時更新？Write-Through / Write-Behind / Cache-Aside 三種策略各有取捨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Cache 帶來效能，也帶來資料一致性挑戰。There are only two hard things in CS...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訊息佇列：非同步解耦的利器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17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同步呼叫的問題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Service A → Service B → Service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任一服務慢 → 全部等待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任一服務掛 → 整條鏈斷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流量大時 → 下游被壓垮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Scale 困難：必須一起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77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FFF"/>
                </a:solidFill>
                <a:latin typeface="Inter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MQ 解耦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Producer → Queue → 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Producer 不知道 Consumer 是誰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Consumer 可以獨立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Consumer 掛掉 → 訊息在 Queue 等待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解耦 = 獨立部署、獨立容錯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23360"/>
            <a:ext cx="3566160" cy="14630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0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Email / 通知發送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407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非同步處理，不阻塞主流程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023360"/>
            <a:ext cx="3566160" cy="14630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402336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050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影片 / 圖片處理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4407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耗時任務排隊，Consumer 依序處理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4023360"/>
            <a:ext cx="3566160" cy="14630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402336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050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訂單 / 金流流程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4074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確保不遺失，重試機制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MQ 讓服務彼此獨立，任一方可以獨立 Scale 且不互相影響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完整分散式架構全貌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18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Internet Users → CDN (Cloudflare) → WAF / Firewall → DNS 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8745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965960"/>
            <a:ext cx="365760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05740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LB (Nginx)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51760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Server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560320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2651760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Server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560320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2651760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Server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063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154680"/>
            <a:ext cx="365760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324612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LB (HAProxy)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49039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840479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Server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749039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4528" y="3840479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Server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3749039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3840479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Server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251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43400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434840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Redis Cluster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4343400"/>
            <a:ext cx="347472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4528" y="4434840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MQ (RabbitMQ)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4343400"/>
            <a:ext cx="3840480" cy="4572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7" y="4434840"/>
            <a:ext cx="3621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Primary + 3 Replica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0000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❌  共需維護：2 LB + 3 Frontend + 3 Backend + 4 Cache/MQ + 4 DB + CDN/WAF = 15+ 台機器！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部署惡夢：維運複雜度爆炸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19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⑴ 環境不一致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Dev：「我機器上能跑」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15 台機器的 Runtime 版本可能都不同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手動 SSH 逐一更新，出錯機率極高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⑵ 更新 / 回滾困難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新版本需依序更新全部 15 台機器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某台失敗了怎麼回滾？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停機時間難以控制，風險極高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02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⑶ 設定管理混亂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每台機器的 config 可能不同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連線字串、Secret Key 散落各處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新機器如何確保設定正確？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7472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⑷ Dev/Prod 環境落差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開發者用 macOS，Server 是 Ubuntu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套件相依性（Dependency Hell）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「在本地跑得好好的...」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資深工程師每天花大量時間在「機器設定與維護」而非「產品開發」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Part 2 小結：問題累積，需要新思維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Scale Out 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20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143000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5448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Load Balancer  ✅ 單一入口、健康檢查  ⚠ 需 Stateless 設計、新增設定層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1143000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Store  ✅ 解決多機 Session  ⚠ 多一個 Redis 依賴要維護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1143000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83464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Read Replica  ✅ 讀取效能大幅提升  ⚠ Write 仍是瓶頸、Replication 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79"/>
            <a:ext cx="1143000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474719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Caching  ✅ 大幅降低 DB 壓力  ⚠ Cache 一致性問題、過期策略複雜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11480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訊息佇列 MQ  ✅ 服務解耦、非同步  ⚠ 增加基礎設施複雜度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1143000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75488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完整分散式架構  ✅ 高可用 + 高效能  ⚠ 15+ 台機器，維運地獄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有沒有辦法，讓「在哪台機器上跑」不再是問題？→ 答案就是：Container！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Container 是什麼？解決什麼問題？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Container 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21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傳統部署的困境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應用程式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Runtime  Python 3.9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系統套件  apt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OS Config  .conf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Ubuntu 20.04 / 機器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換台機器 = 環境可能完全不同！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FFF"/>
                </a:solidFill>
                <a:latin typeface="Inte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Container 解法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Image（封裝一切）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├ 應用程式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├ Runtime + 所有套件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└ OS 最小依賴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Runtime (Docker)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任何 Linux 主機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7673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0416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Build once, run anywhere!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92040"/>
            <a:ext cx="1143000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892040"/>
            <a:ext cx="114300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194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三大核心價值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2760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① 環境一致性：開發 = 測試 = 生產  ② 快速啟動：秒級甚至毫秒級  ③ 輕量隔離：不需要完整的 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Container 不是 VM！更輕量、更快速、更適合現代雲端環境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VM vs Container：架構深度對比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Container 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22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F00"/>
                </a:solidFill>
                <a:latin typeface="JetBrains Mono"/>
              </a:rPr>
              <a:t>Virtual Machine (VM)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46888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246888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192024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246888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56032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Guest OS A (Ubuntu 20)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246888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56032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Guest OS B (CentOS 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2004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Hypervisor (VMware / KVM)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40479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Host OS (Linux / Windows)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4348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Physical Hardware /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029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F"/>
                </a:solidFill>
                <a:latin typeface="Inter"/>
              </a:rPr>
              <a:t>⏱ 啟動時間：分鐘級（需 boot OS）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85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F"/>
                </a:solidFill>
                <a:latin typeface="Inter"/>
              </a:rPr>
              <a:t>💾 Image 大小：GB 級（含完整 Guest OS）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412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F"/>
                </a:solidFill>
                <a:latin typeface="Inter"/>
              </a:rPr>
              <a:t>🔒 隔離強度：強（完整 OS 層隔離）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  <a:latin typeface="JetBrains Mono"/>
              </a:rPr>
              <a:t>Container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246888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192024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A (App A + Libs)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192024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B (App B + Libs)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468880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5603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Runtime (Docker / containerd)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08960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2004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Host OS Kernel（共用，不重複安裝）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749039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840479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Physical Hardware / Cloud 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29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F"/>
                </a:solidFill>
                <a:latin typeface="Inter"/>
              </a:rPr>
              <a:t>⚡ 啟動時間：秒級甚至毫秒級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85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F"/>
                </a:solidFill>
                <a:latin typeface="Inter"/>
              </a:rPr>
              <a:t>📦 Image 大小：MB 級（只含必要檔案）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4126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F"/>
                </a:solidFill>
                <a:latin typeface="Inter"/>
              </a:rPr>
              <a:t>🔐 隔離強度：程序級（Namespace + cgroups）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1463040"/>
            <a:ext cx="36576" cy="4389120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Container 共用 Host OS Kernel，更輕量快速。安全需求極高時才考慮 VM（或兩者並用）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Docker 核心概念：Image →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Container 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23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28600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54480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FROM python:3.11-slim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28800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COPY . 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RUN pip install -r req.txt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77440"/>
            <a:ext cx="2066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CMD ["python","main.py"]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A3BF"/>
                </a:solidFill>
                <a:latin typeface="Inter"/>
              </a:rPr>
              <a:t>docker build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63040"/>
            <a:ext cx="274320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55448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Image（不可變快照）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691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A3BF"/>
                </a:solidFill>
                <a:latin typeface="Inter"/>
              </a:rPr>
              <a:t>docker run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463040"/>
            <a:ext cx="338328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554480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Container（執行中的程序）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A3BF"/>
                </a:solidFill>
                <a:latin typeface="Inter"/>
              </a:rPr>
              <a:t>push ↑ / pull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743200"/>
            <a:ext cx="2743200" cy="7315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83464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10896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Hub / ECR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08960"/>
            <a:ext cx="1143000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108960"/>
            <a:ext cx="114300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36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常用 Docker 指令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49300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build -t my-app:v1 .    → 從 Dockerfile 建立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76732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run -d -p 8080:8080 my-app:v1    → 背景執行，映射 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04164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ps    → 列出執行中的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31596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logs &lt;id&gt;    → 查看 Container 日誌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5902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exec -it &lt;id&gt; /bin/bash    → 進入 Container Shell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86460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stop &lt;id&gt; &amp;&amp; docker rm &lt;id&gt;    → 停止並刪除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Docker Compose：多容器應用一鍵啟動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Container 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24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0" cy="43891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docker-compose.yml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version: '3.8'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services: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frontend: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image: nginx:alpine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ports: ["80:80"]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backend: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9300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build: ./backend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6732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ports: ["8080:8080"]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04164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environment: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31596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  DB_HOST: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59028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  SECRET_KEY: ${SECRET}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86460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depends_on: [db, redis]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13892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db: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image: postgres:15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68756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volumes: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96188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  - pgdata:/var/lib/pg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623620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redis: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51052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image: redis:7-alpine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78484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volumes: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7059168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pgdata: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63040"/>
            <a:ext cx="5486400" cy="73152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1554480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$ docker compose up -d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331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A3BF"/>
                </a:solidFill>
                <a:latin typeface="Inter"/>
              </a:rPr>
              <a:t>一個指令，啟動完整應用：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514600"/>
            <a:ext cx="53035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6060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  (Nginx : 80)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172968"/>
            <a:ext cx="53035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3264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   (Python : 8080)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831335"/>
            <a:ext cx="53035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922775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       (PostgreSQL : 5432)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489704"/>
            <a:ext cx="53035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4581144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redis     (Redis : 6379)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166360"/>
            <a:ext cx="530352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5257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Volume: pgdata — 資料持久化，容器重建不遺失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所有容器在同一虛擬網路，用服務名稱互相連線（如 DB_HOST: db），不需寫 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Container Registry：Image 的倉庫與版本管理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Container 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25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6459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8F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Code + Dockerfile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508760"/>
            <a:ext cx="16459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60020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508760"/>
            <a:ext cx="16459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160020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508760"/>
            <a:ext cx="164592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51008" y="160020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/ K8s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103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FA3BF"/>
                </a:solidFill>
                <a:latin typeface="Inter"/>
              </a:rPr>
              <a:t>docker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03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FA3BF"/>
                </a:solidFill>
                <a:latin typeface="Inter"/>
              </a:rPr>
              <a:t>docker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103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FA3BF"/>
                </a:solidFill>
                <a:latin typeface="Inter"/>
              </a:rPr>
              <a:t>docker pull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530352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74320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Registry 選項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1272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Hub — 公開免費，私有收費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4015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AWS ECR — 與 AWS 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6758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GCR (Google) / ACR (Azure)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39502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Harbor — 自建私有 Registry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743200"/>
            <a:ext cx="530352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743200"/>
            <a:ext cx="530352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Image Tag 策略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1272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:latest — ⚠ 生產環境禁用！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4015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:v1.2.3 — 語義化版本，推薦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36758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:git-abc1234 — Git commit SHA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9502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:env-prod / :env-staging — 環境標籤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永遠不要在生產環境用 :latest tag！無法追溯版本、無法確定性回滾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Container 化：從維運噩夢到一致部署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Container 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26 /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A4A"/>
                </a:solidFill>
                <a:latin typeface="Inter"/>
              </a:rPr>
              <a:t>❌ 傳統：15+ 台機器，各自設定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828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A  Python 3.8 / Ubuntu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231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B  Python 3.9 / Ubuntu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0175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C  Python 3.8 / CentOS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Server  PostgreSQL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2062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Cache  Redis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8006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LB  Nginx 1.18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A4A"/>
                </a:solidFill>
                <a:latin typeface="Inter"/>
              </a:rPr>
              <a:t>問題：每台 SSH 進去設定，每次更新都是手動操作的噩夢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FFF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FF14"/>
                </a:solidFill>
                <a:latin typeface="Inter"/>
              </a:rPr>
              <a:t>✅ Container：統一封裝，一致部署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3736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182880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frontend:v2.1  (nginx:alpine)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3172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4231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backend:v2.1  (python:3.11-slim)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92608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0175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db:latest  (postgres:15)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520440"/>
            <a:ext cx="5303520" cy="530352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61188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redis:7  (redis:alpine)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297680"/>
            <a:ext cx="530352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438912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一個 Dockerfile 定義環境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66344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compose up 一鍵啟動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937760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環境完全一致：開發 = 測試 = 生產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Container 解決的是「環境一致性」問題。下一步：如何讓應用程式天生適合 Container 化？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什麼是 Cloud-Ready 的應用？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27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能跑 ≠ 能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能在一台機器跑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能在 10 台機器正確運行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常見問題：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Config 寫死在 Code 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Log 只寫到本地檔案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673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Session 存在記憶體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30352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12-Factor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2011 年由 Heroku 工程師 Adam Wiggins 提出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12 條設計原則，讓應用：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天生適合 Container 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易於水平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環境一致，可預期部署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易於維護和觀測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FA3BF"/>
                </a:solidFill>
                <a:latin typeface="Inter"/>
              </a:rPr>
              <a:t>→ 設計哲學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34840"/>
            <a:ext cx="1143000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434840"/>
            <a:ext cx="114300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622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為什麼現在學 12-Factor？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48188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解決「在哪跑」的問題  →  12-Factor 解決「怎麼寫才適合雲端」的問題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09320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兩者相輔相成：Container 是容器，12-Factor 是設計良好的內容物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12-Factor 不是技術規範，是設計哲學。違反它的代價，會在 Scale 時加倍奉還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12-Factor App 全覽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28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I. Codebase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一個 Repo，多個部署環境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1732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II.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明確宣告所有相依套件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III.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設定存環境變數，不 hardcode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0604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60604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IV. Backing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9900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 / Redis 視為可替換外部資源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60604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260604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V. Build-Release-Run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29900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三階段嚴格分離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260604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260604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VI.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7" y="29900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無狀態 Process，狀態外部化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9476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79476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22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VII. Port Binding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1788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自帶 HTTP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79476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79476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822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VIII. Concurrency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41788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以 Process 模型水平擴展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79476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79" y="379476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9" y="3822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IX. Disposability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7" y="41788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快速啟動，優雅關閉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98348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498348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10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X. Dev/Prod Parity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53675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三環境盡量一致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98348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0" y="498348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5010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XI. Logs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53675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Log 輸出到 stdout/stderr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4983480"/>
            <a:ext cx="365760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79" y="498348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19" y="5010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XII. Admin Processes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5007" y="53675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管理任務作為一次性 Process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Factor 1–3：Codebase / Dependencies /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29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I. Codebase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原則：一個 App = 一個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一個 Repo，多個部署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(dev / staging / prod)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多個 Repo 共享同一份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多個 App 用 Monorepo 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每個 App 仍需獨立部署單元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II. 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原則：明確宣告，隔離安裝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requirements.txt / pyproject.toml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package.json + package-lock.json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依賴系統已安裝的套件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(「反正 Server 上有 curl」)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Container 天然支援此 Factor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III. 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原則：設定存環境變數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DB_HOST=localhost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SECRET_KEY=$SECRET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DB_HOST = 'db.prod.internal'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寫死在 config.py 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不同環境只改 env var，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不改 Code 或 Image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Factor 4–6：Backing Services / Build-Release-Run / Processes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30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IV. Backing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原則：外部資源視為可替換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Backing Services：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PostgreSQL / 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Redis / Memcached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S3 / 任何外部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切換 DB 只改 DB_URL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不需修改 App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讓測試環境換成 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生產換成 PostgreSQL 成為可能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V. Build-Release-Run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原則：三階段嚴格分離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Build：Code → 可執行 Artifact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(docker build)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Release：Artifact +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(Image + env vars)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Run：執行 Release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(docker run / k8s deploy)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上線後直接 ssh 進去改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VI. Processes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原則：無狀態 Process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App 是無狀態的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Session → Redis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上傳檔案 → S3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檔案存在本地 /tmp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計算結果存在記憶體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任何一台 Server 掛掉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不影響其他 Server 的服務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Factor 7–9：Port Binding / Concurrency / Disposability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31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VII. Port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原則：App 自帶 HTTP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App 直接 listen 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(FastAPI 內建 uvicorn)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(Node.js 直接 listen 8080)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依賴外部 Apache / mod_wsgi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App 可以直接被 LB 呼叫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不需要中間的 Web Server 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VIII. Concurrency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原則：以 Process 模型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水平擴展 = 加 Process：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web: 3 個 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worker: 5 個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每種工作類型獨立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單一超級大 Process 做所有事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對應 Docker Compose / K8s replica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IX. Disposability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原則：快速啟動，優雅關閉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快速啟動：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啟動時間 &lt; 幾秒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(Container 冷啟動問題)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優雅關閉：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收到 SIGTERM → 完成當前請求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→ 拒絕新請求 → 關閉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K8s 可以隨時殺掉 Pod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App 必須能處理這種情況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Factor 10–12：Dev/Prod Parity / Logs / Admin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32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X. Dev/Prod Parity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原則：三環境盡量一致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時間差：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Dev → Prod 盡快（CI/CD）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人員差：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Dev 也要了解 Prod 狀況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工具差：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❌ 本地 SQLite + 生產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✅ 本地也用 Docker +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Container + Docker 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3675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讓本地環境 = 生產環境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XI.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原則：Log 輸出到 stdout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print() / logger.info()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App 不管 Log 要去哪裡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Log 寫到 /var/log/app.log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App 自己管 Log rotation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容器平台負責收集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(ELK / Loki / CloudWatch)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53675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App 職責單一，不管 Log 路由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XII. Admin Processes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原則：管理任務一次性執行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常見管理任務：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DB Migration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資料修復腳本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一次性初始化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正確：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docker run myapp python migrate.py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k8s Job / CronJob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❌ 錯誤：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SSH 進去手動執行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47888" y="53675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混在 App 啟動流程裡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常見違反 12-Factor 的案例分析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33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案例 1：Config 寫死在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DB_URL = 'postgresql://admin:password@db.prod/'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發現問題：換 DB 要改 Code → 改 Code 要重新 Build → 違反 Factor III &amp; 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案例 2：Session 存在記憶體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users = {} # {user_id: session_data}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發現問題：Scale Out 後 Session 消失 → 用戶被強制登出 → 違反 Factor 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案例 3：Log 寫到本地檔案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logging.FileHandler('/var/log/app.log')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發現問題：K8s Pod 重啟 Log 遺失、分散式環境無法集中查看 → 違反 Factor XI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530352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02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案例 4：本地 SQLite + 生產 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# dev: sqlite:///./app.db  # prod: postgresql://...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發現問題：SQLite 和 PostgreSQL 行為差異 → 本地測試過，上線就壞 → 違反 Factor 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每一個違反，都是未來在不對的時間點爆發的技術債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12-Factor 與分散式架構的對應關係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12-Factor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34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5448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Load Balancer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04288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 Server (Stateless)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62656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054096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Config / Secret 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12464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803904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Session Store (Redis)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62272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553712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Log 聚合平台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530352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Registry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463040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55448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Factor IX：Disposability 快速啟動/關閉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212848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2304288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Factor VI：Processes 無狀態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62656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3054096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Factor III：Config 環境變數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712464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3803904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Factor VI：外部化 Session 狀態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462272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4553712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Factor XI：Logs 輸出到 stdout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5212080"/>
            <a:ext cx="457200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5303520"/>
            <a:ext cx="4352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Factor V：Build-Release-Run 分離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1645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←→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23957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←→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1455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←→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8953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←→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6451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←→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394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←→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035040"/>
            <a:ext cx="11430000" cy="5486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6126480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Container 天生符合大多數 12-Factor 原則 → Container + 12-Factor = 真正 Cloud-Ready 的應用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DevOps：打破 Dev 和 Ops 的高牆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35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傳統孤島文化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Dev 團隊：「功能寫完了，丟給 Ops」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Ops 團隊：「怎麼又出問題了！」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問題根源：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Dev 不了解生產環境限制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Ops 不了解程式碼變更影響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出問題互相推卸責任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673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部署頻率低，每次都是大事件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303520" cy="3200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DevOps 文化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共同擁有系統，共同負責品質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核心原則：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Dev 和 Ops 坐在同一團隊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開發者要對 On-call 負責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你 Build 它，你 Run 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頻繁小批次部署，降低風險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7673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失敗是學習機會，不是懲罰對象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92040"/>
            <a:ext cx="1143000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892040"/>
            <a:ext cx="114300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194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DevOps 帶來的改變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2760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部署頻率：數月一次 → 數十次/天  ·  MTTR：數天 → 數小時  ·  變更失敗率：大幅下降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DevOps 是文化變革，工具是結果，不是原因。沒有文化基礎，買再多工具都沒用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CI/CD Pipeline：讓部署成為日常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36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201168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201168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73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Code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299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git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042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786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01168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645920"/>
            <a:ext cx="201168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673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CI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20299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3042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5786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1645920"/>
            <a:ext cx="201168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0" y="1645920"/>
            <a:ext cx="201168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673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Image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20299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3042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push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25786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645920"/>
            <a:ext cx="201168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1645920"/>
            <a:ext cx="201168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673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④ Staging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20299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自動部署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23042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驗收測試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5786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QA 確認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1645920"/>
            <a:ext cx="201168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0" y="1645920"/>
            <a:ext cx="201168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1673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⑤ Prod 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20299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審核通過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5248" y="23042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自動/手動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248" y="25786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Deploy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926080"/>
            <a:ext cx="530352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292608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953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沒有 CI/CD 的世界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33101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部署是「重大事件」，半夜進行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35844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手動執行 15 個步驟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出錯就怪「那個改程式的人」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一個月才部署一次，積累大量變更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每次部署都是在賭博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926080"/>
            <a:ext cx="530352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2953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有 CI/CD 的世界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3101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部署是「普通操作」，白天隨時進行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35844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git push 後自動完成所有步驟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問題小且早發現，容易定位根因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每天可以部署多次，每次變更小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部署是工程師最無聊的工作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CI/CD 讓「部署」從「重大事件」變成「普通操作」，是 DevOps 文化的技術體現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大規模部署策略：如何安全上線？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37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Rolling Update  滾動更新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逐台更新，零停機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流程：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Server 1 → 新版本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Server 2 → 新版本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Server 3 → 新版本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零停機，資源不加倍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自動，K8s 原生支援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瞬間新舊版本共存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回滾需要時間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適用：大多數場景的首選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Blue-Green  藍綠部署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兩套環境切換，零風險回滾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Blue = 當前生產 (v1)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Green = 新版本 (v2)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1. Deploy v2 到 Green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2. 驗證 Green 正常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3. LB 切換到 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4. Blue 保留備用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回滾只需切換 LB (秒級)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需要 2x 資源成本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Canary Release  金絲雀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少量流量先驗證新版本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流程：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5% 用戶 → v2 (新版本)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95% 用戶 → v1 (舊版本)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→ 監控指標無異常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→ 逐步 10% → 50% → 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風險最低，影響面最小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✅ 可以做 A/B 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⚠ 需要流量分割能力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適用：高風險功能上線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578815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選擇策略看業務容忍度：回滾速度優先 → Blue-Green；風險控制優先 → Canary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環境分層設計：Dev / Staging /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38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Development 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用途：開發者本地開發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使用者：工程師個人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資料：假資料 / mock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更新：隨時，無限制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Config：.env.local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工具：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Docker Compose 本地啟動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Hot reload 即時更新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Debug 模式開啟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12-Factor：Factor X (Dev/Prod Parity)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Staging 環境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用途：上線前最終驗證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使用者：QA / PM / 利害關係人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資料：生產資料的匿名副本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更新：PR Merge 後自動部署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Config：接近生產的設定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Staging ≈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越像，意外越少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完整流程測試（含第三方）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12-Factor：Factor X (Dev/Prod Parity)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Production 環境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用途：真實用戶使用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2075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使用者：終端用戶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2350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624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資料：真實生產資料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2898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更新：通過 Staging 驗證後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3172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Config：生產 Secret，嚴格管控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3447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37216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原則：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7888" y="39959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任何變更都有審核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42702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有回滾計畫才能部署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45445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監控全開，Alert 設定好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48188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50932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Cost：最高，需要 HA 設計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578815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Staging 與 Production 越相似，上線意外越少。最貴的是讓 Staging 和 Prod 不一樣的代價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數十人團隊如何並行前進？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39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02920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02920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常見問題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多團隊同時改同個 Repo → 互相衝突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部署要協調 → 誰先誰後？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一個 Bug 擋住所有人的上線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「等我這個功能合進去再說」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502920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0292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Monorepo vs Polyrepo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361687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Monorepo：一個 Repo 放所有服務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636007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✅ 跨服務修改方便  ⚠ 複雜度高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910327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Polyrepo：每個服務獨立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184647"/>
            <a:ext cx="4809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✅ 團隊完全自治  ⚠ 跨服務協調難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463040"/>
            <a:ext cx="594360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1463040"/>
            <a:ext cx="5943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49047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服務邊界切分原則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184708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一個團隊擁有一個（或少數幾個）服務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212140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服務之間透過 API 溝通，不共享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239572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每個服務可以獨立部署，不依賴其他服務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267004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8" y="294436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Conway's Law：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321868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「系統架構會長得像組織架構」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349300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先設計好團隊結構，架構才會清晰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4617720"/>
            <a:ext cx="594360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0" y="4617720"/>
            <a:ext cx="5943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64515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實務建議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500176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Platform Team 負責共用基礎設施 (CI/CD / 監控)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5276088"/>
            <a:ext cx="5724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Product Team 負責各自的服務，自主部署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讓每個團隊能獨立 Deploy，是大規模組織前進速度的關鍵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GitOps：以 Git 為唯一事實來源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40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01168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01168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90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470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寫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214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開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463040"/>
            <a:ext cx="201168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463040"/>
            <a:ext cx="201168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490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18470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Code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21214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463040"/>
            <a:ext cx="201168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1463040"/>
            <a:ext cx="201168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490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Git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18470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Merge 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21214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main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463040"/>
            <a:ext cx="201168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1463040"/>
            <a:ext cx="201168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490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CD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18470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ArgoCD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1214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Flux 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463040"/>
            <a:ext cx="201168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1463040"/>
            <a:ext cx="201168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1490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Cluster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184708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K8s / Prod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212140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自動同步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51760"/>
            <a:ext cx="365760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65176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2679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宣告式設定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30358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所有部署設定都在 Git Repo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33101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YAML 描述「期望狀態」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35844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不是「怎麼做」，而是「要什麼」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651760"/>
            <a:ext cx="365760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265176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2679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PR-Driven 部署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30358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任何部署變更都要開 PR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33101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有 Review 才能上線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35844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Git history = 完整部署紀錄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2651760"/>
            <a:ext cx="365760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265176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2679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自動同步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30358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CD 工具持續監控 Git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8" y="33101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偵測到變更自動部署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35844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系統自動對齊 Git 狀態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663440"/>
            <a:ext cx="1143000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4663440"/>
            <a:ext cx="114300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6908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GitOps 的好處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50474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可審計：每次部署都有 Git commit  ·  可追蹤：誰在什麼時間改了什麼  ·  可回滾：git revert 即可回到任何版本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592531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Git commit history = 完整部署紀錄。任何人任何時候都知道生產環境是什麼狀態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Feature Flags：解耦 Deploy 與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41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沒有 Feature 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功能寫完才能部署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分支長期存在 → Merge 衝突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部署和上線綁死在一起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新功能有 Bug？整個版本回滾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A/B Testing？重新部署兩個版本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303520" cy="256032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有 Feature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if feature_flags.is_enabled('new_checkout'):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show_new_checkout_ui()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else: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  show_old_checkout_ui()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隨時可以部署，用 Flag 控制開放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51960"/>
            <a:ext cx="356616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25196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793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Gradual Rollout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636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先開放 1% → 5% → 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9103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確認無問題再全量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251960"/>
            <a:ext cx="356616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4251960"/>
            <a:ext cx="356616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2793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A/B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636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 組用舊版，B 組用新版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49103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用數據決定哪個更好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251960"/>
            <a:ext cx="356616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251960"/>
            <a:ext cx="35661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2793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Kill Switch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6360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出問題即時關閉功能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9103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不需要 Rollback 整個部署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0350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61081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Deploy ≠ Release。部署是技術動作，上線是商業決策。Feature Flags 讓兩者解耦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Part 5 小結：DevOps 讓數十人團隊安全前進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DevOps 大規模整合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42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DevOps 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7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環境分層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部署策略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GitOps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Feature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1554480"/>
            <a:ext cx="1463040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16459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可靠上線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43200"/>
            <a:ext cx="1143000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743200"/>
            <a:ext cx="114300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706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核心認知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12724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CI/CD 不是工具，是文化和流程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340156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讓每個 PR Merge 都可以安全上線，讓每個 Deploy 都可以快速回滾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67588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目標：讓部署成為「最無聊」的工作，工程師應該把精力放在「產品創新」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43400"/>
            <a:ext cx="3566160" cy="14630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34340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3708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部署頻率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7274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目標：每天多次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0017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指標：Deploy Frequency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343400"/>
            <a:ext cx="3566160" cy="14630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4343400"/>
            <a:ext cx="356616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3708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變更前置時間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47274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Commit → 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50017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指標：Lead Time for Change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4343400"/>
            <a:ext cx="3566160" cy="14630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4343400"/>
            <a:ext cx="356616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43708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平均恢復時間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47274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出事到恢復多快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500176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指標：MTTR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606247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下一步 → Part 6：整個 SDLC 閉環，從 Idea 到監控生產環境的完整旅程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SDLC：從 Idea 到 Production 的完整旅程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43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25603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3852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需求分析 / 拆 Story / 估時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55448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554480"/>
            <a:ext cx="256032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93852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開發 / Code Review /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93852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CI 自動 Build / 單元測試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55448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554480"/>
            <a:ext cx="256032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④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193852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整合測試 / E2E / QA 驗證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7180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971800"/>
            <a:ext cx="25603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⑤ Release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35584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Feature Flag / Staging 驗收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97180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2971800"/>
            <a:ext cx="256032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⑥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335584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CD / 部署策略 /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97180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2971800"/>
            <a:ext cx="25603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⑦ Operate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335584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On-call / Incident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971800"/>
            <a:ext cx="256032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52560" y="2971800"/>
            <a:ext cx="25603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29992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⑧ Monitor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3355848"/>
            <a:ext cx="2340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Metrics / Logs /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FA3BF"/>
                </a:solidFill>
                <a:latin typeface="Inter"/>
              </a:rPr>
              <a:t>⑧ Monitor → 回饋 → ① Plan 下一個 Sprint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51960"/>
            <a:ext cx="1143000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251960"/>
            <a:ext cx="11430000" cy="320040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279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各階段對應技術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463600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Plan: Jira / Linear  ·  Code: Git / GitHub  ·  Build: GitHub Actions / GitLab CI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491032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Test: pytest / Jest / Selenium  ·  Release: Feature Flags  ·  Deploy: K8s / ArgoCD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518464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Operate: PagerDuty / On-call  ·  Monitor: Prometheus + Grafana + ELK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0644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587959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SDLC 是閉環，不是終點。⑧ Monitor 的發現直接推動下一個 ① Plan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環境一致性：12-Factor + Container 的完美結合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44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傳統方式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A：SSH 進去手動 export DB_URL=...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B：/etc/environment 設定不同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Server C：config.ini 檔案版本舊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結果：3 台機器的設定可能不同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問題：「明明 A 台可以，B 台就不行」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原因：沒有人知道設定差在哪裡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0352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現代方式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Config：環境變數 (12-Factor III)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DB_URL, SECRET_KEY 等存在 Secrets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Image：同一個 Container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  dev / staging / prod 跑同一個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4930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啟動：docker run -e DB_URL=$DB_URL myapp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7673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環境差異只在 env var，Image 不變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480560"/>
            <a:ext cx="356616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480560"/>
            <a:ext cx="356616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079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Secrets 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8646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AWS Secrets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1389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HashiCorp Vault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4132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K8s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480560"/>
            <a:ext cx="356616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4480560"/>
            <a:ext cx="356616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5079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Config 注入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8646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環境變數 (12-Factor)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1389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ConfigMap (K8s)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54132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`.env` 僅用於本地開發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480560"/>
            <a:ext cx="356616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480560"/>
            <a:ext cx="356616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5079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Image 不可變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486460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同一個 Image 跑所有環境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13892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不同環境只換 env var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41324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保證行為一致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606247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一個 Image + 不同 env var = 不同環境。這才是真正的 Dev/Prod Parity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可觀測性三支柱：Metrics / Logs / Tracing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45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657600" cy="3657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90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Metrics  度量指標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470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量測系統健康狀況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21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957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工具：Prometheus + 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700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944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常見 Metrics：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218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Request Rate (req/s)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93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Error Rate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67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P50 / P95 / P99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041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CPU / Memory 使用率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315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90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用途：Dashboard + Alerting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463040"/>
            <a:ext cx="3657600" cy="36576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46304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490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Logs  日誌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8470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記錄系統事件與錯誤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2121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3957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工具：ELK Stack / Loki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6700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944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最佳實踐：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218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輸出到 stdout (12-Factor XI)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493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結構化 Log (JSON 格式)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767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每條 Log 含 trace_id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041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設定適當的 Log 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4315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5902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用途：除錯 / 審計 / 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463040"/>
            <a:ext cx="3657600" cy="36576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46304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490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Distributed Tracing  追蹤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18470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追蹤跨服務的請求流程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121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23957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工具：Jaeger / Zipkin / Tempo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6700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944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解決的問題：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21868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A 呼叫 B 呼叫 C，哪裡慢？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34930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請求在哪個服務卡住？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76732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跨服務的因果關係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404164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3159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用途：效能分析 / 根因定位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537667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沒有可觀測性的分散式系統，出問題就是在黑暗中除錯。可觀測性是基礎設施，不是事後加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Incident Response：出問題時的標準流程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46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0116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201168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① 偵測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3852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Alert 觸發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1284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On-call 接到通知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4871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確認是否為真實問題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554480"/>
            <a:ext cx="20116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554480"/>
            <a:ext cx="201168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② 評估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193852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嚴重度分級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21284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P0: 全站中斷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4871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P1/P2: 部分影響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554480"/>
            <a:ext cx="20116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1554480"/>
            <a:ext cx="201168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③ 緊急處置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193852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回滾版本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21284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Feature Flag 關閉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4871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先恢復服務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1554480"/>
            <a:ext cx="20116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9480" y="1554480"/>
            <a:ext cx="201168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20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④ 根因分析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193852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查 Log /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221284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Distributed Tracing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24871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找到根本原因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1554480"/>
            <a:ext cx="20116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0" y="1554480"/>
            <a:ext cx="201168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⑤ 改善行動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193852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Action Items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221284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防止再次發生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248716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更新 Runbook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200400"/>
            <a:ext cx="530352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3200400"/>
            <a:ext cx="530352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227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嚴重度分級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35844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P0 (Critical)：全站或核心功能中斷，即時處理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P1 (High)：重要功能受影響，1小時內處理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P2 (Medium)：部分用戶受影響，當天處理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P3 (Low)：小問題或優化，排入 backlog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200400"/>
            <a:ext cx="5303520" cy="22860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3200400"/>
            <a:ext cx="53035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227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Runbook 的重要性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35844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Runbook = 標準操作手冊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8587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記錄常見問題的處理步驟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4133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凌晨 3 點發生事故時，你需要它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4407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4681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好的 Runbook：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4956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明確的診斷步驟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9088" y="5230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可執行的指令（直接複製貼上）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5504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已知的誤報情況說明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solidFill>
            <a:srgbClr val="1A1000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574243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⚠   回滾永遠比除錯快。先恢復服務，讓用戶可以繼續使用，再慢慢找根因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SRE：用工程方法管理可靠性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47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47472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47472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SLI — Service Level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470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量測服務品質的指標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214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957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常見 SLI：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700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Availability (可用性)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9443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Latency (延遲)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2186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Error Rate (錯誤率)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930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Throughput (吞吐量)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673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0416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公式：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3159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可用性 = 成功請求 / 總請求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463040"/>
            <a:ext cx="347472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0" y="1463040"/>
            <a:ext cx="347472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SLO — Service Level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18470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對 SLI 設定的目標值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21214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23957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範例：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8" y="26700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Availability ≥ 99.9%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29443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P99 Latency &lt; 500ms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8" y="32186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• Error Rate &lt; 0.1%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34930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8" y="37673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注意：100% SLO 是反模式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0416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沒有人能做到 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43159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追求 100% 會讓你停止創新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1463040"/>
            <a:ext cx="347472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1463040"/>
            <a:ext cx="34747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Error Budget — 錯誤預算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8" y="18470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SLO 允許的「失敗額度」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8" y="21214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8" y="23957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範例：99.9% SLO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8" y="26700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每月可以 down 43.8 分鐘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29443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8" y="32186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Error Budget 用完了？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8" y="349300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停止新功能開發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8" y="376732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專注在穩定性改善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8" y="404164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8" y="431596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Error Budget 還很多？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8" y="4590288"/>
            <a:ext cx="3255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可以積極發布新功能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572000"/>
            <a:ext cx="1143000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572000"/>
            <a:ext cx="114300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5994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SRE 的核心思想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495604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用 Error Budget 平衡「速度」與「穩定性」。這是 Dev 和 Ops 之間的契約：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523036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Dev 說「我要快速部署」，Ops 說「我要穩定」。Error Budget 讓兩者有共同語言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601675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SRE 不是職位，是思維方式。任何工程師都可以用 SLI/SLO/Error Budget 來思考可靠性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Post-mortem：從失敗中系統性學習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48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320040"/>
          </a:xfrm>
          <a:prstGeom prst="rect">
            <a:avLst/>
          </a:prstGeom>
          <a:solidFill>
            <a:srgbClr val="F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❌ 壞的文化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找到犯錯的人 → 懲罰他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「下次不要犯這種錯誤」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工程師不敢承認問題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問題被隱藏，直到爆炸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系統性問題從未被解決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相同的事故一再發生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303520" cy="292608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✅ Blameless Post-mortem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470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目標：改善系統，不是懲罰個人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2140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「系統設計讓這個錯誤成為可能」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39572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工程師敢於公開討論問題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67004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找出系統性根因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94436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制定防止再發的 Action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218688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→ 知識在組織內傳播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17720"/>
            <a:ext cx="11430000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451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Post-mortem 文件結構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5001768"/>
            <a:ext cx="11210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① 事故時間線  ② 影響範圍  ③ 根本原因 (Root Cause)  ④ 解決過程  ⑤ Action Items (誰負責、何時完成)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01675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每次 Incident 都是改善系統的機會。Google SRE 說：「希望失敗發生，從失敗中成長」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完整旅程：從 Git Push 到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49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210312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6459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Developer
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54480"/>
            <a:ext cx="210312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6459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CI Pipeline
Build+Test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554480"/>
            <a:ext cx="210312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16459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Image Build
&amp;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554480"/>
            <a:ext cx="210312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8" y="16459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CD Pipeline
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554480"/>
            <a:ext cx="210312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645920"/>
            <a:ext cx="1883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Production
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246888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92608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Monitoring
可觀測性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200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34640"/>
            <a:ext cx="246888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292608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Alert &amp;
Incident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200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834640"/>
            <a:ext cx="246888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292608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Post-mortem
&amp; 改善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200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FA3BF"/>
                </a:solidFill>
                <a:latin typeface="Inter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2834640"/>
            <a:ext cx="246888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2926080"/>
            <a:ext cx="2249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Next Sprint
下一個迭代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FA3BF"/>
                </a:solidFill>
                <a:latin typeface="Inter"/>
              </a:rPr>
              <a:t>↑ 循環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114800"/>
            <a:ext cx="11612880" cy="1645920"/>
          </a:xfrm>
          <a:prstGeom prst="rect">
            <a:avLst/>
          </a:prstGeom>
          <a:solidFill>
            <a:srgbClr val="1E2D3D"/>
          </a:solidFill>
          <a:ln w="19050">
            <a:solidFill>
              <a:srgbClr val="00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114800"/>
            <a:ext cx="11612880" cy="320040"/>
          </a:xfrm>
          <a:prstGeom prst="rect">
            <a:avLst/>
          </a:prstGeom>
          <a:solidFill>
            <a:srgbClr val="00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142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本課程涵蓋的完整概念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498848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傳統部署演進 → Scale Out 挑戰 → Container 革命 → 12-Factor App → DevOps 整合 → SDLC 閉環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773168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單機 → 三層架構 → LB / Session / Cache / MQ → Docker / Compose → 12 條設計原則 → CI/CD / 部署策略 / GitOps / SRE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001A0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971032"/>
            <a:ext cx="1121054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2"/>
                </a:solidFill>
                <a:latin typeface="Inter"/>
              </a:rPr>
              <a:t>💡  這張圖是整門課的精華。每個節點你都學過了。把它串起來，就是 Cloud Native 工程師的日常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FFF"/>
                </a:solidFill>
                <a:latin typeface="JetBrains Mono"/>
              </a:rPr>
              <a:t>課程總結 + 你的下一步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28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JetBrains Mono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F"/>
                </a:solidFill>
                <a:latin typeface="Inter"/>
              </a:rPr>
              <a:t>SDLC 整合與維運閉環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F"/>
                </a:solidFill>
                <a:latin typeface="Inter"/>
              </a:rPr>
              <a:t>50 /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65760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Part 1 傳統部署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單機 → 三層架構，了解起點與取捨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65760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Part 2 Scale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LB / Session / Cache / MQ，分散式的挑戰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65760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6576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Part 3 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0136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Docker 封裝環境，一致部署的基礎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0360"/>
            <a:ext cx="365760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880360"/>
            <a:ext cx="36576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07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Part 4 12-Factor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264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Cloud-Ready 應用的 12 條設計原則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880360"/>
            <a:ext cx="365760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880360"/>
            <a:ext cx="3657600" cy="3200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907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Part 5 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264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大規模團隊的 CI/CD 與協作模式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880360"/>
            <a:ext cx="3657600" cy="1280160"/>
          </a:xfrm>
          <a:prstGeom prst="rect">
            <a:avLst/>
          </a:prstGeom>
          <a:solidFill>
            <a:srgbClr val="1E2D3D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880360"/>
            <a:ext cx="3657600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907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Part 6 SDLC 閉環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264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從 Code 到監控，可觀測性與 SRE 思維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89120"/>
            <a:ext cx="11612880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389120"/>
            <a:ext cx="11612880" cy="320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4165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JetBrains Mono"/>
              </a:rPr>
              <a:t>下一步：學習路線圖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773168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① Docker 動手實作 → ② Docker Compose 本地完整架構 → ③ Kubernetes 基礎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047488"/>
            <a:ext cx="11393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2"/>
                </a:solidFill>
                <a:latin typeface="Inter"/>
              </a:rPr>
              <a:t>④ CI/CD Pipeline 實作 → ⑤ Prometheus + Grafana 監控 → ⑥ 真實專案實踐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A3BF"/>
                </a:solidFill>
                <a:latin typeface="Inter"/>
              </a:rPr>
              <a:t>架構設計沒有銀彈，每個決策都有取捨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FFF"/>
                </a:solidFill>
                <a:latin typeface="Inter"/>
              </a:rPr>
              <a:t>持續學習，持續改善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